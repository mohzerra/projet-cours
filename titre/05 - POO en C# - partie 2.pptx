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67" r:id="rId4"/>
    <p:sldId id="25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1" r:id="rId17"/>
    <p:sldId id="342" r:id="rId18"/>
    <p:sldId id="343" r:id="rId19"/>
    <p:sldId id="344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25" r:id="rId30"/>
    <p:sldId id="262" r:id="rId31"/>
    <p:sldId id="268" r:id="rId32"/>
    <p:sldId id="355" r:id="rId33"/>
    <p:sldId id="356" r:id="rId34"/>
    <p:sldId id="357" r:id="rId35"/>
    <p:sldId id="358" r:id="rId36"/>
    <p:sldId id="359" r:id="rId37"/>
    <p:sldId id="360" r:id="rId38"/>
    <p:sldId id="328" r:id="rId39"/>
    <p:sldId id="263" r:id="rId40"/>
    <p:sldId id="361" r:id="rId41"/>
    <p:sldId id="362" r:id="rId42"/>
    <p:sldId id="363" r:id="rId43"/>
    <p:sldId id="364" r:id="rId44"/>
    <p:sldId id="365" r:id="rId45"/>
    <p:sldId id="366" r:id="rId46"/>
    <p:sldId id="327" r:id="rId47"/>
    <p:sldId id="272" r:id="rId4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 autoAdjust="0"/>
    <p:restoredTop sz="84626"/>
  </p:normalViewPr>
  <p:slideViewPr>
    <p:cSldViewPr snapToGrid="0" snapToObjects="1">
      <p:cViewPr varScale="1">
        <p:scale>
          <a:sx n="70" d="100"/>
          <a:sy n="70" d="100"/>
        </p:scale>
        <p:origin x="9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24/08/2024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POO en C# - partie 2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3ASP - C# / ASP.NET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65451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Héritage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Interfaces</a:t>
            </a:r>
          </a:p>
          <a:p>
            <a:pPr marL="742950" indent="-742950">
              <a:buAutoNum type="arabicPeriod"/>
            </a:pPr>
            <a:r>
              <a:rPr lang="fr-FR" sz="3600" dirty="0" err="1">
                <a:solidFill>
                  <a:schemeClr val="bg1"/>
                </a:solidFill>
              </a:rPr>
              <a:t>Delegates</a:t>
            </a:r>
            <a:endParaRPr lang="fr-FR" sz="3600" dirty="0">
              <a:solidFill>
                <a:schemeClr val="bg1"/>
              </a:solidFill>
            </a:endParaRPr>
          </a:p>
          <a:p>
            <a:endParaRPr lang="fr-FR" sz="3600" dirty="0">
              <a:solidFill>
                <a:schemeClr val="bg1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Héritage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365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rappel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POO,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hériter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autre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16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spc="-40" dirty="0">
                <a:latin typeface="Segoe UI"/>
                <a:cs typeface="Segoe UI"/>
              </a:rPr>
              <a:t>C’est-</a:t>
            </a:r>
            <a:r>
              <a:rPr lang="fr-FR" sz="2400" spc="-20" dirty="0">
                <a:latin typeface="Segoe UI"/>
                <a:cs typeface="Segoe UI"/>
              </a:rPr>
              <a:t>à-</a:t>
            </a:r>
            <a:r>
              <a:rPr lang="fr-FR" sz="2400" dirty="0">
                <a:latin typeface="Segoe UI"/>
                <a:cs typeface="Segoe UI"/>
              </a:rPr>
              <a:t>dire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Posséder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moins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mêmes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caractéristiques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(champs)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Avoir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moins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mêmes</a:t>
            </a:r>
            <a:r>
              <a:rPr lang="fr-FR" sz="2400" spc="-10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fonctionnalités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(méthodes)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Pouvoir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rajouter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ces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propres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caractéristiques</a:t>
            </a:r>
            <a:r>
              <a:rPr lang="fr-FR" sz="2400" spc="-9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fonctionnalités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: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voiture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avant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véhicule,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tout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ayant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ces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spécificités</a:t>
            </a:r>
            <a:endParaRPr lang="fr-FR" sz="20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858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2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Mise en place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L’héritage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</a:t>
            </a:r>
            <a:r>
              <a:rPr lang="fr-FR" sz="2400" spc="-40" dirty="0">
                <a:latin typeface="Segoe UI"/>
                <a:cs typeface="Segoe UI"/>
              </a:rPr>
              <a:t> fait de cette façon</a:t>
            </a:r>
            <a:r>
              <a:rPr lang="fr-FR" sz="2400" dirty="0">
                <a:latin typeface="Segoe UI"/>
                <a:cs typeface="Segoe UI"/>
              </a:rPr>
              <a:t>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A7DFEF1-D5F5-D885-9B36-0EADDBF683AB}"/>
              </a:ext>
            </a:extLst>
          </p:cNvPr>
          <p:cNvSpPr txBox="1"/>
          <p:nvPr/>
        </p:nvSpPr>
        <p:spPr>
          <a:xfrm>
            <a:off x="5627913" y="224354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« Classe fille »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« Classe mère »</a:t>
            </a:r>
            <a:endParaRPr lang="fr-FR" sz="1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E696CE-7BD3-052A-4EE1-5A009CD28EC6}"/>
              </a:ext>
            </a:extLst>
          </p:cNvPr>
          <p:cNvSpPr txBox="1"/>
          <p:nvPr/>
        </p:nvSpPr>
        <p:spPr>
          <a:xfrm>
            <a:off x="670654" y="307583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699CF6-29AE-ADD7-87A5-964FF24B60D7}"/>
              </a:ext>
            </a:extLst>
          </p:cNvPr>
          <p:cNvSpPr txBox="1"/>
          <p:nvPr/>
        </p:nvSpPr>
        <p:spPr>
          <a:xfrm>
            <a:off x="6096000" y="307583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NumberOfSeats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isStarted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Start()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.isStarted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414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spc="-35" dirty="0">
                <a:latin typeface="Segoe UI"/>
                <a:cs typeface="Segoe UI"/>
              </a:rPr>
              <a:t>Toutes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héritent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Objet</a:t>
            </a:r>
            <a:endParaRPr lang="fr-FR" sz="2400" dirty="0">
              <a:latin typeface="Segoe UI"/>
              <a:cs typeface="Segoe UI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E36A63D3-BB74-0998-7007-FF3AF3568710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2774060"/>
          <a:ext cx="9278619" cy="2929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8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Méthodes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hérités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automatiquement</a:t>
                      </a:r>
                      <a:r>
                        <a:rPr sz="180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de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la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classe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Object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86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ToString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Converti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l'objet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chaine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caractères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pour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affichage.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Par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défaut,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l'affichage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est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"nomdunamespace.nomdelaclasse"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8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Equals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36089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Permet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comparaison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entre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deux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références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d'objets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 principalement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pour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savoir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s'il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s'agit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même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objet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8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GetHashCode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Génère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entier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correspondant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à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hash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l'objet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(utilisé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avec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HashSet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exemple)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5486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Segoe UI"/>
                          <a:cs typeface="Segoe UI"/>
                        </a:rPr>
                        <a:t>Finalize</a:t>
                      </a:r>
                      <a:endParaRPr sz="1800">
                        <a:latin typeface="Segoe UI"/>
                        <a:cs typeface="Segoe U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66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Méthode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lancée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par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Garbage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Collector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afin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d'effectuer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opérations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nettoyage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avant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supprimer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l'éléments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mémoire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24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Ainsi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lors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création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objet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Car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classes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i="1" spc="-10" dirty="0" err="1">
                <a:latin typeface="Segoe UI"/>
                <a:cs typeface="Segoe UI"/>
              </a:rPr>
              <a:t>Vehicle</a:t>
            </a:r>
            <a:r>
              <a:rPr lang="fr-FR" sz="2400" i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Object</a:t>
            </a:r>
            <a:r>
              <a:rPr lang="fr-FR" sz="2400" i="1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disponible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4E3304C-91E5-0DD8-4CB5-62FC4D6C5EDE}"/>
              </a:ext>
            </a:extLst>
          </p:cNvPr>
          <p:cNvSpPr txBox="1"/>
          <p:nvPr/>
        </p:nvSpPr>
        <p:spPr>
          <a:xfrm>
            <a:off x="1230084" y="2925348"/>
            <a:ext cx="108857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myCar.ToString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méthode provenant de la classe Object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"Cléo"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propriété provenant de la classe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méthode provenant de la classe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myCar.NumberOfSeats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5;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propriété de la classe 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myCar.Start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méthode de la classe Car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36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159088"/>
            <a:ext cx="1052553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Exemple de schéma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FB1AA94-7678-6594-8B08-6F559A90E036}"/>
              </a:ext>
            </a:extLst>
          </p:cNvPr>
          <p:cNvSpPr/>
          <p:nvPr/>
        </p:nvSpPr>
        <p:spPr>
          <a:xfrm>
            <a:off x="8578595" y="4509515"/>
            <a:ext cx="1713864" cy="746760"/>
          </a:xfrm>
          <a:custGeom>
            <a:avLst/>
            <a:gdLst/>
            <a:ahLst/>
            <a:cxnLst/>
            <a:rect l="l" t="t" r="r" b="b"/>
            <a:pathLst>
              <a:path w="1713865" h="746760">
                <a:moveTo>
                  <a:pt x="856487" y="0"/>
                </a:moveTo>
                <a:lnTo>
                  <a:pt x="856487" y="597788"/>
                </a:lnTo>
                <a:lnTo>
                  <a:pt x="1713483" y="597788"/>
                </a:lnTo>
                <a:lnTo>
                  <a:pt x="1713483" y="746505"/>
                </a:lnTo>
              </a:path>
              <a:path w="1713865" h="746760">
                <a:moveTo>
                  <a:pt x="856996" y="0"/>
                </a:moveTo>
                <a:lnTo>
                  <a:pt x="856996" y="597788"/>
                </a:lnTo>
                <a:lnTo>
                  <a:pt x="0" y="597788"/>
                </a:lnTo>
                <a:lnTo>
                  <a:pt x="0" y="746505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432096B-B924-C219-BAA2-DA47DDF102CC}"/>
              </a:ext>
            </a:extLst>
          </p:cNvPr>
          <p:cNvSpPr/>
          <p:nvPr/>
        </p:nvSpPr>
        <p:spPr>
          <a:xfrm>
            <a:off x="6007608" y="3116579"/>
            <a:ext cx="3428365" cy="685800"/>
          </a:xfrm>
          <a:custGeom>
            <a:avLst/>
            <a:gdLst/>
            <a:ahLst/>
            <a:cxnLst/>
            <a:rect l="l" t="t" r="r" b="b"/>
            <a:pathLst>
              <a:path w="3428365" h="685800">
                <a:moveTo>
                  <a:pt x="0" y="0"/>
                </a:moveTo>
                <a:lnTo>
                  <a:pt x="0" y="537083"/>
                </a:lnTo>
                <a:lnTo>
                  <a:pt x="3428111" y="537083"/>
                </a:lnTo>
                <a:lnTo>
                  <a:pt x="3428111" y="685800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3F594B6-4959-ADBC-B23C-50CF8597F01B}"/>
              </a:ext>
            </a:extLst>
          </p:cNvPr>
          <p:cNvSpPr/>
          <p:nvPr/>
        </p:nvSpPr>
        <p:spPr>
          <a:xfrm>
            <a:off x="5151120" y="4509515"/>
            <a:ext cx="1713864" cy="746760"/>
          </a:xfrm>
          <a:custGeom>
            <a:avLst/>
            <a:gdLst/>
            <a:ahLst/>
            <a:cxnLst/>
            <a:rect l="l" t="t" r="r" b="b"/>
            <a:pathLst>
              <a:path w="1713865" h="746760">
                <a:moveTo>
                  <a:pt x="856488" y="0"/>
                </a:moveTo>
                <a:lnTo>
                  <a:pt x="856488" y="597788"/>
                </a:lnTo>
                <a:lnTo>
                  <a:pt x="1713483" y="597788"/>
                </a:lnTo>
                <a:lnTo>
                  <a:pt x="1713483" y="746505"/>
                </a:lnTo>
              </a:path>
              <a:path w="1713865" h="746760">
                <a:moveTo>
                  <a:pt x="856995" y="0"/>
                </a:moveTo>
                <a:lnTo>
                  <a:pt x="856995" y="597788"/>
                </a:lnTo>
                <a:lnTo>
                  <a:pt x="0" y="597788"/>
                </a:lnTo>
                <a:lnTo>
                  <a:pt x="0" y="746505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35CF827-96A2-D58D-578C-78D90B2871BC}"/>
              </a:ext>
            </a:extLst>
          </p:cNvPr>
          <p:cNvSpPr/>
          <p:nvPr/>
        </p:nvSpPr>
        <p:spPr>
          <a:xfrm>
            <a:off x="6007608" y="3116579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345AA0DA-D16F-CA11-AEA6-4280B0B8D6AD}"/>
              </a:ext>
            </a:extLst>
          </p:cNvPr>
          <p:cNvSpPr/>
          <p:nvPr/>
        </p:nvSpPr>
        <p:spPr>
          <a:xfrm>
            <a:off x="1722120" y="4509515"/>
            <a:ext cx="1713864" cy="746760"/>
          </a:xfrm>
          <a:custGeom>
            <a:avLst/>
            <a:gdLst/>
            <a:ahLst/>
            <a:cxnLst/>
            <a:rect l="l" t="t" r="r" b="b"/>
            <a:pathLst>
              <a:path w="1713864" h="746760">
                <a:moveTo>
                  <a:pt x="856488" y="0"/>
                </a:moveTo>
                <a:lnTo>
                  <a:pt x="856488" y="597788"/>
                </a:lnTo>
                <a:lnTo>
                  <a:pt x="1713483" y="597788"/>
                </a:lnTo>
                <a:lnTo>
                  <a:pt x="1713483" y="746505"/>
                </a:lnTo>
              </a:path>
              <a:path w="1713864" h="746760">
                <a:moveTo>
                  <a:pt x="856996" y="0"/>
                </a:moveTo>
                <a:lnTo>
                  <a:pt x="856996" y="597788"/>
                </a:lnTo>
                <a:lnTo>
                  <a:pt x="0" y="597788"/>
                </a:lnTo>
                <a:lnTo>
                  <a:pt x="0" y="746505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775B622-AC15-CB8A-03B5-6A70ABA82D19}"/>
              </a:ext>
            </a:extLst>
          </p:cNvPr>
          <p:cNvSpPr/>
          <p:nvPr/>
        </p:nvSpPr>
        <p:spPr>
          <a:xfrm>
            <a:off x="2578607" y="3116579"/>
            <a:ext cx="3428365" cy="685800"/>
          </a:xfrm>
          <a:custGeom>
            <a:avLst/>
            <a:gdLst/>
            <a:ahLst/>
            <a:cxnLst/>
            <a:rect l="l" t="t" r="r" b="b"/>
            <a:pathLst>
              <a:path w="3428365" h="685800">
                <a:moveTo>
                  <a:pt x="3428111" y="0"/>
                </a:moveTo>
                <a:lnTo>
                  <a:pt x="3428111" y="537083"/>
                </a:lnTo>
                <a:lnTo>
                  <a:pt x="0" y="537083"/>
                </a:lnTo>
                <a:lnTo>
                  <a:pt x="0" y="685800"/>
                </a:lnTo>
              </a:path>
            </a:pathLst>
          </a:custGeom>
          <a:ln w="12700">
            <a:solidFill>
              <a:srgbClr val="3C67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8">
            <a:extLst>
              <a:ext uri="{FF2B5EF4-FFF2-40B4-BE49-F238E27FC236}">
                <a16:creationId xmlns:a16="http://schemas.microsoft.com/office/drawing/2014/main" id="{A0CFD90F-4CDC-5A41-7B39-53F88DC9641C}"/>
              </a:ext>
            </a:extLst>
          </p:cNvPr>
          <p:cNvGrpSpPr/>
          <p:nvPr/>
        </p:nvGrpSpPr>
        <p:grpSpPr>
          <a:xfrm>
            <a:off x="5292597" y="1267713"/>
            <a:ext cx="1430020" cy="1855470"/>
            <a:chOff x="5292597" y="1267713"/>
            <a:chExt cx="1430020" cy="1855470"/>
          </a:xfrm>
        </p:grpSpPr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BBB740E5-D587-DC17-AB76-045CE21599F5}"/>
                </a:ext>
              </a:extLst>
            </p:cNvPr>
            <p:cNvSpPr/>
            <p:nvPr/>
          </p:nvSpPr>
          <p:spPr>
            <a:xfrm>
              <a:off x="6007607" y="1982723"/>
              <a:ext cx="0" cy="425450"/>
            </a:xfrm>
            <a:custGeom>
              <a:avLst/>
              <a:gdLst/>
              <a:ahLst/>
              <a:cxnLst/>
              <a:rect l="l" t="t" r="r" b="b"/>
              <a:pathLst>
                <a:path h="425450">
                  <a:moveTo>
                    <a:pt x="0" y="0"/>
                  </a:moveTo>
                  <a:lnTo>
                    <a:pt x="0" y="425323"/>
                  </a:lnTo>
                </a:path>
              </a:pathLst>
            </a:custGeom>
            <a:ln w="12700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226B146A-32A9-6A48-5DB8-5433DC8C9FC7}"/>
                </a:ext>
              </a:extLst>
            </p:cNvPr>
            <p:cNvSpPr/>
            <p:nvPr/>
          </p:nvSpPr>
          <p:spPr>
            <a:xfrm>
              <a:off x="5298947" y="1274063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1417320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7320" y="708660"/>
                  </a:lnTo>
                  <a:lnTo>
                    <a:pt x="14173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BCE363D0-7B5B-0E74-D827-2B541AA03108}"/>
                </a:ext>
              </a:extLst>
            </p:cNvPr>
            <p:cNvSpPr/>
            <p:nvPr/>
          </p:nvSpPr>
          <p:spPr>
            <a:xfrm>
              <a:off x="5298947" y="1274063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0" y="708660"/>
                  </a:moveTo>
                  <a:lnTo>
                    <a:pt x="1417320" y="708660"/>
                  </a:lnTo>
                  <a:lnTo>
                    <a:pt x="1417320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A87A87F4-539B-8772-4FAE-D89CEA57D2CA}"/>
                </a:ext>
              </a:extLst>
            </p:cNvPr>
            <p:cNvSpPr/>
            <p:nvPr/>
          </p:nvSpPr>
          <p:spPr>
            <a:xfrm>
              <a:off x="5298947" y="2407919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1417320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7320" y="708660"/>
                  </a:lnTo>
                  <a:lnTo>
                    <a:pt x="14173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1F06FEAB-82B0-3C77-6C38-84E20B0CAFCF}"/>
                </a:ext>
              </a:extLst>
            </p:cNvPr>
            <p:cNvSpPr/>
            <p:nvPr/>
          </p:nvSpPr>
          <p:spPr>
            <a:xfrm>
              <a:off x="5298947" y="2407919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0" y="708660"/>
                  </a:moveTo>
                  <a:lnTo>
                    <a:pt x="1417320" y="708660"/>
                  </a:lnTo>
                  <a:lnTo>
                    <a:pt x="1417320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4">
            <a:extLst>
              <a:ext uri="{FF2B5EF4-FFF2-40B4-BE49-F238E27FC236}">
                <a16:creationId xmlns:a16="http://schemas.microsoft.com/office/drawing/2014/main" id="{E75D1AC4-DBCA-CDC9-D2A7-2539BF1F81E2}"/>
              </a:ext>
            </a:extLst>
          </p:cNvPr>
          <p:cNvSpPr txBox="1"/>
          <p:nvPr/>
        </p:nvSpPr>
        <p:spPr>
          <a:xfrm>
            <a:off x="5477002" y="1361312"/>
            <a:ext cx="1061085" cy="1585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Vehicle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9B7D6DCC-3ECF-5DCA-80E4-16D5B70B4146}"/>
              </a:ext>
            </a:extLst>
          </p:cNvPr>
          <p:cNvGrpSpPr/>
          <p:nvPr/>
        </p:nvGrpSpPr>
        <p:grpSpPr>
          <a:xfrm>
            <a:off x="1865122" y="3796029"/>
            <a:ext cx="1428750" cy="720090"/>
            <a:chOff x="1865122" y="3796029"/>
            <a:chExt cx="1428750" cy="720090"/>
          </a:xfrm>
        </p:grpSpPr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1DE15745-C257-E556-6800-4E1FA9DC6603}"/>
                </a:ext>
              </a:extLst>
            </p:cNvPr>
            <p:cNvSpPr/>
            <p:nvPr/>
          </p:nvSpPr>
          <p:spPr>
            <a:xfrm>
              <a:off x="1871472" y="3802379"/>
              <a:ext cx="1416050" cy="707390"/>
            </a:xfrm>
            <a:custGeom>
              <a:avLst/>
              <a:gdLst/>
              <a:ahLst/>
              <a:cxnLst/>
              <a:rect l="l" t="t" r="r" b="b"/>
              <a:pathLst>
                <a:path w="1416050" h="707389">
                  <a:moveTo>
                    <a:pt x="1415796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1415796" y="707136"/>
                  </a:lnTo>
                  <a:lnTo>
                    <a:pt x="14157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0B9E9F18-EA07-0B57-A54B-1768F34C991F}"/>
                </a:ext>
              </a:extLst>
            </p:cNvPr>
            <p:cNvSpPr/>
            <p:nvPr/>
          </p:nvSpPr>
          <p:spPr>
            <a:xfrm>
              <a:off x="1871472" y="3802379"/>
              <a:ext cx="1416050" cy="707390"/>
            </a:xfrm>
            <a:custGeom>
              <a:avLst/>
              <a:gdLst/>
              <a:ahLst/>
              <a:cxnLst/>
              <a:rect l="l" t="t" r="r" b="b"/>
              <a:pathLst>
                <a:path w="1416050" h="707389">
                  <a:moveTo>
                    <a:pt x="0" y="707136"/>
                  </a:moveTo>
                  <a:lnTo>
                    <a:pt x="1415796" y="707136"/>
                  </a:lnTo>
                  <a:lnTo>
                    <a:pt x="1415796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8">
            <a:extLst>
              <a:ext uri="{FF2B5EF4-FFF2-40B4-BE49-F238E27FC236}">
                <a16:creationId xmlns:a16="http://schemas.microsoft.com/office/drawing/2014/main" id="{5BE00874-38FA-8146-E60D-CEC75990B9AE}"/>
              </a:ext>
            </a:extLst>
          </p:cNvPr>
          <p:cNvSpPr txBox="1"/>
          <p:nvPr/>
        </p:nvSpPr>
        <p:spPr>
          <a:xfrm>
            <a:off x="2220848" y="3889628"/>
            <a:ext cx="717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Land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4" name="object 19">
            <a:extLst>
              <a:ext uri="{FF2B5EF4-FFF2-40B4-BE49-F238E27FC236}">
                <a16:creationId xmlns:a16="http://schemas.microsoft.com/office/drawing/2014/main" id="{E5D34C6F-4464-7737-44D7-09A9D15772CB}"/>
              </a:ext>
            </a:extLst>
          </p:cNvPr>
          <p:cNvGrpSpPr/>
          <p:nvPr/>
        </p:nvGrpSpPr>
        <p:grpSpPr>
          <a:xfrm>
            <a:off x="1007110" y="5249926"/>
            <a:ext cx="1430020" cy="721360"/>
            <a:chOff x="1007110" y="5249926"/>
            <a:chExt cx="1430020" cy="721360"/>
          </a:xfrm>
        </p:grpSpPr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6B2D96CA-F205-7C1C-0454-473E608DB15C}"/>
                </a:ext>
              </a:extLst>
            </p:cNvPr>
            <p:cNvSpPr/>
            <p:nvPr/>
          </p:nvSpPr>
          <p:spPr>
            <a:xfrm>
              <a:off x="1013460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1417319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7319" y="708660"/>
                  </a:lnTo>
                  <a:lnTo>
                    <a:pt x="14173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EA0794D4-EEAF-D45F-B8B5-7470CB1DA04A}"/>
                </a:ext>
              </a:extLst>
            </p:cNvPr>
            <p:cNvSpPr/>
            <p:nvPr/>
          </p:nvSpPr>
          <p:spPr>
            <a:xfrm>
              <a:off x="1013460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0" y="708660"/>
                  </a:moveTo>
                  <a:lnTo>
                    <a:pt x="1417319" y="708660"/>
                  </a:lnTo>
                  <a:lnTo>
                    <a:pt x="1417319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2">
            <a:extLst>
              <a:ext uri="{FF2B5EF4-FFF2-40B4-BE49-F238E27FC236}">
                <a16:creationId xmlns:a16="http://schemas.microsoft.com/office/drawing/2014/main" id="{0E7D8ACB-F386-B976-5BFA-066618DEE7FD}"/>
              </a:ext>
            </a:extLst>
          </p:cNvPr>
          <p:cNvSpPr txBox="1"/>
          <p:nvPr/>
        </p:nvSpPr>
        <p:spPr>
          <a:xfrm>
            <a:off x="1467358" y="5344769"/>
            <a:ext cx="509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Car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8" name="object 23">
            <a:extLst>
              <a:ext uri="{FF2B5EF4-FFF2-40B4-BE49-F238E27FC236}">
                <a16:creationId xmlns:a16="http://schemas.microsoft.com/office/drawing/2014/main" id="{2D962C8D-0689-A254-FF83-B729D102CDF5}"/>
              </a:ext>
            </a:extLst>
          </p:cNvPr>
          <p:cNvGrpSpPr/>
          <p:nvPr/>
        </p:nvGrpSpPr>
        <p:grpSpPr>
          <a:xfrm>
            <a:off x="2721610" y="5249926"/>
            <a:ext cx="1430020" cy="721360"/>
            <a:chOff x="2721610" y="5249926"/>
            <a:chExt cx="1430020" cy="721360"/>
          </a:xfrm>
        </p:grpSpPr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72845823-0DB0-53D6-3EC4-1BD18BD1A351}"/>
                </a:ext>
              </a:extLst>
            </p:cNvPr>
            <p:cNvSpPr/>
            <p:nvPr/>
          </p:nvSpPr>
          <p:spPr>
            <a:xfrm>
              <a:off x="2727960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1417319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7319" y="708660"/>
                  </a:lnTo>
                  <a:lnTo>
                    <a:pt x="14173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5">
              <a:extLst>
                <a:ext uri="{FF2B5EF4-FFF2-40B4-BE49-F238E27FC236}">
                  <a16:creationId xmlns:a16="http://schemas.microsoft.com/office/drawing/2014/main" id="{8E1F0F5A-DBED-6DA0-2C03-F86ED7922450}"/>
                </a:ext>
              </a:extLst>
            </p:cNvPr>
            <p:cNvSpPr/>
            <p:nvPr/>
          </p:nvSpPr>
          <p:spPr>
            <a:xfrm>
              <a:off x="2727960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0" y="708660"/>
                  </a:moveTo>
                  <a:lnTo>
                    <a:pt x="1417319" y="708660"/>
                  </a:lnTo>
                  <a:lnTo>
                    <a:pt x="1417319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26">
            <a:extLst>
              <a:ext uri="{FF2B5EF4-FFF2-40B4-BE49-F238E27FC236}">
                <a16:creationId xmlns:a16="http://schemas.microsoft.com/office/drawing/2014/main" id="{B9E82190-996E-9D69-53B2-2ABD57655732}"/>
              </a:ext>
            </a:extLst>
          </p:cNvPr>
          <p:cNvSpPr txBox="1"/>
          <p:nvPr/>
        </p:nvSpPr>
        <p:spPr>
          <a:xfrm>
            <a:off x="3036823" y="5344769"/>
            <a:ext cx="800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Truck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2" name="object 27">
            <a:extLst>
              <a:ext uri="{FF2B5EF4-FFF2-40B4-BE49-F238E27FC236}">
                <a16:creationId xmlns:a16="http://schemas.microsoft.com/office/drawing/2014/main" id="{D67B1B6F-71CF-2163-CC7D-3BC1042324C0}"/>
              </a:ext>
            </a:extLst>
          </p:cNvPr>
          <p:cNvGrpSpPr/>
          <p:nvPr/>
        </p:nvGrpSpPr>
        <p:grpSpPr>
          <a:xfrm>
            <a:off x="5292597" y="3796029"/>
            <a:ext cx="1430020" cy="720090"/>
            <a:chOff x="5292597" y="3796029"/>
            <a:chExt cx="1430020" cy="720090"/>
          </a:xfrm>
        </p:grpSpPr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00C6FE8B-A2DE-89E0-0B1B-C8DD12A4F713}"/>
                </a:ext>
              </a:extLst>
            </p:cNvPr>
            <p:cNvSpPr/>
            <p:nvPr/>
          </p:nvSpPr>
          <p:spPr>
            <a:xfrm>
              <a:off x="5298947" y="3802379"/>
              <a:ext cx="1417320" cy="707390"/>
            </a:xfrm>
            <a:custGeom>
              <a:avLst/>
              <a:gdLst/>
              <a:ahLst/>
              <a:cxnLst/>
              <a:rect l="l" t="t" r="r" b="b"/>
              <a:pathLst>
                <a:path w="1417320" h="707389">
                  <a:moveTo>
                    <a:pt x="1417320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1417320" y="707136"/>
                  </a:lnTo>
                  <a:lnTo>
                    <a:pt x="14173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FDB40F10-C0E4-EB8B-6200-8FECB8E3D1BE}"/>
                </a:ext>
              </a:extLst>
            </p:cNvPr>
            <p:cNvSpPr/>
            <p:nvPr/>
          </p:nvSpPr>
          <p:spPr>
            <a:xfrm>
              <a:off x="5298947" y="3802379"/>
              <a:ext cx="1417320" cy="707390"/>
            </a:xfrm>
            <a:custGeom>
              <a:avLst/>
              <a:gdLst/>
              <a:ahLst/>
              <a:cxnLst/>
              <a:rect l="l" t="t" r="r" b="b"/>
              <a:pathLst>
                <a:path w="1417320" h="707389">
                  <a:moveTo>
                    <a:pt x="0" y="707136"/>
                  </a:moveTo>
                  <a:lnTo>
                    <a:pt x="1417320" y="707136"/>
                  </a:lnTo>
                  <a:lnTo>
                    <a:pt x="1417320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0">
            <a:extLst>
              <a:ext uri="{FF2B5EF4-FFF2-40B4-BE49-F238E27FC236}">
                <a16:creationId xmlns:a16="http://schemas.microsoft.com/office/drawing/2014/main" id="{002ACCB5-256A-04A8-50DB-EA245FB5219A}"/>
              </a:ext>
            </a:extLst>
          </p:cNvPr>
          <p:cNvSpPr txBox="1"/>
          <p:nvPr/>
        </p:nvSpPr>
        <p:spPr>
          <a:xfrm>
            <a:off x="5789421" y="3889628"/>
            <a:ext cx="436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Air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6" name="object 31">
            <a:extLst>
              <a:ext uri="{FF2B5EF4-FFF2-40B4-BE49-F238E27FC236}">
                <a16:creationId xmlns:a16="http://schemas.microsoft.com/office/drawing/2014/main" id="{5DAF8606-6C25-BC73-BBF4-B894EC59802E}"/>
              </a:ext>
            </a:extLst>
          </p:cNvPr>
          <p:cNvGrpSpPr/>
          <p:nvPr/>
        </p:nvGrpSpPr>
        <p:grpSpPr>
          <a:xfrm>
            <a:off x="4436109" y="5249926"/>
            <a:ext cx="1428750" cy="721360"/>
            <a:chOff x="4436109" y="5249926"/>
            <a:chExt cx="1428750" cy="721360"/>
          </a:xfrm>
        </p:grpSpPr>
        <p:sp>
          <p:nvSpPr>
            <p:cNvPr id="37" name="object 32">
              <a:extLst>
                <a:ext uri="{FF2B5EF4-FFF2-40B4-BE49-F238E27FC236}">
                  <a16:creationId xmlns:a16="http://schemas.microsoft.com/office/drawing/2014/main" id="{16E742AF-5F64-C12C-46E3-1D2E677C2029}"/>
                </a:ext>
              </a:extLst>
            </p:cNvPr>
            <p:cNvSpPr/>
            <p:nvPr/>
          </p:nvSpPr>
          <p:spPr>
            <a:xfrm>
              <a:off x="4442459" y="5256276"/>
              <a:ext cx="1416050" cy="708660"/>
            </a:xfrm>
            <a:custGeom>
              <a:avLst/>
              <a:gdLst/>
              <a:ahLst/>
              <a:cxnLst/>
              <a:rect l="l" t="t" r="r" b="b"/>
              <a:pathLst>
                <a:path w="1416050" h="708660">
                  <a:moveTo>
                    <a:pt x="1415796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5796" y="708660"/>
                  </a:lnTo>
                  <a:lnTo>
                    <a:pt x="14157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A5064C46-9EA5-C4EB-688C-E9A7F2962BA9}"/>
                </a:ext>
              </a:extLst>
            </p:cNvPr>
            <p:cNvSpPr/>
            <p:nvPr/>
          </p:nvSpPr>
          <p:spPr>
            <a:xfrm>
              <a:off x="4442459" y="5256276"/>
              <a:ext cx="1416050" cy="708660"/>
            </a:xfrm>
            <a:custGeom>
              <a:avLst/>
              <a:gdLst/>
              <a:ahLst/>
              <a:cxnLst/>
              <a:rect l="l" t="t" r="r" b="b"/>
              <a:pathLst>
                <a:path w="1416050" h="708660">
                  <a:moveTo>
                    <a:pt x="0" y="708660"/>
                  </a:moveTo>
                  <a:lnTo>
                    <a:pt x="1415796" y="708660"/>
                  </a:lnTo>
                  <a:lnTo>
                    <a:pt x="1415796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4">
            <a:extLst>
              <a:ext uri="{FF2B5EF4-FFF2-40B4-BE49-F238E27FC236}">
                <a16:creationId xmlns:a16="http://schemas.microsoft.com/office/drawing/2014/main" id="{54CDB60C-7CB7-B675-0109-2C7605A3141F}"/>
              </a:ext>
            </a:extLst>
          </p:cNvPr>
          <p:cNvSpPr txBox="1"/>
          <p:nvPr/>
        </p:nvSpPr>
        <p:spPr>
          <a:xfrm>
            <a:off x="4738878" y="5344769"/>
            <a:ext cx="822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Plane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0" name="object 35">
            <a:extLst>
              <a:ext uri="{FF2B5EF4-FFF2-40B4-BE49-F238E27FC236}">
                <a16:creationId xmlns:a16="http://schemas.microsoft.com/office/drawing/2014/main" id="{10C3E5CA-49D5-A1E9-F4C7-851801D86398}"/>
              </a:ext>
            </a:extLst>
          </p:cNvPr>
          <p:cNvGrpSpPr/>
          <p:nvPr/>
        </p:nvGrpSpPr>
        <p:grpSpPr>
          <a:xfrm>
            <a:off x="6149085" y="5249926"/>
            <a:ext cx="1430020" cy="721360"/>
            <a:chOff x="6149085" y="5249926"/>
            <a:chExt cx="1430020" cy="721360"/>
          </a:xfrm>
        </p:grpSpPr>
        <p:sp>
          <p:nvSpPr>
            <p:cNvPr id="41" name="object 36">
              <a:extLst>
                <a:ext uri="{FF2B5EF4-FFF2-40B4-BE49-F238E27FC236}">
                  <a16:creationId xmlns:a16="http://schemas.microsoft.com/office/drawing/2014/main" id="{B9AAAF6C-30BF-3DF2-1F19-22F382EF166E}"/>
                </a:ext>
              </a:extLst>
            </p:cNvPr>
            <p:cNvSpPr/>
            <p:nvPr/>
          </p:nvSpPr>
          <p:spPr>
            <a:xfrm>
              <a:off x="6155435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1417319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7319" y="708660"/>
                  </a:lnTo>
                  <a:lnTo>
                    <a:pt x="14173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7">
              <a:extLst>
                <a:ext uri="{FF2B5EF4-FFF2-40B4-BE49-F238E27FC236}">
                  <a16:creationId xmlns:a16="http://schemas.microsoft.com/office/drawing/2014/main" id="{4AEEC485-E5BF-79F8-D60E-D80D1BEA3554}"/>
                </a:ext>
              </a:extLst>
            </p:cNvPr>
            <p:cNvSpPr/>
            <p:nvPr/>
          </p:nvSpPr>
          <p:spPr>
            <a:xfrm>
              <a:off x="6155435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0" y="708660"/>
                  </a:moveTo>
                  <a:lnTo>
                    <a:pt x="1417319" y="708660"/>
                  </a:lnTo>
                  <a:lnTo>
                    <a:pt x="1417319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38">
            <a:extLst>
              <a:ext uri="{FF2B5EF4-FFF2-40B4-BE49-F238E27FC236}">
                <a16:creationId xmlns:a16="http://schemas.microsoft.com/office/drawing/2014/main" id="{1EA11BDF-2F6C-6E43-5114-ACEC18961CB9}"/>
              </a:ext>
            </a:extLst>
          </p:cNvPr>
          <p:cNvSpPr txBox="1"/>
          <p:nvPr/>
        </p:nvSpPr>
        <p:spPr>
          <a:xfrm>
            <a:off x="6353936" y="5344769"/>
            <a:ext cx="10217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Airship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4" name="object 39">
            <a:extLst>
              <a:ext uri="{FF2B5EF4-FFF2-40B4-BE49-F238E27FC236}">
                <a16:creationId xmlns:a16="http://schemas.microsoft.com/office/drawing/2014/main" id="{FEE1A6F3-E280-A359-5350-74F495A1CC2D}"/>
              </a:ext>
            </a:extLst>
          </p:cNvPr>
          <p:cNvGrpSpPr/>
          <p:nvPr/>
        </p:nvGrpSpPr>
        <p:grpSpPr>
          <a:xfrm>
            <a:off x="8720073" y="3796029"/>
            <a:ext cx="1430020" cy="720090"/>
            <a:chOff x="8720073" y="3796029"/>
            <a:chExt cx="1430020" cy="720090"/>
          </a:xfrm>
        </p:grpSpPr>
        <p:sp>
          <p:nvSpPr>
            <p:cNvPr id="45" name="object 40">
              <a:extLst>
                <a:ext uri="{FF2B5EF4-FFF2-40B4-BE49-F238E27FC236}">
                  <a16:creationId xmlns:a16="http://schemas.microsoft.com/office/drawing/2014/main" id="{0CCAA1EC-CAA2-F6CA-5C39-A987903EAE25}"/>
                </a:ext>
              </a:extLst>
            </p:cNvPr>
            <p:cNvSpPr/>
            <p:nvPr/>
          </p:nvSpPr>
          <p:spPr>
            <a:xfrm>
              <a:off x="8726423" y="3802379"/>
              <a:ext cx="1417320" cy="707390"/>
            </a:xfrm>
            <a:custGeom>
              <a:avLst/>
              <a:gdLst/>
              <a:ahLst/>
              <a:cxnLst/>
              <a:rect l="l" t="t" r="r" b="b"/>
              <a:pathLst>
                <a:path w="1417320" h="707389">
                  <a:moveTo>
                    <a:pt x="1417320" y="0"/>
                  </a:moveTo>
                  <a:lnTo>
                    <a:pt x="0" y="0"/>
                  </a:lnTo>
                  <a:lnTo>
                    <a:pt x="0" y="707136"/>
                  </a:lnTo>
                  <a:lnTo>
                    <a:pt x="1417320" y="707136"/>
                  </a:lnTo>
                  <a:lnTo>
                    <a:pt x="14173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1">
              <a:extLst>
                <a:ext uri="{FF2B5EF4-FFF2-40B4-BE49-F238E27FC236}">
                  <a16:creationId xmlns:a16="http://schemas.microsoft.com/office/drawing/2014/main" id="{6EE5CA98-A268-AD1B-6FFE-38AC2397AC17}"/>
                </a:ext>
              </a:extLst>
            </p:cNvPr>
            <p:cNvSpPr/>
            <p:nvPr/>
          </p:nvSpPr>
          <p:spPr>
            <a:xfrm>
              <a:off x="8726423" y="3802379"/>
              <a:ext cx="1417320" cy="707390"/>
            </a:xfrm>
            <a:custGeom>
              <a:avLst/>
              <a:gdLst/>
              <a:ahLst/>
              <a:cxnLst/>
              <a:rect l="l" t="t" r="r" b="b"/>
              <a:pathLst>
                <a:path w="1417320" h="707389">
                  <a:moveTo>
                    <a:pt x="0" y="707136"/>
                  </a:moveTo>
                  <a:lnTo>
                    <a:pt x="1417320" y="707136"/>
                  </a:lnTo>
                  <a:lnTo>
                    <a:pt x="1417320" y="0"/>
                  </a:lnTo>
                  <a:lnTo>
                    <a:pt x="0" y="0"/>
                  </a:lnTo>
                  <a:lnTo>
                    <a:pt x="0" y="7071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2">
            <a:extLst>
              <a:ext uri="{FF2B5EF4-FFF2-40B4-BE49-F238E27FC236}">
                <a16:creationId xmlns:a16="http://schemas.microsoft.com/office/drawing/2014/main" id="{5F5B76BB-01CD-BC8A-45C9-696E848B7253}"/>
              </a:ext>
            </a:extLst>
          </p:cNvPr>
          <p:cNvSpPr txBox="1"/>
          <p:nvPr/>
        </p:nvSpPr>
        <p:spPr>
          <a:xfrm>
            <a:off x="8980169" y="3889628"/>
            <a:ext cx="914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Water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8" name="object 43">
            <a:extLst>
              <a:ext uri="{FF2B5EF4-FFF2-40B4-BE49-F238E27FC236}">
                <a16:creationId xmlns:a16="http://schemas.microsoft.com/office/drawing/2014/main" id="{5A954129-0E4F-6654-0A00-4D86476F8BE8}"/>
              </a:ext>
            </a:extLst>
          </p:cNvPr>
          <p:cNvGrpSpPr/>
          <p:nvPr/>
        </p:nvGrpSpPr>
        <p:grpSpPr>
          <a:xfrm>
            <a:off x="7863585" y="5249926"/>
            <a:ext cx="1430020" cy="721360"/>
            <a:chOff x="7863585" y="5249926"/>
            <a:chExt cx="1430020" cy="721360"/>
          </a:xfrm>
        </p:grpSpPr>
        <p:sp>
          <p:nvSpPr>
            <p:cNvPr id="49" name="object 44">
              <a:extLst>
                <a:ext uri="{FF2B5EF4-FFF2-40B4-BE49-F238E27FC236}">
                  <a16:creationId xmlns:a16="http://schemas.microsoft.com/office/drawing/2014/main" id="{CAA03150-0CC7-780A-A60C-BA5E7758B32B}"/>
                </a:ext>
              </a:extLst>
            </p:cNvPr>
            <p:cNvSpPr/>
            <p:nvPr/>
          </p:nvSpPr>
          <p:spPr>
            <a:xfrm>
              <a:off x="7869935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1417320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7320" y="708660"/>
                  </a:lnTo>
                  <a:lnTo>
                    <a:pt x="14173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45">
              <a:extLst>
                <a:ext uri="{FF2B5EF4-FFF2-40B4-BE49-F238E27FC236}">
                  <a16:creationId xmlns:a16="http://schemas.microsoft.com/office/drawing/2014/main" id="{0A57A5F0-A070-BF2A-FA71-EBBFAED2BC6D}"/>
                </a:ext>
              </a:extLst>
            </p:cNvPr>
            <p:cNvSpPr/>
            <p:nvPr/>
          </p:nvSpPr>
          <p:spPr>
            <a:xfrm>
              <a:off x="7869935" y="5256276"/>
              <a:ext cx="1417320" cy="708660"/>
            </a:xfrm>
            <a:custGeom>
              <a:avLst/>
              <a:gdLst/>
              <a:ahLst/>
              <a:cxnLst/>
              <a:rect l="l" t="t" r="r" b="b"/>
              <a:pathLst>
                <a:path w="1417320" h="708660">
                  <a:moveTo>
                    <a:pt x="0" y="708660"/>
                  </a:moveTo>
                  <a:lnTo>
                    <a:pt x="1417320" y="708660"/>
                  </a:lnTo>
                  <a:lnTo>
                    <a:pt x="1417320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46">
            <a:extLst>
              <a:ext uri="{FF2B5EF4-FFF2-40B4-BE49-F238E27FC236}">
                <a16:creationId xmlns:a16="http://schemas.microsoft.com/office/drawing/2014/main" id="{DA80A9C0-5106-6957-A4B1-662AB7EB508B}"/>
              </a:ext>
            </a:extLst>
          </p:cNvPr>
          <p:cNvSpPr txBox="1"/>
          <p:nvPr/>
        </p:nvSpPr>
        <p:spPr>
          <a:xfrm>
            <a:off x="8233029" y="5344769"/>
            <a:ext cx="693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Boat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2" name="object 47">
            <a:extLst>
              <a:ext uri="{FF2B5EF4-FFF2-40B4-BE49-F238E27FC236}">
                <a16:creationId xmlns:a16="http://schemas.microsoft.com/office/drawing/2014/main" id="{31758652-06A7-ADD6-F0AD-759ABB561D5E}"/>
              </a:ext>
            </a:extLst>
          </p:cNvPr>
          <p:cNvGrpSpPr/>
          <p:nvPr/>
        </p:nvGrpSpPr>
        <p:grpSpPr>
          <a:xfrm>
            <a:off x="9578085" y="5249926"/>
            <a:ext cx="1428750" cy="721360"/>
            <a:chOff x="9578085" y="5249926"/>
            <a:chExt cx="1428750" cy="721360"/>
          </a:xfrm>
        </p:grpSpPr>
        <p:sp>
          <p:nvSpPr>
            <p:cNvPr id="53" name="object 48">
              <a:extLst>
                <a:ext uri="{FF2B5EF4-FFF2-40B4-BE49-F238E27FC236}">
                  <a16:creationId xmlns:a16="http://schemas.microsoft.com/office/drawing/2014/main" id="{9344EBDC-98CE-F619-9801-62FF2F123165}"/>
                </a:ext>
              </a:extLst>
            </p:cNvPr>
            <p:cNvSpPr/>
            <p:nvPr/>
          </p:nvSpPr>
          <p:spPr>
            <a:xfrm>
              <a:off x="9584435" y="5256276"/>
              <a:ext cx="1416050" cy="708660"/>
            </a:xfrm>
            <a:custGeom>
              <a:avLst/>
              <a:gdLst/>
              <a:ahLst/>
              <a:cxnLst/>
              <a:rect l="l" t="t" r="r" b="b"/>
              <a:pathLst>
                <a:path w="1416050" h="708660">
                  <a:moveTo>
                    <a:pt x="1415796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1415796" y="708660"/>
                  </a:lnTo>
                  <a:lnTo>
                    <a:pt x="14157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49">
              <a:extLst>
                <a:ext uri="{FF2B5EF4-FFF2-40B4-BE49-F238E27FC236}">
                  <a16:creationId xmlns:a16="http://schemas.microsoft.com/office/drawing/2014/main" id="{018E8769-B387-F11E-9B0D-A0D6D66565AC}"/>
                </a:ext>
              </a:extLst>
            </p:cNvPr>
            <p:cNvSpPr/>
            <p:nvPr/>
          </p:nvSpPr>
          <p:spPr>
            <a:xfrm>
              <a:off x="9584435" y="5256276"/>
              <a:ext cx="1416050" cy="708660"/>
            </a:xfrm>
            <a:custGeom>
              <a:avLst/>
              <a:gdLst/>
              <a:ahLst/>
              <a:cxnLst/>
              <a:rect l="l" t="t" r="r" b="b"/>
              <a:pathLst>
                <a:path w="1416050" h="708660">
                  <a:moveTo>
                    <a:pt x="0" y="708660"/>
                  </a:moveTo>
                  <a:lnTo>
                    <a:pt x="1415796" y="708660"/>
                  </a:lnTo>
                  <a:lnTo>
                    <a:pt x="1415796" y="0"/>
                  </a:lnTo>
                  <a:lnTo>
                    <a:pt x="0" y="0"/>
                  </a:lnTo>
                  <a:lnTo>
                    <a:pt x="0" y="708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0">
            <a:extLst>
              <a:ext uri="{FF2B5EF4-FFF2-40B4-BE49-F238E27FC236}">
                <a16:creationId xmlns:a16="http://schemas.microsoft.com/office/drawing/2014/main" id="{C48C76AF-3BB6-FCBD-00F7-DFEA200A2C4B}"/>
              </a:ext>
            </a:extLst>
          </p:cNvPr>
          <p:cNvSpPr txBox="1"/>
          <p:nvPr/>
        </p:nvSpPr>
        <p:spPr>
          <a:xfrm>
            <a:off x="9874122" y="5344769"/>
            <a:ext cx="8394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JetSki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6" name="object 52">
            <a:extLst>
              <a:ext uri="{FF2B5EF4-FFF2-40B4-BE49-F238E27FC236}">
                <a16:creationId xmlns:a16="http://schemas.microsoft.com/office/drawing/2014/main" id="{2A590285-96E8-8596-6FEC-9BA08C39EAE5}"/>
              </a:ext>
            </a:extLst>
          </p:cNvPr>
          <p:cNvGrpSpPr/>
          <p:nvPr/>
        </p:nvGrpSpPr>
        <p:grpSpPr>
          <a:xfrm>
            <a:off x="11097514" y="1753870"/>
            <a:ext cx="852805" cy="4744720"/>
            <a:chOff x="11097514" y="1753870"/>
            <a:chExt cx="852805" cy="4744720"/>
          </a:xfrm>
        </p:grpSpPr>
        <p:sp>
          <p:nvSpPr>
            <p:cNvPr id="57" name="object 53">
              <a:extLst>
                <a:ext uri="{FF2B5EF4-FFF2-40B4-BE49-F238E27FC236}">
                  <a16:creationId xmlns:a16="http://schemas.microsoft.com/office/drawing/2014/main" id="{1D3A560A-F293-90B3-EDF8-EEC627AE5D55}"/>
                </a:ext>
              </a:extLst>
            </p:cNvPr>
            <p:cNvSpPr/>
            <p:nvPr/>
          </p:nvSpPr>
          <p:spPr>
            <a:xfrm>
              <a:off x="11103864" y="1760220"/>
              <a:ext cx="840105" cy="4732020"/>
            </a:xfrm>
            <a:custGeom>
              <a:avLst/>
              <a:gdLst/>
              <a:ahLst/>
              <a:cxnLst/>
              <a:rect l="l" t="t" r="r" b="b"/>
              <a:pathLst>
                <a:path w="840104" h="4732020">
                  <a:moveTo>
                    <a:pt x="629792" y="0"/>
                  </a:moveTo>
                  <a:lnTo>
                    <a:pt x="209930" y="0"/>
                  </a:lnTo>
                  <a:lnTo>
                    <a:pt x="209930" y="4312158"/>
                  </a:lnTo>
                  <a:lnTo>
                    <a:pt x="0" y="4312158"/>
                  </a:lnTo>
                  <a:lnTo>
                    <a:pt x="419861" y="4732020"/>
                  </a:lnTo>
                  <a:lnTo>
                    <a:pt x="839724" y="4312158"/>
                  </a:lnTo>
                  <a:lnTo>
                    <a:pt x="629792" y="4312158"/>
                  </a:lnTo>
                  <a:lnTo>
                    <a:pt x="6297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4">
              <a:extLst>
                <a:ext uri="{FF2B5EF4-FFF2-40B4-BE49-F238E27FC236}">
                  <a16:creationId xmlns:a16="http://schemas.microsoft.com/office/drawing/2014/main" id="{827682FB-480E-7487-B952-77087AE48044}"/>
                </a:ext>
              </a:extLst>
            </p:cNvPr>
            <p:cNvSpPr/>
            <p:nvPr/>
          </p:nvSpPr>
          <p:spPr>
            <a:xfrm>
              <a:off x="11103864" y="1760220"/>
              <a:ext cx="840105" cy="4732020"/>
            </a:xfrm>
            <a:custGeom>
              <a:avLst/>
              <a:gdLst/>
              <a:ahLst/>
              <a:cxnLst/>
              <a:rect l="l" t="t" r="r" b="b"/>
              <a:pathLst>
                <a:path w="840104" h="4732020">
                  <a:moveTo>
                    <a:pt x="0" y="4312158"/>
                  </a:moveTo>
                  <a:lnTo>
                    <a:pt x="209930" y="4312158"/>
                  </a:lnTo>
                  <a:lnTo>
                    <a:pt x="209930" y="0"/>
                  </a:lnTo>
                  <a:lnTo>
                    <a:pt x="629792" y="0"/>
                  </a:lnTo>
                  <a:lnTo>
                    <a:pt x="629792" y="4312158"/>
                  </a:lnTo>
                  <a:lnTo>
                    <a:pt x="839724" y="4312158"/>
                  </a:lnTo>
                  <a:lnTo>
                    <a:pt x="419861" y="4732020"/>
                  </a:lnTo>
                  <a:lnTo>
                    <a:pt x="0" y="431215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5">
              <a:extLst>
                <a:ext uri="{FF2B5EF4-FFF2-40B4-BE49-F238E27FC236}">
                  <a16:creationId xmlns:a16="http://schemas.microsoft.com/office/drawing/2014/main" id="{558F7B01-9DE2-6CFE-85C9-88A8FC5373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24260" y="3224784"/>
              <a:ext cx="511289" cy="1610106"/>
            </a:xfrm>
            <a:prstGeom prst="rect">
              <a:avLst/>
            </a:prstGeom>
          </p:spPr>
        </p:pic>
      </p:grpSp>
      <p:sp>
        <p:nvSpPr>
          <p:cNvPr id="60" name="object 56">
            <a:extLst>
              <a:ext uri="{FF2B5EF4-FFF2-40B4-BE49-F238E27FC236}">
                <a16:creationId xmlns:a16="http://schemas.microsoft.com/office/drawing/2014/main" id="{A8C59374-D122-EE33-3A92-E225300D7845}"/>
              </a:ext>
            </a:extLst>
          </p:cNvPr>
          <p:cNvSpPr txBox="1"/>
          <p:nvPr/>
        </p:nvSpPr>
        <p:spPr>
          <a:xfrm>
            <a:off x="11378692" y="3356228"/>
            <a:ext cx="254000" cy="133032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solidFill>
                  <a:srgbClr val="FFC000"/>
                </a:solidFill>
                <a:latin typeface="Calibri"/>
                <a:cs typeface="Calibri"/>
              </a:rPr>
              <a:t>Spécialisation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1" name="object 57">
            <a:extLst>
              <a:ext uri="{FF2B5EF4-FFF2-40B4-BE49-F238E27FC236}">
                <a16:creationId xmlns:a16="http://schemas.microsoft.com/office/drawing/2014/main" id="{FFF2A2ED-9B5B-B129-5894-EBC14F7D41EE}"/>
              </a:ext>
            </a:extLst>
          </p:cNvPr>
          <p:cNvGrpSpPr/>
          <p:nvPr/>
        </p:nvGrpSpPr>
        <p:grpSpPr>
          <a:xfrm>
            <a:off x="65277" y="1753870"/>
            <a:ext cx="852805" cy="4744720"/>
            <a:chOff x="65277" y="1753870"/>
            <a:chExt cx="852805" cy="4744720"/>
          </a:xfrm>
        </p:grpSpPr>
        <p:sp>
          <p:nvSpPr>
            <p:cNvPr id="62" name="object 58">
              <a:extLst>
                <a:ext uri="{FF2B5EF4-FFF2-40B4-BE49-F238E27FC236}">
                  <a16:creationId xmlns:a16="http://schemas.microsoft.com/office/drawing/2014/main" id="{1CB54402-3237-28ED-5384-B89A267B01CF}"/>
                </a:ext>
              </a:extLst>
            </p:cNvPr>
            <p:cNvSpPr/>
            <p:nvPr/>
          </p:nvSpPr>
          <p:spPr>
            <a:xfrm>
              <a:off x="71627" y="1760220"/>
              <a:ext cx="840105" cy="4732020"/>
            </a:xfrm>
            <a:custGeom>
              <a:avLst/>
              <a:gdLst/>
              <a:ahLst/>
              <a:cxnLst/>
              <a:rect l="l" t="t" r="r" b="b"/>
              <a:pathLst>
                <a:path w="840105" h="4732020">
                  <a:moveTo>
                    <a:pt x="419862" y="0"/>
                  </a:moveTo>
                  <a:lnTo>
                    <a:pt x="0" y="419862"/>
                  </a:lnTo>
                  <a:lnTo>
                    <a:pt x="209931" y="419862"/>
                  </a:lnTo>
                  <a:lnTo>
                    <a:pt x="209931" y="4732020"/>
                  </a:lnTo>
                  <a:lnTo>
                    <a:pt x="629793" y="4732020"/>
                  </a:lnTo>
                  <a:lnTo>
                    <a:pt x="629793" y="419862"/>
                  </a:lnTo>
                  <a:lnTo>
                    <a:pt x="839724" y="419862"/>
                  </a:lnTo>
                  <a:lnTo>
                    <a:pt x="41986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59">
              <a:extLst>
                <a:ext uri="{FF2B5EF4-FFF2-40B4-BE49-F238E27FC236}">
                  <a16:creationId xmlns:a16="http://schemas.microsoft.com/office/drawing/2014/main" id="{02DF805C-5028-6105-38E0-44659EE0B418}"/>
                </a:ext>
              </a:extLst>
            </p:cNvPr>
            <p:cNvSpPr/>
            <p:nvPr/>
          </p:nvSpPr>
          <p:spPr>
            <a:xfrm>
              <a:off x="71627" y="1760220"/>
              <a:ext cx="840105" cy="4732020"/>
            </a:xfrm>
            <a:custGeom>
              <a:avLst/>
              <a:gdLst/>
              <a:ahLst/>
              <a:cxnLst/>
              <a:rect l="l" t="t" r="r" b="b"/>
              <a:pathLst>
                <a:path w="840105" h="4732020">
                  <a:moveTo>
                    <a:pt x="839724" y="419862"/>
                  </a:moveTo>
                  <a:lnTo>
                    <a:pt x="629793" y="419862"/>
                  </a:lnTo>
                  <a:lnTo>
                    <a:pt x="629793" y="4732020"/>
                  </a:lnTo>
                  <a:lnTo>
                    <a:pt x="209931" y="4732020"/>
                  </a:lnTo>
                  <a:lnTo>
                    <a:pt x="209931" y="419862"/>
                  </a:lnTo>
                  <a:lnTo>
                    <a:pt x="0" y="419862"/>
                  </a:lnTo>
                  <a:lnTo>
                    <a:pt x="419862" y="0"/>
                  </a:lnTo>
                  <a:lnTo>
                    <a:pt x="839724" y="41986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0">
              <a:extLst>
                <a:ext uri="{FF2B5EF4-FFF2-40B4-BE49-F238E27FC236}">
                  <a16:creationId xmlns:a16="http://schemas.microsoft.com/office/drawing/2014/main" id="{064DA15C-2B51-06C9-E9B3-B729CBE1D3C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368" y="3377184"/>
              <a:ext cx="511289" cy="1687830"/>
            </a:xfrm>
            <a:prstGeom prst="rect">
              <a:avLst/>
            </a:prstGeom>
          </p:spPr>
        </p:pic>
      </p:grpSp>
      <p:sp>
        <p:nvSpPr>
          <p:cNvPr id="65" name="object 61">
            <a:extLst>
              <a:ext uri="{FF2B5EF4-FFF2-40B4-BE49-F238E27FC236}">
                <a16:creationId xmlns:a16="http://schemas.microsoft.com/office/drawing/2014/main" id="{5F86A7FC-7B19-2455-74E2-96BDCEFE8264}"/>
              </a:ext>
            </a:extLst>
          </p:cNvPr>
          <p:cNvSpPr txBox="1"/>
          <p:nvPr/>
        </p:nvSpPr>
        <p:spPr>
          <a:xfrm>
            <a:off x="383692" y="3530297"/>
            <a:ext cx="254000" cy="14065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b="1" spc="-10" dirty="0">
                <a:solidFill>
                  <a:srgbClr val="FFC000"/>
                </a:solidFill>
                <a:latin typeface="Calibri"/>
                <a:cs typeface="Calibri"/>
              </a:rPr>
              <a:t>Généralisation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810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Généralisation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remonter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hiérarchie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		</a:t>
            </a: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objet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voiture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qu'on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généralise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0BE0917-0778-B8FA-55F5-6D4CA160D389}"/>
              </a:ext>
            </a:extLst>
          </p:cNvPr>
          <p:cNvSpPr txBox="1"/>
          <p:nvPr/>
        </p:nvSpPr>
        <p:spPr>
          <a:xfrm>
            <a:off x="2058109" y="3429000"/>
            <a:ext cx="80989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Une voiture est avant tout un véhicule terrestre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LandVehicle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myLandVehicle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Un véhicule terrestre est avant tout un véhicule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Un véhicule est  avant tout un objet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Object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488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Spécialisation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spc="-1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redescendre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hiérarchie 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spc="-10" dirty="0">
                <a:latin typeface="Segoe UI"/>
                <a:cs typeface="Segoe UI"/>
              </a:rPr>
              <a:t>		</a:t>
            </a: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objet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voiture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généralisé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simple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objet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50" dirty="0">
                <a:latin typeface="Segoe UI"/>
                <a:cs typeface="Segoe UI"/>
              </a:rPr>
              <a:t>: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3BB3534-E707-B84D-0CE3-FE9FC41267A0}"/>
              </a:ext>
            </a:extLst>
          </p:cNvPr>
          <p:cNvSpPr txBox="1"/>
          <p:nvPr/>
        </p:nvSpPr>
        <p:spPr>
          <a:xfrm>
            <a:off x="2024742" y="3429000"/>
            <a:ext cx="92310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Object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Originellement notre objet est un véhicule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Originellement notre véhicule est un véhicule terrestre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LandVehicle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myLandVehicle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LandVehicle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Originellement notre véhicule terrestre est une voiture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(Car)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5057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éviter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d'éventuelles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erreurs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important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vérifier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auparavant</a:t>
            </a:r>
            <a:r>
              <a:rPr lang="fr-FR" sz="2400" spc="-25" dirty="0">
                <a:latin typeface="Segoe UI"/>
                <a:cs typeface="Segoe UI"/>
              </a:rPr>
              <a:t> le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b="1" dirty="0">
                <a:latin typeface="Segoe UI"/>
                <a:cs typeface="Segoe UI"/>
              </a:rPr>
              <a:t>type</a:t>
            </a:r>
            <a:r>
              <a:rPr lang="fr-FR" sz="2400" b="1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l'objet</a:t>
            </a:r>
            <a:r>
              <a:rPr lang="fr-FR" sz="2400" dirty="0">
                <a:latin typeface="Segoe UI"/>
                <a:cs typeface="Segoe UI"/>
              </a:rPr>
              <a:t>.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"</a:t>
            </a:r>
            <a:r>
              <a:rPr lang="fr-FR" sz="2400" i="1" spc="-20" dirty="0" err="1">
                <a:latin typeface="Segoe UI"/>
                <a:cs typeface="Segoe UI"/>
              </a:rPr>
              <a:t>is</a:t>
            </a:r>
            <a:r>
              <a:rPr lang="fr-FR" sz="2400" spc="-20" dirty="0">
                <a:latin typeface="Segoe UI"/>
                <a:cs typeface="Segoe UI"/>
              </a:rPr>
              <a:t>« </a:t>
            </a:r>
          </a:p>
          <a:p>
            <a:pPr marL="241300">
              <a:lnSpc>
                <a:spcPct val="100000"/>
              </a:lnSpc>
            </a:pPr>
            <a:r>
              <a:rPr lang="fr-FR" sz="2400" spc="-20" dirty="0">
                <a:latin typeface="Segoe UI"/>
                <a:cs typeface="Segoe UI"/>
              </a:rPr>
              <a:t>	</a:t>
            </a:r>
            <a:r>
              <a:rPr lang="fr-FR" sz="2000" dirty="0">
                <a:latin typeface="Segoe UI"/>
                <a:cs typeface="Segoe UI"/>
              </a:rPr>
              <a:t>Exemple,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notre</a:t>
            </a:r>
            <a:r>
              <a:rPr lang="fr-FR" sz="20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objet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est-il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toujours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voiture</a:t>
            </a:r>
            <a:r>
              <a:rPr lang="fr-FR" sz="2000" spc="-50" dirty="0">
                <a:latin typeface="Segoe UI"/>
                <a:cs typeface="Segoe UI"/>
              </a:rPr>
              <a:t> ?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D9E7D4-0616-4241-904F-858689CEB93C}"/>
              </a:ext>
            </a:extLst>
          </p:cNvPr>
          <p:cNvSpPr txBox="1"/>
          <p:nvPr/>
        </p:nvSpPr>
        <p:spPr>
          <a:xfrm>
            <a:off x="2503713" y="3290501"/>
            <a:ext cx="86650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Object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Originellement notre objet est bien une voiture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(Car)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myObject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412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9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  <a:buClr>
                <a:srgbClr val="391778"/>
              </a:buClr>
              <a:tabLst>
                <a:tab pos="240665" algn="l"/>
              </a:tabLst>
            </a:pPr>
            <a:r>
              <a:rPr lang="fr-FR" sz="2400" b="1" dirty="0">
                <a:latin typeface="Segoe UI"/>
                <a:cs typeface="Segoe UI"/>
              </a:rPr>
              <a:t>Accessibilité</a:t>
            </a:r>
          </a:p>
          <a:p>
            <a:pPr marL="240665" indent="-227965">
              <a:lnSpc>
                <a:spcPct val="100000"/>
              </a:lnSpc>
              <a:spcBef>
                <a:spcPts val="595"/>
              </a:spcBef>
              <a:buClr>
                <a:srgbClr val="391778"/>
              </a:buClr>
              <a:buFont typeface="Arial"/>
              <a:buChar char="•"/>
              <a:tabLst>
                <a:tab pos="240665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lnSpc>
                <a:spcPct val="100000"/>
              </a:lnSpc>
              <a:spcBef>
                <a:spcPts val="595"/>
              </a:spcBef>
              <a:buClr>
                <a:srgbClr val="391778"/>
              </a:buClr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9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rappel</a:t>
            </a:r>
            <a:r>
              <a:rPr lang="fr-FR" sz="2400" spc="-105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469900" marR="5080">
              <a:lnSpc>
                <a:spcPts val="3379"/>
              </a:lnSpc>
              <a:spcBef>
                <a:spcPts val="95"/>
              </a:spcBef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peuvent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notés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«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protected</a:t>
            </a:r>
            <a:r>
              <a:rPr lang="fr-FR" sz="2400" b="1" spc="-3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»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cas,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accessibles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uniquement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héritage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009102A-0E53-4751-21F8-B714B602AD2D}"/>
              </a:ext>
            </a:extLst>
          </p:cNvPr>
          <p:cNvSpPr txBox="1"/>
          <p:nvPr/>
        </p:nvSpPr>
        <p:spPr>
          <a:xfrm>
            <a:off x="4201886" y="409302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Start()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2957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6745" indent="-227329"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1083945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enfant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donc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avoir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accès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aux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membres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i="1" dirty="0">
                <a:latin typeface="Segoe UI"/>
                <a:cs typeface="Segoe UI"/>
              </a:rPr>
              <a:t>protégés</a:t>
            </a:r>
            <a:r>
              <a:rPr lang="fr-FR" sz="2400" i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ou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i="1" spc="-10" dirty="0">
                <a:latin typeface="Segoe UI"/>
                <a:cs typeface="Segoe UI"/>
              </a:rPr>
              <a:t>publiques</a:t>
            </a:r>
          </a:p>
          <a:p>
            <a:pPr marL="399416">
              <a:spcBef>
                <a:spcPts val="100"/>
              </a:spcBef>
              <a:buClr>
                <a:srgbClr val="391778"/>
              </a:buClr>
              <a:tabLst>
                <a:tab pos="1083945" algn="l"/>
              </a:tabLst>
            </a:pPr>
            <a:r>
              <a:rPr lang="fr-FR" sz="2400" dirty="0">
                <a:latin typeface="Segoe UI"/>
                <a:cs typeface="Segoe UI"/>
              </a:rPr>
              <a:t>	L'accès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depuis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1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"</a:t>
            </a:r>
            <a:r>
              <a:rPr lang="fr-FR" sz="2400" i="1" spc="-10" dirty="0">
                <a:latin typeface="Segoe UI"/>
                <a:cs typeface="Segoe UI"/>
              </a:rPr>
              <a:t>base</a:t>
            </a:r>
            <a:r>
              <a:rPr lang="fr-FR" sz="2400" spc="-10" dirty="0">
                <a:latin typeface="Segoe UI"/>
                <a:cs typeface="Segoe UI"/>
              </a:rPr>
              <a:t>"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1B32CB-5803-82E7-CA8F-817115360B62}"/>
              </a:ext>
            </a:extLst>
          </p:cNvPr>
          <p:cNvSpPr txBox="1"/>
          <p:nvPr/>
        </p:nvSpPr>
        <p:spPr>
          <a:xfrm>
            <a:off x="1088571" y="306595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StartEngine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EA3E78-3412-7EA0-CD75-16E3FBD55C34}"/>
              </a:ext>
            </a:extLst>
          </p:cNvPr>
          <p:cNvSpPr txBox="1"/>
          <p:nvPr/>
        </p:nvSpPr>
        <p:spPr>
          <a:xfrm>
            <a:off x="6291942" y="405334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Start()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.StartEngine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494E4E35-040F-8C1F-FEC1-9F687641B1D1}"/>
              </a:ext>
            </a:extLst>
          </p:cNvPr>
          <p:cNvSpPr/>
          <p:nvPr/>
        </p:nvSpPr>
        <p:spPr>
          <a:xfrm>
            <a:off x="2737031" y="4859205"/>
            <a:ext cx="1399540" cy="696595"/>
          </a:xfrm>
          <a:custGeom>
            <a:avLst/>
            <a:gdLst/>
            <a:ahLst/>
            <a:cxnLst/>
            <a:rect l="l" t="t" r="r" b="b"/>
            <a:pathLst>
              <a:path w="1399539" h="696595">
                <a:moveTo>
                  <a:pt x="151699" y="227852"/>
                </a:moveTo>
                <a:lnTo>
                  <a:pt x="75506" y="229375"/>
                </a:lnTo>
                <a:lnTo>
                  <a:pt x="76326" y="696467"/>
                </a:lnTo>
                <a:lnTo>
                  <a:pt x="1399031" y="696467"/>
                </a:lnTo>
                <a:lnTo>
                  <a:pt x="1399031" y="658304"/>
                </a:lnTo>
                <a:lnTo>
                  <a:pt x="152400" y="658304"/>
                </a:lnTo>
                <a:lnTo>
                  <a:pt x="114300" y="620267"/>
                </a:lnTo>
                <a:lnTo>
                  <a:pt x="152338" y="620267"/>
                </a:lnTo>
                <a:lnTo>
                  <a:pt x="151699" y="227852"/>
                </a:lnTo>
                <a:close/>
              </a:path>
              <a:path w="1399539" h="696595">
                <a:moveTo>
                  <a:pt x="152338" y="620267"/>
                </a:moveTo>
                <a:lnTo>
                  <a:pt x="114300" y="620267"/>
                </a:lnTo>
                <a:lnTo>
                  <a:pt x="152400" y="658304"/>
                </a:lnTo>
                <a:lnTo>
                  <a:pt x="152338" y="620267"/>
                </a:lnTo>
                <a:close/>
              </a:path>
              <a:path w="1399539" h="696595">
                <a:moveTo>
                  <a:pt x="1399031" y="620267"/>
                </a:moveTo>
                <a:lnTo>
                  <a:pt x="152338" y="620267"/>
                </a:lnTo>
                <a:lnTo>
                  <a:pt x="152400" y="658304"/>
                </a:lnTo>
                <a:lnTo>
                  <a:pt x="1399031" y="658304"/>
                </a:lnTo>
                <a:lnTo>
                  <a:pt x="1399031" y="620267"/>
                </a:lnTo>
                <a:close/>
              </a:path>
              <a:path w="1399539" h="696595">
                <a:moveTo>
                  <a:pt x="109727" y="0"/>
                </a:moveTo>
                <a:lnTo>
                  <a:pt x="0" y="230885"/>
                </a:lnTo>
                <a:lnTo>
                  <a:pt x="75506" y="229375"/>
                </a:lnTo>
                <a:lnTo>
                  <a:pt x="75437" y="190499"/>
                </a:lnTo>
                <a:lnTo>
                  <a:pt x="209721" y="190372"/>
                </a:lnTo>
                <a:lnTo>
                  <a:pt x="109727" y="0"/>
                </a:lnTo>
                <a:close/>
              </a:path>
              <a:path w="1399539" h="696595">
                <a:moveTo>
                  <a:pt x="151637" y="190372"/>
                </a:moveTo>
                <a:lnTo>
                  <a:pt x="75437" y="190499"/>
                </a:lnTo>
                <a:lnTo>
                  <a:pt x="75506" y="229375"/>
                </a:lnTo>
                <a:lnTo>
                  <a:pt x="151699" y="227852"/>
                </a:lnTo>
                <a:lnTo>
                  <a:pt x="151637" y="190372"/>
                </a:lnTo>
                <a:close/>
              </a:path>
              <a:path w="1399539" h="696595">
                <a:moveTo>
                  <a:pt x="209721" y="190372"/>
                </a:moveTo>
                <a:lnTo>
                  <a:pt x="151637" y="190372"/>
                </a:lnTo>
                <a:lnTo>
                  <a:pt x="151699" y="227852"/>
                </a:lnTo>
                <a:lnTo>
                  <a:pt x="228600" y="226313"/>
                </a:lnTo>
                <a:lnTo>
                  <a:pt x="209721" y="19037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09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33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‘base’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l'appel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constructeur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parent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présent,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alors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celui-</a:t>
            </a:r>
            <a:r>
              <a:rPr lang="fr-FR" sz="2000" dirty="0">
                <a:latin typeface="Segoe UI"/>
                <a:cs typeface="Segoe UI"/>
              </a:rPr>
              <a:t>ci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généré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appelant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constructeur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défaut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494E4E35-040F-8C1F-FEC1-9F687641B1D1}"/>
              </a:ext>
            </a:extLst>
          </p:cNvPr>
          <p:cNvSpPr/>
          <p:nvPr/>
        </p:nvSpPr>
        <p:spPr>
          <a:xfrm>
            <a:off x="2737031" y="4859205"/>
            <a:ext cx="1399540" cy="696595"/>
          </a:xfrm>
          <a:custGeom>
            <a:avLst/>
            <a:gdLst/>
            <a:ahLst/>
            <a:cxnLst/>
            <a:rect l="l" t="t" r="r" b="b"/>
            <a:pathLst>
              <a:path w="1399539" h="696595">
                <a:moveTo>
                  <a:pt x="151699" y="227852"/>
                </a:moveTo>
                <a:lnTo>
                  <a:pt x="75506" y="229375"/>
                </a:lnTo>
                <a:lnTo>
                  <a:pt x="76326" y="696467"/>
                </a:lnTo>
                <a:lnTo>
                  <a:pt x="1399031" y="696467"/>
                </a:lnTo>
                <a:lnTo>
                  <a:pt x="1399031" y="658304"/>
                </a:lnTo>
                <a:lnTo>
                  <a:pt x="152400" y="658304"/>
                </a:lnTo>
                <a:lnTo>
                  <a:pt x="114300" y="620267"/>
                </a:lnTo>
                <a:lnTo>
                  <a:pt x="152338" y="620267"/>
                </a:lnTo>
                <a:lnTo>
                  <a:pt x="151699" y="227852"/>
                </a:lnTo>
                <a:close/>
              </a:path>
              <a:path w="1399539" h="696595">
                <a:moveTo>
                  <a:pt x="152338" y="620267"/>
                </a:moveTo>
                <a:lnTo>
                  <a:pt x="114300" y="620267"/>
                </a:lnTo>
                <a:lnTo>
                  <a:pt x="152400" y="658304"/>
                </a:lnTo>
                <a:lnTo>
                  <a:pt x="152338" y="620267"/>
                </a:lnTo>
                <a:close/>
              </a:path>
              <a:path w="1399539" h="696595">
                <a:moveTo>
                  <a:pt x="1399031" y="620267"/>
                </a:moveTo>
                <a:lnTo>
                  <a:pt x="152338" y="620267"/>
                </a:lnTo>
                <a:lnTo>
                  <a:pt x="152400" y="658304"/>
                </a:lnTo>
                <a:lnTo>
                  <a:pt x="1399031" y="658304"/>
                </a:lnTo>
                <a:lnTo>
                  <a:pt x="1399031" y="620267"/>
                </a:lnTo>
                <a:close/>
              </a:path>
              <a:path w="1399539" h="696595">
                <a:moveTo>
                  <a:pt x="109727" y="0"/>
                </a:moveTo>
                <a:lnTo>
                  <a:pt x="0" y="230885"/>
                </a:lnTo>
                <a:lnTo>
                  <a:pt x="75506" y="229375"/>
                </a:lnTo>
                <a:lnTo>
                  <a:pt x="75437" y="190499"/>
                </a:lnTo>
                <a:lnTo>
                  <a:pt x="209721" y="190372"/>
                </a:lnTo>
                <a:lnTo>
                  <a:pt x="109727" y="0"/>
                </a:lnTo>
                <a:close/>
              </a:path>
              <a:path w="1399539" h="696595">
                <a:moveTo>
                  <a:pt x="151637" y="190372"/>
                </a:moveTo>
                <a:lnTo>
                  <a:pt x="75437" y="190499"/>
                </a:lnTo>
                <a:lnTo>
                  <a:pt x="75506" y="229375"/>
                </a:lnTo>
                <a:lnTo>
                  <a:pt x="151699" y="227852"/>
                </a:lnTo>
                <a:lnTo>
                  <a:pt x="151637" y="190372"/>
                </a:lnTo>
                <a:close/>
              </a:path>
              <a:path w="1399539" h="696595">
                <a:moveTo>
                  <a:pt x="209721" y="190372"/>
                </a:moveTo>
                <a:lnTo>
                  <a:pt x="151637" y="190372"/>
                </a:lnTo>
                <a:lnTo>
                  <a:pt x="151699" y="227852"/>
                </a:lnTo>
                <a:lnTo>
                  <a:pt x="228600" y="226313"/>
                </a:lnTo>
                <a:lnTo>
                  <a:pt x="209721" y="19037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C6C51EC-3042-54D7-CB96-80600577BB7C}"/>
              </a:ext>
            </a:extLst>
          </p:cNvPr>
          <p:cNvSpPr txBox="1"/>
          <p:nvPr/>
        </p:nvSpPr>
        <p:spPr>
          <a:xfrm>
            <a:off x="1200013" y="3054858"/>
            <a:ext cx="30740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5614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86118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25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r>
              <a:rPr sz="1800" spc="225" dirty="0">
                <a:latin typeface="Trebuchet MS"/>
                <a:cs typeface="Trebuchet MS"/>
              </a:rPr>
              <a:t>()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73D0C505-479E-DD5D-C42F-444B14C5410C}"/>
              </a:ext>
            </a:extLst>
          </p:cNvPr>
          <p:cNvSpPr txBox="1"/>
          <p:nvPr/>
        </p:nvSpPr>
        <p:spPr>
          <a:xfrm>
            <a:off x="6679072" y="4048505"/>
            <a:ext cx="3493135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4980" algn="l"/>
                <a:tab pos="2279015" algn="l"/>
                <a:tab pos="254571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20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260"/>
              </a:spcBef>
              <a:tabLst>
                <a:tab pos="186118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20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spc="220" dirty="0">
                <a:latin typeface="Trebuchet MS"/>
                <a:cs typeface="Trebuchet MS"/>
              </a:rPr>
              <a:t>()</a:t>
            </a:r>
            <a:endParaRPr sz="1800" dirty="0">
              <a:latin typeface="Trebuchet MS"/>
              <a:cs typeface="Trebuchet MS"/>
            </a:endParaRPr>
          </a:p>
          <a:p>
            <a:pPr marL="1841500">
              <a:lnSpc>
                <a:spcPct val="100000"/>
              </a:lnSpc>
              <a:tabLst>
                <a:tab pos="2108200" algn="l"/>
              </a:tabLst>
            </a:pPr>
            <a:r>
              <a:rPr sz="1800" spc="34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b="1" spc="175" dirty="0">
                <a:solidFill>
                  <a:srgbClr val="0000FF"/>
                </a:solidFill>
                <a:latin typeface="Trebuchet MS"/>
                <a:cs typeface="Trebuchet MS"/>
              </a:rPr>
              <a:t>base</a:t>
            </a:r>
            <a:r>
              <a:rPr sz="1800" b="1" spc="175" dirty="0">
                <a:latin typeface="Trebuchet MS"/>
                <a:cs typeface="Trebuchet MS"/>
              </a:rPr>
              <a:t>()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16971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44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Surcharge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méthode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du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parent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être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surchargée</a:t>
            </a:r>
            <a:r>
              <a:rPr lang="fr-FR" sz="2400" b="1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enfant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surcharge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héritage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utilisant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mots-clés</a:t>
            </a:r>
            <a:r>
              <a:rPr lang="fr-FR" sz="2400" spc="-50" dirty="0">
                <a:latin typeface="Segoe UI"/>
                <a:cs typeface="Segoe UI"/>
              </a:rPr>
              <a:t> :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méthode</a:t>
            </a:r>
            <a:r>
              <a:rPr lang="fr-FR" sz="2400" u="sng" spc="-7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parente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virtual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méthode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enfant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b="1" spc="-10" dirty="0" err="1">
                <a:latin typeface="Segoe UI"/>
                <a:cs typeface="Segoe UI"/>
              </a:rPr>
              <a:t>override</a:t>
            </a: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68165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B7C998DE-804E-E3EF-6F8F-8B55947F0316}"/>
              </a:ext>
            </a:extLst>
          </p:cNvPr>
          <p:cNvSpPr txBox="1"/>
          <p:nvPr/>
        </p:nvSpPr>
        <p:spPr>
          <a:xfrm>
            <a:off x="1937130" y="1415872"/>
            <a:ext cx="5207635" cy="254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498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2260600" algn="l"/>
                <a:tab pos="2794000" algn="l"/>
              </a:tabLst>
            </a:pPr>
            <a:r>
              <a:rPr sz="1800" spc="150" dirty="0">
                <a:solidFill>
                  <a:srgbClr val="0000FF"/>
                </a:solidFill>
                <a:latin typeface="Trebuchet MS"/>
                <a:cs typeface="Trebuchet MS"/>
              </a:rPr>
              <a:t>protected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55" dirty="0">
                <a:latin typeface="Trebuchet MS"/>
                <a:cs typeface="Trebuchet MS"/>
              </a:rPr>
              <a:t>currentSpeed;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861185" algn="l"/>
                <a:tab pos="2926715" algn="l"/>
                <a:tab pos="359410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b="1" spc="245" dirty="0" err="1">
                <a:solidFill>
                  <a:srgbClr val="0000FF"/>
                </a:solidFill>
                <a:latin typeface="Trebuchet MS"/>
                <a:cs typeface="Trebuchet MS"/>
              </a:rPr>
              <a:t>virtual</a:t>
            </a:r>
            <a:r>
              <a:rPr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00" dirty="0">
                <a:latin typeface="Trebuchet MS"/>
                <a:cs typeface="Trebuchet MS"/>
              </a:rPr>
              <a:t>Accelerate()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1840864">
              <a:lnSpc>
                <a:spcPct val="100000"/>
              </a:lnSpc>
            </a:pP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this</a:t>
            </a:r>
            <a:r>
              <a:rPr sz="1800" spc="185" dirty="0">
                <a:latin typeface="Trebuchet MS"/>
                <a:cs typeface="Trebuchet MS"/>
              </a:rPr>
              <a:t>.currentSpeed++;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56A714E-3187-628C-DC4B-2471DBB27542}"/>
              </a:ext>
            </a:extLst>
          </p:cNvPr>
          <p:cNvSpPr txBox="1"/>
          <p:nvPr/>
        </p:nvSpPr>
        <p:spPr>
          <a:xfrm>
            <a:off x="5744717" y="4173728"/>
            <a:ext cx="5339715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4980" algn="l"/>
                <a:tab pos="2278380" algn="l"/>
                <a:tab pos="254571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260"/>
              </a:spcBef>
              <a:tabLst>
                <a:tab pos="1861185" algn="l"/>
                <a:tab pos="3060700" algn="l"/>
                <a:tab pos="372681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b="1" spc="135" dirty="0">
                <a:solidFill>
                  <a:srgbClr val="0000FF"/>
                </a:solidFill>
                <a:latin typeface="Trebuchet MS"/>
                <a:cs typeface="Trebuchet MS"/>
              </a:rPr>
              <a:t>override</a:t>
            </a:r>
            <a:r>
              <a:rPr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00" dirty="0">
                <a:latin typeface="Trebuchet MS"/>
                <a:cs typeface="Trebuchet MS"/>
              </a:rPr>
              <a:t>Accelerate()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841500">
              <a:lnSpc>
                <a:spcPct val="100000"/>
              </a:lnSpc>
              <a:tabLst>
                <a:tab pos="4241800" algn="l"/>
                <a:tab pos="4641215" algn="l"/>
              </a:tabLst>
            </a:pPr>
            <a:r>
              <a:rPr sz="1800" spc="145" dirty="0">
                <a:solidFill>
                  <a:srgbClr val="0000FF"/>
                </a:solidFill>
                <a:latin typeface="Trebuchet MS"/>
                <a:cs typeface="Trebuchet MS"/>
              </a:rPr>
              <a:t>base</a:t>
            </a:r>
            <a:r>
              <a:rPr sz="1800" spc="145" dirty="0">
                <a:latin typeface="Trebuchet MS"/>
                <a:cs typeface="Trebuchet MS"/>
              </a:rPr>
              <a:t>.currentSpeed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70" dirty="0">
                <a:latin typeface="Trebuchet MS"/>
                <a:cs typeface="Trebuchet MS"/>
              </a:rPr>
              <a:t>+=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15" dirty="0">
                <a:latin typeface="Trebuchet MS"/>
                <a:cs typeface="Trebuchet MS"/>
              </a:rPr>
              <a:t>5;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8">
            <a:extLst>
              <a:ext uri="{FF2B5EF4-FFF2-40B4-BE49-F238E27FC236}">
                <a16:creationId xmlns:a16="http://schemas.microsoft.com/office/drawing/2014/main" id="{286AA62D-E18F-17B5-C9C8-2548608C43ED}"/>
              </a:ext>
            </a:extLst>
          </p:cNvPr>
          <p:cNvGrpSpPr/>
          <p:nvPr/>
        </p:nvGrpSpPr>
        <p:grpSpPr>
          <a:xfrm>
            <a:off x="1552702" y="4846065"/>
            <a:ext cx="2832100" cy="1454785"/>
            <a:chOff x="1552702" y="4846065"/>
            <a:chExt cx="2832100" cy="1454785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7912F133-CC04-98A7-9067-8241F69E2A4F}"/>
                </a:ext>
              </a:extLst>
            </p:cNvPr>
            <p:cNvSpPr/>
            <p:nvPr/>
          </p:nvSpPr>
          <p:spPr>
            <a:xfrm>
              <a:off x="1559052" y="4852415"/>
              <a:ext cx="2819400" cy="1442085"/>
            </a:xfrm>
            <a:custGeom>
              <a:avLst/>
              <a:gdLst/>
              <a:ahLst/>
              <a:cxnLst/>
              <a:rect l="l" t="t" r="r" b="b"/>
              <a:pathLst>
                <a:path w="2819400" h="1442085">
                  <a:moveTo>
                    <a:pt x="2579116" y="0"/>
                  </a:moveTo>
                  <a:lnTo>
                    <a:pt x="240284" y="0"/>
                  </a:lnTo>
                  <a:lnTo>
                    <a:pt x="191855" y="4881"/>
                  </a:lnTo>
                  <a:lnTo>
                    <a:pt x="146750" y="18881"/>
                  </a:lnTo>
                  <a:lnTo>
                    <a:pt x="105934" y="41034"/>
                  </a:lnTo>
                  <a:lnTo>
                    <a:pt x="70373" y="70373"/>
                  </a:lnTo>
                  <a:lnTo>
                    <a:pt x="41034" y="105934"/>
                  </a:lnTo>
                  <a:lnTo>
                    <a:pt x="18881" y="146750"/>
                  </a:lnTo>
                  <a:lnTo>
                    <a:pt x="4881" y="191855"/>
                  </a:lnTo>
                  <a:lnTo>
                    <a:pt x="0" y="240283"/>
                  </a:lnTo>
                  <a:lnTo>
                    <a:pt x="0" y="1201419"/>
                  </a:lnTo>
                  <a:lnTo>
                    <a:pt x="4881" y="1249844"/>
                  </a:lnTo>
                  <a:lnTo>
                    <a:pt x="18881" y="1294948"/>
                  </a:lnTo>
                  <a:lnTo>
                    <a:pt x="41034" y="1335763"/>
                  </a:lnTo>
                  <a:lnTo>
                    <a:pt x="70373" y="1371325"/>
                  </a:lnTo>
                  <a:lnTo>
                    <a:pt x="105934" y="1400666"/>
                  </a:lnTo>
                  <a:lnTo>
                    <a:pt x="146750" y="1422820"/>
                  </a:lnTo>
                  <a:lnTo>
                    <a:pt x="191855" y="1436822"/>
                  </a:lnTo>
                  <a:lnTo>
                    <a:pt x="240284" y="1441703"/>
                  </a:lnTo>
                  <a:lnTo>
                    <a:pt x="2579116" y="1441703"/>
                  </a:lnTo>
                  <a:lnTo>
                    <a:pt x="2627544" y="1436822"/>
                  </a:lnTo>
                  <a:lnTo>
                    <a:pt x="2672649" y="1422820"/>
                  </a:lnTo>
                  <a:lnTo>
                    <a:pt x="2713465" y="1400666"/>
                  </a:lnTo>
                  <a:lnTo>
                    <a:pt x="2749026" y="1371325"/>
                  </a:lnTo>
                  <a:lnTo>
                    <a:pt x="2778365" y="1335763"/>
                  </a:lnTo>
                  <a:lnTo>
                    <a:pt x="2800518" y="1294948"/>
                  </a:lnTo>
                  <a:lnTo>
                    <a:pt x="2814518" y="1249844"/>
                  </a:lnTo>
                  <a:lnTo>
                    <a:pt x="2819400" y="1201419"/>
                  </a:lnTo>
                  <a:lnTo>
                    <a:pt x="2819400" y="240283"/>
                  </a:lnTo>
                  <a:lnTo>
                    <a:pt x="2814518" y="191855"/>
                  </a:lnTo>
                  <a:lnTo>
                    <a:pt x="2800518" y="146750"/>
                  </a:lnTo>
                  <a:lnTo>
                    <a:pt x="2778365" y="105934"/>
                  </a:lnTo>
                  <a:lnTo>
                    <a:pt x="2749026" y="70373"/>
                  </a:lnTo>
                  <a:lnTo>
                    <a:pt x="2713465" y="41034"/>
                  </a:lnTo>
                  <a:lnTo>
                    <a:pt x="2672649" y="18881"/>
                  </a:lnTo>
                  <a:lnTo>
                    <a:pt x="2627544" y="4881"/>
                  </a:lnTo>
                  <a:lnTo>
                    <a:pt x="25791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98BB85A2-2C7C-622E-247E-D572AB891360}"/>
                </a:ext>
              </a:extLst>
            </p:cNvPr>
            <p:cNvSpPr/>
            <p:nvPr/>
          </p:nvSpPr>
          <p:spPr>
            <a:xfrm>
              <a:off x="1559052" y="4852415"/>
              <a:ext cx="2819400" cy="1442085"/>
            </a:xfrm>
            <a:custGeom>
              <a:avLst/>
              <a:gdLst/>
              <a:ahLst/>
              <a:cxnLst/>
              <a:rect l="l" t="t" r="r" b="b"/>
              <a:pathLst>
                <a:path w="2819400" h="1442085">
                  <a:moveTo>
                    <a:pt x="0" y="240283"/>
                  </a:moveTo>
                  <a:lnTo>
                    <a:pt x="4881" y="191855"/>
                  </a:lnTo>
                  <a:lnTo>
                    <a:pt x="18881" y="146750"/>
                  </a:lnTo>
                  <a:lnTo>
                    <a:pt x="41034" y="105934"/>
                  </a:lnTo>
                  <a:lnTo>
                    <a:pt x="70373" y="70373"/>
                  </a:lnTo>
                  <a:lnTo>
                    <a:pt x="105934" y="41034"/>
                  </a:lnTo>
                  <a:lnTo>
                    <a:pt x="146750" y="18881"/>
                  </a:lnTo>
                  <a:lnTo>
                    <a:pt x="191855" y="4881"/>
                  </a:lnTo>
                  <a:lnTo>
                    <a:pt x="240284" y="0"/>
                  </a:lnTo>
                  <a:lnTo>
                    <a:pt x="2579116" y="0"/>
                  </a:lnTo>
                  <a:lnTo>
                    <a:pt x="2627544" y="4881"/>
                  </a:lnTo>
                  <a:lnTo>
                    <a:pt x="2672649" y="18881"/>
                  </a:lnTo>
                  <a:lnTo>
                    <a:pt x="2713465" y="41034"/>
                  </a:lnTo>
                  <a:lnTo>
                    <a:pt x="2749026" y="70373"/>
                  </a:lnTo>
                  <a:lnTo>
                    <a:pt x="2778365" y="105934"/>
                  </a:lnTo>
                  <a:lnTo>
                    <a:pt x="2800518" y="146750"/>
                  </a:lnTo>
                  <a:lnTo>
                    <a:pt x="2814518" y="191855"/>
                  </a:lnTo>
                  <a:lnTo>
                    <a:pt x="2819400" y="240283"/>
                  </a:lnTo>
                  <a:lnTo>
                    <a:pt x="2819400" y="1201419"/>
                  </a:lnTo>
                  <a:lnTo>
                    <a:pt x="2814518" y="1249844"/>
                  </a:lnTo>
                  <a:lnTo>
                    <a:pt x="2800518" y="1294948"/>
                  </a:lnTo>
                  <a:lnTo>
                    <a:pt x="2778365" y="1335763"/>
                  </a:lnTo>
                  <a:lnTo>
                    <a:pt x="2749026" y="1371325"/>
                  </a:lnTo>
                  <a:lnTo>
                    <a:pt x="2713465" y="1400666"/>
                  </a:lnTo>
                  <a:lnTo>
                    <a:pt x="2672649" y="1422820"/>
                  </a:lnTo>
                  <a:lnTo>
                    <a:pt x="2627544" y="1436822"/>
                  </a:lnTo>
                  <a:lnTo>
                    <a:pt x="2579116" y="1441703"/>
                  </a:lnTo>
                  <a:lnTo>
                    <a:pt x="240284" y="1441703"/>
                  </a:lnTo>
                  <a:lnTo>
                    <a:pt x="191855" y="1436822"/>
                  </a:lnTo>
                  <a:lnTo>
                    <a:pt x="146750" y="1422820"/>
                  </a:lnTo>
                  <a:lnTo>
                    <a:pt x="105934" y="1400666"/>
                  </a:lnTo>
                  <a:lnTo>
                    <a:pt x="70373" y="1371325"/>
                  </a:lnTo>
                  <a:lnTo>
                    <a:pt x="41034" y="1335763"/>
                  </a:lnTo>
                  <a:lnTo>
                    <a:pt x="18881" y="1294948"/>
                  </a:lnTo>
                  <a:lnTo>
                    <a:pt x="4881" y="1249844"/>
                  </a:lnTo>
                  <a:lnTo>
                    <a:pt x="0" y="1201419"/>
                  </a:lnTo>
                  <a:lnTo>
                    <a:pt x="0" y="240283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1">
            <a:extLst>
              <a:ext uri="{FF2B5EF4-FFF2-40B4-BE49-F238E27FC236}">
                <a16:creationId xmlns:a16="http://schemas.microsoft.com/office/drawing/2014/main" id="{A38EC437-5C9D-90EC-54B9-2C9CCC1CBB62}"/>
              </a:ext>
            </a:extLst>
          </p:cNvPr>
          <p:cNvSpPr txBox="1"/>
          <p:nvPr/>
        </p:nvSpPr>
        <p:spPr>
          <a:xfrm>
            <a:off x="1712214" y="5134736"/>
            <a:ext cx="25101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Ecrasement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méthode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du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dans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création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d’un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objet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Car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C480CBFB-2E9F-0468-7139-584F1F67353F}"/>
              </a:ext>
            </a:extLst>
          </p:cNvPr>
          <p:cNvSpPr/>
          <p:nvPr/>
        </p:nvSpPr>
        <p:spPr>
          <a:xfrm>
            <a:off x="4374896" y="5094478"/>
            <a:ext cx="1952625" cy="498475"/>
          </a:xfrm>
          <a:custGeom>
            <a:avLst/>
            <a:gdLst/>
            <a:ahLst/>
            <a:cxnLst/>
            <a:rect l="l" t="t" r="r" b="b"/>
            <a:pathLst>
              <a:path w="1952625" h="498475">
                <a:moveTo>
                  <a:pt x="1836470" y="37163"/>
                </a:moveTo>
                <a:lnTo>
                  <a:pt x="0" y="461264"/>
                </a:lnTo>
                <a:lnTo>
                  <a:pt x="8636" y="498411"/>
                </a:lnTo>
                <a:lnTo>
                  <a:pt x="1845017" y="74268"/>
                </a:lnTo>
                <a:lnTo>
                  <a:pt x="1836470" y="37163"/>
                </a:lnTo>
                <a:close/>
              </a:path>
              <a:path w="1952625" h="498475">
                <a:moveTo>
                  <a:pt x="1948580" y="32893"/>
                </a:moveTo>
                <a:lnTo>
                  <a:pt x="1854962" y="32893"/>
                </a:lnTo>
                <a:lnTo>
                  <a:pt x="1863598" y="69977"/>
                </a:lnTo>
                <a:lnTo>
                  <a:pt x="1845017" y="74268"/>
                </a:lnTo>
                <a:lnTo>
                  <a:pt x="1853564" y="111379"/>
                </a:lnTo>
                <a:lnTo>
                  <a:pt x="1948580" y="32893"/>
                </a:lnTo>
                <a:close/>
              </a:path>
              <a:path w="1952625" h="498475">
                <a:moveTo>
                  <a:pt x="1854962" y="32893"/>
                </a:moveTo>
                <a:lnTo>
                  <a:pt x="1836470" y="37163"/>
                </a:lnTo>
                <a:lnTo>
                  <a:pt x="1845017" y="74268"/>
                </a:lnTo>
                <a:lnTo>
                  <a:pt x="1863598" y="69977"/>
                </a:lnTo>
                <a:lnTo>
                  <a:pt x="1854962" y="32893"/>
                </a:lnTo>
                <a:close/>
              </a:path>
              <a:path w="1952625" h="498475">
                <a:moveTo>
                  <a:pt x="1827911" y="0"/>
                </a:moveTo>
                <a:lnTo>
                  <a:pt x="1836470" y="37163"/>
                </a:lnTo>
                <a:lnTo>
                  <a:pt x="1854962" y="32893"/>
                </a:lnTo>
                <a:lnTo>
                  <a:pt x="1948580" y="32893"/>
                </a:lnTo>
                <a:lnTo>
                  <a:pt x="1952116" y="29972"/>
                </a:lnTo>
                <a:lnTo>
                  <a:pt x="182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636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9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Surcharge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Ainsi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b="1" dirty="0" err="1">
                <a:latin typeface="Segoe UI"/>
                <a:cs typeface="Segoe UI"/>
              </a:rPr>
              <a:t>override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méthode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surchargée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sera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toujours</a:t>
            </a:r>
            <a:r>
              <a:rPr lang="fr-FR" sz="2400" b="1" spc="-7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utilisée</a:t>
            </a:r>
            <a:r>
              <a:rPr lang="fr-FR" sz="2400" b="1" spc="-5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même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lors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appel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après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utilisation 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généralisation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87255D1-1A13-5A24-4990-C61BD375183E}"/>
              </a:ext>
            </a:extLst>
          </p:cNvPr>
          <p:cNvSpPr txBox="1"/>
          <p:nvPr/>
        </p:nvSpPr>
        <p:spPr>
          <a:xfrm>
            <a:off x="1045028" y="3429000"/>
            <a:ext cx="105255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appel de la méthode de l'enfant, augmentation de la vitesse de 5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Généralisation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toujours appel de la méthode de l'enfant, augmentation de la vitesse de 5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myVehicle.Accelerate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4216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6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Surcharge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Lorsque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virtual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n’est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n’est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 </a:t>
            </a:r>
            <a:r>
              <a:rPr lang="fr-FR" sz="2400" spc="-10" dirty="0" err="1">
                <a:latin typeface="Segoe UI"/>
                <a:cs typeface="Segoe UI"/>
              </a:rPr>
              <a:t>override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marR="175895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 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 </a:t>
            </a:r>
            <a:r>
              <a:rPr lang="fr-FR" sz="2400" b="1" dirty="0">
                <a:latin typeface="Segoe UI"/>
                <a:cs typeface="Segoe UI"/>
              </a:rPr>
              <a:t>new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l’enfant, 	</a:t>
            </a:r>
            <a:r>
              <a:rPr lang="fr-FR" sz="2400" dirty="0">
                <a:latin typeface="Segoe UI"/>
                <a:cs typeface="Segoe UI"/>
              </a:rPr>
              <a:t>cela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s’appelle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‘</a:t>
            </a:r>
            <a:r>
              <a:rPr lang="fr-FR" sz="2400" i="1" spc="-10" dirty="0" err="1">
                <a:latin typeface="Segoe UI"/>
                <a:cs typeface="Segoe UI"/>
              </a:rPr>
              <a:t>hiding</a:t>
            </a:r>
            <a:r>
              <a:rPr lang="fr-FR" sz="2400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2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25" dirty="0">
                <a:latin typeface="Segoe UI"/>
                <a:cs typeface="Segoe UI"/>
              </a:rPr>
              <a:t>Technique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souvent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considérée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mauvaise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pratique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Souvent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liée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erreur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</a:t>
            </a:r>
            <a:r>
              <a:rPr lang="fr-FR" sz="2000" dirty="0" err="1">
                <a:latin typeface="Segoe UI"/>
                <a:cs typeface="Segoe UI"/>
              </a:rPr>
              <a:t>override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oublié,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masquée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sans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vouloir…)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23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comportement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différent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s’agit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nouvelle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méthode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lang="fr-FR" sz="2400" dirty="0">
                <a:latin typeface="Segoe UI"/>
                <a:cs typeface="Segoe UI"/>
              </a:rPr>
              <a:t>disponible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uniquement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l’enfant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81916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65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/>
              <a:t>Surcharge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Lorsque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virtual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n’est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défini,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n’est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 </a:t>
            </a:r>
            <a:r>
              <a:rPr lang="fr-FR" sz="2400" spc="-10" dirty="0" err="1">
                <a:latin typeface="Segoe UI"/>
                <a:cs typeface="Segoe UI"/>
              </a:rPr>
              <a:t>override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marR="175895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 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 </a:t>
            </a:r>
            <a:r>
              <a:rPr lang="fr-FR" sz="2400" b="1" dirty="0">
                <a:latin typeface="Segoe UI"/>
                <a:cs typeface="Segoe UI"/>
              </a:rPr>
              <a:t>new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l’enfant, 	</a:t>
            </a:r>
            <a:r>
              <a:rPr lang="fr-FR" sz="2400" dirty="0">
                <a:latin typeface="Segoe UI"/>
                <a:cs typeface="Segoe UI"/>
              </a:rPr>
              <a:t>cela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s’appelle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‘</a:t>
            </a:r>
            <a:r>
              <a:rPr lang="fr-FR" sz="2400" i="1" spc="-10" dirty="0" err="1">
                <a:latin typeface="Segoe UI"/>
                <a:cs typeface="Segoe UI"/>
              </a:rPr>
              <a:t>hiding</a:t>
            </a:r>
            <a:r>
              <a:rPr lang="fr-FR" sz="2400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2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25" dirty="0">
                <a:latin typeface="Segoe UI"/>
                <a:cs typeface="Segoe UI"/>
              </a:rPr>
              <a:t>Technique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souvent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considérée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comme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mauvaise</a:t>
            </a:r>
            <a:r>
              <a:rPr lang="fr-FR" sz="2000" spc="-7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pratique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Souvent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liée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erreur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</a:t>
            </a:r>
            <a:r>
              <a:rPr lang="fr-FR" sz="2000" dirty="0" err="1">
                <a:latin typeface="Segoe UI"/>
                <a:cs typeface="Segoe UI"/>
              </a:rPr>
              <a:t>override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oublié,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masquée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sans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vouloir…)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23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comportement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différent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s’agit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nouvelle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méthode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lang="fr-FR" sz="2400" dirty="0">
                <a:latin typeface="Segoe UI"/>
                <a:cs typeface="Segoe UI"/>
              </a:rPr>
              <a:t>disponible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uniquement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l’enfant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11603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D73564-E7B8-46EA-C52A-EA36CBB33AF6}"/>
              </a:ext>
            </a:extLst>
          </p:cNvPr>
          <p:cNvSpPr txBox="1"/>
          <p:nvPr/>
        </p:nvSpPr>
        <p:spPr>
          <a:xfrm>
            <a:off x="2231045" y="1296129"/>
            <a:ext cx="4539615" cy="254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498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2260600" algn="l"/>
                <a:tab pos="2794000" algn="l"/>
              </a:tabLst>
            </a:pPr>
            <a:r>
              <a:rPr sz="1800" spc="150" dirty="0">
                <a:solidFill>
                  <a:srgbClr val="0000FF"/>
                </a:solidFill>
                <a:latin typeface="Trebuchet MS"/>
                <a:cs typeface="Trebuchet MS"/>
              </a:rPr>
              <a:t>protected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55" dirty="0">
                <a:latin typeface="Trebuchet MS"/>
                <a:cs typeface="Trebuchet MS"/>
              </a:rPr>
              <a:t>currentSpeed;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861185" algn="l"/>
                <a:tab pos="252730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00" dirty="0">
                <a:latin typeface="Trebuchet MS"/>
                <a:cs typeface="Trebuchet MS"/>
              </a:rPr>
              <a:t>Accelerate()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1840864">
              <a:lnSpc>
                <a:spcPct val="100000"/>
              </a:lnSpc>
            </a:pP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this</a:t>
            </a:r>
            <a:r>
              <a:rPr sz="1800" spc="185" dirty="0">
                <a:latin typeface="Trebuchet MS"/>
                <a:cs typeface="Trebuchet MS"/>
              </a:rPr>
              <a:t>.currentSpeed++;</a:t>
            </a:r>
            <a:endParaRPr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E7F4773-F58B-F325-8FAF-C6A13C012034}"/>
              </a:ext>
            </a:extLst>
          </p:cNvPr>
          <p:cNvSpPr txBox="1"/>
          <p:nvPr/>
        </p:nvSpPr>
        <p:spPr>
          <a:xfrm>
            <a:off x="6038632" y="4053985"/>
            <a:ext cx="4921250" cy="2106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4980" algn="l"/>
                <a:tab pos="2278380" algn="l"/>
                <a:tab pos="254571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4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260"/>
              </a:spcBef>
              <a:tabLst>
                <a:tab pos="1861185" algn="l"/>
                <a:tab pos="2393315" algn="l"/>
                <a:tab pos="306070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b="1" spc="-25" dirty="0">
                <a:solidFill>
                  <a:srgbClr val="0000FF"/>
                </a:solidFill>
                <a:latin typeface="Trebuchet MS"/>
                <a:cs typeface="Trebuchet MS"/>
              </a:rPr>
              <a:t>new</a:t>
            </a:r>
            <a:r>
              <a:rPr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00" dirty="0">
                <a:latin typeface="Trebuchet MS"/>
                <a:cs typeface="Trebuchet MS"/>
              </a:rPr>
              <a:t>Accelerate()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841500">
              <a:lnSpc>
                <a:spcPct val="100000"/>
              </a:lnSpc>
              <a:tabLst>
                <a:tab pos="4241800" algn="l"/>
                <a:tab pos="4641215" algn="l"/>
              </a:tabLst>
            </a:pPr>
            <a:r>
              <a:rPr sz="1800" spc="145" dirty="0">
                <a:solidFill>
                  <a:srgbClr val="0000FF"/>
                </a:solidFill>
                <a:latin typeface="Trebuchet MS"/>
                <a:cs typeface="Trebuchet MS"/>
              </a:rPr>
              <a:t>base</a:t>
            </a:r>
            <a:r>
              <a:rPr sz="1800" spc="145" dirty="0">
                <a:latin typeface="Trebuchet MS"/>
                <a:cs typeface="Trebuchet MS"/>
              </a:rPr>
              <a:t>.currentSpeed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70" dirty="0">
                <a:latin typeface="Trebuchet MS"/>
                <a:cs typeface="Trebuchet MS"/>
              </a:rPr>
              <a:t>+=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15" dirty="0">
                <a:latin typeface="Trebuchet MS"/>
                <a:cs typeface="Trebuchet MS"/>
              </a:rPr>
              <a:t>5;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7">
            <a:extLst>
              <a:ext uri="{FF2B5EF4-FFF2-40B4-BE49-F238E27FC236}">
                <a16:creationId xmlns:a16="http://schemas.microsoft.com/office/drawing/2014/main" id="{82721797-9DC5-CCB8-38CE-D4163A213F91}"/>
              </a:ext>
            </a:extLst>
          </p:cNvPr>
          <p:cNvGrpSpPr/>
          <p:nvPr/>
        </p:nvGrpSpPr>
        <p:grpSpPr>
          <a:xfrm>
            <a:off x="1505240" y="4726322"/>
            <a:ext cx="3173730" cy="1454785"/>
            <a:chOff x="1211325" y="4846065"/>
            <a:chExt cx="3173730" cy="1454785"/>
          </a:xfrm>
        </p:grpSpPr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53F364C2-D254-80C8-3FD7-C4B9123276C3}"/>
                </a:ext>
              </a:extLst>
            </p:cNvPr>
            <p:cNvSpPr/>
            <p:nvPr/>
          </p:nvSpPr>
          <p:spPr>
            <a:xfrm>
              <a:off x="1217675" y="4852415"/>
              <a:ext cx="3161030" cy="1442085"/>
            </a:xfrm>
            <a:custGeom>
              <a:avLst/>
              <a:gdLst/>
              <a:ahLst/>
              <a:cxnLst/>
              <a:rect l="l" t="t" r="r" b="b"/>
              <a:pathLst>
                <a:path w="3161029" h="1442085">
                  <a:moveTo>
                    <a:pt x="2920491" y="0"/>
                  </a:moveTo>
                  <a:lnTo>
                    <a:pt x="240284" y="0"/>
                  </a:lnTo>
                  <a:lnTo>
                    <a:pt x="191855" y="4881"/>
                  </a:lnTo>
                  <a:lnTo>
                    <a:pt x="146750" y="18881"/>
                  </a:lnTo>
                  <a:lnTo>
                    <a:pt x="105934" y="41034"/>
                  </a:lnTo>
                  <a:lnTo>
                    <a:pt x="70373" y="70373"/>
                  </a:lnTo>
                  <a:lnTo>
                    <a:pt x="41034" y="105934"/>
                  </a:lnTo>
                  <a:lnTo>
                    <a:pt x="18881" y="146750"/>
                  </a:lnTo>
                  <a:lnTo>
                    <a:pt x="4881" y="191855"/>
                  </a:lnTo>
                  <a:lnTo>
                    <a:pt x="0" y="240283"/>
                  </a:lnTo>
                  <a:lnTo>
                    <a:pt x="0" y="1201407"/>
                  </a:lnTo>
                  <a:lnTo>
                    <a:pt x="4881" y="1249836"/>
                  </a:lnTo>
                  <a:lnTo>
                    <a:pt x="18881" y="1294942"/>
                  </a:lnTo>
                  <a:lnTo>
                    <a:pt x="41034" y="1335760"/>
                  </a:lnTo>
                  <a:lnTo>
                    <a:pt x="70373" y="1371323"/>
                  </a:lnTo>
                  <a:lnTo>
                    <a:pt x="105934" y="1400665"/>
                  </a:lnTo>
                  <a:lnTo>
                    <a:pt x="146750" y="1422820"/>
                  </a:lnTo>
                  <a:lnTo>
                    <a:pt x="191855" y="1436822"/>
                  </a:lnTo>
                  <a:lnTo>
                    <a:pt x="240284" y="1441703"/>
                  </a:lnTo>
                  <a:lnTo>
                    <a:pt x="2920491" y="1441703"/>
                  </a:lnTo>
                  <a:lnTo>
                    <a:pt x="2968920" y="1436822"/>
                  </a:lnTo>
                  <a:lnTo>
                    <a:pt x="3014025" y="1422820"/>
                  </a:lnTo>
                  <a:lnTo>
                    <a:pt x="3054841" y="1400665"/>
                  </a:lnTo>
                  <a:lnTo>
                    <a:pt x="3090402" y="1371323"/>
                  </a:lnTo>
                  <a:lnTo>
                    <a:pt x="3119741" y="1335760"/>
                  </a:lnTo>
                  <a:lnTo>
                    <a:pt x="3141894" y="1294942"/>
                  </a:lnTo>
                  <a:lnTo>
                    <a:pt x="3155894" y="1249836"/>
                  </a:lnTo>
                  <a:lnTo>
                    <a:pt x="3160776" y="1201407"/>
                  </a:lnTo>
                  <a:lnTo>
                    <a:pt x="3160776" y="240283"/>
                  </a:lnTo>
                  <a:lnTo>
                    <a:pt x="3155894" y="191855"/>
                  </a:lnTo>
                  <a:lnTo>
                    <a:pt x="3141894" y="146750"/>
                  </a:lnTo>
                  <a:lnTo>
                    <a:pt x="3119741" y="105934"/>
                  </a:lnTo>
                  <a:lnTo>
                    <a:pt x="3090402" y="70373"/>
                  </a:lnTo>
                  <a:lnTo>
                    <a:pt x="3054841" y="41034"/>
                  </a:lnTo>
                  <a:lnTo>
                    <a:pt x="3014025" y="18881"/>
                  </a:lnTo>
                  <a:lnTo>
                    <a:pt x="2968920" y="4881"/>
                  </a:lnTo>
                  <a:lnTo>
                    <a:pt x="292049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18B5BA6C-B57A-2435-E981-960AA2C832A4}"/>
                </a:ext>
              </a:extLst>
            </p:cNvPr>
            <p:cNvSpPr/>
            <p:nvPr/>
          </p:nvSpPr>
          <p:spPr>
            <a:xfrm>
              <a:off x="1217675" y="4852415"/>
              <a:ext cx="3161030" cy="1442085"/>
            </a:xfrm>
            <a:custGeom>
              <a:avLst/>
              <a:gdLst/>
              <a:ahLst/>
              <a:cxnLst/>
              <a:rect l="l" t="t" r="r" b="b"/>
              <a:pathLst>
                <a:path w="3161029" h="1442085">
                  <a:moveTo>
                    <a:pt x="0" y="240283"/>
                  </a:moveTo>
                  <a:lnTo>
                    <a:pt x="4881" y="191855"/>
                  </a:lnTo>
                  <a:lnTo>
                    <a:pt x="18881" y="146750"/>
                  </a:lnTo>
                  <a:lnTo>
                    <a:pt x="41034" y="105934"/>
                  </a:lnTo>
                  <a:lnTo>
                    <a:pt x="70373" y="70373"/>
                  </a:lnTo>
                  <a:lnTo>
                    <a:pt x="105934" y="41034"/>
                  </a:lnTo>
                  <a:lnTo>
                    <a:pt x="146750" y="18881"/>
                  </a:lnTo>
                  <a:lnTo>
                    <a:pt x="191855" y="4881"/>
                  </a:lnTo>
                  <a:lnTo>
                    <a:pt x="240284" y="0"/>
                  </a:lnTo>
                  <a:lnTo>
                    <a:pt x="2920491" y="0"/>
                  </a:lnTo>
                  <a:lnTo>
                    <a:pt x="2968920" y="4881"/>
                  </a:lnTo>
                  <a:lnTo>
                    <a:pt x="3014025" y="18881"/>
                  </a:lnTo>
                  <a:lnTo>
                    <a:pt x="3054841" y="41034"/>
                  </a:lnTo>
                  <a:lnTo>
                    <a:pt x="3090402" y="70373"/>
                  </a:lnTo>
                  <a:lnTo>
                    <a:pt x="3119741" y="105934"/>
                  </a:lnTo>
                  <a:lnTo>
                    <a:pt x="3141894" y="146750"/>
                  </a:lnTo>
                  <a:lnTo>
                    <a:pt x="3155894" y="191855"/>
                  </a:lnTo>
                  <a:lnTo>
                    <a:pt x="3160776" y="240283"/>
                  </a:lnTo>
                  <a:lnTo>
                    <a:pt x="3160776" y="1201407"/>
                  </a:lnTo>
                  <a:lnTo>
                    <a:pt x="3155894" y="1249836"/>
                  </a:lnTo>
                  <a:lnTo>
                    <a:pt x="3141894" y="1294942"/>
                  </a:lnTo>
                  <a:lnTo>
                    <a:pt x="3119741" y="1335760"/>
                  </a:lnTo>
                  <a:lnTo>
                    <a:pt x="3090402" y="1371323"/>
                  </a:lnTo>
                  <a:lnTo>
                    <a:pt x="3054841" y="1400665"/>
                  </a:lnTo>
                  <a:lnTo>
                    <a:pt x="3014025" y="1422820"/>
                  </a:lnTo>
                  <a:lnTo>
                    <a:pt x="2968920" y="1436822"/>
                  </a:lnTo>
                  <a:lnTo>
                    <a:pt x="2920491" y="1441703"/>
                  </a:lnTo>
                  <a:lnTo>
                    <a:pt x="240284" y="1441703"/>
                  </a:lnTo>
                  <a:lnTo>
                    <a:pt x="191855" y="1436822"/>
                  </a:lnTo>
                  <a:lnTo>
                    <a:pt x="146750" y="1422820"/>
                  </a:lnTo>
                  <a:lnTo>
                    <a:pt x="105934" y="1400665"/>
                  </a:lnTo>
                  <a:lnTo>
                    <a:pt x="70373" y="1371323"/>
                  </a:lnTo>
                  <a:lnTo>
                    <a:pt x="41034" y="1335760"/>
                  </a:lnTo>
                  <a:lnTo>
                    <a:pt x="18881" y="1294942"/>
                  </a:lnTo>
                  <a:lnTo>
                    <a:pt x="4881" y="1249836"/>
                  </a:lnTo>
                  <a:lnTo>
                    <a:pt x="0" y="1201407"/>
                  </a:lnTo>
                  <a:lnTo>
                    <a:pt x="0" y="24028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0">
            <a:extLst>
              <a:ext uri="{FF2B5EF4-FFF2-40B4-BE49-F238E27FC236}">
                <a16:creationId xmlns:a16="http://schemas.microsoft.com/office/drawing/2014/main" id="{50F395D0-B223-BFC8-D36C-A2D84BCF9296}"/>
              </a:ext>
            </a:extLst>
          </p:cNvPr>
          <p:cNvSpPr txBox="1"/>
          <p:nvPr/>
        </p:nvSpPr>
        <p:spPr>
          <a:xfrm>
            <a:off x="1765590" y="5014993"/>
            <a:ext cx="26504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Nouvelle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méthode,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ajoutée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uniquement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l’enfant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et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pour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A788CBE3-7624-19F1-C642-7EF5304C528B}"/>
              </a:ext>
            </a:extLst>
          </p:cNvPr>
          <p:cNvSpPr/>
          <p:nvPr/>
        </p:nvSpPr>
        <p:spPr>
          <a:xfrm>
            <a:off x="4668811" y="4974735"/>
            <a:ext cx="1952625" cy="498475"/>
          </a:xfrm>
          <a:custGeom>
            <a:avLst/>
            <a:gdLst/>
            <a:ahLst/>
            <a:cxnLst/>
            <a:rect l="l" t="t" r="r" b="b"/>
            <a:pathLst>
              <a:path w="1952625" h="498475">
                <a:moveTo>
                  <a:pt x="1836470" y="37163"/>
                </a:moveTo>
                <a:lnTo>
                  <a:pt x="0" y="461264"/>
                </a:lnTo>
                <a:lnTo>
                  <a:pt x="8636" y="498411"/>
                </a:lnTo>
                <a:lnTo>
                  <a:pt x="1845017" y="74268"/>
                </a:lnTo>
                <a:lnTo>
                  <a:pt x="1836470" y="37163"/>
                </a:lnTo>
                <a:close/>
              </a:path>
              <a:path w="1952625" h="498475">
                <a:moveTo>
                  <a:pt x="1948580" y="32893"/>
                </a:moveTo>
                <a:lnTo>
                  <a:pt x="1854962" y="32893"/>
                </a:lnTo>
                <a:lnTo>
                  <a:pt x="1863598" y="69977"/>
                </a:lnTo>
                <a:lnTo>
                  <a:pt x="1845017" y="74268"/>
                </a:lnTo>
                <a:lnTo>
                  <a:pt x="1853564" y="111379"/>
                </a:lnTo>
                <a:lnTo>
                  <a:pt x="1948580" y="32893"/>
                </a:lnTo>
                <a:close/>
              </a:path>
              <a:path w="1952625" h="498475">
                <a:moveTo>
                  <a:pt x="1854962" y="32893"/>
                </a:moveTo>
                <a:lnTo>
                  <a:pt x="1836470" y="37163"/>
                </a:lnTo>
                <a:lnTo>
                  <a:pt x="1845017" y="74268"/>
                </a:lnTo>
                <a:lnTo>
                  <a:pt x="1863598" y="69977"/>
                </a:lnTo>
                <a:lnTo>
                  <a:pt x="1854962" y="32893"/>
                </a:lnTo>
                <a:close/>
              </a:path>
              <a:path w="1952625" h="498475">
                <a:moveTo>
                  <a:pt x="1827911" y="0"/>
                </a:moveTo>
                <a:lnTo>
                  <a:pt x="1836470" y="37163"/>
                </a:lnTo>
                <a:lnTo>
                  <a:pt x="1854962" y="32893"/>
                </a:lnTo>
                <a:lnTo>
                  <a:pt x="1948580" y="32893"/>
                </a:lnTo>
                <a:lnTo>
                  <a:pt x="1952116" y="29972"/>
                </a:lnTo>
                <a:lnTo>
                  <a:pt x="1827911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8071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Surcharge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new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méthode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surchargée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sera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uniquement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utilisée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spc="-20" dirty="0">
                <a:latin typeface="Segoe UI"/>
                <a:cs typeface="Segoe UI"/>
              </a:rPr>
              <a:t>avec</a:t>
            </a:r>
            <a:endParaRPr lang="fr-FR" sz="2400" dirty="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</a:pP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objet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enfant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parent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pouvant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y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accéder</a:t>
            </a: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D3252E-693C-D0D2-9EA9-3A1E34B04499}"/>
              </a:ext>
            </a:extLst>
          </p:cNvPr>
          <p:cNvSpPr txBox="1"/>
          <p:nvPr/>
        </p:nvSpPr>
        <p:spPr>
          <a:xfrm>
            <a:off x="1382485" y="3429000"/>
            <a:ext cx="111578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appel de la méthode de l’enfant, augmentation de la vitesse par 5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myCar.Accelerate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Généralisation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appel de la méthode du parent, augmentation de la vitesse par 1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myVehicle.Accelerate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608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2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</a:t>
            </a:r>
            <a:r>
              <a:rPr lang="fr-FR" sz="2400" b="1" dirty="0" err="1">
                <a:latin typeface="Segoe UI"/>
                <a:cs typeface="Segoe UI"/>
              </a:rPr>
              <a:t>scéllées</a:t>
            </a:r>
            <a:endParaRPr lang="fr-FR" sz="2400" b="1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sceller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classe,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40" dirty="0">
                <a:latin typeface="Segoe UI"/>
                <a:cs typeface="Segoe UI"/>
              </a:rPr>
              <a:t>c’est-</a:t>
            </a:r>
            <a:r>
              <a:rPr lang="fr-FR" sz="2400" spc="-20" dirty="0">
                <a:latin typeface="Segoe UI"/>
                <a:cs typeface="Segoe UI"/>
              </a:rPr>
              <a:t>à-</a:t>
            </a:r>
            <a:r>
              <a:rPr lang="fr-FR" sz="2400" dirty="0">
                <a:latin typeface="Segoe UI"/>
                <a:cs typeface="Segoe UI"/>
              </a:rPr>
              <a:t>dire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interdire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l’héritage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1A4760-EE6B-5CA5-1FAA-4EE74E534CEA}"/>
              </a:ext>
            </a:extLst>
          </p:cNvPr>
          <p:cNvSpPr txBox="1"/>
          <p:nvPr/>
        </p:nvSpPr>
        <p:spPr>
          <a:xfrm>
            <a:off x="541121" y="3054858"/>
            <a:ext cx="48069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879600" algn="l"/>
                <a:tab pos="267970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b="1" spc="135" dirty="0">
                <a:solidFill>
                  <a:srgbClr val="0000FF"/>
                </a:solidFill>
                <a:latin typeface="Trebuchet MS"/>
                <a:cs typeface="Trebuchet MS"/>
              </a:rPr>
              <a:t>sealed</a:t>
            </a:r>
            <a:r>
              <a:rPr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7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 dirty="0">
              <a:latin typeface="Trebuchet MS"/>
              <a:cs typeface="Trebuchet MS"/>
            </a:endParaRPr>
          </a:p>
          <a:p>
            <a:pPr marL="927100" marR="5080">
              <a:lnSpc>
                <a:spcPct val="100000"/>
              </a:lnSpc>
              <a:tabLst>
                <a:tab pos="1861185" algn="l"/>
                <a:tab pos="1993900" algn="l"/>
                <a:tab pos="2393315" algn="l"/>
                <a:tab pos="2527300" algn="l"/>
                <a:tab pos="3060700" algn="l"/>
                <a:tab pos="3327400" algn="l"/>
                <a:tab pos="3993515" algn="l"/>
                <a:tab pos="465963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latin typeface="Trebuchet MS"/>
                <a:cs typeface="Trebuchet MS"/>
              </a:rPr>
              <a:t>Name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{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10" dirty="0">
                <a:latin typeface="Trebuchet MS"/>
                <a:cs typeface="Trebuchet MS"/>
              </a:rPr>
              <a:t>get;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54" dirty="0">
                <a:latin typeface="Trebuchet MS"/>
                <a:cs typeface="Trebuchet MS"/>
              </a:rPr>
              <a:t>set;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} </a:t>
            </a:r>
            <a:r>
              <a:rPr sz="1800" spc="210" dirty="0">
                <a:solidFill>
                  <a:srgbClr val="0000FF"/>
                </a:solidFill>
                <a:latin typeface="Trebuchet MS"/>
                <a:cs typeface="Trebuchet MS"/>
              </a:rPr>
              <a:t>private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50" dirty="0">
                <a:latin typeface="Trebuchet MS"/>
                <a:cs typeface="Trebuchet MS"/>
              </a:rPr>
              <a:t>currentSpeed;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0D884F3-768F-425F-3147-8B4EAF026C43}"/>
              </a:ext>
            </a:extLst>
          </p:cNvPr>
          <p:cNvSpPr txBox="1"/>
          <p:nvPr/>
        </p:nvSpPr>
        <p:spPr>
          <a:xfrm>
            <a:off x="1455800" y="4472432"/>
            <a:ext cx="36074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61226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00" dirty="0">
                <a:latin typeface="Trebuchet MS"/>
                <a:cs typeface="Trebuchet MS"/>
              </a:rPr>
              <a:t>Accelerate()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</a:pP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this</a:t>
            </a:r>
            <a:r>
              <a:rPr sz="1800" spc="185" dirty="0">
                <a:latin typeface="Trebuchet MS"/>
                <a:cs typeface="Trebuchet MS"/>
              </a:rPr>
              <a:t>.currentSpeed++;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4407F06-1654-E24B-AD59-0F9307AE0ED3}"/>
              </a:ext>
            </a:extLst>
          </p:cNvPr>
          <p:cNvSpPr txBox="1"/>
          <p:nvPr/>
        </p:nvSpPr>
        <p:spPr>
          <a:xfrm>
            <a:off x="541121" y="5570016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E819449-EE73-2E80-D894-DB503263D80F}"/>
              </a:ext>
            </a:extLst>
          </p:cNvPr>
          <p:cNvSpPr txBox="1"/>
          <p:nvPr/>
        </p:nvSpPr>
        <p:spPr>
          <a:xfrm>
            <a:off x="6020180" y="3054858"/>
            <a:ext cx="58775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744980" algn="l"/>
                <a:tab pos="2279015" algn="l"/>
                <a:tab pos="2545715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60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20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180" dirty="0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861185" algn="l"/>
                <a:tab pos="2393315" algn="l"/>
                <a:tab pos="4394200" algn="l"/>
                <a:tab pos="5062855" algn="l"/>
                <a:tab pos="573024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00" dirty="0">
                <a:latin typeface="Trebuchet MS"/>
                <a:cs typeface="Trebuchet MS"/>
              </a:rPr>
              <a:t>NumberOfSeats{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10" dirty="0">
                <a:latin typeface="Trebuchet MS"/>
                <a:cs typeface="Trebuchet MS"/>
              </a:rPr>
              <a:t>get;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50" dirty="0">
                <a:latin typeface="Trebuchet MS"/>
                <a:cs typeface="Trebuchet MS"/>
              </a:rPr>
              <a:t>set;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43AE911-7D8E-423B-E0D5-02104E2CF24B}"/>
              </a:ext>
            </a:extLst>
          </p:cNvPr>
          <p:cNvSpPr txBox="1"/>
          <p:nvPr/>
        </p:nvSpPr>
        <p:spPr>
          <a:xfrm>
            <a:off x="6934581" y="4151833"/>
            <a:ext cx="30924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  <a:tab pos="1745614" algn="l"/>
              </a:tabLst>
            </a:pPr>
            <a:r>
              <a:rPr sz="1800" spc="210" dirty="0">
                <a:solidFill>
                  <a:srgbClr val="0000FF"/>
                </a:solidFill>
                <a:latin typeface="Trebuchet MS"/>
                <a:cs typeface="Trebuchet MS"/>
              </a:rPr>
              <a:t>private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60" dirty="0">
                <a:solidFill>
                  <a:srgbClr val="0000FF"/>
                </a:solidFill>
                <a:latin typeface="Trebuchet MS"/>
                <a:cs typeface="Trebuchet MS"/>
              </a:rPr>
              <a:t>bool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50" dirty="0">
                <a:latin typeface="Trebuchet MS"/>
                <a:cs typeface="Trebuchet MS"/>
              </a:rPr>
              <a:t>isStarted;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CAB4413-ACE0-704C-090A-AB62C7FED118}"/>
              </a:ext>
            </a:extLst>
          </p:cNvPr>
          <p:cNvSpPr txBox="1"/>
          <p:nvPr/>
        </p:nvSpPr>
        <p:spPr>
          <a:xfrm>
            <a:off x="6934581" y="4746752"/>
            <a:ext cx="38747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6785" algn="l"/>
                <a:tab pos="1612900" algn="l"/>
              </a:tabLst>
            </a:pPr>
            <a:r>
              <a:rPr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85" dirty="0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280" dirty="0">
                <a:latin typeface="Trebuchet MS"/>
                <a:cs typeface="Trebuchet MS"/>
              </a:rPr>
              <a:t>Start()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2926715" algn="l"/>
                <a:tab pos="3193415" algn="l"/>
              </a:tabLst>
            </a:pPr>
            <a:r>
              <a:rPr sz="1800" spc="265" dirty="0">
                <a:solidFill>
                  <a:srgbClr val="0000FF"/>
                </a:solidFill>
                <a:latin typeface="Trebuchet MS"/>
                <a:cs typeface="Trebuchet MS"/>
              </a:rPr>
              <a:t>this</a:t>
            </a:r>
            <a:r>
              <a:rPr sz="1800" spc="265" dirty="0">
                <a:latin typeface="Trebuchet MS"/>
                <a:cs typeface="Trebuchet MS"/>
              </a:rPr>
              <a:t>.isStarted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50" dirty="0">
                <a:latin typeface="Trebuchet MS"/>
                <a:cs typeface="Trebuchet MS"/>
              </a:rPr>
              <a:t>=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220" dirty="0">
                <a:solidFill>
                  <a:srgbClr val="0000FF"/>
                </a:solidFill>
                <a:latin typeface="Trebuchet MS"/>
                <a:cs typeface="Trebuchet MS"/>
              </a:rPr>
              <a:t>true</a:t>
            </a:r>
            <a:r>
              <a:rPr sz="1800" spc="22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0307C4C-C412-C3FE-BFC3-BB3E8F10F22F}"/>
              </a:ext>
            </a:extLst>
          </p:cNvPr>
          <p:cNvSpPr txBox="1"/>
          <p:nvPr/>
        </p:nvSpPr>
        <p:spPr>
          <a:xfrm>
            <a:off x="6020180" y="5844336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4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6346E44-8B0C-0C73-D5D0-3822FABBBB99}"/>
              </a:ext>
            </a:extLst>
          </p:cNvPr>
          <p:cNvGrpSpPr/>
          <p:nvPr/>
        </p:nvGrpSpPr>
        <p:grpSpPr>
          <a:xfrm>
            <a:off x="7535291" y="3492753"/>
            <a:ext cx="2810510" cy="2320290"/>
            <a:chOff x="7535291" y="3492753"/>
            <a:chExt cx="2810510" cy="232029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C6A8C73-047E-C348-BA54-A270282F0449}"/>
                </a:ext>
              </a:extLst>
            </p:cNvPr>
            <p:cNvSpPr/>
            <p:nvPr/>
          </p:nvSpPr>
          <p:spPr>
            <a:xfrm>
              <a:off x="7541641" y="3499103"/>
              <a:ext cx="2797810" cy="2307590"/>
            </a:xfrm>
            <a:custGeom>
              <a:avLst/>
              <a:gdLst/>
              <a:ahLst/>
              <a:cxnLst/>
              <a:rect l="l" t="t" r="r" b="b"/>
              <a:pathLst>
                <a:path w="2797809" h="2307590">
                  <a:moveTo>
                    <a:pt x="2352929" y="0"/>
                  </a:moveTo>
                  <a:lnTo>
                    <a:pt x="1398904" y="683895"/>
                  </a:lnTo>
                  <a:lnTo>
                    <a:pt x="444880" y="0"/>
                  </a:lnTo>
                  <a:lnTo>
                    <a:pt x="0" y="620522"/>
                  </a:lnTo>
                  <a:lnTo>
                    <a:pt x="743711" y="1153668"/>
                  </a:lnTo>
                  <a:lnTo>
                    <a:pt x="0" y="1686814"/>
                  </a:lnTo>
                  <a:lnTo>
                    <a:pt x="444880" y="2307323"/>
                  </a:lnTo>
                  <a:lnTo>
                    <a:pt x="1398904" y="1623314"/>
                  </a:lnTo>
                  <a:lnTo>
                    <a:pt x="2352929" y="2307323"/>
                  </a:lnTo>
                  <a:lnTo>
                    <a:pt x="2797809" y="1686814"/>
                  </a:lnTo>
                  <a:lnTo>
                    <a:pt x="2054098" y="1153668"/>
                  </a:lnTo>
                  <a:lnTo>
                    <a:pt x="2797809" y="620522"/>
                  </a:lnTo>
                  <a:lnTo>
                    <a:pt x="235292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E07F830-C75C-D5BA-3D32-3A00638AAFB6}"/>
                </a:ext>
              </a:extLst>
            </p:cNvPr>
            <p:cNvSpPr/>
            <p:nvPr/>
          </p:nvSpPr>
          <p:spPr>
            <a:xfrm>
              <a:off x="7541641" y="3499103"/>
              <a:ext cx="2797810" cy="2307590"/>
            </a:xfrm>
            <a:custGeom>
              <a:avLst/>
              <a:gdLst/>
              <a:ahLst/>
              <a:cxnLst/>
              <a:rect l="l" t="t" r="r" b="b"/>
              <a:pathLst>
                <a:path w="2797809" h="2307590">
                  <a:moveTo>
                    <a:pt x="0" y="620522"/>
                  </a:moveTo>
                  <a:lnTo>
                    <a:pt x="444880" y="0"/>
                  </a:lnTo>
                  <a:lnTo>
                    <a:pt x="1398904" y="683895"/>
                  </a:lnTo>
                  <a:lnTo>
                    <a:pt x="2352929" y="0"/>
                  </a:lnTo>
                  <a:lnTo>
                    <a:pt x="2797809" y="620522"/>
                  </a:lnTo>
                  <a:lnTo>
                    <a:pt x="2054098" y="1153668"/>
                  </a:lnTo>
                  <a:lnTo>
                    <a:pt x="2797809" y="1686814"/>
                  </a:lnTo>
                  <a:lnTo>
                    <a:pt x="2352929" y="2307323"/>
                  </a:lnTo>
                  <a:lnTo>
                    <a:pt x="1398904" y="1623314"/>
                  </a:lnTo>
                  <a:lnTo>
                    <a:pt x="444880" y="2307323"/>
                  </a:lnTo>
                  <a:lnTo>
                    <a:pt x="0" y="1686814"/>
                  </a:lnTo>
                  <a:lnTo>
                    <a:pt x="743711" y="1153668"/>
                  </a:lnTo>
                  <a:lnTo>
                    <a:pt x="0" y="620522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76023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9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</a:t>
            </a:r>
            <a:r>
              <a:rPr lang="fr-FR" sz="2400" b="1" dirty="0" err="1">
                <a:latin typeface="Segoe UI"/>
                <a:cs typeface="Segoe UI"/>
              </a:rPr>
              <a:t>scéllées</a:t>
            </a:r>
            <a:endParaRPr lang="fr-FR" sz="2400" b="1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240029" marR="5080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même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clé, il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sceller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méthode 	</a:t>
            </a:r>
            <a:r>
              <a:rPr lang="fr-FR" sz="2400" dirty="0">
                <a:latin typeface="Segoe UI"/>
                <a:cs typeface="Segoe UI"/>
              </a:rPr>
              <a:t>surchargée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interdire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la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surcharge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A0B30CD-765A-223D-DD2C-BEE70E5097CB}"/>
              </a:ext>
            </a:extLst>
          </p:cNvPr>
          <p:cNvSpPr txBox="1"/>
          <p:nvPr/>
        </p:nvSpPr>
        <p:spPr>
          <a:xfrm>
            <a:off x="619760" y="330741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scadia Mono" panose="020B0609020000020004" pitchFamily="49" charset="0"/>
              </a:rPr>
              <a:t>sealed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Accelerate()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+= 5;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61E10F9-9245-80F3-28D2-03B4086904C1}"/>
              </a:ext>
            </a:extLst>
          </p:cNvPr>
          <p:cNvSpPr txBox="1"/>
          <p:nvPr/>
        </p:nvSpPr>
        <p:spPr>
          <a:xfrm>
            <a:off x="6390640" y="430817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SportsCar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Car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+= 10;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grpSp>
        <p:nvGrpSpPr>
          <p:cNvPr id="18" name="object 11">
            <a:extLst>
              <a:ext uri="{FF2B5EF4-FFF2-40B4-BE49-F238E27FC236}">
                <a16:creationId xmlns:a16="http://schemas.microsoft.com/office/drawing/2014/main" id="{FAA522D1-A1FC-88A7-400C-EB2534C356E0}"/>
              </a:ext>
            </a:extLst>
          </p:cNvPr>
          <p:cNvGrpSpPr/>
          <p:nvPr/>
        </p:nvGrpSpPr>
        <p:grpSpPr>
          <a:xfrm>
            <a:off x="8473186" y="4648895"/>
            <a:ext cx="1760220" cy="1555750"/>
            <a:chOff x="8239506" y="4726304"/>
            <a:chExt cx="1760220" cy="1555750"/>
          </a:xfrm>
        </p:grpSpPr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167551D2-D1B3-BFC5-5EE4-CAC3CF21AC78}"/>
                </a:ext>
              </a:extLst>
            </p:cNvPr>
            <p:cNvSpPr/>
            <p:nvPr/>
          </p:nvSpPr>
          <p:spPr>
            <a:xfrm>
              <a:off x="8245856" y="4732654"/>
              <a:ext cx="1747520" cy="1543050"/>
            </a:xfrm>
            <a:custGeom>
              <a:avLst/>
              <a:gdLst/>
              <a:ahLst/>
              <a:cxnLst/>
              <a:rect l="l" t="t" r="r" b="b"/>
              <a:pathLst>
                <a:path w="1747520" h="1543050">
                  <a:moveTo>
                    <a:pt x="1425448" y="0"/>
                  </a:moveTo>
                  <a:lnTo>
                    <a:pt x="873760" y="441071"/>
                  </a:lnTo>
                  <a:lnTo>
                    <a:pt x="322072" y="0"/>
                  </a:lnTo>
                  <a:lnTo>
                    <a:pt x="0" y="402844"/>
                  </a:lnTo>
                  <a:lnTo>
                    <a:pt x="460755" y="771271"/>
                  </a:lnTo>
                  <a:lnTo>
                    <a:pt x="0" y="1139634"/>
                  </a:lnTo>
                  <a:lnTo>
                    <a:pt x="322072" y="1542516"/>
                  </a:lnTo>
                  <a:lnTo>
                    <a:pt x="873760" y="1101458"/>
                  </a:lnTo>
                  <a:lnTo>
                    <a:pt x="1425448" y="1542516"/>
                  </a:lnTo>
                  <a:lnTo>
                    <a:pt x="1747520" y="1139634"/>
                  </a:lnTo>
                  <a:lnTo>
                    <a:pt x="1286764" y="771271"/>
                  </a:lnTo>
                  <a:lnTo>
                    <a:pt x="1747520" y="402844"/>
                  </a:lnTo>
                  <a:lnTo>
                    <a:pt x="14254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3">
              <a:extLst>
                <a:ext uri="{FF2B5EF4-FFF2-40B4-BE49-F238E27FC236}">
                  <a16:creationId xmlns:a16="http://schemas.microsoft.com/office/drawing/2014/main" id="{3D2E9A93-CE76-DDC2-BDFE-3F3A4C14B31C}"/>
                </a:ext>
              </a:extLst>
            </p:cNvPr>
            <p:cNvSpPr/>
            <p:nvPr/>
          </p:nvSpPr>
          <p:spPr>
            <a:xfrm>
              <a:off x="8245856" y="4732654"/>
              <a:ext cx="1747520" cy="1543050"/>
            </a:xfrm>
            <a:custGeom>
              <a:avLst/>
              <a:gdLst/>
              <a:ahLst/>
              <a:cxnLst/>
              <a:rect l="l" t="t" r="r" b="b"/>
              <a:pathLst>
                <a:path w="1747520" h="1543050">
                  <a:moveTo>
                    <a:pt x="0" y="402844"/>
                  </a:moveTo>
                  <a:lnTo>
                    <a:pt x="322072" y="0"/>
                  </a:lnTo>
                  <a:lnTo>
                    <a:pt x="873760" y="441071"/>
                  </a:lnTo>
                  <a:lnTo>
                    <a:pt x="1425448" y="0"/>
                  </a:lnTo>
                  <a:lnTo>
                    <a:pt x="1747520" y="402844"/>
                  </a:lnTo>
                  <a:lnTo>
                    <a:pt x="1286764" y="771271"/>
                  </a:lnTo>
                  <a:lnTo>
                    <a:pt x="1747520" y="1139634"/>
                  </a:lnTo>
                  <a:lnTo>
                    <a:pt x="1425448" y="1542516"/>
                  </a:lnTo>
                  <a:lnTo>
                    <a:pt x="873760" y="1101458"/>
                  </a:lnTo>
                  <a:lnTo>
                    <a:pt x="322072" y="1542516"/>
                  </a:lnTo>
                  <a:lnTo>
                    <a:pt x="0" y="1139634"/>
                  </a:lnTo>
                  <a:lnTo>
                    <a:pt x="460755" y="771271"/>
                  </a:lnTo>
                  <a:lnTo>
                    <a:pt x="0" y="402844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17639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524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abstraites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classe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abstraite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qui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ne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peut</a:t>
            </a:r>
            <a:r>
              <a:rPr lang="fr-FR" sz="2400" b="1" spc="-2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être</a:t>
            </a:r>
            <a:r>
              <a:rPr lang="fr-FR" sz="2400" b="1" spc="-30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instanciée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Comme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standard,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elle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comporte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code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champs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10" dirty="0">
                <a:latin typeface="Segoe UI"/>
                <a:cs typeface="Segoe UI"/>
              </a:rPr>
              <a:t> méthodes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10" dirty="0">
                <a:latin typeface="Segoe UI"/>
                <a:cs typeface="Segoe UI"/>
              </a:rPr>
              <a:t> propriétés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Des</a:t>
            </a:r>
            <a:r>
              <a:rPr lang="fr-FR" sz="2000" spc="-10" dirty="0">
                <a:latin typeface="Segoe UI"/>
                <a:cs typeface="Segoe UI"/>
              </a:rPr>
              <a:t> constructeurs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490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50" dirty="0">
                <a:latin typeface="Segoe UI"/>
                <a:cs typeface="Segoe UI"/>
              </a:rPr>
              <a:t>…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24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Elle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doit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nécessairement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être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héritée</a:t>
            </a: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2572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69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abstraites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665" indent="-227965"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On utilise alors le mot clé ‘</a:t>
            </a:r>
            <a:r>
              <a:rPr lang="fr-FR" sz="2400" i="1" dirty="0">
                <a:latin typeface="Segoe UI"/>
                <a:cs typeface="Segoe UI"/>
              </a:rPr>
              <a:t>abstract</a:t>
            </a:r>
            <a:r>
              <a:rPr lang="fr-FR" sz="2400" dirty="0">
                <a:latin typeface="Segoe UI"/>
                <a:cs typeface="Segoe UI"/>
              </a:rPr>
              <a:t>’</a:t>
            </a:r>
          </a:p>
          <a:p>
            <a:pPr marL="469900" lvl="1">
              <a:lnSpc>
                <a:spcPct val="100000"/>
              </a:lnSpc>
              <a:buClr>
                <a:srgbClr val="391778"/>
              </a:buClr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	Exemple :</a:t>
            </a:r>
          </a:p>
          <a:p>
            <a:pPr marL="469900" lvl="1">
              <a:lnSpc>
                <a:spcPct val="100000"/>
              </a:lnSpc>
              <a:buClr>
                <a:srgbClr val="391778"/>
              </a:buClr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Un véhicule est trop abstrait pour une application de péage, il faut un objet plus spécifique pour définir le prix du péage</a:t>
            </a:r>
          </a:p>
          <a:p>
            <a:pPr marL="1155065" lvl="2" indent="-227965"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BBBDED8-B50A-7B8E-126B-BD46FF79F949}"/>
              </a:ext>
            </a:extLst>
          </p:cNvPr>
          <p:cNvSpPr txBox="1"/>
          <p:nvPr/>
        </p:nvSpPr>
        <p:spPr>
          <a:xfrm>
            <a:off x="3778052" y="3875934"/>
            <a:ext cx="46590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9698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757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abstraites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classe</a:t>
            </a:r>
            <a:r>
              <a:rPr lang="fr-FR" sz="2400" b="1" spc="-5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abstraite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aussi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comporter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abstraites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méthode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abstraite</a:t>
            </a:r>
            <a:r>
              <a:rPr lang="fr-FR" sz="2400" b="1" spc="-6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signature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méthode</a:t>
            </a:r>
            <a:endParaRPr lang="fr-FR" sz="2400" dirty="0">
              <a:latin typeface="Segoe UI"/>
              <a:cs typeface="Segoe UI"/>
            </a:endParaRPr>
          </a:p>
          <a:p>
            <a:pPr marL="469900" lvl="1">
              <a:lnSpc>
                <a:spcPct val="100000"/>
              </a:lnSpc>
              <a:spcBef>
                <a:spcPts val="520"/>
              </a:spcBef>
              <a:buClr>
                <a:srgbClr val="391778"/>
              </a:buClr>
              <a:tabLst>
                <a:tab pos="698500" algn="l"/>
              </a:tabLst>
            </a:pPr>
            <a:r>
              <a:rPr lang="fr-FR" sz="2000" spc="-35" dirty="0">
                <a:latin typeface="Segoe UI"/>
                <a:cs typeface="Segoe UI"/>
              </a:rPr>
              <a:t>C’est-</a:t>
            </a:r>
            <a:r>
              <a:rPr lang="fr-FR" sz="2000" dirty="0">
                <a:latin typeface="Segoe UI"/>
                <a:cs typeface="Segoe UI"/>
              </a:rPr>
              <a:t>à-dire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qui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déclarée</a:t>
            </a:r>
            <a:r>
              <a:rPr lang="fr-FR" sz="2000" spc="-1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mais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ne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comporte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code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doit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nécessairement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être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implémentée</a:t>
            </a:r>
            <a:endParaRPr lang="fr-FR" sz="2400" dirty="0">
              <a:latin typeface="Segoe UI"/>
              <a:cs typeface="Segoe UI"/>
            </a:endParaRPr>
          </a:p>
          <a:p>
            <a:pPr marL="469900" lvl="1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	au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plus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tard</a:t>
            </a:r>
            <a:r>
              <a:rPr lang="fr-FR" sz="2000" spc="-6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première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concrète</a:t>
            </a:r>
            <a:endParaRPr lang="fr-FR"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73403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9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abstraites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endParaRPr lang="fr-FR" sz="2400" b="1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mots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‘</a:t>
            </a:r>
            <a:r>
              <a:rPr lang="fr-FR" sz="2400" i="1" dirty="0">
                <a:latin typeface="Segoe UI"/>
                <a:cs typeface="Segoe UI"/>
              </a:rPr>
              <a:t>abstract’</a:t>
            </a:r>
            <a:r>
              <a:rPr lang="fr-FR" sz="2400" i="1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i="1" spc="-10" dirty="0">
                <a:latin typeface="Segoe UI"/>
                <a:cs typeface="Segoe UI"/>
              </a:rPr>
              <a:t>‘</a:t>
            </a:r>
            <a:r>
              <a:rPr lang="fr-FR" sz="2400" i="1" spc="-10" dirty="0" err="1">
                <a:latin typeface="Segoe UI"/>
                <a:cs typeface="Segoe UI"/>
              </a:rPr>
              <a:t>override</a:t>
            </a:r>
            <a:r>
              <a:rPr lang="fr-FR" sz="2400" i="1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 marL="1155065" lvl="2" indent="-227965"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854C18-6AED-EF76-02CE-B941B778D960}"/>
              </a:ext>
            </a:extLst>
          </p:cNvPr>
          <p:cNvSpPr txBox="1"/>
          <p:nvPr/>
        </p:nvSpPr>
        <p:spPr>
          <a:xfrm>
            <a:off x="1066800" y="2940040"/>
            <a:ext cx="51271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Accelerate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>
                <a:solidFill>
                  <a:srgbClr val="0000FF"/>
                </a:solidFill>
                <a:latin typeface="Cascadia Mono" panose="020B0609020000020004" pitchFamily="49" charset="0"/>
              </a:rPr>
              <a:t>abstract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Break();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5B43CD8-CE54-E238-CDD7-B275C01325D9}"/>
              </a:ext>
            </a:extLst>
          </p:cNvPr>
          <p:cNvSpPr txBox="1"/>
          <p:nvPr/>
        </p:nvSpPr>
        <p:spPr>
          <a:xfrm>
            <a:off x="6183086" y="3473164"/>
            <a:ext cx="60089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NumberOfSeats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isStarted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b="1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Break()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.currentSpeed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-= 10;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0707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803B109-3D67-72A3-6A67-EE3B1AAD26E5}"/>
              </a:ext>
            </a:extLst>
          </p:cNvPr>
          <p:cNvSpPr txBox="1"/>
          <p:nvPr/>
        </p:nvSpPr>
        <p:spPr>
          <a:xfrm>
            <a:off x="1385061" y="1851405"/>
            <a:ext cx="98596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Segoe UI"/>
                <a:cs typeface="Segoe UI"/>
              </a:rPr>
              <a:t>Une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méthode</a:t>
            </a:r>
            <a:r>
              <a:rPr sz="2400" b="1" spc="-35" dirty="0">
                <a:latin typeface="Segoe UI"/>
                <a:cs typeface="Segoe UI"/>
              </a:rPr>
              <a:t> </a:t>
            </a:r>
            <a:r>
              <a:rPr sz="2400" b="1" dirty="0">
                <a:latin typeface="Segoe UI"/>
                <a:cs typeface="Segoe UI"/>
              </a:rPr>
              <a:t>abstraite</a:t>
            </a:r>
            <a:r>
              <a:rPr sz="2400" b="1" spc="-5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est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très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pratique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car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elle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permet</a:t>
            </a:r>
            <a:r>
              <a:rPr sz="2400" spc="-7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au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parent 	</a:t>
            </a:r>
            <a:r>
              <a:rPr sz="2400" dirty="0">
                <a:latin typeface="Segoe UI"/>
                <a:cs typeface="Segoe UI"/>
              </a:rPr>
              <a:t>d’indiquer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la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présence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d’une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méthode</a:t>
            </a:r>
            <a:r>
              <a:rPr sz="2400" spc="-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dans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la</a:t>
            </a:r>
            <a:r>
              <a:rPr sz="2400" spc="-2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classe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enfant</a:t>
            </a:r>
            <a:r>
              <a:rPr sz="2400" spc="-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sans</a:t>
            </a:r>
            <a:r>
              <a:rPr sz="2400" spc="-4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avoir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spc="-50" dirty="0">
                <a:latin typeface="Segoe UI"/>
                <a:cs typeface="Segoe UI"/>
              </a:rPr>
              <a:t>à 	</a:t>
            </a:r>
            <a:r>
              <a:rPr sz="2400" dirty="0">
                <a:latin typeface="Segoe UI"/>
                <a:cs typeface="Segoe UI"/>
              </a:rPr>
              <a:t>définir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son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implémentation</a:t>
            </a:r>
            <a:r>
              <a:rPr sz="2400" spc="-5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dans</a:t>
            </a:r>
            <a:r>
              <a:rPr sz="2400" spc="-7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le</a:t>
            </a:r>
            <a:r>
              <a:rPr sz="2400" spc="-6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parent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D988905E-A3AE-BC6B-3CBF-04D7F76AA777}"/>
              </a:ext>
            </a:extLst>
          </p:cNvPr>
          <p:cNvSpPr txBox="1"/>
          <p:nvPr/>
        </p:nvSpPr>
        <p:spPr>
          <a:xfrm>
            <a:off x="1385061" y="3075559"/>
            <a:ext cx="1529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Segoe UI"/>
                <a:cs typeface="Segoe UI"/>
              </a:rPr>
              <a:t>Exemple</a:t>
            </a:r>
            <a:r>
              <a:rPr sz="2400" spc="-50" dirty="0">
                <a:latin typeface="Segoe UI"/>
                <a:cs typeface="Segoe UI"/>
              </a:rPr>
              <a:t> :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6">
            <a:extLst>
              <a:ext uri="{FF2B5EF4-FFF2-40B4-BE49-F238E27FC236}">
                <a16:creationId xmlns:a16="http://schemas.microsoft.com/office/drawing/2014/main" id="{FC15D793-6CC9-517E-4749-D62F70981CD1}"/>
              </a:ext>
            </a:extLst>
          </p:cNvPr>
          <p:cNvGrpSpPr/>
          <p:nvPr/>
        </p:nvGrpSpPr>
        <p:grpSpPr>
          <a:xfrm>
            <a:off x="2777998" y="3227577"/>
            <a:ext cx="6612255" cy="1948180"/>
            <a:chOff x="2777998" y="3227577"/>
            <a:chExt cx="6612255" cy="1948180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5ABEFD60-2B36-0E97-39AF-216E194062F0}"/>
                </a:ext>
              </a:extLst>
            </p:cNvPr>
            <p:cNvSpPr/>
            <p:nvPr/>
          </p:nvSpPr>
          <p:spPr>
            <a:xfrm>
              <a:off x="2784348" y="4596383"/>
              <a:ext cx="6599555" cy="572770"/>
            </a:xfrm>
            <a:custGeom>
              <a:avLst/>
              <a:gdLst/>
              <a:ahLst/>
              <a:cxnLst/>
              <a:rect l="l" t="t" r="r" b="b"/>
              <a:pathLst>
                <a:path w="6599555" h="572770">
                  <a:moveTo>
                    <a:pt x="3299460" y="0"/>
                  </a:moveTo>
                  <a:lnTo>
                    <a:pt x="3299460" y="286385"/>
                  </a:lnTo>
                  <a:lnTo>
                    <a:pt x="6599301" y="286385"/>
                  </a:lnTo>
                  <a:lnTo>
                    <a:pt x="6599301" y="572643"/>
                  </a:lnTo>
                </a:path>
                <a:path w="6599555" h="572770">
                  <a:moveTo>
                    <a:pt x="3299460" y="0"/>
                  </a:moveTo>
                  <a:lnTo>
                    <a:pt x="3299460" y="572643"/>
                  </a:lnTo>
                </a:path>
                <a:path w="6599555" h="572770">
                  <a:moveTo>
                    <a:pt x="3299841" y="0"/>
                  </a:moveTo>
                  <a:lnTo>
                    <a:pt x="3299841" y="286385"/>
                  </a:lnTo>
                  <a:lnTo>
                    <a:pt x="0" y="286385"/>
                  </a:lnTo>
                  <a:lnTo>
                    <a:pt x="0" y="572643"/>
                  </a:lnTo>
                </a:path>
              </a:pathLst>
            </a:custGeom>
            <a:ln w="12700">
              <a:solidFill>
                <a:srgbClr val="3458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56A7708C-5949-AF3F-A164-942B5CCB50B4}"/>
                </a:ext>
              </a:extLst>
            </p:cNvPr>
            <p:cNvSpPr/>
            <p:nvPr/>
          </p:nvSpPr>
          <p:spPr>
            <a:xfrm>
              <a:off x="4721352" y="3233927"/>
              <a:ext cx="2726690" cy="1362710"/>
            </a:xfrm>
            <a:custGeom>
              <a:avLst/>
              <a:gdLst/>
              <a:ahLst/>
              <a:cxnLst/>
              <a:rect l="l" t="t" r="r" b="b"/>
              <a:pathLst>
                <a:path w="2726690" h="1362710">
                  <a:moveTo>
                    <a:pt x="2726436" y="0"/>
                  </a:moveTo>
                  <a:lnTo>
                    <a:pt x="0" y="0"/>
                  </a:lnTo>
                  <a:lnTo>
                    <a:pt x="0" y="1362456"/>
                  </a:lnTo>
                  <a:lnTo>
                    <a:pt x="2726436" y="1362456"/>
                  </a:lnTo>
                  <a:lnTo>
                    <a:pt x="27264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C1E5D1BA-CBD3-95D0-8DFD-DDE28B7495A2}"/>
                </a:ext>
              </a:extLst>
            </p:cNvPr>
            <p:cNvSpPr/>
            <p:nvPr/>
          </p:nvSpPr>
          <p:spPr>
            <a:xfrm>
              <a:off x="4721352" y="3233927"/>
              <a:ext cx="2726690" cy="1362710"/>
            </a:xfrm>
            <a:custGeom>
              <a:avLst/>
              <a:gdLst/>
              <a:ahLst/>
              <a:cxnLst/>
              <a:rect l="l" t="t" r="r" b="b"/>
              <a:pathLst>
                <a:path w="2726690" h="1362710">
                  <a:moveTo>
                    <a:pt x="0" y="1362456"/>
                  </a:moveTo>
                  <a:lnTo>
                    <a:pt x="2726436" y="1362456"/>
                  </a:lnTo>
                  <a:lnTo>
                    <a:pt x="2726436" y="0"/>
                  </a:lnTo>
                  <a:lnTo>
                    <a:pt x="0" y="0"/>
                  </a:lnTo>
                  <a:lnTo>
                    <a:pt x="0" y="136245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10">
            <a:extLst>
              <a:ext uri="{FF2B5EF4-FFF2-40B4-BE49-F238E27FC236}">
                <a16:creationId xmlns:a16="http://schemas.microsoft.com/office/drawing/2014/main" id="{26391633-1A15-99A7-60AE-41346C356D2D}"/>
              </a:ext>
            </a:extLst>
          </p:cNvPr>
          <p:cNvSpPr txBox="1"/>
          <p:nvPr/>
        </p:nvSpPr>
        <p:spPr>
          <a:xfrm>
            <a:off x="4782439" y="3184447"/>
            <a:ext cx="260477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1905" algn="ctr">
              <a:lnSpc>
                <a:spcPct val="127299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GeometricShape </a:t>
            </a:r>
            <a:r>
              <a:rPr sz="2200" i="1" dirty="0">
                <a:solidFill>
                  <a:srgbClr val="FFFFFF"/>
                </a:solidFill>
                <a:latin typeface="Calibri"/>
                <a:cs typeface="Calibri"/>
              </a:rPr>
              <a:t>double</a:t>
            </a:r>
            <a:r>
              <a:rPr sz="2200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FFFFFF"/>
                </a:solidFill>
                <a:latin typeface="Calibri"/>
                <a:cs typeface="Calibri"/>
              </a:rPr>
              <a:t>GetSurface(); </a:t>
            </a:r>
            <a:r>
              <a:rPr sz="2200" i="1" dirty="0">
                <a:solidFill>
                  <a:srgbClr val="FFFFFF"/>
                </a:solidFill>
                <a:latin typeface="Calibri"/>
                <a:cs typeface="Calibri"/>
              </a:rPr>
              <a:t>double</a:t>
            </a:r>
            <a:r>
              <a:rPr sz="22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FFFFFF"/>
                </a:solidFill>
                <a:latin typeface="Calibri"/>
                <a:cs typeface="Calibri"/>
              </a:rPr>
              <a:t>GetPerimeter();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11">
            <a:extLst>
              <a:ext uri="{FF2B5EF4-FFF2-40B4-BE49-F238E27FC236}">
                <a16:creationId xmlns:a16="http://schemas.microsoft.com/office/drawing/2014/main" id="{369BC7C6-8E1C-3AE3-D34F-CDE011326F7A}"/>
              </a:ext>
            </a:extLst>
          </p:cNvPr>
          <p:cNvGrpSpPr/>
          <p:nvPr/>
        </p:nvGrpSpPr>
        <p:grpSpPr>
          <a:xfrm>
            <a:off x="1415541" y="5163058"/>
            <a:ext cx="2739390" cy="1376680"/>
            <a:chOff x="1415541" y="5163058"/>
            <a:chExt cx="2739390" cy="1376680"/>
          </a:xfrm>
        </p:grpSpPr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E353C19E-A295-6A0C-DBBE-94C098D745CB}"/>
                </a:ext>
              </a:extLst>
            </p:cNvPr>
            <p:cNvSpPr/>
            <p:nvPr/>
          </p:nvSpPr>
          <p:spPr>
            <a:xfrm>
              <a:off x="1421891" y="5169408"/>
              <a:ext cx="2726690" cy="1363980"/>
            </a:xfrm>
            <a:custGeom>
              <a:avLst/>
              <a:gdLst/>
              <a:ahLst/>
              <a:cxnLst/>
              <a:rect l="l" t="t" r="r" b="b"/>
              <a:pathLst>
                <a:path w="2726690" h="1363979">
                  <a:moveTo>
                    <a:pt x="2726436" y="0"/>
                  </a:moveTo>
                  <a:lnTo>
                    <a:pt x="0" y="0"/>
                  </a:lnTo>
                  <a:lnTo>
                    <a:pt x="0" y="1363980"/>
                  </a:lnTo>
                  <a:lnTo>
                    <a:pt x="2726436" y="1363980"/>
                  </a:lnTo>
                  <a:lnTo>
                    <a:pt x="27264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42186884-0289-6AB9-54EE-C9802025CEED}"/>
                </a:ext>
              </a:extLst>
            </p:cNvPr>
            <p:cNvSpPr/>
            <p:nvPr/>
          </p:nvSpPr>
          <p:spPr>
            <a:xfrm>
              <a:off x="1421891" y="5169408"/>
              <a:ext cx="2726690" cy="1363980"/>
            </a:xfrm>
            <a:custGeom>
              <a:avLst/>
              <a:gdLst/>
              <a:ahLst/>
              <a:cxnLst/>
              <a:rect l="l" t="t" r="r" b="b"/>
              <a:pathLst>
                <a:path w="2726690" h="1363979">
                  <a:moveTo>
                    <a:pt x="0" y="1363980"/>
                  </a:moveTo>
                  <a:lnTo>
                    <a:pt x="2726436" y="1363980"/>
                  </a:lnTo>
                  <a:lnTo>
                    <a:pt x="2726436" y="0"/>
                  </a:lnTo>
                  <a:lnTo>
                    <a:pt x="0" y="0"/>
                  </a:lnTo>
                  <a:lnTo>
                    <a:pt x="0" y="13639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4">
            <a:extLst>
              <a:ext uri="{FF2B5EF4-FFF2-40B4-BE49-F238E27FC236}">
                <a16:creationId xmlns:a16="http://schemas.microsoft.com/office/drawing/2014/main" id="{50906375-9399-4852-7FE6-CA62226654A9}"/>
              </a:ext>
            </a:extLst>
          </p:cNvPr>
          <p:cNvSpPr txBox="1"/>
          <p:nvPr/>
        </p:nvSpPr>
        <p:spPr>
          <a:xfrm>
            <a:off x="1459230" y="5121248"/>
            <a:ext cx="2651760" cy="13055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Circle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double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GetSurface();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double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GetPerimeter();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5">
            <a:extLst>
              <a:ext uri="{FF2B5EF4-FFF2-40B4-BE49-F238E27FC236}">
                <a16:creationId xmlns:a16="http://schemas.microsoft.com/office/drawing/2014/main" id="{94540CF5-4149-B3CF-B831-5823141F921D}"/>
              </a:ext>
            </a:extLst>
          </p:cNvPr>
          <p:cNvGrpSpPr/>
          <p:nvPr/>
        </p:nvGrpSpPr>
        <p:grpSpPr>
          <a:xfrm>
            <a:off x="4715002" y="5163058"/>
            <a:ext cx="2739390" cy="1376680"/>
            <a:chOff x="4715002" y="5163058"/>
            <a:chExt cx="2739390" cy="1376680"/>
          </a:xfrm>
        </p:grpSpPr>
        <p:sp>
          <p:nvSpPr>
            <p:cNvPr id="14" name="object 16">
              <a:extLst>
                <a:ext uri="{FF2B5EF4-FFF2-40B4-BE49-F238E27FC236}">
                  <a16:creationId xmlns:a16="http://schemas.microsoft.com/office/drawing/2014/main" id="{543A7EED-9512-B137-6092-0A8B938F0E05}"/>
                </a:ext>
              </a:extLst>
            </p:cNvPr>
            <p:cNvSpPr/>
            <p:nvPr/>
          </p:nvSpPr>
          <p:spPr>
            <a:xfrm>
              <a:off x="4721352" y="5169408"/>
              <a:ext cx="2726690" cy="1363980"/>
            </a:xfrm>
            <a:custGeom>
              <a:avLst/>
              <a:gdLst/>
              <a:ahLst/>
              <a:cxnLst/>
              <a:rect l="l" t="t" r="r" b="b"/>
              <a:pathLst>
                <a:path w="2726690" h="1363979">
                  <a:moveTo>
                    <a:pt x="2726436" y="0"/>
                  </a:moveTo>
                  <a:lnTo>
                    <a:pt x="0" y="0"/>
                  </a:lnTo>
                  <a:lnTo>
                    <a:pt x="0" y="1363980"/>
                  </a:lnTo>
                  <a:lnTo>
                    <a:pt x="2726436" y="1363980"/>
                  </a:lnTo>
                  <a:lnTo>
                    <a:pt x="27264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>
              <a:extLst>
                <a:ext uri="{FF2B5EF4-FFF2-40B4-BE49-F238E27FC236}">
                  <a16:creationId xmlns:a16="http://schemas.microsoft.com/office/drawing/2014/main" id="{AB3E98B4-B7DD-E815-0D67-2011C9FA1FAB}"/>
                </a:ext>
              </a:extLst>
            </p:cNvPr>
            <p:cNvSpPr/>
            <p:nvPr/>
          </p:nvSpPr>
          <p:spPr>
            <a:xfrm>
              <a:off x="4721352" y="5169408"/>
              <a:ext cx="2726690" cy="1363980"/>
            </a:xfrm>
            <a:custGeom>
              <a:avLst/>
              <a:gdLst/>
              <a:ahLst/>
              <a:cxnLst/>
              <a:rect l="l" t="t" r="r" b="b"/>
              <a:pathLst>
                <a:path w="2726690" h="1363979">
                  <a:moveTo>
                    <a:pt x="0" y="1363980"/>
                  </a:moveTo>
                  <a:lnTo>
                    <a:pt x="2726436" y="1363980"/>
                  </a:lnTo>
                  <a:lnTo>
                    <a:pt x="2726436" y="0"/>
                  </a:lnTo>
                  <a:lnTo>
                    <a:pt x="0" y="0"/>
                  </a:lnTo>
                  <a:lnTo>
                    <a:pt x="0" y="13639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8">
            <a:extLst>
              <a:ext uri="{FF2B5EF4-FFF2-40B4-BE49-F238E27FC236}">
                <a16:creationId xmlns:a16="http://schemas.microsoft.com/office/drawing/2014/main" id="{E47C2ACA-E2D2-DCBD-4EBB-D885581208D9}"/>
              </a:ext>
            </a:extLst>
          </p:cNvPr>
          <p:cNvSpPr txBox="1"/>
          <p:nvPr/>
        </p:nvSpPr>
        <p:spPr>
          <a:xfrm>
            <a:off x="4759578" y="5121248"/>
            <a:ext cx="2651760" cy="13055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Rectangledouble</a:t>
            </a:r>
            <a:endParaRPr sz="2200">
              <a:latin typeface="Calibri"/>
              <a:cs typeface="Calibri"/>
            </a:endParaRPr>
          </a:p>
          <a:p>
            <a:pPr marL="60325" algn="ctr">
              <a:lnSpc>
                <a:spcPct val="100000"/>
              </a:lnSpc>
              <a:spcBef>
                <a:spcPts val="720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GetSurface();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double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GetPerimeter();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7" name="object 19">
            <a:extLst>
              <a:ext uri="{FF2B5EF4-FFF2-40B4-BE49-F238E27FC236}">
                <a16:creationId xmlns:a16="http://schemas.microsoft.com/office/drawing/2014/main" id="{3AF684CF-F3FC-6068-FD38-4777DE7BF159}"/>
              </a:ext>
            </a:extLst>
          </p:cNvPr>
          <p:cNvGrpSpPr/>
          <p:nvPr/>
        </p:nvGrpSpPr>
        <p:grpSpPr>
          <a:xfrm>
            <a:off x="8014461" y="5163058"/>
            <a:ext cx="2739390" cy="1376680"/>
            <a:chOff x="8014461" y="5163058"/>
            <a:chExt cx="2739390" cy="1376680"/>
          </a:xfrm>
        </p:grpSpPr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F2FAD0F1-43ED-2956-94F0-F69D24042A78}"/>
                </a:ext>
              </a:extLst>
            </p:cNvPr>
            <p:cNvSpPr/>
            <p:nvPr/>
          </p:nvSpPr>
          <p:spPr>
            <a:xfrm>
              <a:off x="8020811" y="5169408"/>
              <a:ext cx="2726690" cy="1363980"/>
            </a:xfrm>
            <a:custGeom>
              <a:avLst/>
              <a:gdLst/>
              <a:ahLst/>
              <a:cxnLst/>
              <a:rect l="l" t="t" r="r" b="b"/>
              <a:pathLst>
                <a:path w="2726690" h="1363979">
                  <a:moveTo>
                    <a:pt x="2726436" y="0"/>
                  </a:moveTo>
                  <a:lnTo>
                    <a:pt x="0" y="0"/>
                  </a:lnTo>
                  <a:lnTo>
                    <a:pt x="0" y="1363980"/>
                  </a:lnTo>
                  <a:lnTo>
                    <a:pt x="2726436" y="1363980"/>
                  </a:lnTo>
                  <a:lnTo>
                    <a:pt x="27264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8022841D-DF97-1623-225C-86890D72088A}"/>
                </a:ext>
              </a:extLst>
            </p:cNvPr>
            <p:cNvSpPr/>
            <p:nvPr/>
          </p:nvSpPr>
          <p:spPr>
            <a:xfrm>
              <a:off x="8020811" y="5169408"/>
              <a:ext cx="2726690" cy="1363980"/>
            </a:xfrm>
            <a:custGeom>
              <a:avLst/>
              <a:gdLst/>
              <a:ahLst/>
              <a:cxnLst/>
              <a:rect l="l" t="t" r="r" b="b"/>
              <a:pathLst>
                <a:path w="2726690" h="1363979">
                  <a:moveTo>
                    <a:pt x="0" y="1363980"/>
                  </a:moveTo>
                  <a:lnTo>
                    <a:pt x="2726436" y="1363980"/>
                  </a:lnTo>
                  <a:lnTo>
                    <a:pt x="2726436" y="0"/>
                  </a:lnTo>
                  <a:lnTo>
                    <a:pt x="0" y="0"/>
                  </a:lnTo>
                  <a:lnTo>
                    <a:pt x="0" y="13639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2">
            <a:extLst>
              <a:ext uri="{FF2B5EF4-FFF2-40B4-BE49-F238E27FC236}">
                <a16:creationId xmlns:a16="http://schemas.microsoft.com/office/drawing/2014/main" id="{4C5707EE-D61B-21C5-B98C-52816BF6BFD8}"/>
              </a:ext>
            </a:extLst>
          </p:cNvPr>
          <p:cNvSpPr txBox="1"/>
          <p:nvPr/>
        </p:nvSpPr>
        <p:spPr>
          <a:xfrm>
            <a:off x="8059673" y="5121248"/>
            <a:ext cx="2651760" cy="13055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Triangledouble</a:t>
            </a:r>
            <a:endParaRPr sz="2200">
              <a:latin typeface="Calibri"/>
              <a:cs typeface="Calibri"/>
            </a:endParaRPr>
          </a:p>
          <a:p>
            <a:pPr marL="60325" algn="ctr">
              <a:lnSpc>
                <a:spcPct val="100000"/>
              </a:lnSpc>
              <a:spcBef>
                <a:spcPts val="720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GetSurface();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double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GetPerimeter();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E925E218-0752-C938-C003-3FC05AA362BE}"/>
              </a:ext>
            </a:extLst>
          </p:cNvPr>
          <p:cNvSpPr txBox="1">
            <a:spLocks/>
          </p:cNvSpPr>
          <p:nvPr/>
        </p:nvSpPr>
        <p:spPr>
          <a:xfrm>
            <a:off x="11835130" y="6526174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fr-FR" spc="-25" smtClean="0"/>
              <a:pPr marL="38100">
                <a:lnSpc>
                  <a:spcPts val="1240"/>
                </a:lnSpc>
              </a:pPr>
              <a:t>28</a:t>
            </a:fld>
            <a:endParaRPr lang="fr-FR" spc="-25" dirty="0"/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DF318694-BFA5-8A71-7780-50CD5967A8CA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Héritage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CA4D72D-0CA6-4134-594A-05BC29B0F12B}"/>
              </a:ext>
            </a:extLst>
          </p:cNvPr>
          <p:cNvSpPr txBox="1"/>
          <p:nvPr/>
        </p:nvSpPr>
        <p:spPr>
          <a:xfrm>
            <a:off x="844826" y="1333256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b="1" dirty="0">
                <a:latin typeface="Segoe UI"/>
                <a:cs typeface="Segoe UI"/>
              </a:rPr>
              <a:t>Classes abstraites</a:t>
            </a: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82218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Héritage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Interfaces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interface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type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données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définit</a:t>
            </a:r>
            <a:r>
              <a:rPr lang="fr-FR" sz="2400" b="1" spc="-2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des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méthodes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abstraites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9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Clr>
                <a:srgbClr val="391778"/>
              </a:buClr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interface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ne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contenir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champs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8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Clr>
                <a:srgbClr val="391778"/>
              </a:buClr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souvent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qu’une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interface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définit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</a:t>
            </a:r>
            <a:r>
              <a:rPr lang="fr-FR" sz="2400" u="sng" spc="-3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contrat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doit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suivre</a:t>
            </a:r>
            <a:endParaRPr lang="fr-FR" sz="2400" dirty="0">
              <a:latin typeface="Segoe UI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5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classe</a:t>
            </a:r>
            <a:r>
              <a:rPr lang="fr-FR" sz="2400" b="1" spc="-6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implémente</a:t>
            </a:r>
            <a:r>
              <a:rPr lang="fr-FR" sz="2400" b="1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la</a:t>
            </a:r>
            <a:r>
              <a:rPr lang="fr-FR" sz="2400" b="1" spc="-4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capacité</a:t>
            </a:r>
            <a:r>
              <a:rPr lang="fr-FR" sz="2400" b="1" spc="-6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de</a:t>
            </a:r>
            <a:r>
              <a:rPr lang="fr-FR" sz="2400" b="1" spc="-4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répondre</a:t>
            </a:r>
            <a:r>
              <a:rPr lang="fr-FR" sz="2400" b="1" spc="-6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aux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besoins</a:t>
            </a:r>
            <a:r>
              <a:rPr lang="fr-FR" sz="2400" b="1" spc="-60" dirty="0">
                <a:latin typeface="Segoe UI"/>
                <a:cs typeface="Segoe UI"/>
              </a:rPr>
              <a:t> </a:t>
            </a:r>
            <a:r>
              <a:rPr lang="fr-FR" sz="2400" b="1" spc="-25" dirty="0">
                <a:latin typeface="Segoe UI"/>
                <a:cs typeface="Segoe UI"/>
              </a:rPr>
              <a:t>des 	</a:t>
            </a:r>
            <a:r>
              <a:rPr lang="fr-FR" sz="2400" b="1" dirty="0">
                <a:latin typeface="Segoe UI"/>
                <a:cs typeface="Segoe UI"/>
              </a:rPr>
              <a:t>méthodes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abstraites</a:t>
            </a:r>
            <a:r>
              <a:rPr lang="fr-FR" sz="2400" b="1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l’interface</a:t>
            </a:r>
            <a:endParaRPr lang="fr-FR" sz="2400" dirty="0">
              <a:latin typeface="Segoe UI"/>
              <a:cs typeface="Segoe UI"/>
            </a:endParaRPr>
          </a:p>
          <a:p>
            <a:pPr marL="1753235">
              <a:lnSpc>
                <a:spcPct val="100000"/>
              </a:lnSpc>
              <a:spcBef>
                <a:spcPts val="2470"/>
              </a:spcBef>
              <a:tabLst>
                <a:tab pos="2687320" algn="l"/>
                <a:tab pos="4019550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b="1" spc="175" dirty="0">
                <a:solidFill>
                  <a:srgbClr val="0000FF"/>
                </a:solidFill>
                <a:latin typeface="Trebuchet MS"/>
                <a:cs typeface="Trebuchet MS"/>
              </a:rPr>
              <a:t>interface</a:t>
            </a:r>
            <a:r>
              <a:rPr lang="fr-FR"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15" dirty="0" err="1">
                <a:solidFill>
                  <a:srgbClr val="2B91AE"/>
                </a:solidFill>
                <a:latin typeface="Trebuchet MS"/>
                <a:cs typeface="Trebuchet MS"/>
              </a:rPr>
              <a:t>IAirConditionable</a:t>
            </a:r>
            <a:endParaRPr lang="fr-FR" sz="1800" dirty="0">
              <a:latin typeface="Trebuchet MS"/>
              <a:cs typeface="Trebuchet MS"/>
            </a:endParaRPr>
          </a:p>
          <a:p>
            <a:pPr marL="175323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{</a:t>
            </a:r>
            <a:endParaRPr lang="fr-FR" sz="1800" dirty="0">
              <a:latin typeface="Trebuchet MS"/>
              <a:cs typeface="Trebuchet MS"/>
            </a:endParaRPr>
          </a:p>
          <a:p>
            <a:pPr marL="2667635">
              <a:lnSpc>
                <a:spcPct val="100000"/>
              </a:lnSpc>
              <a:tabLst>
                <a:tab pos="3601720" algn="l"/>
                <a:tab pos="426783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85" dirty="0" err="1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45" dirty="0">
                <a:latin typeface="Trebuchet MS"/>
                <a:cs typeface="Trebuchet MS"/>
              </a:rPr>
              <a:t>Cool();</a:t>
            </a:r>
            <a:endParaRPr lang="fr-FR" sz="1800" dirty="0">
              <a:latin typeface="Trebuchet MS"/>
              <a:cs typeface="Trebuchet MS"/>
            </a:endParaRPr>
          </a:p>
          <a:p>
            <a:pPr marL="175323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}</a:t>
            </a: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lang="fr-FR" sz="1800" dirty="0">
              <a:latin typeface="Trebuchet MS"/>
              <a:cs typeface="Trebuchet MS"/>
            </a:endParaRPr>
          </a:p>
          <a:p>
            <a:pPr marL="1753235">
              <a:lnSpc>
                <a:spcPct val="100000"/>
              </a:lnSpc>
              <a:tabLst>
                <a:tab pos="2687320" algn="l"/>
                <a:tab pos="3486150" algn="l"/>
                <a:tab pos="4019550" algn="l"/>
                <a:tab pos="4286250" algn="l"/>
                <a:tab pos="548576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b="1" spc="229" dirty="0">
                <a:solidFill>
                  <a:srgbClr val="0000FF"/>
                </a:solidFill>
                <a:latin typeface="Trebuchet MS"/>
                <a:cs typeface="Trebuchet MS"/>
              </a:rPr>
              <a:t>class</a:t>
            </a:r>
            <a:r>
              <a:rPr lang="fr-FR"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20" dirty="0">
                <a:solidFill>
                  <a:srgbClr val="2B91AE"/>
                </a:solidFill>
                <a:latin typeface="Trebuchet MS"/>
                <a:cs typeface="Trebuchet MS"/>
              </a:rPr>
              <a:t>Car</a:t>
            </a:r>
            <a:r>
              <a:rPr lang="fr-FR"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lang="fr-FR" sz="1800" spc="340" dirty="0">
                <a:latin typeface="Trebuchet MS"/>
                <a:cs typeface="Trebuchet MS"/>
              </a:rPr>
              <a:t>:</a:t>
            </a:r>
            <a:r>
              <a:rPr lang="fr-FR" sz="1800" dirty="0">
                <a:latin typeface="Trebuchet MS"/>
                <a:cs typeface="Trebuchet MS"/>
              </a:rPr>
              <a:t>	</a:t>
            </a:r>
            <a:r>
              <a:rPr lang="fr-FR" sz="1800" spc="204" dirty="0" err="1">
                <a:solidFill>
                  <a:srgbClr val="2B91AE"/>
                </a:solidFill>
                <a:latin typeface="Trebuchet MS"/>
                <a:cs typeface="Trebuchet MS"/>
              </a:rPr>
              <a:t>Vehicle</a:t>
            </a:r>
            <a:r>
              <a:rPr lang="fr-FR" sz="1800" b="1" spc="204" dirty="0">
                <a:latin typeface="Trebuchet MS"/>
                <a:cs typeface="Trebuchet MS"/>
              </a:rPr>
              <a:t>,</a:t>
            </a:r>
            <a:r>
              <a:rPr lang="fr-FR" sz="1800" b="1" dirty="0">
                <a:latin typeface="Trebuchet MS"/>
                <a:cs typeface="Trebuchet MS"/>
              </a:rPr>
              <a:t>	</a:t>
            </a:r>
            <a:r>
              <a:rPr lang="fr-FR" sz="1800" b="1" spc="170" dirty="0" err="1">
                <a:solidFill>
                  <a:srgbClr val="2B91AE"/>
                </a:solidFill>
                <a:latin typeface="Trebuchet MS"/>
                <a:cs typeface="Trebuchet MS"/>
              </a:rPr>
              <a:t>IAirConditionable</a:t>
            </a:r>
            <a:endParaRPr lang="fr-FR" sz="1800" dirty="0">
              <a:latin typeface="Trebuchet MS"/>
              <a:cs typeface="Trebuchet MS"/>
            </a:endParaRPr>
          </a:p>
          <a:p>
            <a:pPr marL="175323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{</a:t>
            </a:r>
            <a:endParaRPr lang="fr-FR" sz="1800" dirty="0">
              <a:latin typeface="Trebuchet MS"/>
              <a:cs typeface="Trebuchet MS"/>
            </a:endParaRPr>
          </a:p>
          <a:p>
            <a:pPr marL="2667635">
              <a:lnSpc>
                <a:spcPct val="100000"/>
              </a:lnSpc>
              <a:spcBef>
                <a:spcPts val="1260"/>
              </a:spcBef>
              <a:tabLst>
                <a:tab pos="3601720" algn="l"/>
                <a:tab pos="426783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85" dirty="0" err="1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25" dirty="0">
                <a:latin typeface="Trebuchet MS"/>
                <a:cs typeface="Trebuchet MS"/>
              </a:rPr>
              <a:t>Cool()</a:t>
            </a:r>
            <a:endParaRPr lang="fr-FR" sz="1800" dirty="0">
              <a:latin typeface="Trebuchet MS"/>
              <a:cs typeface="Trebuchet MS"/>
            </a:endParaRPr>
          </a:p>
          <a:p>
            <a:pPr marL="266763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{</a:t>
            </a:r>
            <a:endParaRPr lang="fr-FR" sz="1800" dirty="0">
              <a:latin typeface="Trebuchet MS"/>
              <a:cs typeface="Trebuchet MS"/>
            </a:endParaRPr>
          </a:p>
          <a:p>
            <a:pPr marL="3716654">
              <a:lnSpc>
                <a:spcPct val="100000"/>
              </a:lnSpc>
              <a:tabLst>
                <a:tab pos="4115435" algn="l"/>
                <a:tab pos="4516120" algn="l"/>
                <a:tab pos="5848350" algn="l"/>
                <a:tab pos="6249670" algn="l"/>
                <a:tab pos="6915150" algn="l"/>
                <a:tab pos="7448550" algn="l"/>
              </a:tabLst>
            </a:pPr>
            <a:r>
              <a:rPr lang="fr-FR" sz="1800" spc="70" dirty="0">
                <a:solidFill>
                  <a:srgbClr val="008000"/>
                </a:solidFill>
                <a:latin typeface="Trebuchet MS"/>
                <a:cs typeface="Trebuchet MS"/>
              </a:rPr>
              <a:t>//</a:t>
            </a:r>
            <a:r>
              <a:rPr lang="fr-FR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fr-FR" sz="1800" spc="-25" dirty="0">
                <a:solidFill>
                  <a:srgbClr val="008000"/>
                </a:solidFill>
                <a:latin typeface="Trebuchet MS"/>
                <a:cs typeface="Trebuchet MS"/>
              </a:rPr>
              <a:t>Do</a:t>
            </a:r>
            <a:r>
              <a:rPr lang="fr-FR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fr-FR" sz="1800" spc="110" dirty="0" err="1">
                <a:solidFill>
                  <a:srgbClr val="008000"/>
                </a:solidFill>
                <a:latin typeface="Trebuchet MS"/>
                <a:cs typeface="Trebuchet MS"/>
              </a:rPr>
              <a:t>something</a:t>
            </a:r>
            <a:r>
              <a:rPr lang="fr-FR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fr-FR" sz="1800" spc="185" dirty="0">
                <a:solidFill>
                  <a:srgbClr val="008000"/>
                </a:solidFill>
                <a:latin typeface="Trebuchet MS"/>
                <a:cs typeface="Trebuchet MS"/>
              </a:rPr>
              <a:t>to</a:t>
            </a:r>
            <a:r>
              <a:rPr lang="fr-FR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fr-FR" sz="1800" spc="185" dirty="0">
                <a:solidFill>
                  <a:srgbClr val="008000"/>
                </a:solidFill>
                <a:latin typeface="Trebuchet MS"/>
                <a:cs typeface="Trebuchet MS"/>
              </a:rPr>
              <a:t>cool</a:t>
            </a:r>
            <a:r>
              <a:rPr lang="fr-FR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fr-FR" sz="1800" spc="120" dirty="0">
                <a:solidFill>
                  <a:srgbClr val="008000"/>
                </a:solidFill>
                <a:latin typeface="Trebuchet MS"/>
                <a:cs typeface="Trebuchet MS"/>
              </a:rPr>
              <a:t>the</a:t>
            </a:r>
            <a:r>
              <a:rPr lang="fr-FR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fr-FR" sz="1800" spc="175" dirty="0">
                <a:solidFill>
                  <a:srgbClr val="008000"/>
                </a:solidFill>
                <a:latin typeface="Trebuchet MS"/>
                <a:cs typeface="Trebuchet MS"/>
              </a:rPr>
              <a:t>car</a:t>
            </a:r>
            <a:endParaRPr lang="fr-FR" sz="1800" dirty="0">
              <a:latin typeface="Trebuchet MS"/>
              <a:cs typeface="Trebuchet MS"/>
            </a:endParaRPr>
          </a:p>
          <a:p>
            <a:pPr marL="2667635">
              <a:lnSpc>
                <a:spcPct val="100000"/>
              </a:lnSpc>
              <a:spcBef>
                <a:spcPts val="5"/>
              </a:spcBef>
            </a:pPr>
            <a:r>
              <a:rPr lang="fr-FR" sz="1800" spc="340" dirty="0">
                <a:latin typeface="Trebuchet MS"/>
                <a:cs typeface="Trebuchet MS"/>
              </a:rPr>
              <a:t>}</a:t>
            </a:r>
            <a:endParaRPr lang="fr-FR" sz="1800" dirty="0">
              <a:latin typeface="Trebuchet MS"/>
              <a:cs typeface="Trebuchet MS"/>
            </a:endParaRPr>
          </a:p>
          <a:p>
            <a:pPr marL="175323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}</a:t>
            </a: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07814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72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interface</a:t>
            </a:r>
            <a:r>
              <a:rPr lang="fr-FR" sz="2400" u="sng" spc="-3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peut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hériter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autre</a:t>
            </a:r>
            <a:r>
              <a:rPr lang="fr-FR" sz="2400" u="sng" spc="-5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interface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classe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aura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plus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comportement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implémenter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pour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respecter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contrat</a:t>
            </a:r>
            <a:endParaRPr lang="fr-FR" sz="20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spc="-20" dirty="0">
                <a:latin typeface="Segoe UI"/>
                <a:cs typeface="Segoe UI"/>
              </a:rPr>
              <a:t>L’écriture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est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similaire</a:t>
            </a:r>
            <a:r>
              <a:rPr lang="fr-FR" sz="2000" spc="-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héritage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classe</a:t>
            </a:r>
            <a:endParaRPr lang="fr-FR"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448945">
              <a:lnSpc>
                <a:spcPct val="100000"/>
              </a:lnSpc>
              <a:tabLst>
                <a:tab pos="1383665" algn="l"/>
                <a:tab pos="2715260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b="1" spc="175" dirty="0">
                <a:solidFill>
                  <a:srgbClr val="0000FF"/>
                </a:solidFill>
                <a:latin typeface="Trebuchet MS"/>
                <a:cs typeface="Trebuchet MS"/>
              </a:rPr>
              <a:t>interface</a:t>
            </a:r>
            <a:r>
              <a:rPr lang="fr-FR"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15" dirty="0" err="1">
                <a:solidFill>
                  <a:srgbClr val="2B91AE"/>
                </a:solidFill>
                <a:latin typeface="Trebuchet MS"/>
                <a:cs typeface="Trebuchet MS"/>
              </a:rPr>
              <a:t>IAirConditionable</a:t>
            </a:r>
            <a:endParaRPr lang="fr-FR" sz="1800" dirty="0">
              <a:latin typeface="Trebuchet MS"/>
              <a:cs typeface="Trebuchet MS"/>
            </a:endParaRPr>
          </a:p>
          <a:p>
            <a:pPr marL="44894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{</a:t>
            </a:r>
            <a:endParaRPr lang="fr-FR" sz="1800" dirty="0">
              <a:latin typeface="Trebuchet MS"/>
              <a:cs typeface="Trebuchet MS"/>
            </a:endParaRPr>
          </a:p>
          <a:p>
            <a:pPr marL="1363980">
              <a:lnSpc>
                <a:spcPct val="100000"/>
              </a:lnSpc>
              <a:tabLst>
                <a:tab pos="2298065" algn="l"/>
                <a:tab pos="296354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80" dirty="0" err="1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45" dirty="0">
                <a:latin typeface="Trebuchet MS"/>
                <a:cs typeface="Trebuchet MS"/>
              </a:rPr>
              <a:t>Cool();</a:t>
            </a:r>
            <a:endParaRPr lang="fr-FR" sz="1800" dirty="0">
              <a:latin typeface="Trebuchet MS"/>
              <a:cs typeface="Trebuchet MS"/>
            </a:endParaRPr>
          </a:p>
          <a:p>
            <a:pPr marL="44894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}</a:t>
            </a: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lang="fr-FR" sz="1800" dirty="0">
              <a:latin typeface="Trebuchet MS"/>
              <a:cs typeface="Trebuchet MS"/>
            </a:endParaRPr>
          </a:p>
          <a:p>
            <a:pPr marL="448945">
              <a:lnSpc>
                <a:spcPct val="100000"/>
              </a:lnSpc>
              <a:tabLst>
                <a:tab pos="1383665" algn="l"/>
                <a:tab pos="2715260" algn="l"/>
                <a:tab pos="6448425" algn="l"/>
                <a:tab pos="671512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b="1" spc="175" dirty="0">
                <a:solidFill>
                  <a:srgbClr val="0000FF"/>
                </a:solidFill>
                <a:latin typeface="Trebuchet MS"/>
                <a:cs typeface="Trebuchet MS"/>
              </a:rPr>
              <a:t>interface</a:t>
            </a:r>
            <a:r>
              <a:rPr lang="fr-FR"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04" dirty="0" err="1">
                <a:solidFill>
                  <a:srgbClr val="2B91AE"/>
                </a:solidFill>
                <a:latin typeface="Trebuchet MS"/>
                <a:cs typeface="Trebuchet MS"/>
              </a:rPr>
              <a:t>IReversibleAirConditionable</a:t>
            </a:r>
            <a:r>
              <a:rPr lang="fr-FR"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lang="fr-FR" sz="1800" b="1" spc="340" dirty="0">
                <a:solidFill>
                  <a:srgbClr val="2B91AE"/>
                </a:solidFill>
                <a:latin typeface="Trebuchet MS"/>
                <a:cs typeface="Trebuchet MS"/>
              </a:rPr>
              <a:t>:</a:t>
            </a:r>
            <a:r>
              <a:rPr lang="fr-FR" sz="1800" b="1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lang="fr-FR" sz="1800" spc="210" dirty="0" err="1">
                <a:solidFill>
                  <a:srgbClr val="2B91AE"/>
                </a:solidFill>
                <a:latin typeface="Trebuchet MS"/>
                <a:cs typeface="Trebuchet MS"/>
              </a:rPr>
              <a:t>IAirConditionable</a:t>
            </a:r>
            <a:endParaRPr lang="fr-FR" sz="1800" dirty="0">
              <a:latin typeface="Trebuchet MS"/>
              <a:cs typeface="Trebuchet MS"/>
            </a:endParaRPr>
          </a:p>
          <a:p>
            <a:pPr marL="448945">
              <a:lnSpc>
                <a:spcPct val="100000"/>
              </a:lnSpc>
            </a:pPr>
            <a:r>
              <a:rPr lang="fr-FR" sz="1800" spc="340" dirty="0">
                <a:latin typeface="Trebuchet MS"/>
                <a:cs typeface="Trebuchet MS"/>
              </a:rPr>
              <a:t>{</a:t>
            </a:r>
            <a:endParaRPr lang="fr-FR" sz="1800" dirty="0">
              <a:latin typeface="Trebuchet MS"/>
              <a:cs typeface="Trebuchet MS"/>
            </a:endParaRPr>
          </a:p>
          <a:p>
            <a:pPr marL="1363980">
              <a:lnSpc>
                <a:spcPct val="100000"/>
              </a:lnSpc>
              <a:tabLst>
                <a:tab pos="2298065" algn="l"/>
                <a:tab pos="296354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80" dirty="0" err="1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25" dirty="0">
                <a:latin typeface="Trebuchet MS"/>
                <a:cs typeface="Trebuchet MS"/>
              </a:rPr>
              <a:t>Hot();</a:t>
            </a:r>
            <a:endParaRPr lang="fr-FR" sz="1800" dirty="0">
              <a:latin typeface="Trebuchet MS"/>
              <a:cs typeface="Trebuchet MS"/>
            </a:endParaRPr>
          </a:p>
          <a:p>
            <a:pPr marL="448945">
              <a:lnSpc>
                <a:spcPct val="100000"/>
              </a:lnSpc>
              <a:spcBef>
                <a:spcPts val="5"/>
              </a:spcBef>
            </a:pPr>
            <a:r>
              <a:rPr lang="fr-FR" sz="1800" spc="340" dirty="0">
                <a:latin typeface="Trebuchet MS"/>
                <a:cs typeface="Trebuchet MS"/>
              </a:rPr>
              <a:t>}</a:t>
            </a:r>
            <a:endParaRPr lang="fr-FR" sz="1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77263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On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également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généralisation</a:t>
            </a:r>
            <a:r>
              <a:rPr lang="fr-FR" sz="2400" b="1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spécialisation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ECE655E-CD6E-41D1-EAC0-D7F2A425E7B9}"/>
              </a:ext>
            </a:extLst>
          </p:cNvPr>
          <p:cNvSpPr txBox="1"/>
          <p:nvPr/>
        </p:nvSpPr>
        <p:spPr>
          <a:xfrm>
            <a:off x="844826" y="2776754"/>
            <a:ext cx="10907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IAirConditionable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justCool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myCar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généralisation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justCool.Cool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la référence ne voit que la méthode cool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justCool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Car)        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vérification du type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Car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(Car)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justCool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spécialisation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43048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33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000" b="1" dirty="0">
                <a:latin typeface="Segoe UI"/>
                <a:cs typeface="Segoe UI"/>
              </a:rPr>
              <a:t>Implémentation et héritage</a:t>
            </a:r>
            <a:endParaRPr lang="fr-FR" sz="2400" b="1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marR="5080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spc="-10" dirty="0">
                <a:latin typeface="Segoe UI"/>
                <a:cs typeface="Segoe UI"/>
              </a:rPr>
              <a:t>L’utilisation</a:t>
            </a:r>
            <a:r>
              <a:rPr lang="fr-FR" sz="2400" dirty="0">
                <a:latin typeface="Segoe UI"/>
                <a:cs typeface="Segoe UI"/>
              </a:rPr>
              <a:t> d’interface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très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pratique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car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elle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permet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d’implémenter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la 	</a:t>
            </a:r>
            <a:r>
              <a:rPr lang="fr-FR" sz="2400" dirty="0">
                <a:latin typeface="Segoe UI"/>
                <a:cs typeface="Segoe UI"/>
              </a:rPr>
              <a:t>même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hiérarchie</a:t>
            </a:r>
            <a:r>
              <a:rPr lang="fr-FR" sz="2400" spc="-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d’héritage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différentes</a:t>
            </a:r>
            <a:endParaRPr lang="fr-FR" sz="24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FD1DE7-E2A5-ACA8-059A-DC84949EC1A0}"/>
              </a:ext>
            </a:extLst>
          </p:cNvPr>
          <p:cNvSpPr txBox="1"/>
          <p:nvPr/>
        </p:nvSpPr>
        <p:spPr>
          <a:xfrm>
            <a:off x="1508854" y="3331028"/>
            <a:ext cx="7239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Car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Vehicle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IAirConditionable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Cool()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//to cool the car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839B7E-DD2E-4FF4-9F99-78AC874DB132}"/>
              </a:ext>
            </a:extLst>
          </p:cNvPr>
          <p:cNvSpPr txBox="1"/>
          <p:nvPr/>
        </p:nvSpPr>
        <p:spPr>
          <a:xfrm>
            <a:off x="6368142" y="333102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House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: Structure,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IAirConditionable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Cool()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//Do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something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//to cool the house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2104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3329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Attention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bien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utiliser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bons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termes</a:t>
            </a:r>
            <a:r>
              <a:rPr lang="fr-FR" sz="2400" spc="-8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b="1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hérite</a:t>
            </a:r>
            <a:r>
              <a:rPr lang="fr-FR" sz="2400" b="1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d’une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autre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68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interface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b="1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hérite</a:t>
            </a:r>
            <a:r>
              <a:rPr lang="fr-FR" sz="2400" b="1" u="sng" spc="-3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d’une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autre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interface</a:t>
            </a:r>
            <a:endParaRPr lang="fr-FR"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697865" lvl="1" indent="-227965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Segoe UI"/>
                <a:cs typeface="Segoe UI"/>
              </a:rPr>
              <a:t>Cependant</a:t>
            </a:r>
            <a:r>
              <a:rPr lang="fr-FR" sz="2400" spc="-75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une</a:t>
            </a:r>
            <a:r>
              <a:rPr lang="fr-FR" sz="2400" u="sng" spc="-6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r>
              <a:rPr lang="fr-FR" sz="24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b="1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implémente</a:t>
            </a:r>
            <a:r>
              <a:rPr lang="fr-FR" sz="2400" b="1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une</a:t>
            </a:r>
            <a:r>
              <a:rPr lang="fr-FR" sz="2400" u="sng" spc="-6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1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interface</a:t>
            </a:r>
            <a:endParaRPr lang="fr-FR" sz="24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95755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Interfaces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2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lang="fr-FR" sz="2800" dirty="0">
                <a:latin typeface="Segoe UI"/>
                <a:cs typeface="Segoe UI"/>
              </a:rPr>
              <a:t>Depuis</a:t>
            </a:r>
            <a:r>
              <a:rPr lang="fr-FR" sz="2800" spc="-35" dirty="0">
                <a:latin typeface="Segoe UI"/>
                <a:cs typeface="Segoe UI"/>
              </a:rPr>
              <a:t> </a:t>
            </a:r>
            <a:r>
              <a:rPr lang="fr-FR" sz="2800" dirty="0">
                <a:latin typeface="Segoe UI"/>
                <a:cs typeface="Segoe UI"/>
              </a:rPr>
              <a:t>C#8</a:t>
            </a:r>
            <a:r>
              <a:rPr lang="fr-FR" sz="28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(soit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.NET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Core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3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2019)</a:t>
            </a:r>
            <a:r>
              <a:rPr lang="fr-FR" sz="2400" spc="-60" dirty="0">
                <a:latin typeface="Segoe UI"/>
                <a:cs typeface="Segoe UI"/>
              </a:rPr>
              <a:t> </a:t>
            </a:r>
            <a:r>
              <a:rPr lang="fr-FR" sz="2800" spc="-50" dirty="0">
                <a:latin typeface="Segoe UI"/>
                <a:cs typeface="Segoe UI"/>
              </a:rPr>
              <a:t>:</a:t>
            </a:r>
            <a:endParaRPr lang="fr-FR" sz="2800" dirty="0">
              <a:latin typeface="Segoe UI"/>
              <a:cs typeface="Segoe UI"/>
            </a:endParaRPr>
          </a:p>
          <a:p>
            <a:pPr marL="698500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d’ajouter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dites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défaut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(des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concrètes)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20" dirty="0">
                <a:latin typeface="Segoe UI"/>
                <a:cs typeface="Segoe UI"/>
              </a:rPr>
              <a:t>dans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interface</a:t>
            </a:r>
            <a:endParaRPr lang="fr-FR" sz="2400" dirty="0">
              <a:latin typeface="Segoe UI"/>
              <a:cs typeface="Segoe UI"/>
            </a:endParaRPr>
          </a:p>
          <a:p>
            <a:pPr marL="698500" indent="-228600">
              <a:lnSpc>
                <a:spcPct val="100000"/>
              </a:lnSpc>
              <a:spcBef>
                <a:spcPts val="505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réalité,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c’est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compilateur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qui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ajoute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à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classe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afin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respecter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le c</a:t>
            </a:r>
            <a:r>
              <a:rPr lang="fr-FR" sz="2400" dirty="0">
                <a:latin typeface="Segoe UI"/>
                <a:cs typeface="Segoe UI"/>
              </a:rPr>
              <a:t>ontrat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(uniquement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si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la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20" dirty="0">
                <a:latin typeface="Segoe UI"/>
                <a:cs typeface="Segoe UI"/>
              </a:rPr>
              <a:t>n’est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déjà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implémentée)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83DCCF-DBF5-B6C9-E276-81B590469763}"/>
              </a:ext>
            </a:extLst>
          </p:cNvPr>
          <p:cNvSpPr txBox="1"/>
          <p:nvPr/>
        </p:nvSpPr>
        <p:spPr>
          <a:xfrm>
            <a:off x="2917372" y="3921204"/>
            <a:ext cx="85727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IAirConditionable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Cool();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Dry()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Do something to dry the air by default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7369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Interfaces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</a:t>
            </a:r>
            <a:r>
              <a:rPr lang="fr-FR" sz="5400" dirty="0" err="1">
                <a:solidFill>
                  <a:schemeClr val="bg1"/>
                </a:solidFill>
              </a:rPr>
              <a:t>Delegates</a:t>
            </a:r>
            <a:endParaRPr lang="fr-F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2997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En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C#,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‘</a:t>
            </a:r>
            <a:r>
              <a:rPr lang="fr-FR" sz="2400" b="1" dirty="0" err="1">
                <a:latin typeface="Segoe UI"/>
                <a:cs typeface="Segoe UI"/>
              </a:rPr>
              <a:t>delegate</a:t>
            </a:r>
            <a:r>
              <a:rPr lang="fr-FR" sz="2400" dirty="0">
                <a:latin typeface="Segoe UI"/>
                <a:cs typeface="Segoe UI"/>
              </a:rPr>
              <a:t>’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type</a:t>
            </a:r>
            <a:r>
              <a:rPr lang="fr-FR" sz="2400" b="1" spc="-35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de</a:t>
            </a:r>
            <a:r>
              <a:rPr lang="fr-FR" sz="2400" b="1" spc="-3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pointeur</a:t>
            </a:r>
            <a:r>
              <a:rPr lang="fr-FR" sz="2400" b="1" spc="-50" dirty="0">
                <a:latin typeface="Segoe UI"/>
                <a:cs typeface="Segoe UI"/>
              </a:rPr>
              <a:t> </a:t>
            </a:r>
            <a:r>
              <a:rPr lang="fr-FR" sz="2400" b="1" dirty="0">
                <a:latin typeface="Segoe UI"/>
                <a:cs typeface="Segoe UI"/>
              </a:rPr>
              <a:t>de</a:t>
            </a:r>
            <a:r>
              <a:rPr lang="fr-FR" sz="2400" b="1" spc="-25" dirty="0">
                <a:latin typeface="Segoe UI"/>
                <a:cs typeface="Segoe UI"/>
              </a:rPr>
              <a:t> </a:t>
            </a:r>
            <a:r>
              <a:rPr lang="fr-FR" sz="2400" b="1" spc="-10" dirty="0">
                <a:latin typeface="Segoe UI"/>
                <a:cs typeface="Segoe UI"/>
              </a:rPr>
              <a:t>fonction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64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marR="400685" indent="-227329">
              <a:lnSpc>
                <a:spcPct val="1006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delegates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sont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principalement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définit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dans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 err="1">
                <a:latin typeface="Segoe UI"/>
                <a:cs typeface="Segoe UI"/>
              </a:rPr>
              <a:t>namespace</a:t>
            </a:r>
            <a:r>
              <a:rPr lang="fr-FR" sz="2400" spc="-6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(comme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25" dirty="0">
                <a:latin typeface="Segoe UI"/>
                <a:cs typeface="Segoe UI"/>
              </a:rPr>
              <a:t>les 	</a:t>
            </a:r>
            <a:r>
              <a:rPr lang="fr-FR" sz="2000" dirty="0">
                <a:latin typeface="Segoe UI"/>
                <a:cs typeface="Segoe UI"/>
              </a:rPr>
              <a:t>classes,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interfaces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ou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encore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énumérations)</a:t>
            </a:r>
            <a:endParaRPr lang="fr-FR"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240029" marR="5080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fois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crée,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alors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d’utiliser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variable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de 	</a:t>
            </a:r>
            <a:r>
              <a:rPr lang="fr-FR" sz="2400" dirty="0" err="1">
                <a:latin typeface="Segoe UI"/>
                <a:cs typeface="Segoe UI"/>
              </a:rPr>
              <a:t>delegate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(soit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</a:t>
            </a:r>
            <a:r>
              <a:rPr lang="fr-FR" sz="2000" spc="-1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type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pointeur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10" dirty="0">
                <a:latin typeface="Segoe UI"/>
                <a:cs typeface="Segoe UI"/>
              </a:rPr>
              <a:t> fonction)</a:t>
            </a:r>
            <a:endParaRPr lang="fr-FR" sz="2000" dirty="0">
              <a:latin typeface="Segoe UI"/>
              <a:cs typeface="Segoe UI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8FD6BE9-6BDE-E786-7E62-9BE68C64C5D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Delegates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710123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39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Déclaration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du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pointeur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namespace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210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tabLst>
                <a:tab pos="1861185" algn="l"/>
                <a:tab pos="3060700" algn="l"/>
                <a:tab pos="3726815" algn="l"/>
                <a:tab pos="612584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50" dirty="0" err="1">
                <a:solidFill>
                  <a:srgbClr val="0000FF"/>
                </a:solidFill>
                <a:latin typeface="Trebuchet MS"/>
                <a:cs typeface="Trebuchet MS"/>
              </a:rPr>
              <a:t>delegate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80" dirty="0" err="1">
                <a:solidFill>
                  <a:srgbClr val="0000FF"/>
                </a:solidFill>
                <a:latin typeface="Trebuchet MS"/>
                <a:cs typeface="Trebuchet MS"/>
              </a:rPr>
              <a:t>void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95" dirty="0" err="1">
                <a:solidFill>
                  <a:srgbClr val="2B91AE"/>
                </a:solidFill>
                <a:latin typeface="Trebuchet MS"/>
                <a:cs typeface="Trebuchet MS"/>
              </a:rPr>
              <a:t>ResultHandler</a:t>
            </a:r>
            <a:r>
              <a:rPr lang="fr-FR" sz="1800" spc="195" dirty="0">
                <a:latin typeface="Trebuchet MS"/>
                <a:cs typeface="Trebuchet MS"/>
              </a:rPr>
              <a:t>(</a:t>
            </a:r>
            <a:r>
              <a:rPr lang="fr-FR" sz="1800" spc="195" dirty="0" err="1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95" dirty="0" err="1">
                <a:latin typeface="Trebuchet MS"/>
                <a:cs typeface="Trebuchet MS"/>
              </a:rPr>
              <a:t>number</a:t>
            </a:r>
            <a:r>
              <a:rPr lang="fr-FR" sz="1800" spc="95" dirty="0">
                <a:latin typeface="Trebuchet MS"/>
                <a:cs typeface="Trebuchet MS"/>
              </a:rPr>
              <a:t>);</a:t>
            </a: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lang="fr-FR" sz="1800" dirty="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Création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variable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type</a:t>
            </a:r>
            <a:r>
              <a:rPr lang="fr-FR" sz="2400" spc="-7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pointeur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Par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exemple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dans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champ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d’un</a:t>
            </a:r>
            <a:r>
              <a:rPr lang="fr-FR" sz="2000" spc="-2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objet</a:t>
            </a:r>
            <a:endParaRPr lang="fr-FR"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tabLst>
                <a:tab pos="1993900" algn="l"/>
                <a:tab pos="3859529" algn="l"/>
              </a:tabLst>
            </a:pPr>
            <a:r>
              <a:rPr lang="fr-FR" sz="1800" spc="210" dirty="0" err="1">
                <a:solidFill>
                  <a:srgbClr val="0000FF"/>
                </a:solidFill>
                <a:latin typeface="Trebuchet MS"/>
                <a:cs typeface="Trebuchet MS"/>
              </a:rPr>
              <a:t>private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65" dirty="0" err="1">
                <a:solidFill>
                  <a:srgbClr val="2B91AE"/>
                </a:solidFill>
                <a:latin typeface="Trebuchet MS"/>
                <a:cs typeface="Trebuchet MS"/>
              </a:rPr>
              <a:t>ResultHandler</a:t>
            </a:r>
            <a:r>
              <a:rPr lang="fr-FR"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lang="fr-FR" sz="1800" spc="210" dirty="0" err="1">
                <a:latin typeface="Trebuchet MS"/>
                <a:cs typeface="Trebuchet MS"/>
              </a:rPr>
              <a:t>reportResult</a:t>
            </a:r>
            <a:r>
              <a:rPr lang="fr-FR" sz="1800" spc="210" dirty="0">
                <a:latin typeface="Trebuchet MS"/>
                <a:cs typeface="Trebuchet MS"/>
              </a:rPr>
              <a:t>;</a:t>
            </a:r>
            <a:endParaRPr lang="fr-FR" sz="1800" dirty="0">
              <a:latin typeface="Trebuchet MS"/>
              <a:cs typeface="Trebuchet M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8FD6BE9-6BDE-E786-7E62-9BE68C64C5D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Delegates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0329428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122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Abonnement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1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méthode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(qui</a:t>
            </a:r>
            <a:r>
              <a:rPr lang="fr-FR" sz="2400" spc="-2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sera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donc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pointée)</a:t>
            </a:r>
            <a:endParaRPr lang="fr-FR" sz="24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3140"/>
              </a:spcBef>
              <a:tabLst>
                <a:tab pos="2660015" algn="l"/>
                <a:tab pos="3060700" algn="l"/>
              </a:tabLst>
            </a:pPr>
            <a:r>
              <a:rPr lang="fr-FR" spc="195" dirty="0" err="1">
                <a:latin typeface="Trebuchet MS"/>
                <a:cs typeface="Trebuchet MS"/>
              </a:rPr>
              <a:t>reportResult</a:t>
            </a:r>
            <a:r>
              <a:rPr lang="fr-FR" dirty="0">
                <a:latin typeface="Trebuchet MS"/>
                <a:cs typeface="Trebuchet MS"/>
              </a:rPr>
              <a:t>	</a:t>
            </a:r>
            <a:r>
              <a:rPr lang="fr-FR" spc="75" dirty="0">
                <a:latin typeface="Trebuchet MS"/>
                <a:cs typeface="Trebuchet MS"/>
              </a:rPr>
              <a:t>+=</a:t>
            </a:r>
            <a:r>
              <a:rPr lang="fr-FR" dirty="0">
                <a:latin typeface="Trebuchet MS"/>
                <a:cs typeface="Trebuchet MS"/>
              </a:rPr>
              <a:t>	</a:t>
            </a:r>
            <a:r>
              <a:rPr lang="fr-FR" spc="220" dirty="0" err="1">
                <a:latin typeface="Trebuchet MS"/>
                <a:cs typeface="Trebuchet MS"/>
              </a:rPr>
              <a:t>DisplayResult</a:t>
            </a:r>
            <a:r>
              <a:rPr lang="fr-FR" sz="2400" spc="220" dirty="0">
                <a:latin typeface="Trebuchet MS"/>
                <a:cs typeface="Trebuchet MS"/>
              </a:rPr>
              <a:t>;</a:t>
            </a:r>
            <a:endParaRPr lang="fr-FR" sz="2400" dirty="0">
              <a:latin typeface="Trebuchet MS"/>
              <a:cs typeface="Trebuchet M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8FD6BE9-6BDE-E786-7E62-9BE68C64C5D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Delegates</a:t>
            </a:r>
            <a:endParaRPr lang="fr-FR" sz="3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63AABC-81A6-48F8-2985-44B05A3E0679}"/>
              </a:ext>
            </a:extLst>
          </p:cNvPr>
          <p:cNvSpPr txBox="1"/>
          <p:nvPr/>
        </p:nvSpPr>
        <p:spPr>
          <a:xfrm>
            <a:off x="844824" y="3303573"/>
            <a:ext cx="11085917" cy="122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Désabonnement de la méthode</a:t>
            </a:r>
          </a:p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		</a:t>
            </a:r>
            <a:r>
              <a:rPr lang="fr-FR" dirty="0" err="1">
                <a:latin typeface="Trebuchet MS" panose="020B0603020202020204" pitchFamily="34" charset="0"/>
                <a:cs typeface="Segoe UI"/>
              </a:rPr>
              <a:t>reportResult</a:t>
            </a:r>
            <a:r>
              <a:rPr lang="fr-FR" dirty="0">
                <a:latin typeface="Trebuchet MS" panose="020B0603020202020204" pitchFamily="34" charset="0"/>
                <a:cs typeface="Segoe UI"/>
              </a:rPr>
              <a:t> -= </a:t>
            </a:r>
            <a:r>
              <a:rPr lang="fr-FR" dirty="0" err="1">
                <a:latin typeface="Trebuchet MS" panose="020B0603020202020204" pitchFamily="34" charset="0"/>
                <a:cs typeface="Segoe UI"/>
              </a:rPr>
              <a:t>DisplayResult</a:t>
            </a:r>
            <a:r>
              <a:rPr lang="fr-FR" dirty="0">
                <a:latin typeface="Trebuchet MS" panose="020B0603020202020204" pitchFamily="34" charset="0"/>
                <a:cs typeface="Segoe U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16855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3612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Invocation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méthode</a:t>
            </a:r>
            <a:endParaRPr lang="fr-FR" sz="2400" dirty="0">
              <a:latin typeface="Segoe UI"/>
              <a:cs typeface="Segoe UI"/>
            </a:endParaRPr>
          </a:p>
          <a:p>
            <a:pPr marL="678815" marR="5080" lvl="1" indent="-209550">
              <a:lnSpc>
                <a:spcPct val="121000"/>
              </a:lnSpc>
              <a:spcBef>
                <a:spcPts val="10"/>
              </a:spcBef>
              <a:buChar char="•"/>
              <a:tabLst>
                <a:tab pos="678815" algn="l"/>
                <a:tab pos="698500" algn="l"/>
              </a:tabLst>
            </a:pPr>
            <a:r>
              <a:rPr lang="fr-FR" sz="2000" dirty="0">
                <a:solidFill>
                  <a:srgbClr val="391778"/>
                </a:solidFill>
                <a:latin typeface="Arial"/>
                <a:cs typeface="Arial"/>
              </a:rPr>
              <a:t>	</a:t>
            </a:r>
            <a:r>
              <a:rPr lang="fr-FR" sz="2000" dirty="0">
                <a:latin typeface="Segoe UI"/>
                <a:cs typeface="Segoe UI"/>
              </a:rPr>
              <a:t>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vérifie</a:t>
            </a:r>
            <a:r>
              <a:rPr lang="fr-FR" sz="2000" spc="-2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toujours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qu’une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méthode</a:t>
            </a:r>
            <a:r>
              <a:rPr lang="fr-FR" sz="2000" spc="-5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au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minimum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soit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abonnée </a:t>
            </a:r>
            <a:r>
              <a:rPr lang="fr-FR" sz="2000" dirty="0">
                <a:latin typeface="Segoe UI"/>
                <a:cs typeface="Segoe UI"/>
              </a:rPr>
              <a:t>(si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le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pointeur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n’est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pas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égal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à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spc="-10" dirty="0" err="1">
                <a:latin typeface="Segoe UI"/>
                <a:cs typeface="Segoe UI"/>
              </a:rPr>
              <a:t>null</a:t>
            </a:r>
            <a:r>
              <a:rPr lang="fr-FR" sz="2000" spc="-10" dirty="0">
                <a:latin typeface="Segoe UI"/>
                <a:cs typeface="Segoe UI"/>
              </a:rPr>
              <a:t>)</a:t>
            </a:r>
            <a:endParaRPr lang="fr-FR" sz="2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lang="fr-FR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tabLst>
                <a:tab pos="1460500" algn="l"/>
                <a:tab pos="2393315" algn="l"/>
                <a:tab pos="2660015" algn="l"/>
              </a:tabLst>
            </a:pPr>
            <a:r>
              <a:rPr lang="fr-FR" sz="1800" spc="285" dirty="0" err="1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-10" dirty="0" err="1">
                <a:latin typeface="Trebuchet MS"/>
                <a:cs typeface="Trebuchet MS"/>
              </a:rPr>
              <a:t>number</a:t>
            </a:r>
            <a:r>
              <a:rPr lang="fr-FR" sz="1800" dirty="0">
                <a:latin typeface="Trebuchet MS"/>
                <a:cs typeface="Trebuchet MS"/>
              </a:rPr>
              <a:t>	</a:t>
            </a:r>
            <a:r>
              <a:rPr lang="fr-FR" sz="1800" spc="50" dirty="0">
                <a:latin typeface="Trebuchet MS"/>
                <a:cs typeface="Trebuchet MS"/>
              </a:rPr>
              <a:t>=</a:t>
            </a:r>
            <a:r>
              <a:rPr lang="fr-FR" sz="1800" dirty="0">
                <a:latin typeface="Trebuchet MS"/>
                <a:cs typeface="Trebuchet MS"/>
              </a:rPr>
              <a:t>	</a:t>
            </a:r>
            <a:r>
              <a:rPr lang="fr-FR" sz="1800" spc="215" dirty="0">
                <a:latin typeface="Trebuchet MS"/>
                <a:cs typeface="Trebuchet MS"/>
              </a:rPr>
              <a:t>5;</a:t>
            </a:r>
            <a:endParaRPr lang="fr-FR"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lang="fr-FR"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tabLst>
                <a:tab pos="1327785" algn="l"/>
                <a:tab pos="3193415" algn="l"/>
                <a:tab pos="3594100" algn="l"/>
              </a:tabLst>
            </a:pPr>
            <a:r>
              <a:rPr lang="fr-FR" sz="1800" spc="434" dirty="0">
                <a:solidFill>
                  <a:srgbClr val="0000FF"/>
                </a:solidFill>
                <a:latin typeface="Trebuchet MS"/>
                <a:cs typeface="Trebuchet MS"/>
              </a:rPr>
              <a:t>if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10" dirty="0">
                <a:latin typeface="Trebuchet MS"/>
                <a:cs typeface="Trebuchet MS"/>
              </a:rPr>
              <a:t>(</a:t>
            </a:r>
            <a:r>
              <a:rPr lang="fr-FR" sz="1800" spc="210" dirty="0" err="1">
                <a:latin typeface="Trebuchet MS"/>
                <a:cs typeface="Trebuchet MS"/>
              </a:rPr>
              <a:t>reportResult</a:t>
            </a:r>
            <a:r>
              <a:rPr lang="fr-FR" sz="1800" dirty="0">
                <a:latin typeface="Trebuchet MS"/>
                <a:cs typeface="Trebuchet MS"/>
              </a:rPr>
              <a:t>	</a:t>
            </a:r>
            <a:r>
              <a:rPr lang="fr-FR" sz="1800" spc="215" dirty="0">
                <a:latin typeface="Trebuchet MS"/>
                <a:cs typeface="Trebuchet MS"/>
              </a:rPr>
              <a:t>!=</a:t>
            </a:r>
            <a:r>
              <a:rPr lang="fr-FR" sz="1800" dirty="0">
                <a:latin typeface="Trebuchet MS"/>
                <a:cs typeface="Trebuchet MS"/>
              </a:rPr>
              <a:t>	</a:t>
            </a:r>
            <a:r>
              <a:rPr lang="fr-FR" sz="1800" spc="290" dirty="0" err="1">
                <a:solidFill>
                  <a:srgbClr val="0000FF"/>
                </a:solidFill>
                <a:latin typeface="Trebuchet MS"/>
                <a:cs typeface="Trebuchet MS"/>
              </a:rPr>
              <a:t>null</a:t>
            </a:r>
            <a:r>
              <a:rPr lang="fr-FR" sz="1800" spc="290" dirty="0">
                <a:latin typeface="Trebuchet MS"/>
                <a:cs typeface="Trebuchet MS"/>
              </a:rPr>
              <a:t>)</a:t>
            </a:r>
            <a:endParaRPr lang="fr-FR"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490"/>
              </a:spcBef>
            </a:pPr>
            <a:r>
              <a:rPr lang="fr-FR" sz="1800" spc="340" dirty="0">
                <a:latin typeface="Trebuchet MS"/>
                <a:cs typeface="Trebuchet MS"/>
              </a:rPr>
              <a:t>{</a:t>
            </a:r>
            <a:endParaRPr lang="fr-FR" sz="1800" dirty="0">
              <a:latin typeface="Trebuchet MS"/>
              <a:cs typeface="Trebuchet MS"/>
            </a:endParaRPr>
          </a:p>
          <a:p>
            <a:pPr marL="1975485">
              <a:lnSpc>
                <a:spcPct val="100000"/>
              </a:lnSpc>
              <a:spcBef>
                <a:spcPts val="505"/>
              </a:spcBef>
            </a:pPr>
            <a:r>
              <a:rPr lang="fr-FR" sz="1800" spc="165" dirty="0" err="1">
                <a:latin typeface="Trebuchet MS"/>
                <a:cs typeface="Trebuchet MS"/>
              </a:rPr>
              <a:t>reportResult</a:t>
            </a:r>
            <a:r>
              <a:rPr lang="fr-FR" sz="1800" spc="165" dirty="0">
                <a:latin typeface="Trebuchet MS"/>
                <a:cs typeface="Trebuchet MS"/>
              </a:rPr>
              <a:t>(</a:t>
            </a:r>
            <a:r>
              <a:rPr lang="fr-FR" sz="1800" spc="165" dirty="0" err="1">
                <a:latin typeface="Trebuchet MS"/>
                <a:cs typeface="Trebuchet MS"/>
              </a:rPr>
              <a:t>number</a:t>
            </a:r>
            <a:r>
              <a:rPr lang="fr-FR" sz="1800" spc="165" dirty="0">
                <a:latin typeface="Trebuchet MS"/>
                <a:cs typeface="Trebuchet MS"/>
              </a:rPr>
              <a:t>);</a:t>
            </a:r>
            <a:endParaRPr lang="fr-FR"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lang="fr-FR" sz="1800" spc="340" dirty="0">
                <a:latin typeface="Trebuchet MS"/>
                <a:cs typeface="Trebuchet MS"/>
              </a:rPr>
              <a:t>}</a:t>
            </a:r>
            <a:endParaRPr lang="fr-FR" sz="1800" dirty="0">
              <a:latin typeface="Trebuchet MS"/>
              <a:cs typeface="Trebuchet M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8FD6BE9-6BDE-E786-7E62-9BE68C64C5D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Delegates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007258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191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Autre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cas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avec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un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retour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fonction</a:t>
            </a:r>
            <a:r>
              <a:rPr lang="fr-FR" sz="2400" spc="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–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partie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1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spc="-50" dirty="0">
                <a:latin typeface="Segoe UI"/>
                <a:cs typeface="Segoe UI"/>
              </a:rPr>
              <a:t>:</a:t>
            </a:r>
            <a:endParaRPr lang="fr-FR" sz="2400" dirty="0">
              <a:latin typeface="Segoe UI"/>
              <a:cs typeface="Segoe UI"/>
            </a:endParaRPr>
          </a:p>
          <a:p>
            <a:pPr marL="698500" lvl="1" indent="-228600">
              <a:lnSpc>
                <a:spcPct val="100000"/>
              </a:lnSpc>
              <a:spcBef>
                <a:spcPts val="509"/>
              </a:spcBef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Segoe UI"/>
                <a:cs typeface="Segoe UI"/>
              </a:rPr>
              <a:t>On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crée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0" dirty="0">
                <a:latin typeface="Segoe UI"/>
                <a:cs typeface="Segoe UI"/>
              </a:rPr>
              <a:t> </a:t>
            </a:r>
            <a:r>
              <a:rPr lang="fr-FR" sz="2000" dirty="0" err="1">
                <a:latin typeface="Segoe UI"/>
                <a:cs typeface="Segoe UI"/>
              </a:rPr>
              <a:t>delegate</a:t>
            </a:r>
            <a:r>
              <a:rPr lang="fr-FR" sz="2000" spc="-40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avec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un</a:t>
            </a:r>
            <a:r>
              <a:rPr lang="fr-FR" sz="2000" spc="-3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retour</a:t>
            </a:r>
            <a:r>
              <a:rPr lang="fr-FR" sz="2000" spc="-45" dirty="0">
                <a:latin typeface="Segoe UI"/>
                <a:cs typeface="Segoe UI"/>
              </a:rPr>
              <a:t> </a:t>
            </a:r>
            <a:r>
              <a:rPr lang="fr-FR" sz="2000" dirty="0">
                <a:latin typeface="Segoe UI"/>
                <a:cs typeface="Segoe UI"/>
              </a:rPr>
              <a:t>de</a:t>
            </a:r>
            <a:r>
              <a:rPr lang="fr-FR" sz="2000" spc="-50" dirty="0">
                <a:latin typeface="Segoe UI"/>
                <a:cs typeface="Segoe UI"/>
              </a:rPr>
              <a:t> </a:t>
            </a:r>
            <a:r>
              <a:rPr lang="fr-FR" sz="2000" spc="-10" dirty="0">
                <a:latin typeface="Segoe UI"/>
                <a:cs typeface="Segoe UI"/>
              </a:rPr>
              <a:t>fonction</a:t>
            </a:r>
            <a:endParaRPr lang="fr-FR" sz="20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745"/>
              </a:spcBef>
              <a:buClr>
                <a:srgbClr val="391778"/>
              </a:buClr>
              <a:buFont typeface="Arial"/>
              <a:buChar char="•"/>
            </a:pPr>
            <a:endParaRPr lang="fr-FR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tabLst>
                <a:tab pos="1861185" algn="l"/>
                <a:tab pos="3060700" algn="l"/>
                <a:tab pos="3594100" algn="l"/>
                <a:tab pos="5993765" algn="l"/>
              </a:tabLst>
            </a:pPr>
            <a:r>
              <a:rPr lang="fr-FR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50" dirty="0" err="1">
                <a:solidFill>
                  <a:srgbClr val="0000FF"/>
                </a:solidFill>
                <a:latin typeface="Trebuchet MS"/>
                <a:cs typeface="Trebuchet MS"/>
              </a:rPr>
              <a:t>delegate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85" dirty="0" err="1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200" dirty="0" err="1">
                <a:solidFill>
                  <a:srgbClr val="2B91AE"/>
                </a:solidFill>
                <a:latin typeface="Trebuchet MS"/>
                <a:cs typeface="Trebuchet MS"/>
              </a:rPr>
              <a:t>ResultHandler</a:t>
            </a:r>
            <a:r>
              <a:rPr lang="fr-FR" sz="1800" spc="200" dirty="0">
                <a:latin typeface="Trebuchet MS"/>
                <a:cs typeface="Trebuchet MS"/>
              </a:rPr>
              <a:t>(</a:t>
            </a:r>
            <a:r>
              <a:rPr lang="fr-FR" sz="1800" spc="200" dirty="0" err="1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95" dirty="0" err="1">
                <a:latin typeface="Trebuchet MS"/>
                <a:cs typeface="Trebuchet MS"/>
              </a:rPr>
              <a:t>number</a:t>
            </a:r>
            <a:r>
              <a:rPr lang="fr-FR" sz="1800" spc="95" dirty="0">
                <a:latin typeface="Trebuchet MS"/>
                <a:cs typeface="Trebuchet MS"/>
              </a:rPr>
              <a:t>);</a:t>
            </a:r>
            <a:endParaRPr lang="fr-FR"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994"/>
              </a:spcBef>
              <a:tabLst>
                <a:tab pos="1993900" algn="l"/>
                <a:tab pos="3859529" algn="l"/>
              </a:tabLst>
            </a:pPr>
            <a:r>
              <a:rPr lang="fr-FR" sz="1800" spc="210" dirty="0" err="1">
                <a:solidFill>
                  <a:srgbClr val="0000FF"/>
                </a:solidFill>
                <a:latin typeface="Trebuchet MS"/>
                <a:cs typeface="Trebuchet MS"/>
              </a:rPr>
              <a:t>private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60" dirty="0" err="1">
                <a:solidFill>
                  <a:srgbClr val="2B91AE"/>
                </a:solidFill>
                <a:latin typeface="Trebuchet MS"/>
                <a:cs typeface="Trebuchet MS"/>
              </a:rPr>
              <a:t>ResultHandler</a:t>
            </a:r>
            <a:r>
              <a:rPr lang="fr-FR"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lang="fr-FR" sz="1800" spc="210" dirty="0" err="1">
                <a:latin typeface="Trebuchet MS"/>
                <a:cs typeface="Trebuchet MS"/>
              </a:rPr>
              <a:t>reportResult</a:t>
            </a:r>
            <a:r>
              <a:rPr lang="fr-FR" sz="1800" spc="210" dirty="0">
                <a:latin typeface="Trebuchet MS"/>
                <a:cs typeface="Trebuchet MS"/>
              </a:rPr>
              <a:t>;</a:t>
            </a:r>
            <a:endParaRPr lang="fr-FR" sz="1800" dirty="0">
              <a:latin typeface="Trebuchet MS"/>
              <a:cs typeface="Trebuchet M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8FD6BE9-6BDE-E786-7E62-9BE68C64C5D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Delegates</a:t>
            </a:r>
            <a:endParaRPr lang="fr-FR" sz="32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63AABC-81A6-48F8-2985-44B05A3E0679}"/>
              </a:ext>
            </a:extLst>
          </p:cNvPr>
          <p:cNvSpPr txBox="1"/>
          <p:nvPr/>
        </p:nvSpPr>
        <p:spPr>
          <a:xfrm>
            <a:off x="844824" y="3793432"/>
            <a:ext cx="11085917" cy="2424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98500" lvl="1" indent="-228600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698500" algn="l"/>
              </a:tabLst>
            </a:pPr>
            <a:r>
              <a:rPr lang="en-US" sz="2000" dirty="0">
                <a:latin typeface="Segoe UI"/>
                <a:cs typeface="Segoe UI"/>
              </a:rPr>
              <a:t>Une</a:t>
            </a:r>
            <a:r>
              <a:rPr lang="en-US" sz="2000" spc="-30" dirty="0">
                <a:latin typeface="Segoe UI"/>
                <a:cs typeface="Segoe UI"/>
              </a:rPr>
              <a:t> </a:t>
            </a:r>
            <a:r>
              <a:rPr lang="en-US" sz="2000" dirty="0" err="1">
                <a:latin typeface="Segoe UI"/>
                <a:cs typeface="Segoe UI"/>
              </a:rPr>
              <a:t>méthode</a:t>
            </a:r>
            <a:r>
              <a:rPr lang="en-US" sz="2000" spc="-35" dirty="0">
                <a:latin typeface="Segoe UI"/>
                <a:cs typeface="Segoe UI"/>
              </a:rPr>
              <a:t> </a:t>
            </a:r>
            <a:r>
              <a:rPr lang="en-US" sz="2000" dirty="0" err="1">
                <a:latin typeface="Segoe UI"/>
                <a:cs typeface="Segoe UI"/>
              </a:rPr>
              <a:t>adaptée</a:t>
            </a:r>
            <a:r>
              <a:rPr lang="en-US" sz="2000" spc="-45" dirty="0">
                <a:latin typeface="Segoe UI"/>
                <a:cs typeface="Segoe UI"/>
              </a:rPr>
              <a:t> </a:t>
            </a:r>
            <a:r>
              <a:rPr lang="en-US" sz="2000" dirty="0">
                <a:latin typeface="Segoe UI"/>
                <a:cs typeface="Segoe UI"/>
              </a:rPr>
              <a:t>avec</a:t>
            </a:r>
            <a:r>
              <a:rPr lang="en-US" sz="2000" spc="-25" dirty="0">
                <a:latin typeface="Segoe UI"/>
                <a:cs typeface="Segoe UI"/>
              </a:rPr>
              <a:t> </a:t>
            </a:r>
            <a:r>
              <a:rPr lang="en-US" sz="2000" dirty="0">
                <a:latin typeface="Segoe UI"/>
                <a:cs typeface="Segoe UI"/>
              </a:rPr>
              <a:t>un</a:t>
            </a:r>
            <a:r>
              <a:rPr lang="en-US" sz="2000" spc="-30" dirty="0">
                <a:latin typeface="Segoe UI"/>
                <a:cs typeface="Segoe UI"/>
              </a:rPr>
              <a:t> </a:t>
            </a:r>
            <a:r>
              <a:rPr lang="en-US" sz="2000" spc="-10" dirty="0">
                <a:latin typeface="Segoe UI"/>
                <a:cs typeface="Segoe UI"/>
              </a:rPr>
              <a:t>retour</a:t>
            </a:r>
            <a:endParaRPr lang="en-US" sz="20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980"/>
              </a:spcBef>
              <a:tabLst>
                <a:tab pos="1861185" algn="l"/>
                <a:tab pos="2393315" algn="l"/>
                <a:tab pos="4793615" algn="l"/>
              </a:tabLst>
            </a:pPr>
            <a:r>
              <a:rPr lang="en-US" sz="1800" spc="215" dirty="0">
                <a:solidFill>
                  <a:srgbClr val="0000FF"/>
                </a:solidFill>
                <a:latin typeface="Trebuchet MS"/>
                <a:cs typeface="Trebuchet MS"/>
              </a:rPr>
              <a:t>public</a:t>
            </a:r>
            <a:r>
              <a:rPr lang="en-US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en-US" sz="1800" spc="28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lang="en-US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en-US" sz="1800" spc="235" dirty="0" err="1">
                <a:latin typeface="Trebuchet MS"/>
                <a:cs typeface="Trebuchet MS"/>
              </a:rPr>
              <a:t>DisplayResult</a:t>
            </a:r>
            <a:r>
              <a:rPr lang="en-US" sz="1800" spc="235" dirty="0">
                <a:latin typeface="Trebuchet MS"/>
                <a:cs typeface="Trebuchet MS"/>
              </a:rPr>
              <a:t>(</a:t>
            </a:r>
            <a:r>
              <a:rPr lang="en-US" sz="1800" spc="235" dirty="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lang="en-US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en-US" sz="1800" spc="55" dirty="0">
                <a:latin typeface="Trebuchet MS"/>
                <a:cs typeface="Trebuchet MS"/>
              </a:rPr>
              <a:t>number)</a:t>
            </a:r>
            <a:endParaRPr lang="en-US"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994"/>
              </a:spcBef>
            </a:pPr>
            <a:r>
              <a:rPr lang="en-US" sz="1800" spc="340" dirty="0">
                <a:latin typeface="Trebuchet MS"/>
                <a:cs typeface="Trebuchet MS"/>
              </a:rPr>
              <a:t>{</a:t>
            </a:r>
            <a:endParaRPr lang="en-US" sz="1800" dirty="0">
              <a:latin typeface="Trebuchet MS"/>
              <a:cs typeface="Trebuchet MS"/>
            </a:endParaRPr>
          </a:p>
          <a:p>
            <a:pPr marL="1841500" marR="287020">
              <a:lnSpc>
                <a:spcPct val="146100"/>
              </a:lnSpc>
              <a:spcBef>
                <a:spcPts val="15"/>
              </a:spcBef>
              <a:tabLst>
                <a:tab pos="2242185" algn="l"/>
                <a:tab pos="2641600" algn="l"/>
                <a:tab pos="2775585" algn="l"/>
                <a:tab pos="3975100" algn="l"/>
                <a:tab pos="4374515" algn="l"/>
                <a:tab pos="5441315" algn="l"/>
                <a:tab pos="5975985" algn="l"/>
              </a:tabLst>
            </a:pPr>
            <a:r>
              <a:rPr lang="en-US" sz="1800" spc="75" dirty="0">
                <a:solidFill>
                  <a:srgbClr val="008000"/>
                </a:solidFill>
                <a:latin typeface="Trebuchet MS"/>
                <a:cs typeface="Trebuchet MS"/>
              </a:rPr>
              <a:t>//</a:t>
            </a:r>
            <a:r>
              <a:rPr lang="en-US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en-US" sz="1800" spc="-25" dirty="0">
                <a:solidFill>
                  <a:srgbClr val="008000"/>
                </a:solidFill>
                <a:latin typeface="Trebuchet MS"/>
                <a:cs typeface="Trebuchet MS"/>
              </a:rPr>
              <a:t>Do</a:t>
            </a:r>
            <a:r>
              <a:rPr lang="en-US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en-US" sz="1800" spc="114" dirty="0">
                <a:solidFill>
                  <a:srgbClr val="008000"/>
                </a:solidFill>
                <a:latin typeface="Trebuchet MS"/>
                <a:cs typeface="Trebuchet MS"/>
              </a:rPr>
              <a:t>something</a:t>
            </a:r>
            <a:r>
              <a:rPr lang="en-US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en-US" sz="1800" spc="180" dirty="0">
                <a:solidFill>
                  <a:srgbClr val="008000"/>
                </a:solidFill>
                <a:latin typeface="Trebuchet MS"/>
                <a:cs typeface="Trebuchet MS"/>
              </a:rPr>
              <a:t>to</a:t>
            </a:r>
            <a:r>
              <a:rPr lang="en-US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en-US" sz="1800" spc="229" dirty="0">
                <a:solidFill>
                  <a:srgbClr val="008000"/>
                </a:solidFill>
                <a:latin typeface="Trebuchet MS"/>
                <a:cs typeface="Trebuchet MS"/>
              </a:rPr>
              <a:t>display</a:t>
            </a:r>
            <a:r>
              <a:rPr lang="en-US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en-US" sz="1800" spc="125" dirty="0">
                <a:solidFill>
                  <a:srgbClr val="008000"/>
                </a:solidFill>
                <a:latin typeface="Trebuchet MS"/>
                <a:cs typeface="Trebuchet MS"/>
              </a:rPr>
              <a:t>the</a:t>
            </a:r>
            <a:r>
              <a:rPr lang="en-US" sz="1800" dirty="0">
                <a:solidFill>
                  <a:srgbClr val="008000"/>
                </a:solidFill>
                <a:latin typeface="Trebuchet MS"/>
                <a:cs typeface="Trebuchet MS"/>
              </a:rPr>
              <a:t>	</a:t>
            </a:r>
            <a:r>
              <a:rPr lang="en-US" sz="1800" spc="265" dirty="0">
                <a:solidFill>
                  <a:srgbClr val="008000"/>
                </a:solidFill>
                <a:latin typeface="Trebuchet MS"/>
                <a:cs typeface="Trebuchet MS"/>
              </a:rPr>
              <a:t>result</a:t>
            </a:r>
          </a:p>
          <a:p>
            <a:pPr marL="1841500" marR="287020">
              <a:lnSpc>
                <a:spcPct val="146100"/>
              </a:lnSpc>
              <a:spcBef>
                <a:spcPts val="15"/>
              </a:spcBef>
              <a:tabLst>
                <a:tab pos="2242185" algn="l"/>
                <a:tab pos="2641600" algn="l"/>
                <a:tab pos="2775585" algn="l"/>
                <a:tab pos="3975100" algn="l"/>
                <a:tab pos="4374515" algn="l"/>
                <a:tab pos="5441315" algn="l"/>
                <a:tab pos="5975985" algn="l"/>
              </a:tabLst>
            </a:pPr>
            <a:r>
              <a:rPr lang="en-US" sz="1800" spc="195" dirty="0">
                <a:solidFill>
                  <a:srgbClr val="0000FF"/>
                </a:solidFill>
                <a:latin typeface="Trebuchet MS"/>
                <a:cs typeface="Trebuchet MS"/>
              </a:rPr>
              <a:t>return</a:t>
            </a:r>
            <a:r>
              <a:rPr lang="en-US" sz="1800" dirty="0">
                <a:solidFill>
                  <a:srgbClr val="0000FF"/>
                </a:solidFill>
                <a:latin typeface="Trebuchet MS"/>
                <a:cs typeface="Trebuchet MS"/>
              </a:rPr>
              <a:t>		</a:t>
            </a:r>
            <a:r>
              <a:rPr lang="en-US" sz="1800" spc="-10" dirty="0">
                <a:latin typeface="Trebuchet MS"/>
                <a:cs typeface="Trebuchet MS"/>
              </a:rPr>
              <a:t>number;</a:t>
            </a:r>
            <a:endParaRPr lang="en-US" sz="18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994"/>
              </a:spcBef>
            </a:pPr>
            <a:r>
              <a:rPr lang="en-US" sz="1800" spc="340" dirty="0">
                <a:latin typeface="Trebuchet MS"/>
                <a:cs typeface="Trebuchet MS"/>
              </a:rPr>
              <a:t>}</a:t>
            </a:r>
            <a:endParaRPr lang="en-US" sz="1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908417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1085917" cy="2472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marR="5080" indent="-227329">
              <a:lnSpc>
                <a:spcPct val="100000"/>
              </a:lnSpc>
              <a:spcBef>
                <a:spcPts val="100"/>
              </a:spcBef>
              <a:buClr>
                <a:srgbClr val="391778"/>
              </a:buClr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Segoe UI"/>
                <a:cs typeface="Segoe UI"/>
              </a:rPr>
              <a:t>Lors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la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création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d’une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variable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45" dirty="0">
                <a:latin typeface="Segoe UI"/>
                <a:cs typeface="Segoe UI"/>
              </a:rPr>
              <a:t> </a:t>
            </a:r>
            <a:r>
              <a:rPr lang="fr-FR" sz="2400" i="1" dirty="0" err="1">
                <a:latin typeface="Segoe UI"/>
                <a:cs typeface="Segoe UI"/>
              </a:rPr>
              <a:t>delegate</a:t>
            </a:r>
            <a:r>
              <a:rPr lang="fr-FR" sz="2400" dirty="0">
                <a:latin typeface="Segoe UI"/>
                <a:cs typeface="Segoe UI"/>
              </a:rPr>
              <a:t>,</a:t>
            </a:r>
            <a:r>
              <a:rPr lang="fr-FR" sz="2400" spc="-3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il</a:t>
            </a:r>
            <a:r>
              <a:rPr lang="fr-FR" sz="2400" spc="-3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est</a:t>
            </a:r>
            <a:r>
              <a:rPr lang="fr-FR" sz="2400" spc="-55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possible</a:t>
            </a:r>
            <a:r>
              <a:rPr lang="fr-FR" sz="2400" spc="-4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de</a:t>
            </a:r>
            <a:r>
              <a:rPr lang="fr-FR" sz="2400" spc="-50" dirty="0">
                <a:latin typeface="Segoe UI"/>
                <a:cs typeface="Segoe UI"/>
              </a:rPr>
              <a:t> </a:t>
            </a:r>
            <a:r>
              <a:rPr lang="fr-FR" sz="2400" dirty="0">
                <a:latin typeface="Segoe UI"/>
                <a:cs typeface="Segoe UI"/>
              </a:rPr>
              <a:t>rajouter</a:t>
            </a:r>
            <a:r>
              <a:rPr lang="fr-FR" sz="2400" spc="-15" dirty="0">
                <a:latin typeface="Segoe UI"/>
                <a:cs typeface="Segoe UI"/>
              </a:rPr>
              <a:t> </a:t>
            </a:r>
            <a:r>
              <a:rPr lang="fr-FR" sz="2400" spc="-25" dirty="0">
                <a:latin typeface="Segoe UI"/>
                <a:cs typeface="Segoe UI"/>
              </a:rPr>
              <a:t>le 	</a:t>
            </a:r>
            <a:r>
              <a:rPr lang="fr-FR" sz="2400" spc="-10" dirty="0">
                <a:latin typeface="Segoe UI"/>
                <a:cs typeface="Segoe UI"/>
              </a:rPr>
              <a:t>mot-</a:t>
            </a:r>
            <a:r>
              <a:rPr lang="fr-FR" sz="2400" dirty="0">
                <a:latin typeface="Segoe UI"/>
                <a:cs typeface="Segoe UI"/>
              </a:rPr>
              <a:t>clé</a:t>
            </a:r>
            <a:r>
              <a:rPr lang="fr-FR" sz="2400" spc="5" dirty="0">
                <a:latin typeface="Segoe UI"/>
                <a:cs typeface="Segoe UI"/>
              </a:rPr>
              <a:t> </a:t>
            </a:r>
            <a:r>
              <a:rPr lang="fr-FR" sz="2400" spc="-10" dirty="0">
                <a:latin typeface="Segoe UI"/>
                <a:cs typeface="Segoe UI"/>
              </a:rPr>
              <a:t>‘</a:t>
            </a:r>
            <a:r>
              <a:rPr lang="fr-FR" sz="2400" b="1" spc="-10" dirty="0" err="1">
                <a:latin typeface="Segoe UI"/>
                <a:cs typeface="Segoe UI"/>
              </a:rPr>
              <a:t>event</a:t>
            </a:r>
            <a:r>
              <a:rPr lang="fr-FR" sz="2400" spc="-10" dirty="0">
                <a:latin typeface="Segoe UI"/>
                <a:cs typeface="Segoe UI"/>
              </a:rPr>
              <a:t>’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Clr>
                <a:srgbClr val="391778"/>
              </a:buClr>
              <a:buFont typeface="Arial"/>
              <a:buChar char="•"/>
            </a:pPr>
            <a:endParaRPr lang="fr-FR" sz="2400" dirty="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buClr>
                <a:srgbClr val="391778"/>
              </a:buClr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Segoe UI"/>
                <a:cs typeface="Segoe UI"/>
              </a:rPr>
              <a:t>Ainsi,</a:t>
            </a:r>
            <a:r>
              <a:rPr lang="fr-FR" sz="2400" spc="-20" dirty="0"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seule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la</a:t>
            </a:r>
            <a:r>
              <a:rPr lang="fr-FR" sz="2400" u="sng" spc="-2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classe</a:t>
            </a:r>
            <a:r>
              <a:rPr lang="fr-FR" sz="2400" u="sng" spc="-5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qui</a:t>
            </a:r>
            <a:r>
              <a:rPr lang="fr-FR" sz="2400" u="sng" spc="-4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contient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la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variable</a:t>
            </a:r>
            <a:r>
              <a:rPr lang="fr-FR" sz="2400" u="sng" spc="-1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peut</a:t>
            </a:r>
            <a:r>
              <a:rPr lang="fr-FR" sz="2400" u="sng" spc="-6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invoquer</a:t>
            </a:r>
            <a:r>
              <a:rPr lang="fr-FR" sz="2400" u="sng" spc="-3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 </a:t>
            </a:r>
            <a:r>
              <a:rPr lang="fr-FR" sz="2400" u="sng" spc="-20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celle-</a:t>
            </a:r>
            <a:r>
              <a:rPr lang="fr-FR" sz="2400" u="sng" spc="-25" dirty="0">
                <a:uFill>
                  <a:solidFill>
                    <a:srgbClr val="000000"/>
                  </a:solidFill>
                </a:uFill>
                <a:latin typeface="Segoe UI"/>
                <a:cs typeface="Segoe UI"/>
              </a:rPr>
              <a:t>ci</a:t>
            </a:r>
            <a:endParaRPr lang="fr-FR"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lang="fr-FR" sz="24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tabLst>
                <a:tab pos="1993900" algn="l"/>
                <a:tab pos="2794000" algn="l"/>
                <a:tab pos="4526915" algn="l"/>
              </a:tabLst>
            </a:pPr>
            <a:r>
              <a:rPr lang="fr-FR" sz="1800" spc="210" dirty="0" err="1">
                <a:solidFill>
                  <a:srgbClr val="0000FF"/>
                </a:solidFill>
                <a:latin typeface="Trebuchet MS"/>
                <a:cs typeface="Trebuchet MS"/>
              </a:rPr>
              <a:t>private</a:t>
            </a:r>
            <a:r>
              <a:rPr lang="fr-FR"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b="1" spc="70" dirty="0" err="1">
                <a:solidFill>
                  <a:srgbClr val="0000FF"/>
                </a:solidFill>
                <a:latin typeface="Trebuchet MS"/>
                <a:cs typeface="Trebuchet MS"/>
              </a:rPr>
              <a:t>event</a:t>
            </a:r>
            <a:r>
              <a:rPr lang="fr-FR" sz="1800" b="1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lang="fr-FR" sz="1800" spc="120" dirty="0" err="1">
                <a:solidFill>
                  <a:srgbClr val="2B91AE"/>
                </a:solidFill>
                <a:latin typeface="Trebuchet MS"/>
                <a:cs typeface="Trebuchet MS"/>
              </a:rPr>
              <a:t>ProbeHandler</a:t>
            </a:r>
            <a:r>
              <a:rPr lang="fr-FR" sz="1800" dirty="0">
                <a:solidFill>
                  <a:srgbClr val="2B91AE"/>
                </a:solidFill>
                <a:latin typeface="Trebuchet MS"/>
                <a:cs typeface="Trebuchet MS"/>
              </a:rPr>
              <a:t>	</a:t>
            </a:r>
            <a:r>
              <a:rPr lang="fr-FR" sz="1800" spc="95" dirty="0" err="1">
                <a:latin typeface="Trebuchet MS"/>
                <a:cs typeface="Trebuchet MS"/>
              </a:rPr>
              <a:t>temperatureChanged</a:t>
            </a:r>
            <a:r>
              <a:rPr lang="fr-FR" sz="1800" spc="95" dirty="0">
                <a:latin typeface="Trebuchet MS"/>
                <a:cs typeface="Trebuchet MS"/>
              </a:rPr>
              <a:t>;</a:t>
            </a:r>
            <a:endParaRPr lang="fr-FR" sz="1800" dirty="0">
              <a:latin typeface="Trebuchet MS"/>
              <a:cs typeface="Trebuchet MS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8FD6BE9-6BDE-E786-7E62-9BE68C64C5D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Delegates</a:t>
            </a:r>
            <a:endParaRPr lang="fr-FR" sz="3200"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699FE5C3-0E90-64EB-EBEC-BAB48E262DBC}"/>
              </a:ext>
            </a:extLst>
          </p:cNvPr>
          <p:cNvSpPr txBox="1"/>
          <p:nvPr/>
        </p:nvSpPr>
        <p:spPr>
          <a:xfrm>
            <a:off x="1385061" y="5211317"/>
            <a:ext cx="10000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Exemple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: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classe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Button</a:t>
            </a:r>
            <a:r>
              <a:rPr sz="1800" i="1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(WinForm/WPF)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est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seule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à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pouvoir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invoquer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méthodes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abonnées</a:t>
            </a:r>
            <a:r>
              <a:rPr sz="1800" spc="-50" dirty="0">
                <a:latin typeface="Segoe UI"/>
                <a:cs typeface="Segoe UI"/>
              </a:rPr>
              <a:t> à</a:t>
            </a:r>
            <a:endParaRPr sz="18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l’évènement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i="1" dirty="0">
                <a:latin typeface="Segoe UI"/>
                <a:cs typeface="Segoe UI"/>
              </a:rPr>
              <a:t>click</a:t>
            </a:r>
            <a:r>
              <a:rPr sz="1800" dirty="0">
                <a:latin typeface="Segoe UI"/>
                <a:cs typeface="Segoe UI"/>
              </a:rPr>
              <a:t>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classe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extérieur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n’a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donc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pas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possibilité.</a:t>
            </a:r>
            <a:endParaRPr sz="1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35516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</a:t>
            </a:r>
            <a:r>
              <a:rPr lang="fr-FR" sz="3200" dirty="0" err="1">
                <a:solidFill>
                  <a:schemeClr val="bg1"/>
                </a:solidFill>
              </a:rPr>
              <a:t>Delegates</a:t>
            </a:r>
            <a:endParaRPr lang="fr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2547</Words>
  <Application>Microsoft Office PowerPoint</Application>
  <PresentationFormat>Grand écran</PresentationFormat>
  <Paragraphs>541</Paragraphs>
  <Slides>47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Cascadia Mono</vt:lpstr>
      <vt:lpstr>Segoe UI</vt:lpstr>
      <vt:lpstr>Trebuchet MS</vt:lpstr>
      <vt:lpstr>Thème Office</vt:lpstr>
      <vt:lpstr>POO en C# - partie 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38</cp:revision>
  <dcterms:created xsi:type="dcterms:W3CDTF">2021-02-04T09:09:06Z</dcterms:created>
  <dcterms:modified xsi:type="dcterms:W3CDTF">2024-08-24T22:00:56Z</dcterms:modified>
</cp:coreProperties>
</file>