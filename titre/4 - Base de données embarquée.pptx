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428" r:id="rId2"/>
    <p:sldId id="429" r:id="rId3"/>
    <p:sldId id="439" r:id="rId4"/>
    <p:sldId id="438" r:id="rId5"/>
    <p:sldId id="440" r:id="rId6"/>
    <p:sldId id="462" r:id="rId7"/>
    <p:sldId id="443" r:id="rId8"/>
    <p:sldId id="464" r:id="rId9"/>
    <p:sldId id="463" r:id="rId10"/>
    <p:sldId id="450" r:id="rId11"/>
    <p:sldId id="441" r:id="rId12"/>
    <p:sldId id="445" r:id="rId13"/>
    <p:sldId id="446" r:id="rId14"/>
    <p:sldId id="457" r:id="rId15"/>
    <p:sldId id="458" r:id="rId16"/>
    <p:sldId id="448" r:id="rId17"/>
    <p:sldId id="459" r:id="rId18"/>
    <p:sldId id="442" r:id="rId19"/>
    <p:sldId id="460" r:id="rId20"/>
    <p:sldId id="461" r:id="rId21"/>
    <p:sldId id="451" r:id="rId22"/>
    <p:sldId id="452" r:id="rId23"/>
    <p:sldId id="453" r:id="rId24"/>
    <p:sldId id="456" r:id="rId25"/>
    <p:sldId id="454" r:id="rId26"/>
    <p:sldId id="430" r:id="rId27"/>
    <p:sldId id="43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75FF1-3089-DE43-BD42-FDB557A416D8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6EE85-E85F-0E42-9927-D77802C6B20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50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6075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654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477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704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918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52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E124-AF5D-36A2-44DF-452B6C32A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AD622-C73D-CC7F-C7EF-A1339FBEE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FC8DD-6815-1A37-7AE6-BB973EE5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39659-E65F-CADC-549E-D0904EA7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8A221-E782-6F7B-A23C-7D7A1494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41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13F9-83F0-BA67-BBBD-4371355B9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EBA05-0C73-6DA0-EE9C-93C88FDE5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9433E-63E3-9249-3FE3-D963EB19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30F91-6924-4663-5B03-27775996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A68C1-6C93-B4AA-38F4-F32EC1FF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68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0369-69C6-8562-561E-A5D37DF7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AEEF3-3820-A8CA-DEE3-82728C437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3A74-2002-527E-BA03-0104E756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2E2ED-E32C-F047-685D-7C446B11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41C3-5171-1C62-0E72-4FF4DAFA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5646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DFBF-84DF-CF76-11F4-E4E66F49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08243-093F-48B2-9130-2784D87D3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9736D-8C0E-9DB4-CF4F-50EB6FBA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DA61C-48DC-0317-896C-0E0668CA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965CC-3084-EBA4-E856-49358864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98BFA-A2EF-EE06-8080-1D26EFCB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96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FDCE-DA31-E782-5902-E4EA9324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CF43E-511F-9E7A-7009-02E4221F0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4D51D-066C-2C3C-26FF-DADB32507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C4E89-17DA-E1F8-8D9C-CA33F7F82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D546B-2E33-7A4C-C91B-8D768577B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A1A3F-A320-E071-B2B4-8B74B937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7BDAB8-42DF-4739-8A02-265E29FA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F4A54-4CC9-D4B8-580C-3255DD9E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519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1DA3A-0314-F69E-1382-C32E5737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E274AA-9635-44BB-8635-22050B95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59E5A-C842-CEF9-E26E-3F2FCCCF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0C089-69D0-ED87-FE86-7E92138B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73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E4CA56-4541-CAFF-D72B-AAE070BD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9AAC6-2485-D7BD-90D3-26ACBE87B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8CDDB-27D3-CDD2-2C2B-E040EABA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95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BF53-48DB-C1AB-AADD-8437A3310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D7D2B-EAA9-AF57-68AA-646B2F9A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AA91D-B78F-BFA5-7831-BF2145ABB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3969E-B158-310F-E319-84A8B4AF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D5682-557E-E01A-ECC3-D4C71E45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58264-D3D3-FCAD-163E-EE5AEA0A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68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CD7D-C2C8-80CF-D7AC-2EEC94B8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93F4D-96EC-604A-9C46-338A8872D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4487C-605C-0DA3-5F60-3B53C2124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CEA20-5D51-F635-E10A-BAA89DAA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95E5D-D8C6-C32B-9C4A-D0A8A54D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8FE03-ADF7-F00E-1D3B-AF17DF53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44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54FA-D35C-D54D-81F3-57CBAAC0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518B0-3B10-901B-8AB9-CBA0CDC5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A2AB4-E53B-E7C2-161F-87DEE42F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D63A9-F314-AFC6-1574-04562351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DD441-BBB8-E116-9BBA-ABF38C5D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683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F3E5D-472C-E2C1-2186-0FF9A6B5F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37E41-5C24-C9DB-EB63-4CACC71D0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F42D4-6AEB-EE31-B7EA-7EAAD6BF0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4F4C5-E3D7-5C1F-A0A4-8BBC4655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40FF2-4671-FDD6-9C83-904194D9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2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52F0A-F6D9-60B1-62D9-5C849573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1B31B-8082-0A50-3AB6-2FE9BC94A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5CBF9-025A-CD8D-FBD7-3B82B6216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4D3F0-C18B-3742-B8E5-533560341B4D}" type="datetimeFigureOut">
              <a:rPr lang="fr-FR" smtClean="0"/>
              <a:t>23/01/2023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040E6-9C13-335B-DA41-67FFB219A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591B4-B6D3-D76D-68EA-9CE84132A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82D38-60E0-2946-8A23-76770D474D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587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4 – Base de données embarquée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3ANDM - Développeur d’application Android mobile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6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4"/>
            <a:ext cx="10515600" cy="23425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Contextualisation</a:t>
            </a:r>
          </a:p>
          <a:p>
            <a:pPr marL="742950" indent="-742950">
              <a:buAutoNum type="arabicPeriod"/>
            </a:pPr>
            <a:r>
              <a:rPr lang="fr-FR" sz="3600" dirty="0">
                <a:solidFill>
                  <a:schemeClr val="bg1"/>
                </a:solidFill>
              </a:rPr>
              <a:t>Utilisation de Room</a:t>
            </a:r>
          </a:p>
          <a:p>
            <a:pPr marL="742950" indent="-742950">
              <a:buAutoNum type="arabicPeriod"/>
            </a:pPr>
            <a:endParaRPr lang="fr-FR" sz="3600" dirty="0">
              <a:solidFill>
                <a:schemeClr val="bg1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i="1">
                <a:solidFill>
                  <a:schemeClr val="bg1"/>
                </a:solidFill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0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1. Contextualisation</a:t>
            </a:r>
          </a:p>
        </p:txBody>
      </p:sp>
    </p:spTree>
    <p:extLst>
      <p:ext uri="{BB962C8B-B14F-4D97-AF65-F5344CB8AC3E}">
        <p14:creationId xmlns:p14="http://schemas.microsoft.com/office/powerpoint/2010/main" val="384714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Base de données embarquée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Persister des données qui survivent aux fermetures de l’application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Permet de restaurer l’état de l’application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Données structurées sous forme de tableau dans la plupart des 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Est généralement de type SQL, mais peut être de type NoSQL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00737-F487-20A9-290A-BC489FF78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670" y="2434943"/>
            <a:ext cx="2345690" cy="258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8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SQLite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Base de données SQL open source intégrée à Android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Se manifeste sous la forme d’un seul fichier texte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Nécessite relativement peu de ressources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Une seule connexion possible à la fois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Reproduit l’expérience d’une base de données SQL conventionnelle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0463C-A5C6-4268-1457-3C3D1D498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453" y="1955772"/>
            <a:ext cx="29464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0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7" y="1431230"/>
            <a:ext cx="52511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Room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Abstraction au dessus de SQLite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ORM (Object-</a:t>
            </a:r>
            <a:r>
              <a:rPr lang="fr-FR" sz="2400" dirty="0" err="1"/>
              <a:t>Relational</a:t>
            </a:r>
            <a:r>
              <a:rPr lang="fr-FR" sz="2400" dirty="0"/>
              <a:t> Mapping)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Permet de générer un schéma de base de données via des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data class </a:t>
            </a:r>
            <a:r>
              <a:rPr lang="fr-FR" sz="2400" dirty="0"/>
              <a:t>Kotlin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Génération automatique de l’implémentation des méthode en fonction d’une requête 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Permet de définir des plans de migration en cas d’évolution du schéma</a:t>
            </a: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691280DC-ECF0-BC29-AB83-0A793D82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21" y="2361922"/>
            <a:ext cx="3261399" cy="30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4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1. Contextualisation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Room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447769-9EBC-3991-4D65-6D5032B9D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864" y="1999178"/>
            <a:ext cx="4974272" cy="449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96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Contextualisation</a:t>
            </a:r>
          </a:p>
        </p:txBody>
      </p:sp>
    </p:spTree>
    <p:extLst>
      <p:ext uri="{BB962C8B-B14F-4D97-AF65-F5344CB8AC3E}">
        <p14:creationId xmlns:p14="http://schemas.microsoft.com/office/powerpoint/2010/main" val="164197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1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5400" dirty="0"/>
          </a:p>
          <a:p>
            <a:endParaRPr lang="fr-FR" sz="5400" dirty="0"/>
          </a:p>
          <a:p>
            <a:endParaRPr lang="fr-FR" sz="5400" dirty="0"/>
          </a:p>
          <a:p>
            <a:r>
              <a:rPr lang="fr-FR" sz="5400" dirty="0">
                <a:solidFill>
                  <a:schemeClr val="bg1"/>
                </a:solidFill>
              </a:rPr>
              <a:t>2. Utilisation de Room</a:t>
            </a:r>
          </a:p>
          <a:p>
            <a:endParaRPr lang="fr-FR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573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Configuration </a:t>
            </a:r>
            <a:r>
              <a:rPr lang="fr-FR" sz="2400" b="1" dirty="0" err="1"/>
              <a:t>Gradle</a:t>
            </a:r>
            <a:endParaRPr lang="fr-FR" sz="2400" b="1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Room est une librairie à inclure dans la liste des dépendances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Comme Room est écrite en Java, il convient d’inclure une librairie supplémentaire afin de profiter d’extensions pensées d’abord pour Kotlin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Room fonctionne avec un certain nombre d’annotations (exemple :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Entity</a:t>
            </a:r>
            <a:r>
              <a:rPr lang="fr-F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Pour que les annotations puissent fonctionner, il est nécessaire d’inclure KSP (</a:t>
            </a:r>
            <a:r>
              <a:rPr lang="fr-FR" sz="2400" i="1" dirty="0"/>
              <a:t>Kotlin Symbol </a:t>
            </a:r>
            <a:r>
              <a:rPr lang="fr-FR" sz="2400" i="1" dirty="0" err="1"/>
              <a:t>Processing</a:t>
            </a:r>
            <a:r>
              <a:rPr lang="fr-F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KSP permet aux développeurs de librairies d’écrire des plugins pour le compilateur Kotlin</a:t>
            </a:r>
          </a:p>
        </p:txBody>
      </p:sp>
    </p:spTree>
    <p:extLst>
      <p:ext uri="{BB962C8B-B14F-4D97-AF65-F5344CB8AC3E}">
        <p14:creationId xmlns:p14="http://schemas.microsoft.com/office/powerpoint/2010/main" val="52410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Configuration </a:t>
            </a:r>
            <a:r>
              <a:rPr lang="fr-FR" sz="2400" b="1" dirty="0" err="1"/>
              <a:t>Gradle</a:t>
            </a:r>
            <a:endParaRPr lang="fr-F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44827" y="2132994"/>
            <a:ext cx="1052553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plugins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Kotlin Symbol Processing (fait fonctionner les annotations)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kotlin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"ksp"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dependencies </a:t>
            </a: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Room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"androidx.room:room-runtime: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Extensions pour Kotlin et support des coroutines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implementation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"androidx.room:room-ktx: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Annotations</a:t>
            </a:r>
            <a:b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noProof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annotationProcessor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"androidx.room:room-compiler: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i="1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ksp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"androidx.room:room-compiler:</a:t>
            </a:r>
            <a:r>
              <a:rPr lang="en-US" sz="1600" noProof="1">
                <a:solidFill>
                  <a:srgbClr val="0037A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room_version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noProof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95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Entité de données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code suivant définit une entité de données 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Chaque instance de 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fr-FR" sz="2400" dirty="0"/>
              <a:t> représente une ligne dans une table 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fr-FR" sz="2400" dirty="0"/>
              <a:t> de la base de données de l'application une fois persistée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Étant donné qu’en SQLite les noms de tables et de colonnes ne sont pas sensibles à la casse, nous choisissons une convention de nommage différente de celle des noms de variable Kotlin (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snake_case</a:t>
            </a:r>
            <a:r>
              <a:rPr lang="fr-F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Il est aussi possible de renommer l’entité via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table_name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400" dirty="0"/>
              <a:t>de 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Entity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1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Entité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B7561-FC67-FFE6-5312-3C1EB89A2157}"/>
              </a:ext>
            </a:extLst>
          </p:cNvPr>
          <p:cNvSpPr txBox="1"/>
          <p:nvPr/>
        </p:nvSpPr>
        <p:spPr>
          <a:xfrm>
            <a:off x="844826" y="2379783"/>
            <a:ext cx="82991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@Entity</a:t>
            </a:r>
            <a:b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 class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@PrimaryKey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@ColumnInfo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(name =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"first_name"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?,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@ColumnInfo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(name =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"last_name"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6057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Entité de données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 les instances d'une entité doivent être identifiées de manière unique par une combinaison de plusieurs colonnes, il est possible de définir une </a:t>
            </a:r>
            <a:r>
              <a:rPr lang="fr-FR" sz="2400" b="0" i="1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clé primaire composite</a:t>
            </a: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88EC5-F81C-DECD-A592-9424D007B2CA}"/>
              </a:ext>
            </a:extLst>
          </p:cNvPr>
          <p:cNvSpPr txBox="1"/>
          <p:nvPr/>
        </p:nvSpPr>
        <p:spPr>
          <a:xfrm>
            <a:off x="1210586" y="3487779"/>
            <a:ext cx="82991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@Entity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(primaryKeys = [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"firstName"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"lastName"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 class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User(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?,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3252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Entité de données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 une entité possède des propriétés que l’on ne souhaite pas persister, il est possible de les annoter à l'aide de </a:t>
            </a:r>
            <a:r>
              <a:rPr lang="fr-FR" sz="2400" b="0" i="0" dirty="0">
                <a:solidFill>
                  <a:srgbClr val="20212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@Ignore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88EC5-F81C-DECD-A592-9424D007B2CA}"/>
              </a:ext>
            </a:extLst>
          </p:cNvPr>
          <p:cNvSpPr txBox="1"/>
          <p:nvPr/>
        </p:nvSpPr>
        <p:spPr>
          <a:xfrm>
            <a:off x="1159786" y="3182979"/>
            <a:ext cx="82991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@Entity</a:t>
            </a:r>
            <a:b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data class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User(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@PrimaryKey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?,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?,</a:t>
            </a:r>
          </a:p>
          <a:p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@Ignore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picture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Bitmap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8599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Objet d'accès aux données</a:t>
            </a:r>
            <a:endParaRPr lang="fr-FR" sz="2400" b="1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code suivant définit un DAO (</a:t>
            </a:r>
            <a:r>
              <a:rPr lang="fr-FR" sz="2400" i="1" dirty="0"/>
              <a:t>Data Access Object</a:t>
            </a:r>
            <a:r>
              <a:rPr lang="fr-FR" sz="2400" dirty="0"/>
              <a:t>, </a:t>
            </a:r>
            <a:r>
              <a:rPr lang="fr-FR" sz="2400" i="0" dirty="0">
                <a:solidFill>
                  <a:srgbClr val="202124"/>
                </a:solidFill>
                <a:effectLst/>
              </a:rPr>
              <a:t>Objet d'accès aux données</a:t>
            </a:r>
            <a:r>
              <a:rPr lang="fr-FR" sz="2400" dirty="0"/>
              <a:t>) appelé </a:t>
            </a:r>
            <a:r>
              <a:rPr lang="fr-FR" sz="2400" noProof="1">
                <a:latin typeface="Consolas" panose="020B0609020204030204" pitchFamily="49" charset="0"/>
                <a:cs typeface="Consolas" panose="020B0609020204030204" pitchFamily="49" charset="0"/>
              </a:rPr>
              <a:t>UserDao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noProof="1">
                <a:latin typeface="Consolas" panose="020B0609020204030204" pitchFamily="49" charset="0"/>
                <a:cs typeface="Consolas" panose="020B0609020204030204" pitchFamily="49" charset="0"/>
              </a:rPr>
              <a:t>UserDao</a:t>
            </a:r>
            <a:r>
              <a:rPr lang="fr-FR" sz="2400" dirty="0"/>
              <a:t> fournit les méthodes utilisées par le reste de l'application pour interagir avec les données de la table 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Il doit s’agir d’une interface ou d’une classe abstraite dont le compilateur se chargera d’implémenter le corps des méthodes automatiquement en fonction de la requête SQL spécifiée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565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Objet d'accès aux données</a:t>
            </a:r>
            <a:endParaRPr lang="fr-FR" sz="2400" b="1" dirty="0"/>
          </a:p>
          <a:p>
            <a:endParaRPr lang="fr-FR" sz="2400" dirty="0"/>
          </a:p>
          <a:p>
            <a:pPr algn="l"/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 existe deux types de méthodes DAO qui définissent les interactions avec la base de données 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 méthodes </a:t>
            </a:r>
            <a:r>
              <a:rPr lang="fr-FR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annotées via </a:t>
            </a:r>
            <a:r>
              <a:rPr lang="fr-FR" sz="2400" dirty="0">
                <a:solidFill>
                  <a:srgbClr val="2021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@Insert</a:t>
            </a:r>
            <a:r>
              <a:rPr lang="fr-FR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2400" dirty="0">
                <a:solidFill>
                  <a:srgbClr val="2021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@Update</a:t>
            </a:r>
            <a:r>
              <a:rPr lang="fr-FR" sz="2400" dirty="0">
                <a:solidFill>
                  <a:srgbClr val="20212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2400" dirty="0">
                <a:solidFill>
                  <a:srgbClr val="2021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FR" sz="2400" dirty="0" err="1">
                <a:solidFill>
                  <a:srgbClr val="2021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fr-FR" sz="2400" dirty="0">
                <a:solidFill>
                  <a:srgbClr val="2021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permettent respectivement d'insérer, de mettre à jour et de supprimer des entrées dans la base de données sans avoir à écrire explicitement la requête SQL sous-jacente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 méthodes annotées via </a:t>
            </a:r>
            <a:r>
              <a:rPr lang="fr-FR" sz="2400" b="0" i="0" dirty="0">
                <a:solidFill>
                  <a:srgbClr val="20212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FR" sz="2400" b="0" i="0" dirty="0" err="1">
                <a:solidFill>
                  <a:srgbClr val="20212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fr-FR" sz="2400" b="0" i="0" dirty="0">
                <a:solidFill>
                  <a:srgbClr val="20212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permettent d'écrire explicitement une requête SQL pour interagir avec la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112652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Objet d'accès aux données</a:t>
            </a:r>
            <a:endParaRPr lang="fr-F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6497D-9812-FE40-0142-1BC1F4905610}"/>
              </a:ext>
            </a:extLst>
          </p:cNvPr>
          <p:cNvSpPr txBox="1"/>
          <p:nvPr/>
        </p:nvSpPr>
        <p:spPr>
          <a:xfrm>
            <a:off x="844827" y="2061874"/>
            <a:ext cx="105255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@Dao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UserDao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@Query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"SELECT * FROM user"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getAll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@Query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"SELECT * FROM user WHERE uid IN (:userIds)"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loadAllByIds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(userIds: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IntArray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@Query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"SELECT * FROM user WHERE first_name LIKE :first AND "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last_name</a:t>
            </a:r>
            <a:r>
              <a:rPr lang="en-US" sz="1600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LIKE :last LIMIT 1"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findByName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(first: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, last: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b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@Insert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insertAll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vararg 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users: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@Delete</a:t>
            </a:r>
            <a:b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sz="1600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(user: </a:t>
            </a:r>
            <a:r>
              <a:rPr lang="en-US" sz="1600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1788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Objet d'accès aux données</a:t>
            </a:r>
            <a:endParaRPr lang="fr-FR" sz="2400" b="1" dirty="0"/>
          </a:p>
          <a:p>
            <a:endParaRPr lang="fr-FR" sz="2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Pour passer des valeurs en tant qu’arguments aux requêtes SQL, il suffit d’utiliser le même nom que le paramètre en question précédé du symbole </a:t>
            </a:r>
            <a:r>
              <a:rPr lang="en-AU" sz="2400" b="0" i="0" dirty="0">
                <a:solidFill>
                  <a:srgbClr val="20212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‘:’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 paramètre peut être référencé plusieurs fois</a:t>
            </a:r>
          </a:p>
          <a:p>
            <a:pPr algn="l"/>
            <a:endParaRPr lang="fr-FR" sz="2400" b="0" i="0" dirty="0">
              <a:solidFill>
                <a:srgbClr val="20212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509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Base de données</a:t>
            </a:r>
            <a:endParaRPr lang="fr-FR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B7561-FC67-FFE6-5312-3C1EB89A2157}"/>
              </a:ext>
            </a:extLst>
          </p:cNvPr>
          <p:cNvSpPr txBox="1"/>
          <p:nvPr/>
        </p:nvSpPr>
        <p:spPr>
          <a:xfrm>
            <a:off x="838200" y="2379907"/>
            <a:ext cx="96875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@Query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"SELECT * FROM user WHERE age BETWEEN :minAge AND :maxAge"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loadAllUsersBetweenAges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(minAge: Int, maxAge: Int): Array&lt;User&gt;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@Query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"SELECT * FROM user WHERE first_name LIKE :search "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"OR last_name LIKE :search"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findUserWithName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(search: String): List&lt;User&gt;</a:t>
            </a:r>
          </a:p>
        </p:txBody>
      </p:sp>
    </p:spTree>
    <p:extLst>
      <p:ext uri="{BB962C8B-B14F-4D97-AF65-F5344CB8AC3E}">
        <p14:creationId xmlns:p14="http://schemas.microsoft.com/office/powerpoint/2010/main" val="485809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Base de données</a:t>
            </a:r>
            <a:endParaRPr lang="fr-FR" sz="2400" b="1" dirty="0"/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Le code suivant définit une classe 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AppDatabase</a:t>
            </a:r>
            <a:r>
              <a:rPr lang="fr-FR" sz="2400" dirty="0"/>
              <a:t> destinée à contenir la base de données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AppDatabase</a:t>
            </a:r>
            <a:r>
              <a:rPr lang="fr-FR" sz="2400" dirty="0"/>
              <a:t> configure la base de données et sert de point d'accès principal de l'application aux données persistées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698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Base de données</a:t>
            </a:r>
            <a:endParaRPr lang="fr-FR" sz="2400" b="1" dirty="0"/>
          </a:p>
          <a:p>
            <a:endParaRPr lang="fr-FR" sz="2400" dirty="0"/>
          </a:p>
          <a:p>
            <a:r>
              <a:rPr lang="fr-FR" sz="2400" dirty="0"/>
              <a:t>La classe de base de données doit remplir les conditions suivantes :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 classe doit comporter une annotation 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Database</a:t>
            </a:r>
            <a:r>
              <a:rPr lang="fr-FR" sz="2400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fr-FR" sz="2400" dirty="0"/>
              <a:t>qui inclut un </a:t>
            </a:r>
            <a:r>
              <a:rPr lang="fr-FR" sz="2400" i="1" dirty="0" err="1"/>
              <a:t>array</a:t>
            </a:r>
            <a:r>
              <a:rPr lang="fr-FR" sz="2400" dirty="0"/>
              <a:t> 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entities</a:t>
            </a:r>
            <a:r>
              <a:rPr lang="fr-FR" sz="2400" dirty="0"/>
              <a:t> listant toutes les entités de données associées à la base de données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La classe doit être une classe abstraite qui étend 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RoomDatabase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Pour chaque classe DAO associée à la base de données, la classe de base de données doit définir une méthode abstraite qui ne comporte aucun argument et qui renvoie une instance de la classe DAO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311134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Base de données</a:t>
            </a:r>
            <a:endParaRPr lang="fr-FR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B7561-FC67-FFE6-5312-3C1EB89A2157}"/>
              </a:ext>
            </a:extLst>
          </p:cNvPr>
          <p:cNvSpPr txBox="1"/>
          <p:nvPr/>
        </p:nvSpPr>
        <p:spPr>
          <a:xfrm>
            <a:off x="838200" y="2379907"/>
            <a:ext cx="82991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9E88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@Database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entities = [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version = </a:t>
            </a:r>
            <a:r>
              <a:rPr lang="en-US" noProof="1">
                <a:solidFill>
                  <a:srgbClr val="1750E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abstract class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AppDatabase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RoomDatabase() {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abstract fun </a:t>
            </a:r>
            <a:r>
              <a:rPr lang="en-US" noProof="1">
                <a:solidFill>
                  <a:srgbClr val="00627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userDao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UserDao</a:t>
            </a:r>
            <a:b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21923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/>
              <a:t>2. </a:t>
            </a:r>
            <a:r>
              <a:rPr lang="fr-FR" sz="3200" dirty="0"/>
              <a:t>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Base de données</a:t>
            </a:r>
            <a:endParaRPr lang="fr-FR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B7561-FC67-FFE6-5312-3C1EB89A2157}"/>
              </a:ext>
            </a:extLst>
          </p:cNvPr>
          <p:cNvSpPr txBox="1"/>
          <p:nvPr/>
        </p:nvSpPr>
        <p:spPr>
          <a:xfrm>
            <a:off x="838200" y="2379907"/>
            <a:ext cx="82991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db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Room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.databaseBuilder(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applicationContext,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AppDatabase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noProof="1">
                <a:solidFill>
                  <a:srgbClr val="067D17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"my-database"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À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préciser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).build()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85FB3-60B2-AF87-BF42-FD69E6A30228}"/>
              </a:ext>
            </a:extLst>
          </p:cNvPr>
          <p:cNvSpPr txBox="1"/>
          <p:nvPr/>
        </p:nvSpPr>
        <p:spPr>
          <a:xfrm>
            <a:off x="844826" y="4397514"/>
            <a:ext cx="829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userDao 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db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.userDao()</a:t>
            </a:r>
            <a:b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noProof="1">
                <a:solidFill>
                  <a:srgbClr val="0033B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 </a:t>
            </a:r>
            <a:r>
              <a:rPr lang="en-US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users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noProof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&gt; = </a:t>
            </a:r>
            <a:r>
              <a:rPr lang="en-US" i="1" noProof="1">
                <a:solidFill>
                  <a:srgbClr val="87109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userDao</a:t>
            </a:r>
            <a:r>
              <a:rPr lang="en-US" noProof="1">
                <a:latin typeface="Consolas" panose="020B0609020204030204" pitchFamily="49" charset="0"/>
                <a:cs typeface="Consolas" panose="020B0609020204030204" pitchFamily="49" charset="0"/>
              </a:rPr>
              <a:t>.getAll()</a:t>
            </a:r>
          </a:p>
        </p:txBody>
      </p:sp>
    </p:spTree>
    <p:extLst>
      <p:ext uri="{BB962C8B-B14F-4D97-AF65-F5344CB8AC3E}">
        <p14:creationId xmlns:p14="http://schemas.microsoft.com/office/powerpoint/2010/main" val="1630585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2. Utilisation de Room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44826" y="1431230"/>
            <a:ext cx="105255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0" dirty="0">
                <a:solidFill>
                  <a:srgbClr val="202124"/>
                </a:solidFill>
                <a:effectLst/>
              </a:rPr>
              <a:t>Base de données</a:t>
            </a:r>
            <a:endParaRPr lang="fr-FR" sz="2400" b="1" dirty="0"/>
          </a:p>
          <a:p>
            <a:endParaRPr lang="fr-FR" sz="2400" dirty="0"/>
          </a:p>
          <a:p>
            <a:r>
              <a:rPr lang="fr-FR" sz="2400" dirty="0"/>
              <a:t>Remarques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Dans la plupart des application, </a:t>
            </a:r>
            <a:r>
              <a:rPr lang="fr-F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AppDatabase</a:t>
            </a:r>
            <a:r>
              <a:rPr lang="fr-FR" sz="2400" dirty="0"/>
              <a:t> est instanciée une seule fois tout au plus (</a:t>
            </a:r>
            <a:r>
              <a:rPr lang="fr-FR" sz="2400" i="1" dirty="0"/>
              <a:t>singleton pattern</a:t>
            </a:r>
            <a:r>
              <a:rPr lang="fr-FR" sz="2400" dirty="0"/>
              <a:t>) car c’est une opération relativement coûteuse en termes de ressources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Cette instance est généralement créée au démarrage de l’application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25973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solidFill>
                  <a:schemeClr val="bg1"/>
                </a:solidFill>
              </a:rPr>
              <a:t>2. Utilisation de Room</a:t>
            </a:r>
          </a:p>
        </p:txBody>
      </p:sp>
    </p:spTree>
    <p:extLst>
      <p:ext uri="{BB962C8B-B14F-4D97-AF65-F5344CB8AC3E}">
        <p14:creationId xmlns:p14="http://schemas.microsoft.com/office/powerpoint/2010/main" val="2374112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1374</Words>
  <Application>Microsoft Macintosh PowerPoint</Application>
  <PresentationFormat>Widescreen</PresentationFormat>
  <Paragraphs>139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Office Theme</vt:lpstr>
      <vt:lpstr>4 – Base de données embarquée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– Base de données embarquée</dc:title>
  <dc:creator>Alexandre Gressier</dc:creator>
  <cp:lastModifiedBy>Alexandre Gressier</cp:lastModifiedBy>
  <cp:revision>1</cp:revision>
  <dcterms:created xsi:type="dcterms:W3CDTF">2023-01-23T07:11:15Z</dcterms:created>
  <dcterms:modified xsi:type="dcterms:W3CDTF">2023-01-23T07:12:22Z</dcterms:modified>
</cp:coreProperties>
</file>