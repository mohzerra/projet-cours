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91DC141-2D2F-4A6D-92C2-C7A59B6FAE75}">
  <a:tblStyle styleId="{C91DC141-2D2F-4A6D-92C2-C7A59B6FAE75}"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scrumguides.org/"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1bc75404e58_1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1bc75404e58_1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ff4e1f489c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ff4e1f489c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Scrum and XP existed BEFORE the Agile Manifesto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1bc75404e58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1bc75404e58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ff4e1f489c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ff4e1f489c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lang="fr"/>
              <a:t>Tools and processes are important, but it is more important to have competent people working together effectively.</a:t>
            </a:r>
            <a:endParaRPr/>
          </a:p>
          <a:p>
            <a:pPr indent="-298450" lvl="0" marL="457200" rtl="0" algn="l">
              <a:lnSpc>
                <a:spcPct val="115000"/>
              </a:lnSpc>
              <a:spcBef>
                <a:spcPts val="0"/>
              </a:spcBef>
              <a:spcAft>
                <a:spcPts val="0"/>
              </a:spcAft>
              <a:buClr>
                <a:schemeClr val="dk1"/>
              </a:buClr>
              <a:buSzPts val="1100"/>
              <a:buChar char="●"/>
            </a:pPr>
            <a:r>
              <a:rPr lang="fr"/>
              <a:t>Good documentation is useful in helping people to understand how the software is built and how to use it, but the main point of development is to create software, not documentation.</a:t>
            </a:r>
            <a:endParaRPr/>
          </a:p>
          <a:p>
            <a:pPr indent="-298450" lvl="0" marL="457200" rtl="0" algn="l">
              <a:lnSpc>
                <a:spcPct val="115000"/>
              </a:lnSpc>
              <a:spcBef>
                <a:spcPts val="0"/>
              </a:spcBef>
              <a:spcAft>
                <a:spcPts val="0"/>
              </a:spcAft>
              <a:buClr>
                <a:schemeClr val="dk1"/>
              </a:buClr>
              <a:buSzPts val="1100"/>
              <a:buChar char="●"/>
            </a:pPr>
            <a:r>
              <a:rPr lang="fr"/>
              <a:t>A contract is important but is no substitute for working closely with customers to discover what they need.</a:t>
            </a:r>
            <a:endParaRPr/>
          </a:p>
          <a:p>
            <a:pPr indent="-298450" lvl="0" marL="457200" rtl="0" algn="l">
              <a:lnSpc>
                <a:spcPct val="115000"/>
              </a:lnSpc>
              <a:spcBef>
                <a:spcPts val="0"/>
              </a:spcBef>
              <a:spcAft>
                <a:spcPts val="0"/>
              </a:spcAft>
              <a:buClr>
                <a:schemeClr val="dk1"/>
              </a:buClr>
              <a:buSzPts val="1100"/>
              <a:buChar char="●"/>
            </a:pPr>
            <a:r>
              <a:rPr lang="fr"/>
              <a:t>A project plan is important, but it must not be too rigid to accommodate changes in technology or the environment, stakeholders' priorities, and people's understanding of the problem and its solution.</a:t>
            </a:r>
            <a:endParaRPr/>
          </a:p>
          <a:p>
            <a:pPr indent="0" lvl="0" marL="0" rtl="0" algn="l">
              <a:spcBef>
                <a:spcPts val="120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ff4e1f489c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ff4e1f489c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the needs and priorities of the customer may change over time, the development team should be flexible and responsive to these changes.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ff4e1f489c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ff4e1f489c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18d9e0fab78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18d9e0fab78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fr"/>
              <a:t>1st Agile Principle: "Our highest priority is to satisfy the customer through early and continuous delivery of valuable software." For the company: Increased adaptability and responsiveness to change For the team: Improved collaboration and teamwork For the individual: Greater autonomy and ownership For the clients: Enhanced satisfaction and value delivery</a:t>
            </a:r>
            <a:endParaRPr/>
          </a:p>
          <a:p>
            <a:pPr indent="0" lvl="0" marL="0" rtl="0" algn="l">
              <a:lnSpc>
                <a:spcPct val="115000"/>
              </a:lnSpc>
              <a:spcBef>
                <a:spcPts val="1200"/>
              </a:spcBef>
              <a:spcAft>
                <a:spcPts val="0"/>
              </a:spcAft>
              <a:buClr>
                <a:schemeClr val="dk1"/>
              </a:buClr>
              <a:buSzPts val="1100"/>
              <a:buFont typeface="Arial"/>
              <a:buNone/>
            </a:pPr>
            <a:r>
              <a:rPr lang="fr"/>
              <a:t>2nd Agile Principle: "Welcome changing requirements, even late in development. Agile processes harness change for the customer's competitive advantage." For the company: Improved competitiveness and market responsiveness For the team: Greater flexibility and adaptability For the individual: Enhanced learning and growth opportunities For the clients: Greater alignment with changing needs and preferences</a:t>
            </a:r>
            <a:endParaRPr/>
          </a:p>
          <a:p>
            <a:pPr indent="0" lvl="0" marL="0" rtl="0" algn="l">
              <a:lnSpc>
                <a:spcPct val="115000"/>
              </a:lnSpc>
              <a:spcBef>
                <a:spcPts val="1200"/>
              </a:spcBef>
              <a:spcAft>
                <a:spcPts val="0"/>
              </a:spcAft>
              <a:buClr>
                <a:schemeClr val="dk1"/>
              </a:buClr>
              <a:buSzPts val="1100"/>
              <a:buFont typeface="Arial"/>
              <a:buNone/>
            </a:pPr>
            <a:r>
              <a:rPr lang="fr"/>
              <a:t>3rd Agile Principle: "Deliver working software frequently, from a couple of weeks to a couple of months, with a preference to the shorter timescale." For the company: Increased efficiency and speed of delivery For the team: Improved focus and accountability For the individual: Greater sense of accomplishment and progress For the clients: Enhanced visibility and transparency of the development process</a:t>
            </a:r>
            <a:endParaRPr/>
          </a:p>
          <a:p>
            <a:pPr indent="0" lvl="0" marL="0" rtl="0" algn="l">
              <a:lnSpc>
                <a:spcPct val="115000"/>
              </a:lnSpc>
              <a:spcBef>
                <a:spcPts val="1200"/>
              </a:spcBef>
              <a:spcAft>
                <a:spcPts val="0"/>
              </a:spcAft>
              <a:buClr>
                <a:schemeClr val="dk1"/>
              </a:buClr>
              <a:buSzPts val="1100"/>
              <a:buFont typeface="Arial"/>
              <a:buNone/>
            </a:pPr>
            <a:r>
              <a:rPr lang="fr"/>
              <a:t>4th Agile Principle: "Business people and developers must work together daily throughout the project." For the company: Improved alignment and integration of business and technical goals For the team: Enhanced collaboration and communication For the individual: Greater understanding and appreciation of the broader context and goals For the clients: Improved customer experience and satisfaction</a:t>
            </a:r>
            <a:endParaRPr/>
          </a:p>
          <a:p>
            <a:pPr indent="0" lvl="0" marL="0" rtl="0" algn="l">
              <a:lnSpc>
                <a:spcPct val="115000"/>
              </a:lnSpc>
              <a:spcBef>
                <a:spcPts val="1200"/>
              </a:spcBef>
              <a:spcAft>
                <a:spcPts val="0"/>
              </a:spcAft>
              <a:buClr>
                <a:schemeClr val="dk1"/>
              </a:buClr>
              <a:buSzPts val="1100"/>
              <a:buFont typeface="Arial"/>
              <a:buNone/>
            </a:pPr>
            <a:r>
              <a:rPr lang="fr"/>
              <a:t>5th Agile Principle: "Build projects around motivated individuals. Give them the environment and support they need, and trust them to get the job done." For the company: Increased motivation and retention of top talent For the team: Improved morale and job satisfaction For the individual: Greater sense of ownership and accountability For the clients: Enhanced quality and reliability of the software</a:t>
            </a:r>
            <a:endParaRPr/>
          </a:p>
          <a:p>
            <a:pPr indent="0" lvl="0" marL="0" rtl="0" algn="l">
              <a:lnSpc>
                <a:spcPct val="115000"/>
              </a:lnSpc>
              <a:spcBef>
                <a:spcPts val="1200"/>
              </a:spcBef>
              <a:spcAft>
                <a:spcPts val="0"/>
              </a:spcAft>
              <a:buClr>
                <a:schemeClr val="dk1"/>
              </a:buClr>
              <a:buSzPts val="1100"/>
              <a:buFont typeface="Arial"/>
              <a:buNone/>
            </a:pPr>
            <a:r>
              <a:rPr lang="fr"/>
              <a:t>6th Agile Principle: "The most efficient and effective method of conveying information to and within a development team is face-to-face conversation." For the company: Improved communication and collaboration For the team: Enhanced understanding and clarity For the individual: Greater opportunities for personal and professional growth For the clients: Improved responsiveness and customer service</a:t>
            </a:r>
            <a:endParaRPr/>
          </a:p>
          <a:p>
            <a:pPr indent="0" lvl="0" marL="0" rtl="0" algn="l">
              <a:lnSpc>
                <a:spcPct val="115000"/>
              </a:lnSpc>
              <a:spcBef>
                <a:spcPts val="1200"/>
              </a:spcBef>
              <a:spcAft>
                <a:spcPts val="0"/>
              </a:spcAft>
              <a:buClr>
                <a:schemeClr val="dk1"/>
              </a:buClr>
              <a:buSzPts val="1100"/>
              <a:buFont typeface="Arial"/>
              <a:buNone/>
            </a:pPr>
            <a:r>
              <a:rPr lang="fr"/>
              <a:t>7th Agile Principle: "Working software is the primary measure of progress." For the company: Improved focus on delivering value and meeting customer needs For the team: Enhanced accountability and performance For the individual: Greater sense of accomplishment and progress For the clients: Enhanced satisfaction and value delivery</a:t>
            </a:r>
            <a:endParaRPr/>
          </a:p>
          <a:p>
            <a:pPr indent="0" lvl="0" marL="0" rtl="0" algn="l">
              <a:lnSpc>
                <a:spcPct val="115000"/>
              </a:lnSpc>
              <a:spcBef>
                <a:spcPts val="1200"/>
              </a:spcBef>
              <a:spcAft>
                <a:spcPts val="0"/>
              </a:spcAft>
              <a:buNone/>
            </a:pPr>
            <a:r>
              <a:rPr lang="fr"/>
              <a:t>8th Agile Principle: "Agile processes promote sustainable development. The sponsors, developers, and users should be able to maintain a constant pace indefinitely." For the company: Improved long-term sustainability and scalability For the team: Enhanced work-life balance and mental health For the individual: Greater long-term career satisfaction and development For the clients: Enhanced long-term value and satisfaction with the software</a:t>
            </a:r>
            <a:endParaRPr/>
          </a:p>
          <a:p>
            <a:pPr indent="0" lvl="0" marL="0" rtl="0" algn="l">
              <a:lnSpc>
                <a:spcPct val="115000"/>
              </a:lnSpc>
              <a:spcBef>
                <a:spcPts val="1200"/>
              </a:spcBef>
              <a:spcAft>
                <a:spcPts val="0"/>
              </a:spcAft>
              <a:buNone/>
            </a:pPr>
            <a:r>
              <a:rPr lang="fr"/>
              <a:t>9th Agile Principle: "Continuous attention to technical excellence and good design enhances agility." For the company: Improved quality and reliability of the software For the team: Enhanced learning and growth opportunities For the individual: Greater pride in work and personal development For the clients: Enhanced satisfaction and value delivery</a:t>
            </a:r>
            <a:endParaRPr/>
          </a:p>
          <a:p>
            <a:pPr indent="0" lvl="0" marL="0" rtl="0" algn="l">
              <a:lnSpc>
                <a:spcPct val="115000"/>
              </a:lnSpc>
              <a:spcBef>
                <a:spcPts val="1200"/>
              </a:spcBef>
              <a:spcAft>
                <a:spcPts val="0"/>
              </a:spcAft>
              <a:buNone/>
            </a:pPr>
            <a:r>
              <a:rPr lang="fr"/>
              <a:t>10th Agile Principle: "Simplicity--the art of maximizing the amount of work not done--is essential." For the company: Increased efficiency and speed of delivery For the team: Improved focus and clarity For the individual: Greater autonomy and ownership For the clients: Enhanced satisfaction and value delivery</a:t>
            </a:r>
            <a:endParaRPr/>
          </a:p>
          <a:p>
            <a:pPr indent="0" lvl="0" marL="0" rtl="0" algn="l">
              <a:lnSpc>
                <a:spcPct val="115000"/>
              </a:lnSpc>
              <a:spcBef>
                <a:spcPts val="1200"/>
              </a:spcBef>
              <a:spcAft>
                <a:spcPts val="0"/>
              </a:spcAft>
              <a:buNone/>
            </a:pPr>
            <a:r>
              <a:rPr lang="fr"/>
              <a:t>11th Agile Principle: "The best architectures, requirements, and designs emerge from self-organizing teams." For the company: Improved adaptability and innovation For the team: Enhanced collaboration and teamwork For the individual: Greater sense of ownership and accountability For the clients: Enhanced satisfaction and value delivery</a:t>
            </a:r>
            <a:endParaRPr/>
          </a:p>
          <a:p>
            <a:pPr indent="0" lvl="0" marL="0" rtl="0" algn="l">
              <a:lnSpc>
                <a:spcPct val="115000"/>
              </a:lnSpc>
              <a:spcBef>
                <a:spcPts val="1200"/>
              </a:spcBef>
              <a:spcAft>
                <a:spcPts val="0"/>
              </a:spcAft>
              <a:buNone/>
            </a:pPr>
            <a:r>
              <a:rPr lang="fr"/>
              <a:t>12th Agile Principle: "At regular intervals, the team reflects on how to become more effective, then tunes and adjusts its behavior accordingly." For the company: Improved continuous improvement and learning culture For the team: Enhanced reflection and growth opportunities For the individual: Greater sense of ownership and accountability For the clients: Enhanced satisfaction and value delivery</a:t>
            </a:r>
            <a:endParaRPr/>
          </a:p>
          <a:p>
            <a:pPr indent="0" lvl="0" marL="0" rtl="0" algn="l">
              <a:lnSpc>
                <a:spcPct val="115000"/>
              </a:lnSpc>
              <a:spcBef>
                <a:spcPts val="1200"/>
              </a:spcBef>
              <a:spcAft>
                <a:spcPts val="0"/>
              </a:spcAft>
              <a:buClr>
                <a:schemeClr val="dk1"/>
              </a:buClr>
              <a:buSzPts val="1100"/>
              <a:buFont typeface="Arial"/>
              <a:buNone/>
            </a:pPr>
            <a:r>
              <a:t/>
            </a:r>
            <a:endParaRPr/>
          </a:p>
          <a:p>
            <a:pPr indent="0" lvl="0" marL="0" rtl="0" algn="l">
              <a:spcBef>
                <a:spcPts val="120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18d9e0fab7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18d9e0fab7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https://docs.google.com/document/d/1XbKzQHw7RNNImdIGgTD9ipiLkvtcTk7jcyDTayoAj6k/edit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1bc75404e5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1bc75404e5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Overall, the main difference between agile and waterfall methodologies is their approach to project management. Agile methodologies prioritize flexibility, adaptability, and customer satisfaction, while waterfall methodologies prioritize a clear and defined plan and minimizing changes to the scope of the project. Both approaches have their own strengths and can be appropriate for different types of projects.</a:t>
            </a:r>
            <a:endParaRPr/>
          </a:p>
          <a:p>
            <a:pPr indent="0" lvl="0" marL="0" rtl="0" algn="l">
              <a:spcBef>
                <a:spcPts val="0"/>
              </a:spcBef>
              <a:spcAft>
                <a:spcPts val="0"/>
              </a:spcAft>
              <a:buNone/>
            </a:pPr>
            <a:r>
              <a:t/>
            </a:r>
            <a:endParaRPr/>
          </a:p>
          <a:p>
            <a:pPr indent="0" lvl="0" marL="0" rtl="0" algn="l">
              <a:spcBef>
                <a:spcPts val="0"/>
              </a:spcBef>
              <a:spcAft>
                <a:spcPts val="0"/>
              </a:spcAft>
              <a:buNone/>
            </a:pPr>
            <a:r>
              <a:rPr lang="fr"/>
              <a:t>Waterfall methodologies are well-suited for projects that have a clear and well-defined scope, where the requirements are understood up front and are not likely to change significantly during the development process. This approach is particularly useful when the project involves a high level of complexity or risk, as it allows for careful planning and helps to minimize the potential for changes or disruptions.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1bc75404e58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1bc75404e58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1bc75404e58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1bc75404e58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1bc75404e58_1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1bc75404e58_1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1bc75404e58_1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1bc75404e58_1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Scrum guide : </a:t>
            </a:r>
            <a:r>
              <a:rPr lang="fr" u="sng">
                <a:solidFill>
                  <a:schemeClr val="hlink"/>
                </a:solidFill>
                <a:hlinkClick r:id="rId2"/>
              </a:rPr>
              <a:t>https://scrumguides.org/</a:t>
            </a:r>
            <a:endParaRPr/>
          </a:p>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1bc75404e58_1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1bc75404e58_1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fr"/>
              <a:t>Transparency</a:t>
            </a:r>
            <a:r>
              <a:rPr lang="fr"/>
              <a:t> means that the progress, status, and </a:t>
            </a:r>
            <a:r>
              <a:rPr lang="fr" u="sng"/>
              <a:t>results of the developmen</a:t>
            </a:r>
            <a:r>
              <a:rPr lang="fr"/>
              <a:t>t process should be </a:t>
            </a:r>
            <a:r>
              <a:rPr lang="fr" u="sng"/>
              <a:t>visible to all stakeholders</a:t>
            </a:r>
            <a:r>
              <a:rPr lang="fr"/>
              <a:t>. This allows for a clear understanding of what has been accomplished, what work remains to be done, and how well the team is progressing towards its goals.</a:t>
            </a:r>
            <a:endParaRPr/>
          </a:p>
          <a:p>
            <a:pPr indent="0" lvl="0" marL="0" rtl="0" algn="l">
              <a:lnSpc>
                <a:spcPct val="115000"/>
              </a:lnSpc>
              <a:spcBef>
                <a:spcPts val="1200"/>
              </a:spcBef>
              <a:spcAft>
                <a:spcPts val="0"/>
              </a:spcAft>
              <a:buClr>
                <a:schemeClr val="dk1"/>
              </a:buClr>
              <a:buSzPts val="1100"/>
              <a:buFont typeface="Arial"/>
              <a:buNone/>
            </a:pPr>
            <a:r>
              <a:rPr b="1" lang="fr"/>
              <a:t>Inspection</a:t>
            </a:r>
            <a:r>
              <a:rPr lang="fr"/>
              <a:t> means that the team should r</a:t>
            </a:r>
            <a:r>
              <a:rPr lang="fr" u="sng"/>
              <a:t>egularly review and assess its progress</a:t>
            </a:r>
            <a:r>
              <a:rPr lang="fr"/>
              <a:t> and the </a:t>
            </a:r>
            <a:r>
              <a:rPr lang="fr" u="sng"/>
              <a:t>quality</a:t>
            </a:r>
            <a:r>
              <a:rPr lang="fr"/>
              <a:t> of its work. This helps to identify any problems or obstacles that may be hindering the team's progress, and allows for early corrective action to be taken.</a:t>
            </a:r>
            <a:endParaRPr/>
          </a:p>
          <a:p>
            <a:pPr indent="0" lvl="0" marL="0" rtl="0" algn="l">
              <a:lnSpc>
                <a:spcPct val="115000"/>
              </a:lnSpc>
              <a:spcBef>
                <a:spcPts val="1200"/>
              </a:spcBef>
              <a:spcAft>
                <a:spcPts val="0"/>
              </a:spcAft>
              <a:buClr>
                <a:schemeClr val="dk1"/>
              </a:buClr>
              <a:buSzPts val="1100"/>
              <a:buFont typeface="Arial"/>
              <a:buNone/>
            </a:pPr>
            <a:r>
              <a:rPr b="1" lang="fr"/>
              <a:t>Adaptation</a:t>
            </a:r>
            <a:r>
              <a:rPr lang="fr"/>
              <a:t> means that the team should be </a:t>
            </a:r>
            <a:r>
              <a:rPr lang="fr" u="sng"/>
              <a:t>flexible and responsive to change.</a:t>
            </a:r>
            <a:r>
              <a:rPr lang="fr"/>
              <a:t> This means that the team should be willing and able to adjust its plans and processes as needed in order to respond to changing circumstances or new information.</a:t>
            </a:r>
            <a:endParaRPr/>
          </a:p>
          <a:p>
            <a:pPr indent="0" lvl="0" marL="0" rtl="0" algn="l">
              <a:lnSpc>
                <a:spcPct val="115000"/>
              </a:lnSpc>
              <a:spcBef>
                <a:spcPts val="1200"/>
              </a:spcBef>
              <a:spcAft>
                <a:spcPts val="0"/>
              </a:spcAft>
              <a:buClr>
                <a:schemeClr val="dk1"/>
              </a:buClr>
              <a:buSzPts val="1100"/>
              <a:buFont typeface="Arial"/>
              <a:buNone/>
            </a:pPr>
            <a:r>
              <a:rPr lang="fr"/>
              <a:t>The </a:t>
            </a:r>
            <a:r>
              <a:rPr b="1" lang="fr"/>
              <a:t>values of Scrum </a:t>
            </a:r>
            <a:r>
              <a:rPr lang="fr"/>
              <a:t>are intended to support the successful implementation of these pillars. </a:t>
            </a:r>
            <a:br>
              <a:rPr lang="fr"/>
            </a:br>
            <a:r>
              <a:rPr b="1" lang="fr"/>
              <a:t>Commitment</a:t>
            </a:r>
            <a:r>
              <a:rPr lang="fr"/>
              <a:t> means that team members are fully dedicated to the success of the project and are willing to work together to overcome challenges. </a:t>
            </a:r>
            <a:br>
              <a:rPr lang="fr"/>
            </a:br>
            <a:r>
              <a:rPr b="1" lang="fr"/>
              <a:t>Courage</a:t>
            </a:r>
            <a:r>
              <a:rPr lang="fr"/>
              <a:t> means that team members are willing to take risks and try new things, even in the face of uncertainty. </a:t>
            </a:r>
            <a:br>
              <a:rPr lang="fr"/>
            </a:br>
            <a:r>
              <a:rPr b="1" lang="fr"/>
              <a:t>Focus</a:t>
            </a:r>
            <a:r>
              <a:rPr lang="fr"/>
              <a:t> means that team members are able to maintain a clear and singular focus on the goals of the project, rather than being distracted by other priorities. </a:t>
            </a:r>
            <a:br>
              <a:rPr lang="fr"/>
            </a:br>
            <a:r>
              <a:rPr b="1" lang="fr"/>
              <a:t>Openness</a:t>
            </a:r>
            <a:r>
              <a:rPr lang="fr"/>
              <a:t> means that team members are willing to share ideas, thoughts, and concerns, and to work collaboratively towards a common goal. </a:t>
            </a:r>
            <a:br>
              <a:rPr lang="fr"/>
            </a:br>
            <a:r>
              <a:rPr b="1" lang="fr"/>
              <a:t>Respect</a:t>
            </a:r>
            <a:r>
              <a:rPr lang="fr"/>
              <a:t> means that team members are respectful of one another and of the work that they are doing, and are willing to support and learn from one another.</a:t>
            </a:r>
            <a:endParaRPr/>
          </a:p>
          <a:p>
            <a:pPr indent="0" lvl="0" marL="0" rtl="0" algn="l">
              <a:spcBef>
                <a:spcPts val="120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1bc75404e58_1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1bc75404e58_1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1bc75404e58_1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1bc75404e58_1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1bc75404e58_1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1bc75404e58_1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1bc75404e58_1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1bc75404e58_1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1bc75404e58_1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1bc75404e58_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1bc75404e58_1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1bc75404e58_1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1bc75404e58_1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1bc75404e58_1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1bc75404e58_1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1bc75404e58_1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AutoNum type="arabicPeriod"/>
            </a:pPr>
            <a:r>
              <a:rPr lang="fr"/>
              <a:t>Sprint Planning</a:t>
            </a:r>
            <a:endParaRPr/>
          </a:p>
          <a:p>
            <a:pPr indent="-298450" lvl="0" marL="457200" rtl="0" algn="l">
              <a:spcBef>
                <a:spcPts val="0"/>
              </a:spcBef>
              <a:spcAft>
                <a:spcPts val="0"/>
              </a:spcAft>
              <a:buSzPts val="1100"/>
              <a:buAutoNum type="arabicPeriod"/>
            </a:pPr>
            <a:r>
              <a:rPr lang="fr"/>
              <a:t>Daily Scrum</a:t>
            </a:r>
            <a:endParaRPr/>
          </a:p>
          <a:p>
            <a:pPr indent="-298450" lvl="0" marL="457200" rtl="0" algn="l">
              <a:spcBef>
                <a:spcPts val="0"/>
              </a:spcBef>
              <a:spcAft>
                <a:spcPts val="0"/>
              </a:spcAft>
              <a:buSzPts val="1100"/>
              <a:buAutoNum type="arabicPeriod"/>
            </a:pPr>
            <a:r>
              <a:rPr lang="fr"/>
              <a:t>Sprint Review</a:t>
            </a:r>
            <a:endParaRPr/>
          </a:p>
          <a:p>
            <a:pPr indent="-298450" lvl="0" marL="457200" rtl="0" algn="l">
              <a:spcBef>
                <a:spcPts val="0"/>
              </a:spcBef>
              <a:spcAft>
                <a:spcPts val="0"/>
              </a:spcAft>
              <a:buSzPts val="1100"/>
              <a:buAutoNum type="arabicPeriod"/>
            </a:pPr>
            <a:r>
              <a:rPr lang="fr"/>
              <a:t>Sprint Retrospective</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AutoNum type="alphaUcPeriod"/>
            </a:pPr>
            <a:r>
              <a:rPr lang="fr"/>
              <a:t>Product Backlog</a:t>
            </a:r>
            <a:endParaRPr/>
          </a:p>
          <a:p>
            <a:pPr indent="-298450" lvl="0" marL="457200" rtl="0" algn="l">
              <a:spcBef>
                <a:spcPts val="0"/>
              </a:spcBef>
              <a:spcAft>
                <a:spcPts val="0"/>
              </a:spcAft>
              <a:buSzPts val="1100"/>
              <a:buAutoNum type="alphaUcPeriod"/>
            </a:pPr>
            <a:r>
              <a:rPr lang="fr"/>
              <a:t>Sprint Backlog</a:t>
            </a:r>
            <a:endParaRPr/>
          </a:p>
          <a:p>
            <a:pPr indent="-298450" lvl="0" marL="457200" rtl="0" algn="l">
              <a:spcBef>
                <a:spcPts val="0"/>
              </a:spcBef>
              <a:spcAft>
                <a:spcPts val="0"/>
              </a:spcAft>
              <a:buSzPts val="1100"/>
              <a:buAutoNum type="alphaUcPeriod"/>
            </a:pPr>
            <a:r>
              <a:rPr lang="fr"/>
              <a:t>Increment</a:t>
            </a:r>
            <a:endParaRPr/>
          </a:p>
          <a:p>
            <a:pPr indent="-298450" lvl="0" marL="457200" rtl="0" algn="l">
              <a:spcBef>
                <a:spcPts val="0"/>
              </a:spcBef>
              <a:spcAft>
                <a:spcPts val="0"/>
              </a:spcAft>
              <a:buSzPts val="1100"/>
              <a:buAutoNum type="alphaUcPeriod"/>
            </a:pPr>
            <a:r>
              <a:rPr lang="fr"/>
              <a:t>Scrum team</a:t>
            </a:r>
            <a:endParaRPr/>
          </a:p>
          <a:p>
            <a:pPr indent="-298450" lvl="1" marL="914400" rtl="0" algn="l">
              <a:spcBef>
                <a:spcPts val="0"/>
              </a:spcBef>
              <a:spcAft>
                <a:spcPts val="0"/>
              </a:spcAft>
              <a:buSzPts val="1100"/>
              <a:buAutoNum type="alphaLcPeriod"/>
            </a:pPr>
            <a:r>
              <a:rPr lang="fr"/>
              <a:t>Product owner</a:t>
            </a:r>
            <a:endParaRPr/>
          </a:p>
          <a:p>
            <a:pPr indent="-298450" lvl="1" marL="914400" rtl="0" algn="l">
              <a:spcBef>
                <a:spcPts val="0"/>
              </a:spcBef>
              <a:spcAft>
                <a:spcPts val="0"/>
              </a:spcAft>
              <a:buSzPts val="1100"/>
              <a:buAutoNum type="alphaLcPeriod"/>
            </a:pPr>
            <a:r>
              <a:rPr lang="fr"/>
              <a:t>Scrum master</a:t>
            </a:r>
            <a:endParaRPr/>
          </a:p>
          <a:p>
            <a:pPr indent="-298450" lvl="1" marL="914400" rtl="0" algn="l">
              <a:spcBef>
                <a:spcPts val="0"/>
              </a:spcBef>
              <a:spcAft>
                <a:spcPts val="0"/>
              </a:spcAft>
              <a:buSzPts val="1100"/>
              <a:buAutoNum type="alphaLcPeriod"/>
            </a:pPr>
            <a:r>
              <a:rPr lang="fr"/>
              <a:t>Dev team</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1bc75404e58_1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1bc75404e58_1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t/>
            </a:r>
            <a:endParaRPr/>
          </a:p>
          <a:p>
            <a:pPr indent="0" lvl="0" marL="0" rtl="0" algn="l">
              <a:spcBef>
                <a:spcPts val="1200"/>
              </a:spcBef>
              <a:spcAft>
                <a:spcPts val="0"/>
              </a:spcAft>
              <a:buNone/>
            </a:pPr>
            <a:r>
              <a:rPr lang="fr"/>
              <a:t>https://conceptsandbeyond.com/wp-content/uploads/2022/11/Owning-the-Sky-with-Agile.pdf</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1bc75404e58_1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1bc75404e58_1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1bc75404e58_1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1bc75404e58_1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1bc75404e58_1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1bc75404e58_1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1bc75404e58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1bc75404e58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Ideally : </a:t>
            </a:r>
            <a:endParaRPr/>
          </a:p>
          <a:p>
            <a:pPr indent="-298450" lvl="0" marL="457200" rtl="0" algn="l">
              <a:spcBef>
                <a:spcPts val="0"/>
              </a:spcBef>
              <a:spcAft>
                <a:spcPts val="0"/>
              </a:spcAft>
              <a:buSzPts val="1100"/>
              <a:buChar char="-"/>
            </a:pPr>
            <a:r>
              <a:rPr lang="fr"/>
              <a:t>Link this to dev-team in scrum</a:t>
            </a:r>
            <a:endParaRPr/>
          </a:p>
          <a:p>
            <a:pPr indent="-298450" lvl="0" marL="457200" rtl="0" algn="l">
              <a:spcBef>
                <a:spcPts val="0"/>
              </a:spcBef>
              <a:spcAft>
                <a:spcPts val="0"/>
              </a:spcAft>
              <a:buSzPts val="1100"/>
              <a:buChar char="-"/>
            </a:pPr>
            <a:r>
              <a:rPr lang="fr"/>
              <a:t>Have them think of examples of cross functional </a:t>
            </a:r>
            <a:r>
              <a:rPr lang="fr"/>
              <a:t>teams in and out of the industry (DevOps teams, sure, but also : electrician &amp; plumber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1bc75404e58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1bc75404e58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1bc75404e58_1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1bc75404e58_1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Outline that THEY are bound to become knowledge workers, or to manage KW. </a:t>
            </a:r>
            <a:endParaRPr/>
          </a:p>
          <a:p>
            <a:pPr indent="0" lvl="0" marL="0" rtl="0" algn="l">
              <a:spcBef>
                <a:spcPts val="0"/>
              </a:spcBef>
              <a:spcAft>
                <a:spcPts val="0"/>
              </a:spcAft>
              <a:buNone/>
            </a:pPr>
            <a:r>
              <a:rPr lang="fr"/>
              <a:t>Outline that their role is to rely and surround themselves with solid KW. </a:t>
            </a:r>
            <a:endParaRPr/>
          </a:p>
          <a:p>
            <a:pPr indent="0" lvl="0" marL="0" rtl="0" algn="l">
              <a:spcBef>
                <a:spcPts val="0"/>
              </a:spcBef>
              <a:spcAft>
                <a:spcPts val="0"/>
              </a:spcAft>
              <a:buNone/>
            </a:pPr>
            <a:r>
              <a:rPr lang="fr"/>
              <a:t>Point out that a good manager is someone that is okay with being surrounded with someone that is </a:t>
            </a:r>
            <a:r>
              <a:rPr b="1" lang="fr"/>
              <a:t>more </a:t>
            </a:r>
            <a:r>
              <a:rPr lang="fr"/>
              <a:t>knowledgeable than him on some topics.</a:t>
            </a:r>
            <a:endParaRPr/>
          </a:p>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1bc75404e58_1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1bc75404e58_1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https://docs.google.com/document/d/1sAo9tAEEuujaGwNUIiMyxh4qpyjVxaZvt4XwJJCy3xw/edit</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sp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sp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sp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sp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sp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sp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sp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sp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sp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sp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sp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sp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sp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sp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en.wikipedia.org/wiki/Agile_Architecture" TargetMode="External"/><Relationship Id="rId4" Type="http://schemas.openxmlformats.org/officeDocument/2006/relationships/hyperlink" Target="https://en.wikipedia.org/wiki/Agile_Architecture"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s://scrumguides.org/"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1.png"/><Relationship Id="rId4" Type="http://schemas.openxmlformats.org/officeDocument/2006/relationships/image" Target="../media/image8.png"/><Relationship Id="rId5" Type="http://schemas.openxmlformats.org/officeDocument/2006/relationships/image" Target="../media/image4.png"/><Relationship Id="rId6"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 Id="rId3" Type="http://schemas.openxmlformats.org/officeDocument/2006/relationships/image" Target="../media/image1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hyperlink" Target="https://conceptsandbeyond.com/wp-content/uploads/2022/11/Owning-the-Sky-with-Agile.pdf"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hyperlink" Target="https://www.scrum.org/open-assessments"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985200"/>
          </a:xfrm>
          <a:prstGeom prst="rect">
            <a:avLst/>
          </a:prstGeom>
        </p:spPr>
        <p:txBody>
          <a:bodyPr anchorCtr="0" anchor="b" bIns="91425" lIns="91425" spcFirstLastPara="1" rIns="91425" wrap="square" tIns="91425">
            <a:spAutoFit/>
          </a:bodyPr>
          <a:lstStyle/>
          <a:p>
            <a:pPr indent="0" lvl="0" marL="0" rtl="0" algn="ctr">
              <a:spcBef>
                <a:spcPts val="0"/>
              </a:spcBef>
              <a:spcAft>
                <a:spcPts val="0"/>
              </a:spcAft>
              <a:buNone/>
            </a:pPr>
            <a:r>
              <a:rPr lang="fr"/>
              <a:t>Agile &amp; Scrum</a:t>
            </a:r>
            <a:endParaRPr/>
          </a:p>
        </p:txBody>
      </p:sp>
      <p:sp>
        <p:nvSpPr>
          <p:cNvPr id="55" name="Google Shape;55;p13"/>
          <p:cNvSpPr txBox="1"/>
          <p:nvPr>
            <p:ph idx="1" type="subTitle"/>
          </p:nvPr>
        </p:nvSpPr>
        <p:spPr>
          <a:xfrm>
            <a:off x="311700" y="2834125"/>
            <a:ext cx="8520600" cy="615600"/>
          </a:xfrm>
          <a:prstGeom prst="rect">
            <a:avLst/>
          </a:prstGeom>
        </p:spPr>
        <p:txBody>
          <a:bodyPr anchorCtr="0" anchor="t" bIns="91425" lIns="91425" spcFirstLastPara="1" rIns="91425" wrap="square" tIns="91425">
            <a:spAutoFit/>
          </a:bodyPr>
          <a:lstStyle/>
          <a:p>
            <a:pPr indent="0" lvl="0" marL="0" rtl="0" algn="ctr">
              <a:spcBef>
                <a:spcPts val="0"/>
              </a:spcBef>
              <a:spcAft>
                <a:spcPts val="0"/>
              </a:spcAft>
              <a:buNone/>
            </a:pPr>
            <a:r>
              <a:rPr lang="fr"/>
              <a:t>3AGIL - Day 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Course summary</a:t>
            </a:r>
            <a:endParaRPr/>
          </a:p>
        </p:txBody>
      </p:sp>
      <p:sp>
        <p:nvSpPr>
          <p:cNvPr id="61" name="Google Shape;61;p14"/>
          <p:cNvSpPr txBox="1"/>
          <p:nvPr>
            <p:ph idx="1" type="body"/>
          </p:nvPr>
        </p:nvSpPr>
        <p:spPr>
          <a:xfrm>
            <a:off x="311700" y="1152475"/>
            <a:ext cx="8520600" cy="1736100"/>
          </a:xfrm>
          <a:prstGeom prst="rect">
            <a:avLst/>
          </a:prstGeom>
        </p:spPr>
        <p:txBody>
          <a:bodyPr anchorCtr="0" anchor="t" bIns="91425" lIns="91425" spcFirstLastPara="1" rIns="91425" wrap="square" tIns="91425">
            <a:spAutoFit/>
          </a:bodyPr>
          <a:lstStyle/>
          <a:p>
            <a:pPr indent="-342900" lvl="0" marL="457200" rtl="0" algn="l">
              <a:spcBef>
                <a:spcPts val="0"/>
              </a:spcBef>
              <a:spcAft>
                <a:spcPts val="0"/>
              </a:spcAft>
              <a:buSzPts val="1800"/>
              <a:buAutoNum type="arabicParenR"/>
            </a:pPr>
            <a:r>
              <a:rPr lang="fr"/>
              <a:t>Intro (15’)</a:t>
            </a:r>
            <a:endParaRPr/>
          </a:p>
          <a:p>
            <a:pPr indent="-342900" lvl="0" marL="457200" rtl="0" algn="l">
              <a:spcBef>
                <a:spcPts val="0"/>
              </a:spcBef>
              <a:spcAft>
                <a:spcPts val="0"/>
              </a:spcAft>
              <a:buSzPts val="1800"/>
              <a:buAutoNum type="arabicParenR"/>
            </a:pPr>
            <a:r>
              <a:rPr lang="fr"/>
              <a:t>Agile Methodologies (1h15)</a:t>
            </a:r>
            <a:endParaRPr/>
          </a:p>
          <a:p>
            <a:pPr indent="-342900" lvl="0" marL="457200" rtl="0" algn="l">
              <a:spcBef>
                <a:spcPts val="0"/>
              </a:spcBef>
              <a:spcAft>
                <a:spcPts val="0"/>
              </a:spcAft>
              <a:buSzPts val="1800"/>
              <a:buAutoNum type="arabicParenR"/>
            </a:pPr>
            <a:r>
              <a:rPr lang="fr"/>
              <a:t>Scrum (4h)</a:t>
            </a:r>
            <a:endParaRPr/>
          </a:p>
          <a:p>
            <a:pPr indent="-342900" lvl="0" marL="457200" rtl="0" algn="l">
              <a:spcBef>
                <a:spcPts val="0"/>
              </a:spcBef>
              <a:spcAft>
                <a:spcPts val="0"/>
              </a:spcAft>
              <a:buSzPts val="1800"/>
              <a:buAutoNum type="arabicParenR"/>
            </a:pPr>
            <a:r>
              <a:rPr lang="fr"/>
              <a:t>Cross-functional teams &amp; Knowledge workers (1h15)</a:t>
            </a:r>
            <a:endParaRPr/>
          </a:p>
          <a:p>
            <a:pPr indent="-342900" lvl="0" marL="457200" rtl="0" algn="l">
              <a:spcBef>
                <a:spcPts val="0"/>
              </a:spcBef>
              <a:spcAft>
                <a:spcPts val="0"/>
              </a:spcAft>
              <a:buSzPts val="1800"/>
              <a:buAutoNum type="arabicParenR"/>
            </a:pPr>
            <a:r>
              <a:rPr lang="fr"/>
              <a:t>Knowledge Check (15’)</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Quick Agile Story</a:t>
            </a:r>
            <a:endParaRPr/>
          </a:p>
        </p:txBody>
      </p:sp>
      <p:sp>
        <p:nvSpPr>
          <p:cNvPr id="67" name="Google Shape;67;p15"/>
          <p:cNvSpPr/>
          <p:nvPr/>
        </p:nvSpPr>
        <p:spPr>
          <a:xfrm>
            <a:off x="564825" y="1959300"/>
            <a:ext cx="7929900" cy="3915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8" name="Google Shape;68;p15"/>
          <p:cNvCxnSpPr>
            <a:stCxn id="69" idx="0"/>
          </p:cNvCxnSpPr>
          <p:nvPr/>
        </p:nvCxnSpPr>
        <p:spPr>
          <a:xfrm rot="10800000">
            <a:off x="1507050" y="1939150"/>
            <a:ext cx="0" cy="750600"/>
          </a:xfrm>
          <a:prstGeom prst="straightConnector1">
            <a:avLst/>
          </a:prstGeom>
          <a:noFill/>
          <a:ln cap="flat" cmpd="sng" w="9525">
            <a:solidFill>
              <a:srgbClr val="B7B7B7"/>
            </a:solidFill>
            <a:prstDash val="solid"/>
            <a:round/>
            <a:headEnd len="med" w="med" type="none"/>
            <a:tailEnd len="med" w="med" type="none"/>
          </a:ln>
        </p:spPr>
      </p:cxnSp>
      <p:cxnSp>
        <p:nvCxnSpPr>
          <p:cNvPr id="70" name="Google Shape;70;p15"/>
          <p:cNvCxnSpPr>
            <a:stCxn id="71" idx="0"/>
          </p:cNvCxnSpPr>
          <p:nvPr/>
        </p:nvCxnSpPr>
        <p:spPr>
          <a:xfrm rot="10800000">
            <a:off x="2301450" y="2015350"/>
            <a:ext cx="0" cy="1489500"/>
          </a:xfrm>
          <a:prstGeom prst="straightConnector1">
            <a:avLst/>
          </a:prstGeom>
          <a:noFill/>
          <a:ln cap="flat" cmpd="sng" w="9525">
            <a:solidFill>
              <a:srgbClr val="B7B7B7"/>
            </a:solidFill>
            <a:prstDash val="solid"/>
            <a:round/>
            <a:headEnd len="med" w="med" type="none"/>
            <a:tailEnd len="med" w="med" type="none"/>
          </a:ln>
        </p:spPr>
      </p:cxnSp>
      <p:cxnSp>
        <p:nvCxnSpPr>
          <p:cNvPr id="72" name="Google Shape;72;p15"/>
          <p:cNvCxnSpPr/>
          <p:nvPr/>
        </p:nvCxnSpPr>
        <p:spPr>
          <a:xfrm rot="10800000">
            <a:off x="2972425" y="1939425"/>
            <a:ext cx="0" cy="524400"/>
          </a:xfrm>
          <a:prstGeom prst="straightConnector1">
            <a:avLst/>
          </a:prstGeom>
          <a:noFill/>
          <a:ln cap="flat" cmpd="sng" w="9525">
            <a:solidFill>
              <a:srgbClr val="B7B7B7"/>
            </a:solidFill>
            <a:prstDash val="solid"/>
            <a:round/>
            <a:headEnd len="med" w="med" type="none"/>
            <a:tailEnd len="med" w="med" type="none"/>
          </a:ln>
        </p:spPr>
      </p:cxnSp>
      <p:cxnSp>
        <p:nvCxnSpPr>
          <p:cNvPr id="73" name="Google Shape;73;p15"/>
          <p:cNvCxnSpPr>
            <a:stCxn id="74" idx="0"/>
          </p:cNvCxnSpPr>
          <p:nvPr/>
        </p:nvCxnSpPr>
        <p:spPr>
          <a:xfrm flipH="1" rot="10800000">
            <a:off x="3671050" y="1939125"/>
            <a:ext cx="2100" cy="893700"/>
          </a:xfrm>
          <a:prstGeom prst="straightConnector1">
            <a:avLst/>
          </a:prstGeom>
          <a:noFill/>
          <a:ln cap="flat" cmpd="sng" w="9525">
            <a:solidFill>
              <a:srgbClr val="B7B7B7"/>
            </a:solidFill>
            <a:prstDash val="solid"/>
            <a:round/>
            <a:headEnd len="med" w="med" type="none"/>
            <a:tailEnd len="med" w="med" type="none"/>
          </a:ln>
        </p:spPr>
      </p:cxnSp>
      <p:cxnSp>
        <p:nvCxnSpPr>
          <p:cNvPr id="75" name="Google Shape;75;p15"/>
          <p:cNvCxnSpPr>
            <a:stCxn id="76" idx="0"/>
          </p:cNvCxnSpPr>
          <p:nvPr/>
        </p:nvCxnSpPr>
        <p:spPr>
          <a:xfrm rot="10800000">
            <a:off x="4358850" y="1939125"/>
            <a:ext cx="0" cy="1878900"/>
          </a:xfrm>
          <a:prstGeom prst="straightConnector1">
            <a:avLst/>
          </a:prstGeom>
          <a:noFill/>
          <a:ln cap="flat" cmpd="sng" w="9525">
            <a:solidFill>
              <a:srgbClr val="B7B7B7"/>
            </a:solidFill>
            <a:prstDash val="solid"/>
            <a:round/>
            <a:headEnd len="med" w="med" type="none"/>
            <a:tailEnd len="med" w="med" type="none"/>
          </a:ln>
        </p:spPr>
      </p:cxnSp>
      <p:cxnSp>
        <p:nvCxnSpPr>
          <p:cNvPr id="77" name="Google Shape;77;p15"/>
          <p:cNvCxnSpPr/>
          <p:nvPr/>
        </p:nvCxnSpPr>
        <p:spPr>
          <a:xfrm rot="10800000">
            <a:off x="5231136" y="1863050"/>
            <a:ext cx="0" cy="557400"/>
          </a:xfrm>
          <a:prstGeom prst="straightConnector1">
            <a:avLst/>
          </a:prstGeom>
          <a:noFill/>
          <a:ln cap="flat" cmpd="sng" w="9525">
            <a:solidFill>
              <a:srgbClr val="FF9900"/>
            </a:solidFill>
            <a:prstDash val="solid"/>
            <a:round/>
            <a:headEnd len="med" w="med" type="none"/>
            <a:tailEnd len="med" w="med" type="none"/>
          </a:ln>
        </p:spPr>
      </p:cxnSp>
      <p:sp>
        <p:nvSpPr>
          <p:cNvPr id="78" name="Google Shape;78;p15"/>
          <p:cNvSpPr txBox="1"/>
          <p:nvPr/>
        </p:nvSpPr>
        <p:spPr>
          <a:xfrm>
            <a:off x="1217100" y="1540225"/>
            <a:ext cx="579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a:t>1991</a:t>
            </a:r>
            <a:endParaRPr/>
          </a:p>
        </p:txBody>
      </p:sp>
      <p:sp>
        <p:nvSpPr>
          <p:cNvPr id="79" name="Google Shape;79;p15"/>
          <p:cNvSpPr txBox="1"/>
          <p:nvPr/>
        </p:nvSpPr>
        <p:spPr>
          <a:xfrm>
            <a:off x="2010711" y="1540225"/>
            <a:ext cx="579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a:t>1994</a:t>
            </a:r>
            <a:endParaRPr/>
          </a:p>
        </p:txBody>
      </p:sp>
      <p:sp>
        <p:nvSpPr>
          <p:cNvPr id="80" name="Google Shape;80;p15"/>
          <p:cNvSpPr txBox="1"/>
          <p:nvPr/>
        </p:nvSpPr>
        <p:spPr>
          <a:xfrm>
            <a:off x="2680839" y="1540225"/>
            <a:ext cx="579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a:solidFill>
                  <a:schemeClr val="accent1"/>
                </a:solidFill>
              </a:rPr>
              <a:t>1995</a:t>
            </a:r>
            <a:endParaRPr>
              <a:solidFill>
                <a:schemeClr val="accent1"/>
              </a:solidFill>
            </a:endParaRPr>
          </a:p>
        </p:txBody>
      </p:sp>
      <p:sp>
        <p:nvSpPr>
          <p:cNvPr id="81" name="Google Shape;81;p15"/>
          <p:cNvSpPr txBox="1"/>
          <p:nvPr/>
        </p:nvSpPr>
        <p:spPr>
          <a:xfrm>
            <a:off x="3381089" y="1540225"/>
            <a:ext cx="579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a:solidFill>
                  <a:schemeClr val="accent1"/>
                </a:solidFill>
              </a:rPr>
              <a:t>1996</a:t>
            </a:r>
            <a:endParaRPr>
              <a:solidFill>
                <a:schemeClr val="accent1"/>
              </a:solidFill>
            </a:endParaRPr>
          </a:p>
        </p:txBody>
      </p:sp>
      <p:sp>
        <p:nvSpPr>
          <p:cNvPr id="82" name="Google Shape;82;p15"/>
          <p:cNvSpPr txBox="1"/>
          <p:nvPr/>
        </p:nvSpPr>
        <p:spPr>
          <a:xfrm>
            <a:off x="4067311" y="1540225"/>
            <a:ext cx="579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a:t>1997</a:t>
            </a:r>
            <a:endParaRPr/>
          </a:p>
        </p:txBody>
      </p:sp>
      <p:sp>
        <p:nvSpPr>
          <p:cNvPr id="83" name="Google Shape;83;p15"/>
          <p:cNvSpPr txBox="1"/>
          <p:nvPr/>
        </p:nvSpPr>
        <p:spPr>
          <a:xfrm>
            <a:off x="4940879" y="1464025"/>
            <a:ext cx="579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a:solidFill>
                  <a:srgbClr val="FF9900"/>
                </a:solidFill>
              </a:rPr>
              <a:t>2001</a:t>
            </a:r>
            <a:endParaRPr>
              <a:solidFill>
                <a:srgbClr val="FF9900"/>
              </a:solidFill>
            </a:endParaRPr>
          </a:p>
        </p:txBody>
      </p:sp>
      <p:cxnSp>
        <p:nvCxnSpPr>
          <p:cNvPr id="84" name="Google Shape;84;p15"/>
          <p:cNvCxnSpPr>
            <a:stCxn id="85" idx="0"/>
          </p:cNvCxnSpPr>
          <p:nvPr/>
        </p:nvCxnSpPr>
        <p:spPr>
          <a:xfrm rot="10800000">
            <a:off x="6131950" y="1939125"/>
            <a:ext cx="600" cy="893700"/>
          </a:xfrm>
          <a:prstGeom prst="straightConnector1">
            <a:avLst/>
          </a:prstGeom>
          <a:noFill/>
          <a:ln cap="flat" cmpd="sng" w="9525">
            <a:solidFill>
              <a:srgbClr val="B7B7B7"/>
            </a:solidFill>
            <a:prstDash val="solid"/>
            <a:round/>
            <a:headEnd len="med" w="med" type="none"/>
            <a:tailEnd len="med" w="med" type="none"/>
          </a:ln>
        </p:spPr>
      </p:cxnSp>
      <p:sp>
        <p:nvSpPr>
          <p:cNvPr id="86" name="Google Shape;86;p15"/>
          <p:cNvSpPr txBox="1"/>
          <p:nvPr/>
        </p:nvSpPr>
        <p:spPr>
          <a:xfrm>
            <a:off x="5842596" y="1540225"/>
            <a:ext cx="579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a:t>2005</a:t>
            </a:r>
            <a:endParaRPr/>
          </a:p>
        </p:txBody>
      </p:sp>
      <p:cxnSp>
        <p:nvCxnSpPr>
          <p:cNvPr id="87" name="Google Shape;87;p15"/>
          <p:cNvCxnSpPr>
            <a:stCxn id="88" idx="0"/>
          </p:cNvCxnSpPr>
          <p:nvPr/>
        </p:nvCxnSpPr>
        <p:spPr>
          <a:xfrm rot="10800000">
            <a:off x="6956575" y="1939150"/>
            <a:ext cx="600" cy="1565700"/>
          </a:xfrm>
          <a:prstGeom prst="straightConnector1">
            <a:avLst/>
          </a:prstGeom>
          <a:noFill/>
          <a:ln cap="flat" cmpd="sng" w="9525">
            <a:solidFill>
              <a:srgbClr val="B7B7B7"/>
            </a:solidFill>
            <a:prstDash val="solid"/>
            <a:round/>
            <a:headEnd len="med" w="med" type="none"/>
            <a:tailEnd len="med" w="med" type="none"/>
          </a:ln>
        </p:spPr>
      </p:cxnSp>
      <p:sp>
        <p:nvSpPr>
          <p:cNvPr id="89" name="Google Shape;89;p15"/>
          <p:cNvSpPr txBox="1"/>
          <p:nvPr/>
        </p:nvSpPr>
        <p:spPr>
          <a:xfrm>
            <a:off x="6667221" y="1540225"/>
            <a:ext cx="579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a:t>2009</a:t>
            </a:r>
            <a:endParaRPr/>
          </a:p>
        </p:txBody>
      </p:sp>
      <p:cxnSp>
        <p:nvCxnSpPr>
          <p:cNvPr id="90" name="Google Shape;90;p15"/>
          <p:cNvCxnSpPr>
            <a:stCxn id="91" idx="0"/>
          </p:cNvCxnSpPr>
          <p:nvPr/>
        </p:nvCxnSpPr>
        <p:spPr>
          <a:xfrm rot="10800000">
            <a:off x="7590875" y="1939125"/>
            <a:ext cx="8100" cy="1014300"/>
          </a:xfrm>
          <a:prstGeom prst="straightConnector1">
            <a:avLst/>
          </a:prstGeom>
          <a:noFill/>
          <a:ln cap="flat" cmpd="sng" w="9525">
            <a:solidFill>
              <a:srgbClr val="B7B7B7"/>
            </a:solidFill>
            <a:prstDash val="solid"/>
            <a:round/>
            <a:headEnd len="med" w="med" type="none"/>
            <a:tailEnd len="med" w="med" type="none"/>
          </a:ln>
        </p:spPr>
      </p:cxnSp>
      <p:sp>
        <p:nvSpPr>
          <p:cNvPr id="92" name="Google Shape;92;p15"/>
          <p:cNvSpPr txBox="1"/>
          <p:nvPr/>
        </p:nvSpPr>
        <p:spPr>
          <a:xfrm>
            <a:off x="7309027" y="1540225"/>
            <a:ext cx="579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a:t>2011</a:t>
            </a:r>
            <a:endParaRPr/>
          </a:p>
        </p:txBody>
      </p:sp>
      <p:sp>
        <p:nvSpPr>
          <p:cNvPr id="69" name="Google Shape;69;p15"/>
          <p:cNvSpPr txBox="1"/>
          <p:nvPr/>
        </p:nvSpPr>
        <p:spPr>
          <a:xfrm>
            <a:off x="735150" y="2689750"/>
            <a:ext cx="15438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fr"/>
              <a:t>RAD </a:t>
            </a:r>
            <a:br>
              <a:rPr lang="fr"/>
            </a:br>
            <a:r>
              <a:rPr lang="fr" sz="1100">
                <a:solidFill>
                  <a:srgbClr val="434343"/>
                </a:solidFill>
              </a:rPr>
              <a:t>(Rapid Application Development)</a:t>
            </a:r>
            <a:endParaRPr sz="1100">
              <a:solidFill>
                <a:srgbClr val="434343"/>
              </a:solidFill>
            </a:endParaRPr>
          </a:p>
        </p:txBody>
      </p:sp>
      <p:sp>
        <p:nvSpPr>
          <p:cNvPr id="71" name="Google Shape;71;p15"/>
          <p:cNvSpPr txBox="1"/>
          <p:nvPr/>
        </p:nvSpPr>
        <p:spPr>
          <a:xfrm>
            <a:off x="1000650" y="3504850"/>
            <a:ext cx="2601600" cy="1108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fr"/>
              <a:t>UP</a:t>
            </a:r>
            <a:br>
              <a:rPr lang="fr"/>
            </a:br>
            <a:r>
              <a:rPr lang="fr" sz="1100">
                <a:solidFill>
                  <a:srgbClr val="434343"/>
                </a:solidFill>
              </a:rPr>
              <a:t>(United Process)</a:t>
            </a:r>
            <a:br>
              <a:rPr lang="fr" sz="1100">
                <a:solidFill>
                  <a:srgbClr val="434343"/>
                </a:solidFill>
              </a:rPr>
            </a:br>
            <a:r>
              <a:rPr lang="fr" sz="1300">
                <a:solidFill>
                  <a:schemeClr val="dk1"/>
                </a:solidFill>
              </a:rPr>
              <a:t>DSDM</a:t>
            </a:r>
            <a:br>
              <a:rPr lang="fr" sz="1100">
                <a:solidFill>
                  <a:srgbClr val="434343"/>
                </a:solidFill>
              </a:rPr>
            </a:br>
            <a:r>
              <a:rPr lang="fr" sz="1100">
                <a:solidFill>
                  <a:srgbClr val="434343"/>
                </a:solidFill>
              </a:rPr>
              <a:t>(Dynamic Systems Development Method)</a:t>
            </a:r>
            <a:endParaRPr sz="1100">
              <a:solidFill>
                <a:srgbClr val="434343"/>
              </a:solidFill>
            </a:endParaRPr>
          </a:p>
        </p:txBody>
      </p:sp>
      <p:sp>
        <p:nvSpPr>
          <p:cNvPr id="93" name="Google Shape;93;p15"/>
          <p:cNvSpPr txBox="1"/>
          <p:nvPr/>
        </p:nvSpPr>
        <p:spPr>
          <a:xfrm>
            <a:off x="2198900" y="2446975"/>
            <a:ext cx="1543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fr">
                <a:solidFill>
                  <a:srgbClr val="4A86E8"/>
                </a:solidFill>
              </a:rPr>
              <a:t>SCRUM</a:t>
            </a:r>
            <a:endParaRPr sz="1100">
              <a:solidFill>
                <a:srgbClr val="4A86E8"/>
              </a:solidFill>
            </a:endParaRPr>
          </a:p>
        </p:txBody>
      </p:sp>
      <p:sp>
        <p:nvSpPr>
          <p:cNvPr id="74" name="Google Shape;74;p15"/>
          <p:cNvSpPr txBox="1"/>
          <p:nvPr/>
        </p:nvSpPr>
        <p:spPr>
          <a:xfrm>
            <a:off x="2789950" y="2832825"/>
            <a:ext cx="1762200" cy="985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fr"/>
              <a:t>Crystal</a:t>
            </a:r>
            <a:r>
              <a:rPr lang="fr"/>
              <a:t> Clear</a:t>
            </a:r>
            <a:br>
              <a:rPr lang="fr"/>
            </a:br>
            <a:r>
              <a:rPr lang="fr"/>
              <a:t>&amp;</a:t>
            </a:r>
            <a:br>
              <a:rPr lang="fr" sz="1100">
                <a:solidFill>
                  <a:srgbClr val="434343"/>
                </a:solidFill>
              </a:rPr>
            </a:br>
            <a:r>
              <a:rPr lang="fr" sz="1300">
                <a:solidFill>
                  <a:schemeClr val="accent1"/>
                </a:solidFill>
              </a:rPr>
              <a:t>XP</a:t>
            </a:r>
            <a:br>
              <a:rPr lang="fr" sz="1100">
                <a:solidFill>
                  <a:srgbClr val="434343"/>
                </a:solidFill>
              </a:rPr>
            </a:br>
            <a:r>
              <a:rPr lang="fr" sz="1100">
                <a:solidFill>
                  <a:srgbClr val="434343"/>
                </a:solidFill>
              </a:rPr>
              <a:t>(Extreme Programming)</a:t>
            </a:r>
            <a:endParaRPr sz="1100">
              <a:solidFill>
                <a:srgbClr val="434343"/>
              </a:solidFill>
            </a:endParaRPr>
          </a:p>
        </p:txBody>
      </p:sp>
      <p:sp>
        <p:nvSpPr>
          <p:cNvPr id="76" name="Google Shape;76;p15"/>
          <p:cNvSpPr txBox="1"/>
          <p:nvPr/>
        </p:nvSpPr>
        <p:spPr>
          <a:xfrm>
            <a:off x="3586950" y="3818025"/>
            <a:ext cx="15438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fr"/>
              <a:t>FDD</a:t>
            </a:r>
            <a:br>
              <a:rPr lang="fr"/>
            </a:br>
            <a:r>
              <a:rPr lang="fr" sz="1100">
                <a:solidFill>
                  <a:srgbClr val="434343"/>
                </a:solidFill>
              </a:rPr>
              <a:t>(Feature Driven Development)</a:t>
            </a:r>
            <a:endParaRPr sz="1100">
              <a:solidFill>
                <a:srgbClr val="434343"/>
              </a:solidFill>
            </a:endParaRPr>
          </a:p>
        </p:txBody>
      </p:sp>
      <p:sp>
        <p:nvSpPr>
          <p:cNvPr id="94" name="Google Shape;94;p15"/>
          <p:cNvSpPr txBox="1"/>
          <p:nvPr/>
        </p:nvSpPr>
        <p:spPr>
          <a:xfrm>
            <a:off x="4458925" y="2420450"/>
            <a:ext cx="1543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fr">
                <a:solidFill>
                  <a:srgbClr val="FF9900"/>
                </a:solidFill>
              </a:rPr>
              <a:t>Agile Manifesto</a:t>
            </a:r>
            <a:endParaRPr sz="1100">
              <a:solidFill>
                <a:srgbClr val="FF9900"/>
              </a:solidFill>
            </a:endParaRPr>
          </a:p>
        </p:txBody>
      </p:sp>
      <p:sp>
        <p:nvSpPr>
          <p:cNvPr id="85" name="Google Shape;85;p15"/>
          <p:cNvSpPr txBox="1"/>
          <p:nvPr/>
        </p:nvSpPr>
        <p:spPr>
          <a:xfrm>
            <a:off x="5251450" y="2832825"/>
            <a:ext cx="17622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fr"/>
              <a:t>PM Declaration of Interdependence</a:t>
            </a:r>
            <a:endParaRPr sz="1100">
              <a:solidFill>
                <a:srgbClr val="434343"/>
              </a:solidFill>
            </a:endParaRPr>
          </a:p>
        </p:txBody>
      </p:sp>
      <p:sp>
        <p:nvSpPr>
          <p:cNvPr id="88" name="Google Shape;88;p15"/>
          <p:cNvSpPr txBox="1"/>
          <p:nvPr/>
        </p:nvSpPr>
        <p:spPr>
          <a:xfrm>
            <a:off x="6093625" y="3504850"/>
            <a:ext cx="1727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fr"/>
              <a:t>SCM</a:t>
            </a:r>
            <a:br>
              <a:rPr lang="fr"/>
            </a:br>
            <a:r>
              <a:rPr lang="fr" sz="1100">
                <a:solidFill>
                  <a:srgbClr val="434343"/>
                </a:solidFill>
              </a:rPr>
              <a:t>(Software </a:t>
            </a:r>
            <a:r>
              <a:rPr lang="fr" sz="1100">
                <a:solidFill>
                  <a:srgbClr val="434343"/>
                </a:solidFill>
              </a:rPr>
              <a:t>Craftsmanship</a:t>
            </a:r>
            <a:r>
              <a:rPr lang="fr" sz="1100">
                <a:solidFill>
                  <a:srgbClr val="434343"/>
                </a:solidFill>
              </a:rPr>
              <a:t> Manifesto)</a:t>
            </a:r>
            <a:endParaRPr sz="1100">
              <a:solidFill>
                <a:srgbClr val="434343"/>
              </a:solidFill>
            </a:endParaRPr>
          </a:p>
        </p:txBody>
      </p:sp>
      <p:sp>
        <p:nvSpPr>
          <p:cNvPr id="91" name="Google Shape;91;p15"/>
          <p:cNvSpPr txBox="1"/>
          <p:nvPr/>
        </p:nvSpPr>
        <p:spPr>
          <a:xfrm>
            <a:off x="6735425" y="2953425"/>
            <a:ext cx="17271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fr"/>
              <a:t>Guide to Agile Practices</a:t>
            </a:r>
            <a:endParaRPr sz="1100">
              <a:solidFill>
                <a:srgbClr val="434343"/>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6"/>
          <p:cNvSpPr txBox="1"/>
          <p:nvPr>
            <p:ph type="title"/>
          </p:nvPr>
        </p:nvSpPr>
        <p:spPr>
          <a:xfrm>
            <a:off x="311700" y="2150850"/>
            <a:ext cx="8520600" cy="738900"/>
          </a:xfrm>
          <a:prstGeom prst="rect">
            <a:avLst/>
          </a:prstGeom>
        </p:spPr>
        <p:txBody>
          <a:bodyPr anchorCtr="0" anchor="ctr" bIns="91425" lIns="91425" spcFirstLastPara="1" rIns="91425" wrap="square" tIns="91425">
            <a:spAutoFit/>
          </a:bodyPr>
          <a:lstStyle/>
          <a:p>
            <a:pPr indent="0" lvl="0" marL="0" rtl="0" algn="ctr">
              <a:spcBef>
                <a:spcPts val="0"/>
              </a:spcBef>
              <a:spcAft>
                <a:spcPts val="0"/>
              </a:spcAft>
              <a:buNone/>
            </a:pPr>
            <a:r>
              <a:rPr lang="fr"/>
              <a:t>Agile Methodologies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7"/>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The Manifesto for Agile Software Development</a:t>
            </a:r>
            <a:endParaRPr/>
          </a:p>
        </p:txBody>
      </p:sp>
      <p:sp>
        <p:nvSpPr>
          <p:cNvPr id="105" name="Google Shape;105;p17"/>
          <p:cNvSpPr txBox="1"/>
          <p:nvPr>
            <p:ph idx="1" type="body"/>
          </p:nvPr>
        </p:nvSpPr>
        <p:spPr>
          <a:xfrm>
            <a:off x="311700" y="1152475"/>
            <a:ext cx="8520600" cy="23520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fr"/>
              <a:t> 	</a:t>
            </a:r>
            <a:r>
              <a:rPr b="1" lang="fr"/>
              <a:t>Individuals and interactions</a:t>
            </a:r>
            <a:r>
              <a:rPr lang="fr"/>
              <a:t> over processes and tools</a:t>
            </a:r>
            <a:endParaRPr/>
          </a:p>
          <a:p>
            <a:pPr indent="0" lvl="0" marL="0" rtl="0" algn="l">
              <a:spcBef>
                <a:spcPts val="1200"/>
              </a:spcBef>
              <a:spcAft>
                <a:spcPts val="0"/>
              </a:spcAft>
              <a:buClr>
                <a:schemeClr val="dk1"/>
              </a:buClr>
              <a:buSzPts val="1100"/>
              <a:buFont typeface="Arial"/>
              <a:buNone/>
            </a:pPr>
            <a:r>
              <a:rPr lang="fr"/>
              <a:t>	</a:t>
            </a:r>
            <a:r>
              <a:rPr b="1" lang="fr"/>
              <a:t>Working software</a:t>
            </a:r>
            <a:r>
              <a:rPr lang="fr"/>
              <a:t> over comprehensive documentation</a:t>
            </a:r>
            <a:endParaRPr/>
          </a:p>
          <a:p>
            <a:pPr indent="0" lvl="0" marL="0" rtl="0" algn="l">
              <a:spcBef>
                <a:spcPts val="1200"/>
              </a:spcBef>
              <a:spcAft>
                <a:spcPts val="0"/>
              </a:spcAft>
              <a:buClr>
                <a:schemeClr val="dk1"/>
              </a:buClr>
              <a:buSzPts val="1100"/>
              <a:buFont typeface="Arial"/>
              <a:buNone/>
            </a:pPr>
            <a:r>
              <a:rPr lang="fr"/>
              <a:t>	</a:t>
            </a:r>
            <a:r>
              <a:rPr b="1" lang="fr"/>
              <a:t>Customer collaboration</a:t>
            </a:r>
            <a:r>
              <a:rPr lang="fr"/>
              <a:t> over contract negotiation</a:t>
            </a:r>
            <a:endParaRPr/>
          </a:p>
          <a:p>
            <a:pPr indent="0" lvl="0" marL="0" rtl="0" algn="l">
              <a:spcBef>
                <a:spcPts val="1200"/>
              </a:spcBef>
              <a:spcAft>
                <a:spcPts val="0"/>
              </a:spcAft>
              <a:buClr>
                <a:schemeClr val="dk1"/>
              </a:buClr>
              <a:buSzPts val="1100"/>
              <a:buFont typeface="Arial"/>
              <a:buNone/>
            </a:pPr>
            <a:r>
              <a:rPr lang="fr"/>
              <a:t>	</a:t>
            </a:r>
            <a:r>
              <a:rPr b="1" lang="fr"/>
              <a:t>Responding to change</a:t>
            </a:r>
            <a:r>
              <a:rPr lang="fr"/>
              <a:t> over following a plan</a:t>
            </a:r>
            <a:endParaRPr/>
          </a:p>
          <a:p>
            <a:pPr indent="0" lvl="0" marL="0" rtl="0" algn="l">
              <a:spcBef>
                <a:spcPts val="120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8"/>
          <p:cNvSpPr txBox="1"/>
          <p:nvPr>
            <p:ph idx="1" type="body"/>
          </p:nvPr>
        </p:nvSpPr>
        <p:spPr>
          <a:xfrm>
            <a:off x="311700" y="1152475"/>
            <a:ext cx="8520600" cy="3645600"/>
          </a:xfrm>
          <a:prstGeom prst="rect">
            <a:avLst/>
          </a:prstGeom>
        </p:spPr>
        <p:txBody>
          <a:bodyPr anchorCtr="0" anchor="t" bIns="91425" lIns="91425" spcFirstLastPara="1" rIns="91425" wrap="square" tIns="91425">
            <a:spAutoFit/>
          </a:bodyPr>
          <a:lstStyle/>
          <a:p>
            <a:pPr indent="0" lvl="0" marL="0" rtl="0" algn="l">
              <a:spcBef>
                <a:spcPts val="1200"/>
              </a:spcBef>
              <a:spcAft>
                <a:spcPts val="0"/>
              </a:spcAft>
              <a:buNone/>
            </a:pPr>
            <a:r>
              <a:rPr lang="fr">
                <a:solidFill>
                  <a:schemeClr val="dk1"/>
                </a:solidFill>
              </a:rPr>
              <a:t>1. </a:t>
            </a:r>
            <a:r>
              <a:rPr lang="fr">
                <a:solidFill>
                  <a:schemeClr val="dk1"/>
                </a:solidFill>
              </a:rPr>
              <a:t>Customer satisfaction by early and continuous delivery of valuable software.</a:t>
            </a:r>
            <a:endParaRPr>
              <a:solidFill>
                <a:schemeClr val="dk1"/>
              </a:solidFill>
            </a:endParaRPr>
          </a:p>
          <a:p>
            <a:pPr indent="0" lvl="0" marL="0" rtl="0" algn="l">
              <a:spcBef>
                <a:spcPts val="1200"/>
              </a:spcBef>
              <a:spcAft>
                <a:spcPts val="0"/>
              </a:spcAft>
              <a:buNone/>
            </a:pPr>
            <a:r>
              <a:rPr lang="fr">
                <a:solidFill>
                  <a:schemeClr val="dk1"/>
                </a:solidFill>
              </a:rPr>
              <a:t>2. Welcome changing requirements, even in late development.</a:t>
            </a:r>
            <a:endParaRPr>
              <a:solidFill>
                <a:schemeClr val="dk1"/>
              </a:solidFill>
            </a:endParaRPr>
          </a:p>
          <a:p>
            <a:pPr indent="0" lvl="0" marL="0" rtl="0" algn="l">
              <a:spcBef>
                <a:spcPts val="1200"/>
              </a:spcBef>
              <a:spcAft>
                <a:spcPts val="0"/>
              </a:spcAft>
              <a:buNone/>
            </a:pPr>
            <a:r>
              <a:rPr lang="fr">
                <a:solidFill>
                  <a:schemeClr val="dk1"/>
                </a:solidFill>
              </a:rPr>
              <a:t>3. Deliver working software frequently (weeks rather than months).</a:t>
            </a:r>
            <a:endParaRPr>
              <a:solidFill>
                <a:schemeClr val="dk1"/>
              </a:solidFill>
            </a:endParaRPr>
          </a:p>
          <a:p>
            <a:pPr indent="0" lvl="0" marL="0" rtl="0" algn="l">
              <a:spcBef>
                <a:spcPts val="1200"/>
              </a:spcBef>
              <a:spcAft>
                <a:spcPts val="0"/>
              </a:spcAft>
              <a:buNone/>
            </a:pPr>
            <a:r>
              <a:rPr lang="fr">
                <a:solidFill>
                  <a:schemeClr val="dk1"/>
                </a:solidFill>
              </a:rPr>
              <a:t>4. Close, daily cooperation between business people and developers.</a:t>
            </a:r>
            <a:endParaRPr>
              <a:solidFill>
                <a:schemeClr val="dk1"/>
              </a:solidFill>
            </a:endParaRPr>
          </a:p>
          <a:p>
            <a:pPr indent="0" lvl="0" marL="0" rtl="0" algn="l">
              <a:spcBef>
                <a:spcPts val="1200"/>
              </a:spcBef>
              <a:spcAft>
                <a:spcPts val="0"/>
              </a:spcAft>
              <a:buNone/>
            </a:pPr>
            <a:r>
              <a:rPr lang="fr">
                <a:solidFill>
                  <a:schemeClr val="dk1"/>
                </a:solidFill>
              </a:rPr>
              <a:t>5. Projects are built around motivated individuals, who should be trusted.</a:t>
            </a:r>
            <a:endParaRPr>
              <a:solidFill>
                <a:schemeClr val="dk1"/>
              </a:solidFill>
            </a:endParaRPr>
          </a:p>
          <a:p>
            <a:pPr indent="0" lvl="0" marL="0" rtl="0" algn="l">
              <a:spcBef>
                <a:spcPts val="1200"/>
              </a:spcBef>
              <a:spcAft>
                <a:spcPts val="0"/>
              </a:spcAft>
              <a:buNone/>
            </a:pPr>
            <a:r>
              <a:rPr lang="fr">
                <a:solidFill>
                  <a:schemeClr val="dk1"/>
                </a:solidFill>
              </a:rPr>
              <a:t>6. Face-to-face conversation is the best form of communication (co-location).</a:t>
            </a:r>
            <a:endParaRPr>
              <a:solidFill>
                <a:schemeClr val="dk1"/>
              </a:solidFill>
            </a:endParaRPr>
          </a:p>
          <a:p>
            <a:pPr indent="0" lvl="0" marL="457200" rtl="0" algn="l">
              <a:spcBef>
                <a:spcPts val="1200"/>
              </a:spcBef>
              <a:spcAft>
                <a:spcPts val="0"/>
              </a:spcAft>
              <a:buNone/>
            </a:pPr>
            <a:r>
              <a:t/>
            </a:r>
            <a:endParaRPr sz="1100">
              <a:solidFill>
                <a:schemeClr val="dk1"/>
              </a:solidFill>
            </a:endParaRPr>
          </a:p>
          <a:p>
            <a:pPr indent="0" lvl="0" marL="0" rtl="0" algn="l">
              <a:spcBef>
                <a:spcPts val="1200"/>
              </a:spcBef>
              <a:spcAft>
                <a:spcPts val="1200"/>
              </a:spcAft>
              <a:buNone/>
            </a:pPr>
            <a:r>
              <a:t/>
            </a:r>
            <a:endParaRPr/>
          </a:p>
        </p:txBody>
      </p:sp>
      <p:sp>
        <p:nvSpPr>
          <p:cNvPr id="111" name="Google Shape;111;p18"/>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Agile software development principles (</a:t>
            </a:r>
            <a:r>
              <a:rPr lang="fr"/>
              <a:t>1/2</a:t>
            </a:r>
            <a:r>
              <a:rPr lang="fr"/>
              <a: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9"/>
          <p:cNvSpPr txBox="1"/>
          <p:nvPr>
            <p:ph type="title"/>
          </p:nvPr>
        </p:nvSpPr>
        <p:spPr>
          <a:xfrm>
            <a:off x="311700" y="445025"/>
            <a:ext cx="8520600" cy="10467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fr"/>
              <a:t>Agile software development principles (2/2)</a:t>
            </a:r>
            <a:endParaRPr/>
          </a:p>
          <a:p>
            <a:pPr indent="0" lvl="0" marL="0" rtl="0" algn="l">
              <a:spcBef>
                <a:spcPts val="0"/>
              </a:spcBef>
              <a:spcAft>
                <a:spcPts val="0"/>
              </a:spcAft>
              <a:buNone/>
            </a:pPr>
            <a:r>
              <a:t/>
            </a:r>
            <a:endParaRPr/>
          </a:p>
        </p:txBody>
      </p:sp>
      <p:sp>
        <p:nvSpPr>
          <p:cNvPr id="117" name="Google Shape;117;p19"/>
          <p:cNvSpPr txBox="1"/>
          <p:nvPr>
            <p:ph idx="1" type="body"/>
          </p:nvPr>
        </p:nvSpPr>
        <p:spPr>
          <a:xfrm>
            <a:off x="311700" y="1152475"/>
            <a:ext cx="8520600" cy="3461700"/>
          </a:xfrm>
          <a:prstGeom prst="rect">
            <a:avLst/>
          </a:prstGeom>
        </p:spPr>
        <p:txBody>
          <a:bodyPr anchorCtr="0" anchor="t" bIns="91425" lIns="91425" spcFirstLastPara="1" rIns="91425" wrap="square" tIns="91425">
            <a:spAutoFit/>
          </a:bodyPr>
          <a:lstStyle/>
          <a:p>
            <a:pPr indent="0" lvl="0" marL="0" rtl="0" algn="l">
              <a:spcBef>
                <a:spcPts val="1200"/>
              </a:spcBef>
              <a:spcAft>
                <a:spcPts val="0"/>
              </a:spcAft>
              <a:buNone/>
            </a:pPr>
            <a:r>
              <a:rPr lang="fr">
                <a:solidFill>
                  <a:schemeClr val="dk1"/>
                </a:solidFill>
              </a:rPr>
              <a:t>7. </a:t>
            </a:r>
            <a:r>
              <a:rPr lang="fr">
                <a:solidFill>
                  <a:schemeClr val="dk1"/>
                </a:solidFill>
              </a:rPr>
              <a:t>Working software is the primary measure of progress.</a:t>
            </a:r>
            <a:endParaRPr>
              <a:solidFill>
                <a:schemeClr val="dk1"/>
              </a:solidFill>
            </a:endParaRPr>
          </a:p>
          <a:p>
            <a:pPr indent="0" lvl="0" marL="0" rtl="0" algn="l">
              <a:spcBef>
                <a:spcPts val="1200"/>
              </a:spcBef>
              <a:spcAft>
                <a:spcPts val="0"/>
              </a:spcAft>
              <a:buNone/>
            </a:pPr>
            <a:r>
              <a:rPr lang="fr">
                <a:solidFill>
                  <a:schemeClr val="dk1"/>
                </a:solidFill>
              </a:rPr>
              <a:t>8. Sustainable development, able to maintain a constant pace.</a:t>
            </a:r>
            <a:endParaRPr>
              <a:solidFill>
                <a:schemeClr val="dk1"/>
              </a:solidFill>
            </a:endParaRPr>
          </a:p>
          <a:p>
            <a:pPr indent="0" lvl="0" marL="0" rtl="0" algn="l">
              <a:spcBef>
                <a:spcPts val="1200"/>
              </a:spcBef>
              <a:spcAft>
                <a:spcPts val="0"/>
              </a:spcAft>
              <a:buNone/>
            </a:pPr>
            <a:r>
              <a:rPr lang="fr">
                <a:solidFill>
                  <a:schemeClr val="dk1"/>
                </a:solidFill>
              </a:rPr>
              <a:t>9. Continuous attention to technical excellence and good design.</a:t>
            </a:r>
            <a:endParaRPr>
              <a:solidFill>
                <a:schemeClr val="dk1"/>
              </a:solidFill>
            </a:endParaRPr>
          </a:p>
          <a:p>
            <a:pPr indent="0" lvl="0" marL="0" rtl="0" algn="l">
              <a:spcBef>
                <a:spcPts val="1200"/>
              </a:spcBef>
              <a:spcAft>
                <a:spcPts val="0"/>
              </a:spcAft>
              <a:buNone/>
            </a:pPr>
            <a:r>
              <a:rPr lang="fr">
                <a:solidFill>
                  <a:schemeClr val="dk1"/>
                </a:solidFill>
              </a:rPr>
              <a:t>10. Simplicity—the art of maximizing the amount of work not done—is essential.</a:t>
            </a:r>
            <a:endParaRPr>
              <a:solidFill>
                <a:schemeClr val="dk1"/>
              </a:solidFill>
            </a:endParaRPr>
          </a:p>
          <a:p>
            <a:pPr indent="0" lvl="0" marL="0" rtl="0" algn="l">
              <a:spcBef>
                <a:spcPts val="1200"/>
              </a:spcBef>
              <a:spcAft>
                <a:spcPts val="0"/>
              </a:spcAft>
              <a:buNone/>
            </a:pPr>
            <a:r>
              <a:rPr lang="fr">
                <a:solidFill>
                  <a:schemeClr val="dk1"/>
                </a:solidFill>
              </a:rPr>
              <a:t>11. Best</a:t>
            </a:r>
            <a:r>
              <a:rPr lang="fr">
                <a:solidFill>
                  <a:schemeClr val="dk1"/>
                </a:solidFill>
                <a:uFill>
                  <a:noFill/>
                </a:uFill>
                <a:hlinkClick r:id="rId3">
                  <a:extLst>
                    <a:ext uri="{A12FA001-AC4F-418D-AE19-62706E023703}">
                      <ahyp:hlinkClr val="tx"/>
                    </a:ext>
                  </a:extLst>
                </a:hlinkClick>
              </a:rPr>
              <a:t> </a:t>
            </a:r>
            <a:r>
              <a:rPr lang="fr" u="sng">
                <a:solidFill>
                  <a:schemeClr val="accent5"/>
                </a:solidFill>
                <a:hlinkClick r:id="rId4">
                  <a:extLst>
                    <a:ext uri="{A12FA001-AC4F-418D-AE19-62706E023703}">
                      <ahyp:hlinkClr val="tx"/>
                    </a:ext>
                  </a:extLst>
                </a:hlinkClick>
              </a:rPr>
              <a:t>architectures</a:t>
            </a:r>
            <a:r>
              <a:rPr lang="fr">
                <a:solidFill>
                  <a:schemeClr val="dk1"/>
                </a:solidFill>
              </a:rPr>
              <a:t>, requirements, and designs emerge from self-organizing teams.</a:t>
            </a:r>
            <a:endParaRPr>
              <a:solidFill>
                <a:schemeClr val="dk1"/>
              </a:solidFill>
            </a:endParaRPr>
          </a:p>
          <a:p>
            <a:pPr indent="0" lvl="0" marL="0" rtl="0" algn="l">
              <a:spcBef>
                <a:spcPts val="1200"/>
              </a:spcBef>
              <a:spcAft>
                <a:spcPts val="1200"/>
              </a:spcAft>
              <a:buNone/>
            </a:pPr>
            <a:r>
              <a:rPr lang="fr">
                <a:solidFill>
                  <a:schemeClr val="dk1"/>
                </a:solidFill>
              </a:rPr>
              <a:t>12. Regularly, the team reflects on how to become more effective, and adjusts accordingly.</a:t>
            </a:r>
            <a:endParaRPr sz="25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0"/>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Agile Principles appropriation exercise (45-60’)</a:t>
            </a:r>
            <a:endParaRPr/>
          </a:p>
        </p:txBody>
      </p:sp>
      <p:sp>
        <p:nvSpPr>
          <p:cNvPr id="123" name="Google Shape;123;p20"/>
          <p:cNvSpPr txBox="1"/>
          <p:nvPr>
            <p:ph idx="1" type="body"/>
          </p:nvPr>
        </p:nvSpPr>
        <p:spPr>
          <a:xfrm>
            <a:off x="311700" y="1152475"/>
            <a:ext cx="8520600" cy="2681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For each Agile Principle, take some time to reflect on them, and explain its advantages : </a:t>
            </a:r>
            <a:endParaRPr/>
          </a:p>
          <a:p>
            <a:pPr indent="-342900" lvl="0" marL="457200" rtl="0" algn="l">
              <a:spcBef>
                <a:spcPts val="1200"/>
              </a:spcBef>
              <a:spcAft>
                <a:spcPts val="0"/>
              </a:spcAft>
              <a:buSzPts val="1800"/>
              <a:buChar char="-"/>
            </a:pPr>
            <a:r>
              <a:rPr lang="fr"/>
              <a:t>For the company</a:t>
            </a:r>
            <a:endParaRPr/>
          </a:p>
          <a:p>
            <a:pPr indent="-342900" lvl="0" marL="457200" rtl="0" algn="l">
              <a:spcBef>
                <a:spcPts val="0"/>
              </a:spcBef>
              <a:spcAft>
                <a:spcPts val="0"/>
              </a:spcAft>
              <a:buSzPts val="1800"/>
              <a:buChar char="-"/>
            </a:pPr>
            <a:r>
              <a:rPr lang="fr"/>
              <a:t>For the team</a:t>
            </a:r>
            <a:endParaRPr/>
          </a:p>
          <a:p>
            <a:pPr indent="-342900" lvl="0" marL="457200" rtl="0" algn="l">
              <a:spcBef>
                <a:spcPts val="0"/>
              </a:spcBef>
              <a:spcAft>
                <a:spcPts val="0"/>
              </a:spcAft>
              <a:buSzPts val="1800"/>
              <a:buChar char="-"/>
            </a:pPr>
            <a:r>
              <a:rPr lang="fr"/>
              <a:t>For the individual</a:t>
            </a:r>
            <a:endParaRPr/>
          </a:p>
          <a:p>
            <a:pPr indent="-342900" lvl="0" marL="457200" rtl="0" algn="l">
              <a:spcBef>
                <a:spcPts val="0"/>
              </a:spcBef>
              <a:spcAft>
                <a:spcPts val="0"/>
              </a:spcAft>
              <a:buSzPts val="1800"/>
              <a:buChar char="-"/>
            </a:pPr>
            <a:r>
              <a:rPr lang="fr"/>
              <a:t>For the clients</a:t>
            </a:r>
            <a:endParaRPr/>
          </a:p>
          <a:p>
            <a:pPr indent="0" lvl="0" marL="0" rtl="0" algn="l">
              <a:spcBef>
                <a:spcPts val="1200"/>
              </a:spcBef>
              <a:spcAft>
                <a:spcPts val="1200"/>
              </a:spcAft>
              <a:buNone/>
            </a:pPr>
            <a:r>
              <a:rPr lang="fr"/>
              <a:t>Sometimes, reasons overlap : keep digging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1"/>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Case Study (60’)</a:t>
            </a:r>
            <a:endParaRPr/>
          </a:p>
        </p:txBody>
      </p:sp>
      <p:sp>
        <p:nvSpPr>
          <p:cNvPr id="129" name="Google Shape;129;p21"/>
          <p:cNvSpPr txBox="1"/>
          <p:nvPr>
            <p:ph idx="1" type="body"/>
          </p:nvPr>
        </p:nvSpPr>
        <p:spPr>
          <a:xfrm>
            <a:off x="311700" y="1152475"/>
            <a:ext cx="8520600" cy="38019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Mayden - See PDF </a:t>
            </a:r>
            <a:endParaRPr/>
          </a:p>
          <a:p>
            <a:pPr indent="-342900" lvl="0" marL="457200" rtl="0" algn="l">
              <a:spcBef>
                <a:spcPts val="1200"/>
              </a:spcBef>
              <a:spcAft>
                <a:spcPts val="0"/>
              </a:spcAft>
              <a:buSzPts val="1800"/>
              <a:buChar char="-"/>
            </a:pPr>
            <a:r>
              <a:rPr lang="fr"/>
              <a:t>What challenges did the company face ? What impact did it have on their business ? </a:t>
            </a:r>
            <a:endParaRPr/>
          </a:p>
          <a:p>
            <a:pPr indent="-342900" lvl="0" marL="457200" rtl="0" algn="l">
              <a:spcBef>
                <a:spcPts val="0"/>
              </a:spcBef>
              <a:spcAft>
                <a:spcPts val="0"/>
              </a:spcAft>
              <a:buSzPts val="1800"/>
              <a:buChar char="-"/>
            </a:pPr>
            <a:r>
              <a:rPr lang="fr"/>
              <a:t>What opportunity presented itself ? How was it embraced ?</a:t>
            </a:r>
            <a:endParaRPr/>
          </a:p>
          <a:p>
            <a:pPr indent="-342900" lvl="0" marL="457200" rtl="0" algn="l">
              <a:spcBef>
                <a:spcPts val="0"/>
              </a:spcBef>
              <a:spcAft>
                <a:spcPts val="0"/>
              </a:spcAft>
              <a:buSzPts val="1800"/>
              <a:buChar char="-"/>
            </a:pPr>
            <a:r>
              <a:rPr lang="fr"/>
              <a:t>What was the team reaction ? </a:t>
            </a:r>
            <a:endParaRPr/>
          </a:p>
          <a:p>
            <a:pPr indent="-342900" lvl="0" marL="457200" rtl="0" algn="l">
              <a:spcBef>
                <a:spcPts val="0"/>
              </a:spcBef>
              <a:spcAft>
                <a:spcPts val="0"/>
              </a:spcAft>
              <a:buSzPts val="1800"/>
              <a:buChar char="-"/>
            </a:pPr>
            <a:r>
              <a:rPr lang="fr"/>
              <a:t>What are the keys elements to success in this transition ? </a:t>
            </a:r>
            <a:endParaRPr/>
          </a:p>
          <a:p>
            <a:pPr indent="-342900" lvl="0" marL="457200" rtl="0" algn="l">
              <a:spcBef>
                <a:spcPts val="0"/>
              </a:spcBef>
              <a:spcAft>
                <a:spcPts val="0"/>
              </a:spcAft>
              <a:buSzPts val="1800"/>
              <a:buChar char="-"/>
            </a:pPr>
            <a:r>
              <a:rPr lang="fr"/>
              <a:t>Can you identify 3 types of companies for which Scrum </a:t>
            </a:r>
            <a:r>
              <a:rPr lang="fr"/>
              <a:t>wouldn’t apply as easily ? </a:t>
            </a:r>
            <a:endParaRPr/>
          </a:p>
          <a:p>
            <a:pPr indent="-342900" lvl="0" marL="457200" rtl="0" algn="l">
              <a:spcBef>
                <a:spcPts val="0"/>
              </a:spcBef>
              <a:spcAft>
                <a:spcPts val="0"/>
              </a:spcAft>
              <a:buSzPts val="1800"/>
              <a:buChar char="-"/>
            </a:pPr>
            <a:r>
              <a:rPr lang="fr"/>
              <a:t>What would be a good definition of “Waterfall” according to you ? Pick a company that you believe works in waterfall and try to outline and design their processes.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2"/>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Agile vs Waterfall Methodology</a:t>
            </a:r>
            <a:endParaRPr/>
          </a:p>
        </p:txBody>
      </p:sp>
      <p:graphicFrame>
        <p:nvGraphicFramePr>
          <p:cNvPr id="135" name="Google Shape;135;p22"/>
          <p:cNvGraphicFramePr/>
          <p:nvPr/>
        </p:nvGraphicFramePr>
        <p:xfrm>
          <a:off x="952500" y="1428750"/>
          <a:ext cx="3000000" cy="3000000"/>
        </p:xfrm>
        <a:graphic>
          <a:graphicData uri="http://schemas.openxmlformats.org/drawingml/2006/table">
            <a:tbl>
              <a:tblPr>
                <a:noFill/>
                <a:tableStyleId>{C91DC141-2D2F-4A6D-92C2-C7A59B6FAE75}</a:tableStyleId>
              </a:tblPr>
              <a:tblGrid>
                <a:gridCol w="3619500"/>
                <a:gridCol w="3619500"/>
              </a:tblGrid>
              <a:tr h="381000">
                <a:tc>
                  <a:txBody>
                    <a:bodyPr/>
                    <a:lstStyle/>
                    <a:p>
                      <a:pPr indent="0" lvl="0" marL="0" rtl="0" algn="l">
                        <a:spcBef>
                          <a:spcPts val="0"/>
                        </a:spcBef>
                        <a:spcAft>
                          <a:spcPts val="0"/>
                        </a:spcAft>
                        <a:buNone/>
                      </a:pPr>
                      <a:r>
                        <a:rPr lang="fr"/>
                        <a:t>Agile</a:t>
                      </a:r>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fr"/>
                        <a:t>Waterfall</a:t>
                      </a:r>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rgbClr val="D9EAD3"/>
                    </a:solidFill>
                  </a:tcPr>
                </a:tc>
              </a:tr>
              <a:tr h="381000">
                <a:tc>
                  <a:txBody>
                    <a:bodyPr/>
                    <a:lstStyle/>
                    <a:p>
                      <a:pPr indent="0" lvl="0" marL="0" rtl="0" algn="l">
                        <a:spcBef>
                          <a:spcPts val="0"/>
                        </a:spcBef>
                        <a:spcAft>
                          <a:spcPts val="0"/>
                        </a:spcAft>
                        <a:buNone/>
                      </a:pPr>
                      <a:r>
                        <a:rPr lang="fr"/>
                        <a:t>Emphasizes flexibility and adaptability</a:t>
                      </a:r>
                      <a:endParaRPr/>
                    </a:p>
                  </a:txBody>
                  <a:tcPr marT="91425" marB="91425" marR="91425" marL="91425">
                    <a:lnT cap="flat" cmpd="sng" w="9525">
                      <a:solidFill>
                        <a:srgbClr val="B7B7B7"/>
                      </a:solidFill>
                      <a:prstDash val="solid"/>
                      <a:round/>
                      <a:headEnd len="sm" w="sm" type="none"/>
                      <a:tailEnd len="sm" w="sm" type="none"/>
                    </a:lnT>
                  </a:tcPr>
                </a:tc>
                <a:tc>
                  <a:txBody>
                    <a:bodyPr/>
                    <a:lstStyle/>
                    <a:p>
                      <a:pPr indent="0" lvl="0" marL="0" rtl="0" algn="l">
                        <a:spcBef>
                          <a:spcPts val="0"/>
                        </a:spcBef>
                        <a:spcAft>
                          <a:spcPts val="0"/>
                        </a:spcAft>
                        <a:buNone/>
                      </a:pPr>
                      <a:r>
                        <a:rPr lang="fr"/>
                        <a:t>Follows a linear and sequential approach</a:t>
                      </a:r>
                      <a:endParaRPr/>
                    </a:p>
                  </a:txBody>
                  <a:tcPr marT="91425" marB="91425" marR="91425" marL="91425">
                    <a:lnT cap="flat" cmpd="sng" w="9525">
                      <a:solidFill>
                        <a:srgbClr val="B7B7B7"/>
                      </a:solidFill>
                      <a:prstDash val="solid"/>
                      <a:round/>
                      <a:headEnd len="sm" w="sm" type="none"/>
                      <a:tailEnd len="sm" w="sm" type="none"/>
                    </a:lnT>
                  </a:tcPr>
                </a:tc>
              </a:tr>
              <a:tr h="381000">
                <a:tc>
                  <a:txBody>
                    <a:bodyPr/>
                    <a:lstStyle/>
                    <a:p>
                      <a:pPr indent="0" lvl="0" marL="0" rtl="0" algn="l">
                        <a:spcBef>
                          <a:spcPts val="0"/>
                        </a:spcBef>
                        <a:spcAft>
                          <a:spcPts val="0"/>
                        </a:spcAft>
                        <a:buNone/>
                      </a:pPr>
                      <a:r>
                        <a:rPr lang="fr"/>
                        <a:t>Uses an iterative and incremental approach</a:t>
                      </a:r>
                      <a:endParaRPr/>
                    </a:p>
                  </a:txBody>
                  <a:tcPr marT="91425" marB="91425" marR="91425" marL="91425"/>
                </a:tc>
                <a:tc>
                  <a:txBody>
                    <a:bodyPr/>
                    <a:lstStyle/>
                    <a:p>
                      <a:pPr indent="0" lvl="0" marL="0" rtl="0" algn="l">
                        <a:spcBef>
                          <a:spcPts val="0"/>
                        </a:spcBef>
                        <a:spcAft>
                          <a:spcPts val="0"/>
                        </a:spcAft>
                        <a:buNone/>
                      </a:pPr>
                      <a:r>
                        <a:rPr lang="fr"/>
                        <a:t>Emphasizes a clear and defined plan</a:t>
                      </a:r>
                      <a:endParaRPr/>
                    </a:p>
                  </a:txBody>
                  <a:tcPr marT="91425" marB="91425" marR="91425" marL="91425"/>
                </a:tc>
              </a:tr>
              <a:tr h="381000">
                <a:tc>
                  <a:txBody>
                    <a:bodyPr/>
                    <a:lstStyle/>
                    <a:p>
                      <a:pPr indent="0" lvl="0" marL="0" rtl="0" algn="l">
                        <a:spcBef>
                          <a:spcPts val="0"/>
                        </a:spcBef>
                        <a:spcAft>
                          <a:spcPts val="0"/>
                        </a:spcAft>
                        <a:buNone/>
                      </a:pPr>
                      <a:r>
                        <a:rPr lang="fr"/>
                        <a:t>Prioritizes customer satisfaction and delivery of value</a:t>
                      </a:r>
                      <a:endParaRPr/>
                    </a:p>
                  </a:txBody>
                  <a:tcPr marT="91425" marB="91425" marR="91425" marL="91425"/>
                </a:tc>
                <a:tc>
                  <a:txBody>
                    <a:bodyPr/>
                    <a:lstStyle/>
                    <a:p>
                      <a:pPr indent="0" lvl="0" marL="0" rtl="0" algn="l">
                        <a:spcBef>
                          <a:spcPts val="0"/>
                        </a:spcBef>
                        <a:spcAft>
                          <a:spcPts val="0"/>
                        </a:spcAft>
                        <a:buNone/>
                      </a:pPr>
                      <a:r>
                        <a:rPr lang="fr"/>
                        <a:t>Prioritizes following the plan and minimizing changes to the scope of the project</a:t>
                      </a:r>
                      <a:endParaRPr/>
                    </a:p>
                  </a:txBody>
                  <a:tcPr marT="91425" marB="91425" marR="91425" marL="91425"/>
                </a:tc>
              </a:tr>
              <a:tr h="381000">
                <a:tc>
                  <a:txBody>
                    <a:bodyPr/>
                    <a:lstStyle/>
                    <a:p>
                      <a:pPr indent="0" lvl="0" marL="0" rtl="0" algn="l">
                        <a:spcBef>
                          <a:spcPts val="0"/>
                        </a:spcBef>
                        <a:spcAft>
                          <a:spcPts val="0"/>
                        </a:spcAft>
                        <a:buNone/>
                      </a:pPr>
                      <a:r>
                        <a:rPr lang="fr"/>
                        <a:t>Involves continuous collaboration and communication with the customer</a:t>
                      </a:r>
                      <a:endParaRPr/>
                    </a:p>
                  </a:txBody>
                  <a:tcPr marT="91425" marB="91425" marR="91425" marL="91425"/>
                </a:tc>
                <a:tc>
                  <a:txBody>
                    <a:bodyPr/>
                    <a:lstStyle/>
                    <a:p>
                      <a:pPr indent="0" lvl="0" marL="0" rtl="0" algn="l">
                        <a:spcBef>
                          <a:spcPts val="0"/>
                        </a:spcBef>
                        <a:spcAft>
                          <a:spcPts val="0"/>
                        </a:spcAft>
                        <a:buNone/>
                      </a:pPr>
                      <a:r>
                        <a:rPr lang="fr"/>
                        <a:t>Involves less collaboration and communication with the customer</a:t>
                      </a:r>
                      <a:endParaRPr/>
                    </a:p>
                  </a:txBody>
                  <a:tcPr marT="91425" marB="91425" marR="91425" marL="91425"/>
                </a:tc>
              </a:tr>
              <a:tr h="381000">
                <a:tc>
                  <a:txBody>
                    <a:bodyPr/>
                    <a:lstStyle/>
                    <a:p>
                      <a:pPr indent="0" lvl="0" marL="0" rtl="0" algn="l">
                        <a:spcBef>
                          <a:spcPts val="0"/>
                        </a:spcBef>
                        <a:spcAft>
                          <a:spcPts val="0"/>
                        </a:spcAft>
                        <a:buNone/>
                      </a:pPr>
                      <a:r>
                        <a:rPr lang="fr"/>
                        <a:t>Allows for changes to the scope of the project</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3"/>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Waterfall strengths &amp; weaknesses</a:t>
            </a:r>
            <a:endParaRPr/>
          </a:p>
        </p:txBody>
      </p:sp>
      <p:graphicFrame>
        <p:nvGraphicFramePr>
          <p:cNvPr id="141" name="Google Shape;141;p23"/>
          <p:cNvGraphicFramePr/>
          <p:nvPr/>
        </p:nvGraphicFramePr>
        <p:xfrm>
          <a:off x="311675" y="1060625"/>
          <a:ext cx="3000000" cy="3000000"/>
        </p:xfrm>
        <a:graphic>
          <a:graphicData uri="http://schemas.openxmlformats.org/drawingml/2006/table">
            <a:tbl>
              <a:tblPr>
                <a:noFill/>
                <a:tableStyleId>{C91DC141-2D2F-4A6D-92C2-C7A59B6FAE75}</a:tableStyleId>
              </a:tblPr>
              <a:tblGrid>
                <a:gridCol w="4260300"/>
                <a:gridCol w="4260300"/>
              </a:tblGrid>
              <a:tr h="396200">
                <a:tc>
                  <a:txBody>
                    <a:bodyPr/>
                    <a:lstStyle/>
                    <a:p>
                      <a:pPr indent="0" lvl="0" marL="0" rtl="0" algn="l">
                        <a:spcBef>
                          <a:spcPts val="0"/>
                        </a:spcBef>
                        <a:spcAft>
                          <a:spcPts val="0"/>
                        </a:spcAft>
                        <a:buNone/>
                      </a:pPr>
                      <a:r>
                        <a:rPr lang="fr"/>
                        <a:t>Strengths</a:t>
                      </a:r>
                      <a:endParaRPr/>
                    </a:p>
                  </a:txBody>
                  <a:tcPr marT="91425" marB="91425" marR="91425" marL="91425">
                    <a:solidFill>
                      <a:srgbClr val="D9EAD3"/>
                    </a:solidFill>
                  </a:tcPr>
                </a:tc>
                <a:tc>
                  <a:txBody>
                    <a:bodyPr/>
                    <a:lstStyle/>
                    <a:p>
                      <a:pPr indent="0" lvl="0" marL="0" rtl="0" algn="l">
                        <a:spcBef>
                          <a:spcPts val="0"/>
                        </a:spcBef>
                        <a:spcAft>
                          <a:spcPts val="0"/>
                        </a:spcAft>
                        <a:buNone/>
                      </a:pPr>
                      <a:r>
                        <a:rPr lang="fr"/>
                        <a:t>Weaknesses</a:t>
                      </a:r>
                      <a:endParaRPr/>
                    </a:p>
                  </a:txBody>
                  <a:tcPr marT="91425" marB="91425" marR="91425" marL="91425">
                    <a:solidFill>
                      <a:srgbClr val="D9EAD3"/>
                    </a:solidFill>
                  </a:tcPr>
                </a:tc>
              </a:tr>
              <a:tr h="609575">
                <a:tc>
                  <a:txBody>
                    <a:bodyPr/>
                    <a:lstStyle/>
                    <a:p>
                      <a:pPr indent="0" lvl="0" marL="0" rtl="0" algn="l">
                        <a:spcBef>
                          <a:spcPts val="0"/>
                        </a:spcBef>
                        <a:spcAft>
                          <a:spcPts val="0"/>
                        </a:spcAft>
                        <a:buNone/>
                      </a:pPr>
                      <a:r>
                        <a:rPr lang="fr"/>
                        <a:t>Clearly defined roles and responsibilities</a:t>
                      </a:r>
                      <a:endParaRPr/>
                    </a:p>
                  </a:txBody>
                  <a:tcPr marT="91425" marB="91425" marR="91425" marL="91425"/>
                </a:tc>
                <a:tc>
                  <a:txBody>
                    <a:bodyPr/>
                    <a:lstStyle/>
                    <a:p>
                      <a:pPr indent="0" lvl="0" marL="0" rtl="0" algn="l">
                        <a:spcBef>
                          <a:spcPts val="0"/>
                        </a:spcBef>
                        <a:spcAft>
                          <a:spcPts val="0"/>
                        </a:spcAft>
                        <a:buNone/>
                      </a:pPr>
                      <a:r>
                        <a:rPr lang="fr"/>
                        <a:t>Inflexible and not well-suited for projects with changing requirements</a:t>
                      </a:r>
                      <a:endParaRPr/>
                    </a:p>
                  </a:txBody>
                  <a:tcPr marT="91425" marB="91425" marR="91425" marL="91425"/>
                </a:tc>
              </a:tr>
              <a:tr h="609575">
                <a:tc>
                  <a:txBody>
                    <a:bodyPr/>
                    <a:lstStyle/>
                    <a:p>
                      <a:pPr indent="0" lvl="0" marL="0" rtl="0" algn="l">
                        <a:spcBef>
                          <a:spcPts val="0"/>
                        </a:spcBef>
                        <a:spcAft>
                          <a:spcPts val="0"/>
                        </a:spcAft>
                        <a:buNone/>
                      </a:pPr>
                      <a:r>
                        <a:rPr lang="fr"/>
                        <a:t>Detailed planning process up front</a:t>
                      </a:r>
                      <a:endParaRPr/>
                    </a:p>
                  </a:txBody>
                  <a:tcPr marT="91425" marB="91425" marR="91425" marL="91425"/>
                </a:tc>
                <a:tc>
                  <a:txBody>
                    <a:bodyPr/>
                    <a:lstStyle/>
                    <a:p>
                      <a:pPr indent="0" lvl="0" marL="0" rtl="0" algn="l">
                        <a:spcBef>
                          <a:spcPts val="0"/>
                        </a:spcBef>
                        <a:spcAft>
                          <a:spcPts val="0"/>
                        </a:spcAft>
                        <a:buNone/>
                      </a:pPr>
                      <a:r>
                        <a:rPr lang="fr"/>
                        <a:t>Limited opportunities for customer collaboration and feedback</a:t>
                      </a:r>
                      <a:endParaRPr/>
                    </a:p>
                  </a:txBody>
                  <a:tcPr marT="91425" marB="91425" marR="91425" marL="91425"/>
                </a:tc>
              </a:tr>
              <a:tr h="609575">
                <a:tc>
                  <a:txBody>
                    <a:bodyPr/>
                    <a:lstStyle/>
                    <a:p>
                      <a:pPr indent="0" lvl="0" marL="0" rtl="0" algn="l">
                        <a:spcBef>
                          <a:spcPts val="0"/>
                        </a:spcBef>
                        <a:spcAft>
                          <a:spcPts val="0"/>
                        </a:spcAft>
                        <a:buNone/>
                      </a:pPr>
                      <a:r>
                        <a:rPr lang="fr"/>
                        <a:t>Easy to understand and communicate</a:t>
                      </a:r>
                      <a:endParaRPr/>
                    </a:p>
                  </a:txBody>
                  <a:tcPr marT="91425" marB="91425" marR="91425" marL="91425"/>
                </a:tc>
                <a:tc>
                  <a:txBody>
                    <a:bodyPr/>
                    <a:lstStyle/>
                    <a:p>
                      <a:pPr indent="0" lvl="0" marL="0" rtl="0" algn="l">
                        <a:spcBef>
                          <a:spcPts val="0"/>
                        </a:spcBef>
                        <a:spcAft>
                          <a:spcPts val="0"/>
                        </a:spcAft>
                        <a:buNone/>
                      </a:pPr>
                      <a:r>
                        <a:rPr lang="fr"/>
                        <a:t>Limited ability to adapt to changes in the project or the business environment</a:t>
                      </a:r>
                      <a:endParaRPr/>
                    </a:p>
                  </a:txBody>
                  <a:tcPr marT="91425" marB="91425" marR="91425" marL="91425"/>
                </a:tc>
              </a:tr>
              <a:tr h="822925">
                <a:tc>
                  <a:txBody>
                    <a:bodyPr/>
                    <a:lstStyle/>
                    <a:p>
                      <a:pPr indent="0" lvl="0" marL="0" rtl="0" algn="l">
                        <a:spcBef>
                          <a:spcPts val="0"/>
                        </a:spcBef>
                        <a:spcAft>
                          <a:spcPts val="0"/>
                        </a:spcAft>
                        <a:buNone/>
                      </a:pPr>
                      <a:r>
                        <a:rPr lang="fr"/>
                        <a:t>Well-suited for projects with a clear and well-defined scope and requirements that are unlikely to change significantly</a:t>
                      </a:r>
                      <a:endParaRPr/>
                    </a:p>
                  </a:txBody>
                  <a:tcPr marT="91425" marB="91425" marR="91425" marL="91425"/>
                </a:tc>
                <a:tc>
                  <a:txBody>
                    <a:bodyPr/>
                    <a:lstStyle/>
                    <a:p>
                      <a:pPr indent="0" lvl="0" marL="0" rtl="0" algn="l">
                        <a:spcBef>
                          <a:spcPts val="0"/>
                        </a:spcBef>
                        <a:spcAft>
                          <a:spcPts val="0"/>
                        </a:spcAft>
                        <a:buNone/>
                      </a:pPr>
                      <a:r>
                        <a:rPr lang="fr"/>
                        <a:t>Not well-suited for projects with high levels of uncertainty or risk, as there is little room for iteration or adaptation</a:t>
                      </a:r>
                      <a:endParaRPr/>
                    </a:p>
                  </a:txBody>
                  <a:tcPr marT="91425" marB="91425" marR="91425" marL="91425"/>
                </a:tc>
              </a:tr>
              <a:tr h="822925">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fr"/>
                        <a:t>Can be time-consuming and resource-intensive, as the planning process up front is thorough and detailed</a:t>
                      </a:r>
                      <a:endParaRPr/>
                    </a:p>
                  </a:txBody>
                  <a:tcPr marT="91425" marB="91425" marR="91425" marL="91425"/>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4"/>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Agile Methodologies </a:t>
            </a:r>
            <a:r>
              <a:rPr lang="fr"/>
              <a:t>Strengths</a:t>
            </a:r>
            <a:r>
              <a:rPr lang="fr"/>
              <a:t> &amp; Weaknesses</a:t>
            </a:r>
            <a:endParaRPr/>
          </a:p>
        </p:txBody>
      </p:sp>
      <p:graphicFrame>
        <p:nvGraphicFramePr>
          <p:cNvPr id="147" name="Google Shape;147;p24"/>
          <p:cNvGraphicFramePr/>
          <p:nvPr/>
        </p:nvGraphicFramePr>
        <p:xfrm>
          <a:off x="311700" y="1060625"/>
          <a:ext cx="3000000" cy="3000000"/>
        </p:xfrm>
        <a:graphic>
          <a:graphicData uri="http://schemas.openxmlformats.org/drawingml/2006/table">
            <a:tbl>
              <a:tblPr>
                <a:noFill/>
                <a:tableStyleId>{C91DC141-2D2F-4A6D-92C2-C7A59B6FAE75}</a:tableStyleId>
              </a:tblPr>
              <a:tblGrid>
                <a:gridCol w="4260300"/>
                <a:gridCol w="4260300"/>
              </a:tblGrid>
              <a:tr h="323825">
                <a:tc>
                  <a:txBody>
                    <a:bodyPr/>
                    <a:lstStyle/>
                    <a:p>
                      <a:pPr indent="0" lvl="0" marL="0" rtl="0" algn="l">
                        <a:spcBef>
                          <a:spcPts val="0"/>
                        </a:spcBef>
                        <a:spcAft>
                          <a:spcPts val="0"/>
                        </a:spcAft>
                        <a:buNone/>
                      </a:pPr>
                      <a:r>
                        <a:rPr lang="fr" sz="1100"/>
                        <a:t>Strengths</a:t>
                      </a:r>
                      <a:endParaRPr sz="1100"/>
                    </a:p>
                  </a:txBody>
                  <a:tcPr marT="91425" marB="91425" marR="91425" marL="91425">
                    <a:solidFill>
                      <a:srgbClr val="D9EAD3"/>
                    </a:solidFill>
                  </a:tcPr>
                </a:tc>
                <a:tc>
                  <a:txBody>
                    <a:bodyPr/>
                    <a:lstStyle/>
                    <a:p>
                      <a:pPr indent="0" lvl="0" marL="0" rtl="0" algn="l">
                        <a:spcBef>
                          <a:spcPts val="0"/>
                        </a:spcBef>
                        <a:spcAft>
                          <a:spcPts val="0"/>
                        </a:spcAft>
                        <a:buNone/>
                      </a:pPr>
                      <a:r>
                        <a:rPr lang="fr" sz="1100"/>
                        <a:t>Weaknesses</a:t>
                      </a:r>
                      <a:endParaRPr sz="1100"/>
                    </a:p>
                  </a:txBody>
                  <a:tcPr marT="91425" marB="91425" marR="91425" marL="91425">
                    <a:solidFill>
                      <a:srgbClr val="D9EAD3"/>
                    </a:solidFill>
                  </a:tcPr>
                </a:tc>
              </a:tr>
              <a:tr h="560475">
                <a:tc>
                  <a:txBody>
                    <a:bodyPr/>
                    <a:lstStyle/>
                    <a:p>
                      <a:pPr indent="0" lvl="0" marL="0" rtl="0" algn="l">
                        <a:spcBef>
                          <a:spcPts val="0"/>
                        </a:spcBef>
                        <a:spcAft>
                          <a:spcPts val="0"/>
                        </a:spcAft>
                        <a:buNone/>
                      </a:pPr>
                      <a:r>
                        <a:rPr lang="fr" sz="1100"/>
                        <a:t>Flexible and adaptable</a:t>
                      </a:r>
                      <a:endParaRPr sz="1100"/>
                    </a:p>
                  </a:txBody>
                  <a:tcPr marT="91425" marB="91425" marR="91425" marL="91425"/>
                </a:tc>
                <a:tc>
                  <a:txBody>
                    <a:bodyPr/>
                    <a:lstStyle/>
                    <a:p>
                      <a:pPr indent="0" lvl="0" marL="0" rtl="0" algn="l">
                        <a:spcBef>
                          <a:spcPts val="0"/>
                        </a:spcBef>
                        <a:spcAft>
                          <a:spcPts val="0"/>
                        </a:spcAft>
                        <a:buNone/>
                      </a:pPr>
                      <a:r>
                        <a:rPr lang="fr" sz="1100"/>
                        <a:t>Can be challenging for organizations that are not used to working in an agile way, as it requires a different approach to project management and a different set of skills and mindsets</a:t>
                      </a:r>
                      <a:endParaRPr sz="1100"/>
                    </a:p>
                  </a:txBody>
                  <a:tcPr marT="91425" marB="91425" marR="91425" marL="91425"/>
                </a:tc>
              </a:tr>
              <a:tr h="498200">
                <a:tc>
                  <a:txBody>
                    <a:bodyPr/>
                    <a:lstStyle/>
                    <a:p>
                      <a:pPr indent="0" lvl="0" marL="0" rtl="0" algn="l">
                        <a:spcBef>
                          <a:spcPts val="0"/>
                        </a:spcBef>
                        <a:spcAft>
                          <a:spcPts val="0"/>
                        </a:spcAft>
                        <a:buNone/>
                      </a:pPr>
                      <a:r>
                        <a:rPr lang="fr" sz="1100"/>
                        <a:t>Allows for changes to the scope of the project</a:t>
                      </a:r>
                      <a:endParaRPr sz="1100"/>
                    </a:p>
                  </a:txBody>
                  <a:tcPr marT="91425" marB="91425" marR="91425" marL="91425"/>
                </a:tc>
                <a:tc>
                  <a:txBody>
                    <a:bodyPr/>
                    <a:lstStyle/>
                    <a:p>
                      <a:pPr indent="0" lvl="0" marL="0" rtl="0" algn="l">
                        <a:spcBef>
                          <a:spcPts val="0"/>
                        </a:spcBef>
                        <a:spcAft>
                          <a:spcPts val="0"/>
                        </a:spcAft>
                        <a:buNone/>
                      </a:pPr>
                      <a:r>
                        <a:rPr lang="fr" sz="1100"/>
                        <a:t>May require more frequent communication and collaboration with the customer, which can be time-consuming</a:t>
                      </a:r>
                      <a:endParaRPr sz="1100"/>
                    </a:p>
                  </a:txBody>
                  <a:tcPr marT="91425" marB="91425" marR="91425" marL="91425"/>
                </a:tc>
              </a:tr>
              <a:tr h="498200">
                <a:tc>
                  <a:txBody>
                    <a:bodyPr/>
                    <a:lstStyle/>
                    <a:p>
                      <a:pPr indent="0" lvl="0" marL="0" rtl="0" algn="l">
                        <a:spcBef>
                          <a:spcPts val="0"/>
                        </a:spcBef>
                        <a:spcAft>
                          <a:spcPts val="0"/>
                        </a:spcAft>
                        <a:buNone/>
                      </a:pPr>
                      <a:r>
                        <a:rPr lang="fr" sz="1100"/>
                        <a:t>Prioritizes customer satisfaction and delivery of value</a:t>
                      </a:r>
                      <a:endParaRPr sz="1100"/>
                    </a:p>
                  </a:txBody>
                  <a:tcPr marT="91425" marB="91425" marR="91425" marL="91425"/>
                </a:tc>
                <a:tc>
                  <a:txBody>
                    <a:bodyPr/>
                    <a:lstStyle/>
                    <a:p>
                      <a:pPr indent="0" lvl="0" marL="0" rtl="0" algn="l">
                        <a:spcBef>
                          <a:spcPts val="0"/>
                        </a:spcBef>
                        <a:spcAft>
                          <a:spcPts val="0"/>
                        </a:spcAft>
                        <a:buNone/>
                      </a:pPr>
                      <a:r>
                        <a:rPr lang="fr" sz="1100"/>
                        <a:t>May require more frequent reassessment of priorities and goals, which can be challenging for some organizations</a:t>
                      </a:r>
                      <a:endParaRPr sz="1100"/>
                    </a:p>
                  </a:txBody>
                  <a:tcPr marT="91425" marB="91425" marR="91425" marL="91425"/>
                </a:tc>
              </a:tr>
              <a:tr h="498200">
                <a:tc>
                  <a:txBody>
                    <a:bodyPr/>
                    <a:lstStyle/>
                    <a:p>
                      <a:pPr indent="0" lvl="0" marL="0" rtl="0" algn="l">
                        <a:spcBef>
                          <a:spcPts val="0"/>
                        </a:spcBef>
                        <a:spcAft>
                          <a:spcPts val="0"/>
                        </a:spcAft>
                        <a:buNone/>
                      </a:pPr>
                      <a:r>
                        <a:rPr lang="fr" sz="1100"/>
                        <a:t>Involves continuous collaboration and communication with the customer</a:t>
                      </a:r>
                      <a:endParaRPr sz="1100"/>
                    </a:p>
                  </a:txBody>
                  <a:tcPr marT="91425" marB="91425" marR="91425" marL="91425"/>
                </a:tc>
                <a:tc>
                  <a:txBody>
                    <a:bodyPr/>
                    <a:lstStyle/>
                    <a:p>
                      <a:pPr indent="0" lvl="0" marL="0" rtl="0" algn="l">
                        <a:spcBef>
                          <a:spcPts val="0"/>
                        </a:spcBef>
                        <a:spcAft>
                          <a:spcPts val="0"/>
                        </a:spcAft>
                        <a:buNone/>
                      </a:pPr>
                      <a:r>
                        <a:rPr lang="fr" sz="1100"/>
                        <a:t>May not be well-suited for projects with a clear and well-defined scope and requirements that are unlikely to change significantly</a:t>
                      </a:r>
                      <a:endParaRPr sz="1100"/>
                    </a:p>
                  </a:txBody>
                  <a:tcPr marT="91425" marB="91425" marR="91425" marL="91425"/>
                </a:tc>
              </a:tr>
              <a:tr h="672575">
                <a:tc>
                  <a:txBody>
                    <a:bodyPr/>
                    <a:lstStyle/>
                    <a:p>
                      <a:pPr indent="0" lvl="0" marL="0" rtl="0" algn="l">
                        <a:spcBef>
                          <a:spcPts val="0"/>
                        </a:spcBef>
                        <a:spcAft>
                          <a:spcPts val="0"/>
                        </a:spcAft>
                        <a:buNone/>
                      </a:pPr>
                      <a:r>
                        <a:rPr lang="fr" sz="1100"/>
                        <a:t>Uses an iterative and incremental approach, which allows for iteration and adaptation</a:t>
                      </a:r>
                      <a:endParaRPr sz="1100"/>
                    </a:p>
                  </a:txBody>
                  <a:tcPr marT="91425" marB="91425" marR="91425" marL="91425"/>
                </a:tc>
                <a:tc>
                  <a:txBody>
                    <a:bodyPr/>
                    <a:lstStyle/>
                    <a:p>
                      <a:pPr indent="0" lvl="0" marL="0" rtl="0" algn="l">
                        <a:spcBef>
                          <a:spcPts val="0"/>
                        </a:spcBef>
                        <a:spcAft>
                          <a:spcPts val="0"/>
                        </a:spcAft>
                        <a:buNone/>
                      </a:pPr>
                      <a:r>
                        <a:t/>
                      </a:r>
                      <a:endParaRPr sz="1100"/>
                    </a:p>
                  </a:txBody>
                  <a:tcPr marT="91425" marB="91425" marR="91425" marL="91425"/>
                </a:tc>
              </a:tr>
              <a:tr h="672575">
                <a:tc>
                  <a:txBody>
                    <a:bodyPr/>
                    <a:lstStyle/>
                    <a:p>
                      <a:pPr indent="0" lvl="0" marL="0" rtl="0" algn="l">
                        <a:spcBef>
                          <a:spcPts val="0"/>
                        </a:spcBef>
                        <a:spcAft>
                          <a:spcPts val="0"/>
                        </a:spcAft>
                        <a:buNone/>
                      </a:pPr>
                      <a:r>
                        <a:rPr lang="fr" sz="1100"/>
                        <a:t>Well-suited for projects with high levels of uncertainty or risk, as it allows for rapid iteration and adaptation</a:t>
                      </a:r>
                      <a:endParaRPr sz="1100"/>
                    </a:p>
                  </a:txBody>
                  <a:tcPr marT="91425" marB="91425" marR="91425" marL="91425"/>
                </a:tc>
                <a:tc>
                  <a:txBody>
                    <a:bodyPr/>
                    <a:lstStyle/>
                    <a:p>
                      <a:pPr indent="0" lvl="0" marL="0" rtl="0" algn="l">
                        <a:spcBef>
                          <a:spcPts val="0"/>
                        </a:spcBef>
                        <a:spcAft>
                          <a:spcPts val="0"/>
                        </a:spcAft>
                        <a:buNone/>
                      </a:pPr>
                      <a:r>
                        <a:t/>
                      </a:r>
                      <a:endParaRPr sz="1100"/>
                    </a:p>
                  </a:txBody>
                  <a:tcPr marT="91425" marB="91425" marR="91425" marL="91425"/>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5"/>
          <p:cNvSpPr txBox="1"/>
          <p:nvPr>
            <p:ph type="title"/>
          </p:nvPr>
        </p:nvSpPr>
        <p:spPr>
          <a:xfrm>
            <a:off x="311700" y="2150850"/>
            <a:ext cx="8520600" cy="738900"/>
          </a:xfrm>
          <a:prstGeom prst="rect">
            <a:avLst/>
          </a:prstGeom>
        </p:spPr>
        <p:txBody>
          <a:bodyPr anchorCtr="0" anchor="ctr" bIns="91425" lIns="91425" spcFirstLastPara="1" rIns="91425" wrap="square" tIns="91425">
            <a:spAutoFit/>
          </a:bodyPr>
          <a:lstStyle/>
          <a:p>
            <a:pPr indent="0" lvl="0" marL="0" rtl="0" algn="ctr">
              <a:spcBef>
                <a:spcPts val="0"/>
              </a:spcBef>
              <a:spcAft>
                <a:spcPts val="0"/>
              </a:spcAft>
              <a:buNone/>
            </a:pPr>
            <a:r>
              <a:rPr lang="fr"/>
              <a:t>Scrum</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6"/>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Introduction to Scrum</a:t>
            </a:r>
            <a:endParaRPr/>
          </a:p>
        </p:txBody>
      </p:sp>
      <p:sp>
        <p:nvSpPr>
          <p:cNvPr id="158" name="Google Shape;158;p26"/>
          <p:cNvSpPr txBox="1"/>
          <p:nvPr>
            <p:ph idx="1" type="body"/>
          </p:nvPr>
        </p:nvSpPr>
        <p:spPr>
          <a:xfrm>
            <a:off x="311700" y="1152475"/>
            <a:ext cx="8520600" cy="2670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Framework : set of guidelines or a structure that helps to organize and guide the work of a particular system or process</a:t>
            </a:r>
            <a:endParaRPr/>
          </a:p>
          <a:p>
            <a:pPr indent="0" lvl="0" marL="0" rtl="0" algn="l">
              <a:spcBef>
                <a:spcPts val="1200"/>
              </a:spcBef>
              <a:spcAft>
                <a:spcPts val="0"/>
              </a:spcAft>
              <a:buNone/>
            </a:pPr>
            <a:r>
              <a:rPr lang="fr"/>
              <a:t>Defined in </a:t>
            </a:r>
            <a:r>
              <a:rPr lang="fr" u="sng">
                <a:solidFill>
                  <a:schemeClr val="hlink"/>
                </a:solidFill>
                <a:hlinkClick r:id="rId3"/>
              </a:rPr>
              <a:t>The Scrum Guide</a:t>
            </a:r>
            <a:r>
              <a:rPr lang="fr"/>
              <a:t> (</a:t>
            </a:r>
            <a:r>
              <a:rPr lang="fr" u="sng"/>
              <a:t>Download it and read it </a:t>
            </a:r>
            <a:r>
              <a:rPr lang="fr" u="sng"/>
              <a:t>thoroughly</a:t>
            </a:r>
            <a:r>
              <a:rPr lang="fr" u="sng"/>
              <a:t> !</a:t>
            </a:r>
            <a:r>
              <a:rPr lang="fr"/>
              <a:t>) </a:t>
            </a:r>
            <a:endParaRPr/>
          </a:p>
          <a:p>
            <a:pPr indent="0" lvl="0" marL="0" rtl="0" algn="l">
              <a:spcBef>
                <a:spcPts val="1200"/>
              </a:spcBef>
              <a:spcAft>
                <a:spcPts val="0"/>
              </a:spcAft>
              <a:buNone/>
            </a:pPr>
            <a:r>
              <a:rPr lang="fr"/>
              <a:t>Better way of team collaboration for solving complex problems</a:t>
            </a:r>
            <a:endParaRPr/>
          </a:p>
          <a:p>
            <a:pPr indent="0" lvl="0" marL="0" rtl="0" algn="l">
              <a:spcBef>
                <a:spcPts val="1200"/>
              </a:spcBef>
              <a:spcAft>
                <a:spcPts val="0"/>
              </a:spcAft>
              <a:buNone/>
            </a:pPr>
            <a:r>
              <a:rPr lang="fr"/>
              <a:t>Scrum is defined by its </a:t>
            </a:r>
            <a:r>
              <a:rPr b="1" lang="fr"/>
              <a:t>Roles</a:t>
            </a:r>
            <a:r>
              <a:rPr lang="fr"/>
              <a:t>, </a:t>
            </a:r>
            <a:r>
              <a:rPr b="1" lang="fr"/>
              <a:t>Events</a:t>
            </a:r>
            <a:r>
              <a:rPr lang="fr"/>
              <a:t> and </a:t>
            </a:r>
            <a:r>
              <a:rPr b="1" lang="fr"/>
              <a:t>Artifacts</a:t>
            </a:r>
            <a:endParaRPr b="1"/>
          </a:p>
          <a:p>
            <a:pPr indent="0" lvl="0" marL="0" rtl="0" algn="l">
              <a:spcBef>
                <a:spcPts val="1200"/>
              </a:spcBef>
              <a:spcAft>
                <a:spcPts val="1200"/>
              </a:spcAft>
              <a:buNone/>
            </a:pPr>
            <a:r>
              <a:rPr lang="fr"/>
              <a:t>As well as its three </a:t>
            </a:r>
            <a:r>
              <a:rPr b="1" lang="fr"/>
              <a:t>pillars </a:t>
            </a:r>
            <a:r>
              <a:rPr lang="fr"/>
              <a:t>and five </a:t>
            </a:r>
            <a:r>
              <a:rPr b="1" lang="fr"/>
              <a:t>values</a:t>
            </a:r>
            <a:endParaRPr b="1"/>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7"/>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Pillars &amp; Values</a:t>
            </a:r>
            <a:endParaRPr/>
          </a:p>
        </p:txBody>
      </p:sp>
      <p:pic>
        <p:nvPicPr>
          <p:cNvPr id="164" name="Google Shape;164;p27"/>
          <p:cNvPicPr preferRelativeResize="0"/>
          <p:nvPr/>
        </p:nvPicPr>
        <p:blipFill>
          <a:blip r:embed="rId3">
            <a:alphaModFix/>
          </a:blip>
          <a:stretch>
            <a:fillRect/>
          </a:stretch>
        </p:blipFill>
        <p:spPr>
          <a:xfrm>
            <a:off x="1160925" y="1060625"/>
            <a:ext cx="6822139" cy="3224527"/>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8"/>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Scrum Roles</a:t>
            </a:r>
            <a:endParaRPr/>
          </a:p>
        </p:txBody>
      </p:sp>
      <p:sp>
        <p:nvSpPr>
          <p:cNvPr id="170" name="Google Shape;170;p28"/>
          <p:cNvSpPr txBox="1"/>
          <p:nvPr>
            <p:ph idx="1" type="body"/>
          </p:nvPr>
        </p:nvSpPr>
        <p:spPr>
          <a:xfrm>
            <a:off x="699300" y="1394310"/>
            <a:ext cx="2154900" cy="461700"/>
          </a:xfrm>
          <a:prstGeom prst="rect">
            <a:avLst/>
          </a:prstGeom>
        </p:spPr>
        <p:txBody>
          <a:bodyPr anchorCtr="0" anchor="t" bIns="91425" lIns="91425" spcFirstLastPara="1" rIns="91425" wrap="square" tIns="91425">
            <a:spAutoFit/>
          </a:bodyPr>
          <a:lstStyle/>
          <a:p>
            <a:pPr indent="0" lvl="0" marL="0" rtl="0" algn="ctr">
              <a:spcBef>
                <a:spcPts val="0"/>
              </a:spcBef>
              <a:spcAft>
                <a:spcPts val="1200"/>
              </a:spcAft>
              <a:buNone/>
            </a:pPr>
            <a:r>
              <a:rPr lang="fr"/>
              <a:t>Scrum Master</a:t>
            </a:r>
            <a:endParaRPr/>
          </a:p>
        </p:txBody>
      </p:sp>
      <p:pic>
        <p:nvPicPr>
          <p:cNvPr id="171" name="Google Shape;171;p28"/>
          <p:cNvPicPr preferRelativeResize="0"/>
          <p:nvPr/>
        </p:nvPicPr>
        <p:blipFill>
          <a:blip r:embed="rId3">
            <a:alphaModFix/>
          </a:blip>
          <a:stretch>
            <a:fillRect/>
          </a:stretch>
        </p:blipFill>
        <p:spPr>
          <a:xfrm>
            <a:off x="1545902" y="1050848"/>
            <a:ext cx="461700" cy="461700"/>
          </a:xfrm>
          <a:prstGeom prst="rect">
            <a:avLst/>
          </a:prstGeom>
          <a:noFill/>
          <a:ln>
            <a:noFill/>
          </a:ln>
        </p:spPr>
      </p:pic>
      <p:pic>
        <p:nvPicPr>
          <p:cNvPr id="172" name="Google Shape;172;p28"/>
          <p:cNvPicPr preferRelativeResize="0"/>
          <p:nvPr/>
        </p:nvPicPr>
        <p:blipFill>
          <a:blip r:embed="rId4">
            <a:alphaModFix/>
          </a:blip>
          <a:stretch>
            <a:fillRect/>
          </a:stretch>
        </p:blipFill>
        <p:spPr>
          <a:xfrm>
            <a:off x="4341144" y="997998"/>
            <a:ext cx="461716" cy="461700"/>
          </a:xfrm>
          <a:prstGeom prst="rect">
            <a:avLst/>
          </a:prstGeom>
          <a:noFill/>
          <a:ln>
            <a:noFill/>
          </a:ln>
        </p:spPr>
      </p:pic>
      <p:pic>
        <p:nvPicPr>
          <p:cNvPr id="173" name="Google Shape;173;p28"/>
          <p:cNvPicPr preferRelativeResize="0"/>
          <p:nvPr/>
        </p:nvPicPr>
        <p:blipFill>
          <a:blip r:embed="rId5">
            <a:alphaModFix/>
          </a:blip>
          <a:stretch>
            <a:fillRect/>
          </a:stretch>
        </p:blipFill>
        <p:spPr>
          <a:xfrm>
            <a:off x="7048302" y="998002"/>
            <a:ext cx="461700" cy="461700"/>
          </a:xfrm>
          <a:prstGeom prst="rect">
            <a:avLst/>
          </a:prstGeom>
          <a:noFill/>
          <a:ln>
            <a:noFill/>
          </a:ln>
        </p:spPr>
      </p:pic>
      <p:sp>
        <p:nvSpPr>
          <p:cNvPr id="174" name="Google Shape;174;p28"/>
          <p:cNvSpPr txBox="1"/>
          <p:nvPr>
            <p:ph idx="1" type="body"/>
          </p:nvPr>
        </p:nvSpPr>
        <p:spPr>
          <a:xfrm>
            <a:off x="3412450" y="1394300"/>
            <a:ext cx="2154900" cy="461700"/>
          </a:xfrm>
          <a:prstGeom prst="rect">
            <a:avLst/>
          </a:prstGeom>
        </p:spPr>
        <p:txBody>
          <a:bodyPr anchorCtr="0" anchor="t" bIns="91425" lIns="91425" spcFirstLastPara="1" rIns="91425" wrap="square" tIns="91425">
            <a:spAutoFit/>
          </a:bodyPr>
          <a:lstStyle/>
          <a:p>
            <a:pPr indent="0" lvl="0" marL="0" rtl="0" algn="ctr">
              <a:spcBef>
                <a:spcPts val="0"/>
              </a:spcBef>
              <a:spcAft>
                <a:spcPts val="1200"/>
              </a:spcAft>
              <a:buNone/>
            </a:pPr>
            <a:r>
              <a:rPr lang="fr"/>
              <a:t>Product Owner</a:t>
            </a:r>
            <a:endParaRPr/>
          </a:p>
        </p:txBody>
      </p:sp>
      <p:sp>
        <p:nvSpPr>
          <p:cNvPr id="175" name="Google Shape;175;p28"/>
          <p:cNvSpPr txBox="1"/>
          <p:nvPr>
            <p:ph idx="1" type="body"/>
          </p:nvPr>
        </p:nvSpPr>
        <p:spPr>
          <a:xfrm>
            <a:off x="6201700" y="1380088"/>
            <a:ext cx="2154900" cy="461700"/>
          </a:xfrm>
          <a:prstGeom prst="rect">
            <a:avLst/>
          </a:prstGeom>
        </p:spPr>
        <p:txBody>
          <a:bodyPr anchorCtr="0" anchor="t" bIns="91425" lIns="91425" spcFirstLastPara="1" rIns="91425" wrap="square" tIns="91425">
            <a:spAutoFit/>
          </a:bodyPr>
          <a:lstStyle/>
          <a:p>
            <a:pPr indent="0" lvl="0" marL="0" rtl="0" algn="ctr">
              <a:spcBef>
                <a:spcPts val="0"/>
              </a:spcBef>
              <a:spcAft>
                <a:spcPts val="1200"/>
              </a:spcAft>
              <a:buNone/>
            </a:pPr>
            <a:r>
              <a:rPr lang="fr"/>
              <a:t>Dev Team</a:t>
            </a:r>
            <a:endParaRPr/>
          </a:p>
        </p:txBody>
      </p:sp>
      <p:graphicFrame>
        <p:nvGraphicFramePr>
          <p:cNvPr id="176" name="Google Shape;176;p28"/>
          <p:cNvGraphicFramePr/>
          <p:nvPr/>
        </p:nvGraphicFramePr>
        <p:xfrm>
          <a:off x="-25" y="1826025"/>
          <a:ext cx="3000000" cy="3000000"/>
        </p:xfrm>
        <a:graphic>
          <a:graphicData uri="http://schemas.openxmlformats.org/drawingml/2006/table">
            <a:tbl>
              <a:tblPr>
                <a:noFill/>
                <a:tableStyleId>{C91DC141-2D2F-4A6D-92C2-C7A59B6FAE75}</a:tableStyleId>
              </a:tblPr>
              <a:tblGrid>
                <a:gridCol w="2991150"/>
                <a:gridCol w="2991150"/>
                <a:gridCol w="2991150"/>
              </a:tblGrid>
              <a:tr h="527750">
                <a:tc>
                  <a:txBody>
                    <a:bodyPr/>
                    <a:lstStyle/>
                    <a:p>
                      <a:pPr indent="0" lvl="0" marL="0" rtl="0" algn="l">
                        <a:spcBef>
                          <a:spcPts val="0"/>
                        </a:spcBef>
                        <a:spcAft>
                          <a:spcPts val="0"/>
                        </a:spcAft>
                        <a:buNone/>
                      </a:pPr>
                      <a:r>
                        <a:rPr lang="fr" sz="1200"/>
                        <a:t>Facilitates the Scrum process</a:t>
                      </a:r>
                      <a:endParaRPr sz="1200"/>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fr" sz="1200"/>
                        <a:t>Represents the interests of stakeholders</a:t>
                      </a:r>
                      <a:endParaRPr sz="1200"/>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fr" sz="1200"/>
                        <a:t>Delivers working software at the end of each sprint</a:t>
                      </a:r>
                      <a:endParaRPr sz="1200"/>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527750">
                <a:tc>
                  <a:txBody>
                    <a:bodyPr/>
                    <a:lstStyle/>
                    <a:p>
                      <a:pPr indent="0" lvl="0" marL="0" rtl="0" algn="l">
                        <a:spcBef>
                          <a:spcPts val="0"/>
                        </a:spcBef>
                        <a:spcAft>
                          <a:spcPts val="0"/>
                        </a:spcAft>
                        <a:buNone/>
                      </a:pPr>
                      <a:r>
                        <a:rPr lang="fr" sz="1200"/>
                        <a:t>Ensures that the Scrum process is being followed correctly</a:t>
                      </a:r>
                      <a:endParaRPr sz="1200"/>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fr" sz="1200"/>
                        <a:t>Defines the goals and priorities for the project</a:t>
                      </a:r>
                      <a:endParaRPr sz="1200"/>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fr" sz="1200"/>
                        <a:t>Self-organizing and self-managing</a:t>
                      </a:r>
                      <a:endParaRPr sz="1200"/>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692100">
                <a:tc>
                  <a:txBody>
                    <a:bodyPr/>
                    <a:lstStyle/>
                    <a:p>
                      <a:pPr indent="0" lvl="0" marL="0" rtl="0" algn="l">
                        <a:spcBef>
                          <a:spcPts val="0"/>
                        </a:spcBef>
                        <a:spcAft>
                          <a:spcPts val="0"/>
                        </a:spcAft>
                        <a:buNone/>
                      </a:pPr>
                      <a:r>
                        <a:rPr lang="fr" sz="1200"/>
                        <a:t>Helps the team stay focused and on track</a:t>
                      </a:r>
                      <a:endParaRPr sz="1200"/>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fr" sz="1200"/>
                        <a:t>Creates and maintains the product backlog</a:t>
                      </a:r>
                      <a:endParaRPr sz="1200"/>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fr" sz="1200"/>
                        <a:t>Made up of cross-functional members with the skills and expertise needed to complete the work</a:t>
                      </a:r>
                      <a:endParaRPr sz="1200"/>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712475">
                <a:tc>
                  <a:txBody>
                    <a:bodyPr/>
                    <a:lstStyle/>
                    <a:p>
                      <a:pPr indent="0" lvl="0" marL="0" rtl="0" algn="l">
                        <a:spcBef>
                          <a:spcPts val="0"/>
                        </a:spcBef>
                        <a:spcAft>
                          <a:spcPts val="0"/>
                        </a:spcAft>
                        <a:buNone/>
                      </a:pPr>
                      <a:r>
                        <a:rPr lang="fr" sz="1200"/>
                        <a:t>Removes obstacles that may be preventing the team from making progress</a:t>
                      </a:r>
                      <a:endParaRPr sz="1200"/>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fr" sz="1200"/>
                        <a:t>Communicates the vision and goals of the project to the team</a:t>
                      </a:r>
                      <a:endParaRPr sz="1200"/>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fr" sz="1200"/>
                        <a:t>Responsible for completing all of the tasks required to deliver a working product</a:t>
                      </a:r>
                      <a:endParaRPr sz="1200"/>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712475">
                <a:tc>
                  <a:txBody>
                    <a:bodyPr/>
                    <a:lstStyle/>
                    <a:p>
                      <a:pPr indent="0" lvl="0" marL="0" rtl="0" algn="l">
                        <a:spcBef>
                          <a:spcPts val="0"/>
                        </a:spcBef>
                        <a:spcAft>
                          <a:spcPts val="0"/>
                        </a:spcAft>
                        <a:buNone/>
                      </a:pPr>
                      <a:r>
                        <a:rPr lang="fr" sz="1200"/>
                        <a:t>Ensures that the team is following the values and principles of Scrum</a:t>
                      </a:r>
                      <a:endParaRPr sz="1200"/>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fr" sz="1200"/>
                        <a:t>Ensures that the team is working on the most valuable items</a:t>
                      </a:r>
                      <a:endParaRPr sz="1200"/>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200"/>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9"/>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Scrum Ceremonies</a:t>
            </a:r>
            <a:endParaRPr/>
          </a:p>
        </p:txBody>
      </p:sp>
      <p:pic>
        <p:nvPicPr>
          <p:cNvPr id="182" name="Google Shape;182;p29"/>
          <p:cNvPicPr preferRelativeResize="0"/>
          <p:nvPr/>
        </p:nvPicPr>
        <p:blipFill>
          <a:blip r:embed="rId3">
            <a:alphaModFix/>
          </a:blip>
          <a:stretch>
            <a:fillRect/>
          </a:stretch>
        </p:blipFill>
        <p:spPr>
          <a:xfrm>
            <a:off x="607538" y="1781875"/>
            <a:ext cx="1337475" cy="1337475"/>
          </a:xfrm>
          <a:prstGeom prst="rect">
            <a:avLst/>
          </a:prstGeom>
          <a:noFill/>
          <a:ln>
            <a:noFill/>
          </a:ln>
        </p:spPr>
      </p:pic>
      <p:pic>
        <p:nvPicPr>
          <p:cNvPr id="183" name="Google Shape;183;p29"/>
          <p:cNvPicPr preferRelativeResize="0"/>
          <p:nvPr/>
        </p:nvPicPr>
        <p:blipFill>
          <a:blip r:embed="rId4">
            <a:alphaModFix/>
          </a:blip>
          <a:stretch>
            <a:fillRect/>
          </a:stretch>
        </p:blipFill>
        <p:spPr>
          <a:xfrm>
            <a:off x="2804688" y="1781875"/>
            <a:ext cx="1337475" cy="1337475"/>
          </a:xfrm>
          <a:prstGeom prst="rect">
            <a:avLst/>
          </a:prstGeom>
          <a:noFill/>
          <a:ln>
            <a:noFill/>
          </a:ln>
        </p:spPr>
      </p:pic>
      <p:pic>
        <p:nvPicPr>
          <p:cNvPr id="184" name="Google Shape;184;p29"/>
          <p:cNvPicPr preferRelativeResize="0"/>
          <p:nvPr/>
        </p:nvPicPr>
        <p:blipFill>
          <a:blip r:embed="rId5">
            <a:alphaModFix/>
          </a:blip>
          <a:stretch>
            <a:fillRect/>
          </a:stretch>
        </p:blipFill>
        <p:spPr>
          <a:xfrm>
            <a:off x="5001838" y="1781875"/>
            <a:ext cx="1337475" cy="1337475"/>
          </a:xfrm>
          <a:prstGeom prst="rect">
            <a:avLst/>
          </a:prstGeom>
          <a:noFill/>
          <a:ln>
            <a:noFill/>
          </a:ln>
        </p:spPr>
      </p:pic>
      <p:pic>
        <p:nvPicPr>
          <p:cNvPr id="185" name="Google Shape;185;p29"/>
          <p:cNvPicPr preferRelativeResize="0"/>
          <p:nvPr/>
        </p:nvPicPr>
        <p:blipFill>
          <a:blip r:embed="rId6">
            <a:alphaModFix/>
          </a:blip>
          <a:stretch>
            <a:fillRect/>
          </a:stretch>
        </p:blipFill>
        <p:spPr>
          <a:xfrm>
            <a:off x="7198987" y="1781875"/>
            <a:ext cx="1337475" cy="1337475"/>
          </a:xfrm>
          <a:prstGeom prst="rect">
            <a:avLst/>
          </a:prstGeom>
          <a:noFill/>
          <a:ln>
            <a:noFill/>
          </a:ln>
        </p:spPr>
      </p:pic>
      <p:sp>
        <p:nvSpPr>
          <p:cNvPr id="186" name="Google Shape;186;p29"/>
          <p:cNvSpPr txBox="1"/>
          <p:nvPr/>
        </p:nvSpPr>
        <p:spPr>
          <a:xfrm>
            <a:off x="540525" y="1381675"/>
            <a:ext cx="1471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fr"/>
              <a:t>Sprint Planning</a:t>
            </a:r>
            <a:endParaRPr/>
          </a:p>
        </p:txBody>
      </p:sp>
      <p:sp>
        <p:nvSpPr>
          <p:cNvPr id="187" name="Google Shape;187;p29"/>
          <p:cNvSpPr txBox="1"/>
          <p:nvPr/>
        </p:nvSpPr>
        <p:spPr>
          <a:xfrm>
            <a:off x="2737675" y="3119350"/>
            <a:ext cx="1471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fr"/>
              <a:t>Daily Scrum</a:t>
            </a:r>
            <a:endParaRPr/>
          </a:p>
        </p:txBody>
      </p:sp>
      <p:sp>
        <p:nvSpPr>
          <p:cNvPr id="188" name="Google Shape;188;p29"/>
          <p:cNvSpPr txBox="1"/>
          <p:nvPr/>
        </p:nvSpPr>
        <p:spPr>
          <a:xfrm>
            <a:off x="4934825" y="1381675"/>
            <a:ext cx="1471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fr"/>
              <a:t>Sprint Review</a:t>
            </a:r>
            <a:endParaRPr/>
          </a:p>
        </p:txBody>
      </p:sp>
      <p:sp>
        <p:nvSpPr>
          <p:cNvPr id="189" name="Google Shape;189;p29"/>
          <p:cNvSpPr txBox="1"/>
          <p:nvPr/>
        </p:nvSpPr>
        <p:spPr>
          <a:xfrm>
            <a:off x="7064950" y="3119350"/>
            <a:ext cx="14715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fr"/>
              <a:t>Sprint Retrospective</a:t>
            </a:r>
            <a:endParaRPr/>
          </a:p>
        </p:txBody>
      </p:sp>
      <p:sp>
        <p:nvSpPr>
          <p:cNvPr id="190" name="Google Shape;190;p29"/>
          <p:cNvSpPr/>
          <p:nvPr/>
        </p:nvSpPr>
        <p:spPr>
          <a:xfrm>
            <a:off x="311700" y="3392450"/>
            <a:ext cx="1638900" cy="510900"/>
          </a:xfrm>
          <a:prstGeom prst="wedgeRoundRectCallout">
            <a:avLst>
              <a:gd fmla="val 25046" name="adj1"/>
              <a:gd fmla="val -91383"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fr"/>
              <a:t>What </a:t>
            </a:r>
            <a:r>
              <a:rPr b="1" lang="fr"/>
              <a:t>will</a:t>
            </a:r>
            <a:r>
              <a:rPr lang="fr"/>
              <a:t> we do?</a:t>
            </a:r>
            <a:endParaRPr/>
          </a:p>
        </p:txBody>
      </p:sp>
      <p:sp>
        <p:nvSpPr>
          <p:cNvPr id="191" name="Google Shape;191;p29"/>
          <p:cNvSpPr/>
          <p:nvPr/>
        </p:nvSpPr>
        <p:spPr>
          <a:xfrm>
            <a:off x="4700400" y="3392450"/>
            <a:ext cx="1638900" cy="510900"/>
          </a:xfrm>
          <a:prstGeom prst="wedgeRoundRectCallout">
            <a:avLst>
              <a:gd fmla="val 25046" name="adj1"/>
              <a:gd fmla="val -91383"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fr"/>
              <a:t>What </a:t>
            </a:r>
            <a:r>
              <a:rPr b="1" lang="fr"/>
              <a:t>did</a:t>
            </a:r>
            <a:r>
              <a:rPr lang="fr"/>
              <a:t> we do?</a:t>
            </a:r>
            <a:endParaRPr/>
          </a:p>
        </p:txBody>
      </p:sp>
      <p:sp>
        <p:nvSpPr>
          <p:cNvPr id="192" name="Google Shape;192;p29"/>
          <p:cNvSpPr/>
          <p:nvPr/>
        </p:nvSpPr>
        <p:spPr>
          <a:xfrm>
            <a:off x="2558425" y="1131125"/>
            <a:ext cx="1830000" cy="510900"/>
          </a:xfrm>
          <a:prstGeom prst="wedgeRoundRectCallout">
            <a:avLst>
              <a:gd fmla="val 22417" name="adj1"/>
              <a:gd fmla="val 92592"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fr"/>
              <a:t>What are we </a:t>
            </a:r>
            <a:r>
              <a:rPr b="1" lang="fr"/>
              <a:t>doing</a:t>
            </a:r>
            <a:r>
              <a:rPr lang="fr"/>
              <a:t>?</a:t>
            </a:r>
            <a:endParaRPr/>
          </a:p>
        </p:txBody>
      </p:sp>
      <p:sp>
        <p:nvSpPr>
          <p:cNvPr id="193" name="Google Shape;193;p29"/>
          <p:cNvSpPr/>
          <p:nvPr/>
        </p:nvSpPr>
        <p:spPr>
          <a:xfrm>
            <a:off x="6980600" y="1131125"/>
            <a:ext cx="1638900" cy="510900"/>
          </a:xfrm>
          <a:prstGeom prst="wedgeRoundRectCallout">
            <a:avLst>
              <a:gd fmla="val 22417" name="adj1"/>
              <a:gd fmla="val 92592"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fr"/>
              <a:t>How</a:t>
            </a:r>
            <a:r>
              <a:rPr lang="fr"/>
              <a:t> did we do ?</a:t>
            </a:r>
            <a:endParaRPr/>
          </a:p>
        </p:txBody>
      </p:sp>
      <p:sp>
        <p:nvSpPr>
          <p:cNvPr id="194" name="Google Shape;194;p29"/>
          <p:cNvSpPr/>
          <p:nvPr/>
        </p:nvSpPr>
        <p:spPr>
          <a:xfrm>
            <a:off x="414000" y="4176450"/>
            <a:ext cx="8316000" cy="400200"/>
          </a:xfrm>
          <a:prstGeom prst="homePlate">
            <a:avLst>
              <a:gd fmla="val 50000" name="adj"/>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t>SPRINT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0"/>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Research time ! (20’)</a:t>
            </a:r>
            <a:endParaRPr/>
          </a:p>
        </p:txBody>
      </p:sp>
      <p:sp>
        <p:nvSpPr>
          <p:cNvPr id="200" name="Google Shape;200;p30"/>
          <p:cNvSpPr txBox="1"/>
          <p:nvPr>
            <p:ph idx="1" type="body"/>
          </p:nvPr>
        </p:nvSpPr>
        <p:spPr>
          <a:xfrm>
            <a:off x="122225" y="1304875"/>
            <a:ext cx="8881500" cy="2055000"/>
          </a:xfrm>
          <a:prstGeom prst="rect">
            <a:avLst/>
          </a:prstGeom>
        </p:spPr>
        <p:txBody>
          <a:bodyPr anchorCtr="0" anchor="t" bIns="91425" lIns="91425" spcFirstLastPara="1" rIns="91425" wrap="square" tIns="91425">
            <a:spAutoFit/>
          </a:bodyPr>
          <a:lstStyle/>
          <a:p>
            <a:pPr indent="-342900" lvl="0" marL="457200" rtl="0" algn="l">
              <a:spcBef>
                <a:spcPts val="0"/>
              </a:spcBef>
              <a:spcAft>
                <a:spcPts val="0"/>
              </a:spcAft>
              <a:buSzPts val="1800"/>
              <a:buAutoNum type="arabicPeriod"/>
            </a:pPr>
            <a:r>
              <a:rPr lang="fr"/>
              <a:t>How long should a Sprint last ? </a:t>
            </a:r>
            <a:endParaRPr/>
          </a:p>
          <a:p>
            <a:pPr indent="-342900" lvl="0" marL="457200" rtl="0" algn="l">
              <a:spcBef>
                <a:spcPts val="0"/>
              </a:spcBef>
              <a:spcAft>
                <a:spcPts val="0"/>
              </a:spcAft>
              <a:buSzPts val="1800"/>
              <a:buAutoNum type="arabicPeriod"/>
            </a:pPr>
            <a:r>
              <a:rPr lang="fr"/>
              <a:t>Who should be present during each of these ceremonies ?</a:t>
            </a:r>
            <a:endParaRPr/>
          </a:p>
          <a:p>
            <a:pPr indent="-342900" lvl="0" marL="457200" rtl="0" algn="l">
              <a:spcBef>
                <a:spcPts val="0"/>
              </a:spcBef>
              <a:spcAft>
                <a:spcPts val="0"/>
              </a:spcAft>
              <a:buSzPts val="1800"/>
              <a:buAutoNum type="arabicPeriod"/>
            </a:pPr>
            <a:r>
              <a:rPr lang="fr"/>
              <a:t>Who should lead each ceremony?</a:t>
            </a:r>
            <a:endParaRPr/>
          </a:p>
          <a:p>
            <a:pPr indent="-342900" lvl="0" marL="457200" rtl="0" algn="l">
              <a:spcBef>
                <a:spcPts val="0"/>
              </a:spcBef>
              <a:spcAft>
                <a:spcPts val="0"/>
              </a:spcAft>
              <a:buSzPts val="1800"/>
              <a:buAutoNum type="arabicPeriod"/>
            </a:pPr>
            <a:r>
              <a:rPr lang="fr"/>
              <a:t>What happens if we run out of time during a ceremony ?</a:t>
            </a:r>
            <a:endParaRPr/>
          </a:p>
          <a:p>
            <a:pPr indent="-342900" lvl="0" marL="457200" rtl="0" algn="l">
              <a:spcBef>
                <a:spcPts val="0"/>
              </a:spcBef>
              <a:spcAft>
                <a:spcPts val="0"/>
              </a:spcAft>
              <a:buSzPts val="1800"/>
              <a:buAutoNum type="arabicPeriod"/>
            </a:pPr>
            <a:r>
              <a:rPr lang="fr"/>
              <a:t>What are good ways to run a Sprint Planning ?</a:t>
            </a:r>
            <a:endParaRPr/>
          </a:p>
          <a:p>
            <a:pPr indent="-342900" lvl="0" marL="457200" rtl="0" algn="l">
              <a:spcBef>
                <a:spcPts val="0"/>
              </a:spcBef>
              <a:spcAft>
                <a:spcPts val="0"/>
              </a:spcAft>
              <a:buSzPts val="1800"/>
              <a:buAutoNum type="arabicPeriod"/>
            </a:pPr>
            <a:r>
              <a:rPr lang="fr"/>
              <a:t>What are the key differences between Sprint Review and Sprint Retrospective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1"/>
          <p:cNvSpPr/>
          <p:nvPr/>
        </p:nvSpPr>
        <p:spPr>
          <a:xfrm>
            <a:off x="61675" y="3903250"/>
            <a:ext cx="9064800" cy="844800"/>
          </a:xfrm>
          <a:prstGeom prst="rect">
            <a:avLst/>
          </a:prstGeom>
          <a:solidFill>
            <a:schemeClr val="lt1"/>
          </a:solidFill>
          <a:ln cap="flat" cmpd="sng" w="9525">
            <a:solidFill>
              <a:schemeClr val="dk2"/>
            </a:solidFill>
            <a:prstDash val="solid"/>
            <a:round/>
            <a:headEnd len="sm" w="sm" type="none"/>
            <a:tailEnd len="sm" w="sm" type="none"/>
          </a:ln>
        </p:spPr>
        <p:txBody>
          <a:bodyPr anchorCtr="0" anchor="b" bIns="91425" lIns="91425" spcFirstLastPara="1" rIns="91425" wrap="square" tIns="91425">
            <a:noAutofit/>
          </a:bodyPr>
          <a:lstStyle/>
          <a:p>
            <a:pPr indent="0" lvl="0" marL="0" rtl="0" algn="ctr">
              <a:spcBef>
                <a:spcPts val="0"/>
              </a:spcBef>
              <a:spcAft>
                <a:spcPts val="0"/>
              </a:spcAft>
              <a:buNone/>
            </a:pPr>
            <a:r>
              <a:rPr lang="fr"/>
              <a:t>Commitments</a:t>
            </a:r>
            <a:endParaRPr/>
          </a:p>
        </p:txBody>
      </p:sp>
      <p:sp>
        <p:nvSpPr>
          <p:cNvPr id="206" name="Google Shape;206;p31"/>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Scrum Artifacts</a:t>
            </a:r>
            <a:endParaRPr/>
          </a:p>
        </p:txBody>
      </p:sp>
      <p:sp>
        <p:nvSpPr>
          <p:cNvPr id="207" name="Google Shape;207;p31"/>
          <p:cNvSpPr txBox="1"/>
          <p:nvPr>
            <p:ph idx="1" type="body"/>
          </p:nvPr>
        </p:nvSpPr>
        <p:spPr>
          <a:xfrm>
            <a:off x="3632463" y="1781000"/>
            <a:ext cx="1934700" cy="461700"/>
          </a:xfrm>
          <a:prstGeom prst="rect">
            <a:avLst/>
          </a:prstGeom>
        </p:spPr>
        <p:txBody>
          <a:bodyPr anchorCtr="0" anchor="t" bIns="91425" lIns="91425" spcFirstLastPara="1" rIns="91425" wrap="square" tIns="91425">
            <a:spAutoFit/>
          </a:bodyPr>
          <a:lstStyle/>
          <a:p>
            <a:pPr indent="0" lvl="0" marL="0" rtl="0" algn="ctr">
              <a:spcBef>
                <a:spcPts val="0"/>
              </a:spcBef>
              <a:spcAft>
                <a:spcPts val="1200"/>
              </a:spcAft>
              <a:buNone/>
            </a:pPr>
            <a:r>
              <a:rPr lang="fr"/>
              <a:t>Sprint Backlog</a:t>
            </a:r>
            <a:endParaRPr/>
          </a:p>
        </p:txBody>
      </p:sp>
      <p:pic>
        <p:nvPicPr>
          <p:cNvPr id="208" name="Google Shape;208;p31"/>
          <p:cNvPicPr preferRelativeResize="0"/>
          <p:nvPr/>
        </p:nvPicPr>
        <p:blipFill>
          <a:blip r:embed="rId3">
            <a:alphaModFix/>
          </a:blip>
          <a:stretch>
            <a:fillRect/>
          </a:stretch>
        </p:blipFill>
        <p:spPr>
          <a:xfrm>
            <a:off x="955100" y="2675975"/>
            <a:ext cx="1008349" cy="1008349"/>
          </a:xfrm>
          <a:prstGeom prst="rect">
            <a:avLst/>
          </a:prstGeom>
          <a:noFill/>
          <a:ln>
            <a:noFill/>
          </a:ln>
        </p:spPr>
      </p:pic>
      <p:pic>
        <p:nvPicPr>
          <p:cNvPr id="209" name="Google Shape;209;p31"/>
          <p:cNvPicPr preferRelativeResize="0"/>
          <p:nvPr/>
        </p:nvPicPr>
        <p:blipFill>
          <a:blip r:embed="rId4">
            <a:alphaModFix/>
          </a:blip>
          <a:stretch>
            <a:fillRect/>
          </a:stretch>
        </p:blipFill>
        <p:spPr>
          <a:xfrm>
            <a:off x="4095637" y="2595075"/>
            <a:ext cx="1008349" cy="1008349"/>
          </a:xfrm>
          <a:prstGeom prst="rect">
            <a:avLst/>
          </a:prstGeom>
          <a:noFill/>
          <a:ln>
            <a:noFill/>
          </a:ln>
        </p:spPr>
      </p:pic>
      <p:pic>
        <p:nvPicPr>
          <p:cNvPr id="210" name="Google Shape;210;p31"/>
          <p:cNvPicPr preferRelativeResize="0"/>
          <p:nvPr/>
        </p:nvPicPr>
        <p:blipFill>
          <a:blip r:embed="rId5">
            <a:alphaModFix/>
          </a:blip>
          <a:stretch>
            <a:fillRect/>
          </a:stretch>
        </p:blipFill>
        <p:spPr>
          <a:xfrm>
            <a:off x="7345312" y="2543700"/>
            <a:ext cx="1008349" cy="1008349"/>
          </a:xfrm>
          <a:prstGeom prst="rect">
            <a:avLst/>
          </a:prstGeom>
          <a:noFill/>
          <a:ln>
            <a:noFill/>
          </a:ln>
        </p:spPr>
      </p:pic>
      <p:sp>
        <p:nvSpPr>
          <p:cNvPr id="211" name="Google Shape;211;p31"/>
          <p:cNvSpPr txBox="1"/>
          <p:nvPr>
            <p:ph idx="1" type="body"/>
          </p:nvPr>
        </p:nvSpPr>
        <p:spPr>
          <a:xfrm>
            <a:off x="491913" y="1781000"/>
            <a:ext cx="1934700" cy="461700"/>
          </a:xfrm>
          <a:prstGeom prst="rect">
            <a:avLst/>
          </a:prstGeom>
        </p:spPr>
        <p:txBody>
          <a:bodyPr anchorCtr="0" anchor="t" bIns="91425" lIns="91425" spcFirstLastPara="1" rIns="91425" wrap="square" tIns="91425">
            <a:spAutoFit/>
          </a:bodyPr>
          <a:lstStyle/>
          <a:p>
            <a:pPr indent="0" lvl="0" marL="0" rtl="0" algn="ctr">
              <a:spcBef>
                <a:spcPts val="0"/>
              </a:spcBef>
              <a:spcAft>
                <a:spcPts val="1200"/>
              </a:spcAft>
              <a:buNone/>
            </a:pPr>
            <a:r>
              <a:rPr lang="fr"/>
              <a:t>Product Backlog</a:t>
            </a:r>
            <a:endParaRPr/>
          </a:p>
        </p:txBody>
      </p:sp>
      <p:sp>
        <p:nvSpPr>
          <p:cNvPr id="212" name="Google Shape;212;p31"/>
          <p:cNvSpPr txBox="1"/>
          <p:nvPr>
            <p:ph idx="1" type="body"/>
          </p:nvPr>
        </p:nvSpPr>
        <p:spPr>
          <a:xfrm>
            <a:off x="6882138" y="1730800"/>
            <a:ext cx="1934700" cy="461700"/>
          </a:xfrm>
          <a:prstGeom prst="rect">
            <a:avLst/>
          </a:prstGeom>
        </p:spPr>
        <p:txBody>
          <a:bodyPr anchorCtr="0" anchor="t" bIns="91425" lIns="91425" spcFirstLastPara="1" rIns="91425" wrap="square" tIns="91425">
            <a:spAutoFit/>
          </a:bodyPr>
          <a:lstStyle/>
          <a:p>
            <a:pPr indent="0" lvl="0" marL="0" rtl="0" algn="ctr">
              <a:spcBef>
                <a:spcPts val="0"/>
              </a:spcBef>
              <a:spcAft>
                <a:spcPts val="1200"/>
              </a:spcAft>
              <a:buNone/>
            </a:pPr>
            <a:r>
              <a:rPr lang="fr"/>
              <a:t>Increments</a:t>
            </a:r>
            <a:endParaRPr/>
          </a:p>
        </p:txBody>
      </p:sp>
      <p:sp>
        <p:nvSpPr>
          <p:cNvPr id="213" name="Google Shape;213;p31"/>
          <p:cNvSpPr txBox="1"/>
          <p:nvPr/>
        </p:nvSpPr>
        <p:spPr>
          <a:xfrm>
            <a:off x="405225" y="1060625"/>
            <a:ext cx="8316000" cy="54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100"/>
              </a:spcBef>
              <a:spcAft>
                <a:spcPts val="200"/>
              </a:spcAft>
              <a:buNone/>
            </a:pPr>
            <a:r>
              <a:rPr i="1" lang="fr" sz="1100">
                <a:solidFill>
                  <a:schemeClr val="dk1"/>
                </a:solidFill>
              </a:rPr>
              <a:t>The plans and work which are transparent and can be inspected allowing for future adaptation; </a:t>
            </a:r>
            <a:br>
              <a:rPr i="1" lang="fr" sz="1100">
                <a:solidFill>
                  <a:schemeClr val="dk1"/>
                </a:solidFill>
              </a:rPr>
            </a:br>
            <a:r>
              <a:rPr i="1" lang="fr" sz="1100">
                <a:solidFill>
                  <a:schemeClr val="dk1"/>
                </a:solidFill>
              </a:rPr>
              <a:t>Each artifact has its own Commitment which helps the team understand if they are making progress</a:t>
            </a:r>
            <a:endParaRPr i="1" sz="1100">
              <a:solidFill>
                <a:schemeClr val="dk1"/>
              </a:solidFill>
            </a:endParaRPr>
          </a:p>
        </p:txBody>
      </p:sp>
      <p:sp>
        <p:nvSpPr>
          <p:cNvPr id="214" name="Google Shape;214;p31"/>
          <p:cNvSpPr txBox="1"/>
          <p:nvPr/>
        </p:nvSpPr>
        <p:spPr>
          <a:xfrm>
            <a:off x="0" y="3876075"/>
            <a:ext cx="3000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fr" sz="1100">
                <a:solidFill>
                  <a:schemeClr val="dk1"/>
                </a:solidFill>
              </a:rPr>
              <a:t>Product Goal</a:t>
            </a:r>
            <a:r>
              <a:rPr lang="fr" sz="1100">
                <a:solidFill>
                  <a:schemeClr val="dk1"/>
                </a:solidFill>
              </a:rPr>
              <a:t> -  the target the team plans against</a:t>
            </a:r>
            <a:endParaRPr sz="1100">
              <a:solidFill>
                <a:schemeClr val="dk1"/>
              </a:solidFill>
            </a:endParaRPr>
          </a:p>
        </p:txBody>
      </p:sp>
      <p:sp>
        <p:nvSpPr>
          <p:cNvPr id="215" name="Google Shape;215;p31"/>
          <p:cNvSpPr txBox="1"/>
          <p:nvPr/>
        </p:nvSpPr>
        <p:spPr>
          <a:xfrm>
            <a:off x="3063225" y="3876075"/>
            <a:ext cx="3000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fr" sz="1100">
                <a:solidFill>
                  <a:schemeClr val="dk1"/>
                </a:solidFill>
              </a:rPr>
              <a:t>Sprint Goal</a:t>
            </a:r>
            <a:r>
              <a:rPr lang="fr" sz="1100">
                <a:solidFill>
                  <a:schemeClr val="dk1"/>
                </a:solidFill>
              </a:rPr>
              <a:t> - the single objective of the Sprint</a:t>
            </a:r>
            <a:endParaRPr/>
          </a:p>
        </p:txBody>
      </p:sp>
      <p:sp>
        <p:nvSpPr>
          <p:cNvPr id="216" name="Google Shape;216;p31"/>
          <p:cNvSpPr txBox="1"/>
          <p:nvPr/>
        </p:nvSpPr>
        <p:spPr>
          <a:xfrm>
            <a:off x="6126450" y="3903250"/>
            <a:ext cx="30000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fr" sz="1100">
                <a:solidFill>
                  <a:schemeClr val="dk1"/>
                </a:solidFill>
              </a:rPr>
              <a:t>Definition of Done</a:t>
            </a:r>
            <a:r>
              <a:rPr lang="fr" sz="1100">
                <a:solidFill>
                  <a:schemeClr val="dk1"/>
                </a:solidFill>
              </a:rPr>
              <a:t> -  the description of what it takes for an Increment to be considered complete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pic>
        <p:nvPicPr>
          <p:cNvPr id="221" name="Google Shape;221;p32"/>
          <p:cNvPicPr preferRelativeResize="0"/>
          <p:nvPr/>
        </p:nvPicPr>
        <p:blipFill>
          <a:blip r:embed="rId3">
            <a:alphaModFix/>
          </a:blip>
          <a:stretch>
            <a:fillRect/>
          </a:stretch>
        </p:blipFill>
        <p:spPr>
          <a:xfrm>
            <a:off x="143575" y="616648"/>
            <a:ext cx="8754627" cy="4471349"/>
          </a:xfrm>
          <a:prstGeom prst="rect">
            <a:avLst/>
          </a:prstGeom>
          <a:noFill/>
          <a:ln>
            <a:noFill/>
          </a:ln>
        </p:spPr>
      </p:pic>
      <p:sp>
        <p:nvSpPr>
          <p:cNvPr id="222" name="Google Shape;222;p32"/>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Overview</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3"/>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Advantages of Scrum</a:t>
            </a:r>
            <a:endParaRPr/>
          </a:p>
        </p:txBody>
      </p:sp>
      <p:sp>
        <p:nvSpPr>
          <p:cNvPr id="228" name="Google Shape;228;p33"/>
          <p:cNvSpPr txBox="1"/>
          <p:nvPr>
            <p:ph idx="1" type="body"/>
          </p:nvPr>
        </p:nvSpPr>
        <p:spPr>
          <a:xfrm>
            <a:off x="311700" y="1152475"/>
            <a:ext cx="8520600" cy="3374100"/>
          </a:xfrm>
          <a:prstGeom prst="rect">
            <a:avLst/>
          </a:prstGeom>
        </p:spPr>
        <p:txBody>
          <a:bodyPr anchorCtr="0" anchor="t" bIns="91425" lIns="91425" spcFirstLastPara="1" rIns="91425" wrap="square" tIns="91425">
            <a:spAutoFit/>
          </a:bodyPr>
          <a:lstStyle/>
          <a:p>
            <a:pPr indent="-298450" lvl="0" marL="457200" rtl="0" algn="l">
              <a:spcBef>
                <a:spcPts val="1200"/>
              </a:spcBef>
              <a:spcAft>
                <a:spcPts val="0"/>
              </a:spcAft>
              <a:buClr>
                <a:schemeClr val="dk1"/>
              </a:buClr>
              <a:buSzPts val="1100"/>
              <a:buChar char="●"/>
            </a:pPr>
            <a:r>
              <a:rPr lang="fr" sz="1400">
                <a:solidFill>
                  <a:schemeClr val="dk1"/>
                </a:solidFill>
              </a:rPr>
              <a:t>Improved communication and collaboration</a:t>
            </a:r>
            <a:endParaRPr sz="1400">
              <a:solidFill>
                <a:schemeClr val="dk1"/>
              </a:solidFill>
            </a:endParaRPr>
          </a:p>
          <a:p>
            <a:pPr indent="-298450" lvl="1" marL="914400" rtl="0" algn="l">
              <a:spcBef>
                <a:spcPts val="0"/>
              </a:spcBef>
              <a:spcAft>
                <a:spcPts val="0"/>
              </a:spcAft>
              <a:buClr>
                <a:schemeClr val="dk1"/>
              </a:buClr>
              <a:buSzPts val="1100"/>
              <a:buChar char="○"/>
            </a:pPr>
            <a:r>
              <a:rPr lang="fr">
                <a:solidFill>
                  <a:schemeClr val="dk1"/>
                </a:solidFill>
              </a:rPr>
              <a:t>Team members work closely together, sharing ideas and feedback</a:t>
            </a:r>
            <a:endParaRPr>
              <a:solidFill>
                <a:schemeClr val="dk1"/>
              </a:solidFill>
            </a:endParaRPr>
          </a:p>
          <a:p>
            <a:pPr indent="-298450" lvl="1" marL="914400" rtl="0" algn="l">
              <a:spcBef>
                <a:spcPts val="0"/>
              </a:spcBef>
              <a:spcAft>
                <a:spcPts val="0"/>
              </a:spcAft>
              <a:buClr>
                <a:schemeClr val="dk1"/>
              </a:buClr>
              <a:buSzPts val="1100"/>
              <a:buChar char="○"/>
            </a:pPr>
            <a:r>
              <a:rPr lang="fr">
                <a:solidFill>
                  <a:schemeClr val="dk1"/>
                </a:solidFill>
              </a:rPr>
              <a:t>Regular meetings and reviews help to ensure that everyone is on the same page</a:t>
            </a:r>
            <a:endParaRPr>
              <a:solidFill>
                <a:schemeClr val="dk1"/>
              </a:solidFill>
            </a:endParaRPr>
          </a:p>
          <a:p>
            <a:pPr indent="-298450" lvl="0" marL="457200" rtl="0" algn="l">
              <a:spcBef>
                <a:spcPts val="0"/>
              </a:spcBef>
              <a:spcAft>
                <a:spcPts val="0"/>
              </a:spcAft>
              <a:buClr>
                <a:schemeClr val="dk1"/>
              </a:buClr>
              <a:buSzPts val="1100"/>
              <a:buChar char="●"/>
            </a:pPr>
            <a:r>
              <a:rPr lang="fr" sz="1400">
                <a:solidFill>
                  <a:schemeClr val="dk1"/>
                </a:solidFill>
              </a:rPr>
              <a:t>Greater flexibility and adaptability</a:t>
            </a:r>
            <a:endParaRPr sz="1400">
              <a:solidFill>
                <a:schemeClr val="dk1"/>
              </a:solidFill>
            </a:endParaRPr>
          </a:p>
          <a:p>
            <a:pPr indent="-298450" lvl="1" marL="914400" rtl="0" algn="l">
              <a:spcBef>
                <a:spcPts val="0"/>
              </a:spcBef>
              <a:spcAft>
                <a:spcPts val="0"/>
              </a:spcAft>
              <a:buClr>
                <a:schemeClr val="dk1"/>
              </a:buClr>
              <a:buSzPts val="1100"/>
              <a:buChar char="○"/>
            </a:pPr>
            <a:r>
              <a:rPr lang="fr">
                <a:solidFill>
                  <a:schemeClr val="dk1"/>
                </a:solidFill>
              </a:rPr>
              <a:t>The team can adjust its plans and priorities based on new information or changing circumstances</a:t>
            </a:r>
            <a:endParaRPr>
              <a:solidFill>
                <a:schemeClr val="dk1"/>
              </a:solidFill>
            </a:endParaRPr>
          </a:p>
          <a:p>
            <a:pPr indent="-298450" lvl="1" marL="914400" rtl="0" algn="l">
              <a:spcBef>
                <a:spcPts val="0"/>
              </a:spcBef>
              <a:spcAft>
                <a:spcPts val="0"/>
              </a:spcAft>
              <a:buClr>
                <a:schemeClr val="dk1"/>
              </a:buClr>
              <a:buSzPts val="1100"/>
              <a:buChar char="○"/>
            </a:pPr>
            <a:r>
              <a:rPr lang="fr">
                <a:solidFill>
                  <a:schemeClr val="dk1"/>
                </a:solidFill>
              </a:rPr>
              <a:t>The focus is on delivering working software, rather than following a rigid plan</a:t>
            </a:r>
            <a:endParaRPr>
              <a:solidFill>
                <a:schemeClr val="dk1"/>
              </a:solidFill>
            </a:endParaRPr>
          </a:p>
          <a:p>
            <a:pPr indent="-298450" lvl="0" marL="457200" rtl="0" algn="l">
              <a:spcBef>
                <a:spcPts val="0"/>
              </a:spcBef>
              <a:spcAft>
                <a:spcPts val="0"/>
              </a:spcAft>
              <a:buClr>
                <a:schemeClr val="dk1"/>
              </a:buClr>
              <a:buSzPts val="1100"/>
              <a:buChar char="●"/>
            </a:pPr>
            <a:r>
              <a:rPr lang="fr" sz="1400">
                <a:solidFill>
                  <a:schemeClr val="dk1"/>
                </a:solidFill>
              </a:rPr>
              <a:t>Faster delivery of working software</a:t>
            </a:r>
            <a:endParaRPr sz="1400">
              <a:solidFill>
                <a:schemeClr val="dk1"/>
              </a:solidFill>
            </a:endParaRPr>
          </a:p>
          <a:p>
            <a:pPr indent="-298450" lvl="1" marL="914400" rtl="0" algn="l">
              <a:spcBef>
                <a:spcPts val="0"/>
              </a:spcBef>
              <a:spcAft>
                <a:spcPts val="0"/>
              </a:spcAft>
              <a:buClr>
                <a:schemeClr val="dk1"/>
              </a:buClr>
              <a:buSzPts val="1100"/>
              <a:buChar char="○"/>
            </a:pPr>
            <a:r>
              <a:rPr lang="fr">
                <a:solidFill>
                  <a:schemeClr val="dk1"/>
                </a:solidFill>
              </a:rPr>
              <a:t>The team delivers working software at the end of each sprint</a:t>
            </a:r>
            <a:endParaRPr>
              <a:solidFill>
                <a:schemeClr val="dk1"/>
              </a:solidFill>
            </a:endParaRPr>
          </a:p>
          <a:p>
            <a:pPr indent="-298450" lvl="1" marL="914400" rtl="0" algn="l">
              <a:spcBef>
                <a:spcPts val="0"/>
              </a:spcBef>
              <a:spcAft>
                <a:spcPts val="0"/>
              </a:spcAft>
              <a:buClr>
                <a:schemeClr val="dk1"/>
              </a:buClr>
              <a:buSzPts val="1100"/>
              <a:buChar char="○"/>
            </a:pPr>
            <a:r>
              <a:rPr lang="fr">
                <a:solidFill>
                  <a:schemeClr val="dk1"/>
                </a:solidFill>
              </a:rPr>
              <a:t>This allows for faster feedback and iteration</a:t>
            </a:r>
            <a:endParaRPr>
              <a:solidFill>
                <a:schemeClr val="dk1"/>
              </a:solidFill>
            </a:endParaRPr>
          </a:p>
          <a:p>
            <a:pPr indent="-298450" lvl="0" marL="457200" rtl="0" algn="l">
              <a:spcBef>
                <a:spcPts val="0"/>
              </a:spcBef>
              <a:spcAft>
                <a:spcPts val="0"/>
              </a:spcAft>
              <a:buClr>
                <a:schemeClr val="dk1"/>
              </a:buClr>
              <a:buSzPts val="1100"/>
              <a:buChar char="●"/>
            </a:pPr>
            <a:r>
              <a:rPr lang="fr" sz="1400">
                <a:solidFill>
                  <a:schemeClr val="dk1"/>
                </a:solidFill>
              </a:rPr>
              <a:t>Enhanced customer satisfaction</a:t>
            </a:r>
            <a:endParaRPr sz="1400">
              <a:solidFill>
                <a:schemeClr val="dk1"/>
              </a:solidFill>
            </a:endParaRPr>
          </a:p>
          <a:p>
            <a:pPr indent="-298450" lvl="1" marL="914400" rtl="0" algn="l">
              <a:spcBef>
                <a:spcPts val="0"/>
              </a:spcBef>
              <a:spcAft>
                <a:spcPts val="0"/>
              </a:spcAft>
              <a:buClr>
                <a:schemeClr val="dk1"/>
              </a:buClr>
              <a:buSzPts val="1100"/>
              <a:buChar char="○"/>
            </a:pPr>
            <a:r>
              <a:rPr lang="fr">
                <a:solidFill>
                  <a:schemeClr val="dk1"/>
                </a:solidFill>
              </a:rPr>
              <a:t>The team is able to deliver value to the customer more quickly</a:t>
            </a:r>
            <a:endParaRPr>
              <a:solidFill>
                <a:schemeClr val="dk1"/>
              </a:solidFill>
            </a:endParaRPr>
          </a:p>
          <a:p>
            <a:pPr indent="-298450" lvl="1" marL="914400" rtl="0" algn="l">
              <a:spcBef>
                <a:spcPts val="0"/>
              </a:spcBef>
              <a:spcAft>
                <a:spcPts val="0"/>
              </a:spcAft>
              <a:buClr>
                <a:schemeClr val="dk1"/>
              </a:buClr>
              <a:buSzPts val="1100"/>
              <a:buChar char="○"/>
            </a:pPr>
            <a:r>
              <a:rPr lang="fr">
                <a:solidFill>
                  <a:schemeClr val="dk1"/>
                </a:solidFill>
              </a:rPr>
              <a:t>The customer is able to provide feedback and shape the direction of the product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4"/>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Best practices for Scrum</a:t>
            </a:r>
            <a:endParaRPr/>
          </a:p>
        </p:txBody>
      </p:sp>
      <p:sp>
        <p:nvSpPr>
          <p:cNvPr id="234" name="Google Shape;234;p34"/>
          <p:cNvSpPr txBox="1"/>
          <p:nvPr>
            <p:ph idx="1" type="body"/>
          </p:nvPr>
        </p:nvSpPr>
        <p:spPr>
          <a:xfrm>
            <a:off x="311700" y="1152475"/>
            <a:ext cx="8520600" cy="3554100"/>
          </a:xfrm>
          <a:prstGeom prst="rect">
            <a:avLst/>
          </a:prstGeom>
        </p:spPr>
        <p:txBody>
          <a:bodyPr anchorCtr="0" anchor="t" bIns="91425" lIns="91425" spcFirstLastPara="1" rIns="91425" wrap="square" tIns="91425">
            <a:spAutoFit/>
          </a:bodyPr>
          <a:lstStyle/>
          <a:p>
            <a:pPr indent="-298450" lvl="0" marL="457200" rtl="0" algn="l">
              <a:spcBef>
                <a:spcPts val="1200"/>
              </a:spcBef>
              <a:spcAft>
                <a:spcPts val="0"/>
              </a:spcAft>
              <a:buClr>
                <a:schemeClr val="dk1"/>
              </a:buClr>
              <a:buSzPts val="1100"/>
              <a:buChar char="●"/>
            </a:pPr>
            <a:r>
              <a:rPr lang="fr"/>
              <a:t>Emphasis on self-organization and self-management</a:t>
            </a:r>
            <a:endParaRPr/>
          </a:p>
          <a:p>
            <a:pPr indent="-298450" lvl="1" marL="914400" rtl="0" algn="l">
              <a:spcBef>
                <a:spcPts val="0"/>
              </a:spcBef>
              <a:spcAft>
                <a:spcPts val="0"/>
              </a:spcAft>
              <a:buClr>
                <a:schemeClr val="dk1"/>
              </a:buClr>
              <a:buSzPts val="1100"/>
              <a:buChar char="○"/>
            </a:pPr>
            <a:r>
              <a:rPr lang="fr"/>
              <a:t>The Development Team is responsible for determining how best to complete the work that has been assigned to them</a:t>
            </a:r>
            <a:endParaRPr/>
          </a:p>
          <a:p>
            <a:pPr indent="-298450" lvl="1" marL="914400" rtl="0" algn="l">
              <a:spcBef>
                <a:spcPts val="0"/>
              </a:spcBef>
              <a:spcAft>
                <a:spcPts val="0"/>
              </a:spcAft>
              <a:buClr>
                <a:schemeClr val="dk1"/>
              </a:buClr>
              <a:buSzPts val="1100"/>
              <a:buChar char="○"/>
            </a:pPr>
            <a:r>
              <a:rPr lang="fr"/>
              <a:t>This promotes ownership and accountability</a:t>
            </a:r>
            <a:endParaRPr/>
          </a:p>
          <a:p>
            <a:pPr indent="-298450" lvl="0" marL="457200" rtl="0" algn="l">
              <a:spcBef>
                <a:spcPts val="0"/>
              </a:spcBef>
              <a:spcAft>
                <a:spcPts val="0"/>
              </a:spcAft>
              <a:buClr>
                <a:schemeClr val="dk1"/>
              </a:buClr>
              <a:buSzPts val="1100"/>
              <a:buChar char="●"/>
            </a:pPr>
            <a:r>
              <a:rPr lang="fr"/>
              <a:t>Use of a collaborative approach to problem-solving</a:t>
            </a:r>
            <a:endParaRPr/>
          </a:p>
          <a:p>
            <a:pPr indent="-298450" lvl="1" marL="914400" rtl="0" algn="l">
              <a:spcBef>
                <a:spcPts val="0"/>
              </a:spcBef>
              <a:spcAft>
                <a:spcPts val="0"/>
              </a:spcAft>
              <a:buClr>
                <a:schemeClr val="dk1"/>
              </a:buClr>
              <a:buSzPts val="1100"/>
              <a:buChar char="○"/>
            </a:pPr>
            <a:r>
              <a:rPr lang="fr"/>
              <a:t>Team members work together to identify and solve problems</a:t>
            </a:r>
            <a:endParaRPr/>
          </a:p>
          <a:p>
            <a:pPr indent="-298450" lvl="1" marL="914400" rtl="0" algn="l">
              <a:spcBef>
                <a:spcPts val="0"/>
              </a:spcBef>
              <a:spcAft>
                <a:spcPts val="0"/>
              </a:spcAft>
              <a:buClr>
                <a:schemeClr val="dk1"/>
              </a:buClr>
              <a:buSzPts val="1100"/>
              <a:buChar char="○"/>
            </a:pPr>
            <a:r>
              <a:rPr lang="fr"/>
              <a:t>This promotes teamwork and cooperation</a:t>
            </a:r>
            <a:endParaRPr/>
          </a:p>
          <a:p>
            <a:pPr indent="-298450" lvl="0" marL="457200" rtl="0" algn="l">
              <a:spcBef>
                <a:spcPts val="0"/>
              </a:spcBef>
              <a:spcAft>
                <a:spcPts val="0"/>
              </a:spcAft>
              <a:buClr>
                <a:schemeClr val="dk1"/>
              </a:buClr>
              <a:buSzPts val="1100"/>
              <a:buChar char="●"/>
            </a:pPr>
            <a:r>
              <a:rPr lang="fr"/>
              <a:t>Regular inspection and adaptation</a:t>
            </a:r>
            <a:endParaRPr/>
          </a:p>
          <a:p>
            <a:pPr indent="-298450" lvl="1" marL="914400" rtl="0" algn="l">
              <a:spcBef>
                <a:spcPts val="0"/>
              </a:spcBef>
              <a:spcAft>
                <a:spcPts val="0"/>
              </a:spcAft>
              <a:buClr>
                <a:schemeClr val="dk1"/>
              </a:buClr>
              <a:buSzPts val="1100"/>
              <a:buChar char="○"/>
            </a:pPr>
            <a:r>
              <a:rPr lang="fr"/>
              <a:t>The team regularly reviews its progress and adjusts its plans as needed</a:t>
            </a:r>
            <a:endParaRPr/>
          </a:p>
          <a:p>
            <a:pPr indent="-298450" lvl="1" marL="914400" rtl="0" algn="l">
              <a:spcBef>
                <a:spcPts val="0"/>
              </a:spcBef>
              <a:spcAft>
                <a:spcPts val="0"/>
              </a:spcAft>
              <a:buClr>
                <a:schemeClr val="dk1"/>
              </a:buClr>
              <a:buSzPts val="1100"/>
              <a:buChar char="○"/>
            </a:pPr>
            <a:r>
              <a:rPr lang="fr"/>
              <a:t>This helps to ensure that the team is always working on the most valuable items and is able to respond to changing circumstances</a:t>
            </a:r>
            <a:endParaRPr/>
          </a:p>
          <a:p>
            <a:pPr indent="0" lvl="0" marL="0" rtl="0" algn="l">
              <a:spcBef>
                <a:spcPts val="1200"/>
              </a:spcBef>
              <a:spcAft>
                <a:spcPts val="120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pic>
        <p:nvPicPr>
          <p:cNvPr id="239" name="Google Shape;239;p35"/>
          <p:cNvPicPr preferRelativeResize="0"/>
          <p:nvPr/>
        </p:nvPicPr>
        <p:blipFill>
          <a:blip r:embed="rId3">
            <a:alphaModFix/>
          </a:blip>
          <a:stretch>
            <a:fillRect/>
          </a:stretch>
        </p:blipFill>
        <p:spPr>
          <a:xfrm>
            <a:off x="402138" y="997674"/>
            <a:ext cx="8339727" cy="4011051"/>
          </a:xfrm>
          <a:prstGeom prst="rect">
            <a:avLst/>
          </a:prstGeom>
          <a:noFill/>
          <a:ln>
            <a:noFill/>
          </a:ln>
        </p:spPr>
      </p:pic>
      <p:sp>
        <p:nvSpPr>
          <p:cNvPr id="240" name="Google Shape;240;p35"/>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Fill in the blanks !</a:t>
            </a:r>
            <a:endParaRPr/>
          </a:p>
        </p:txBody>
      </p:sp>
      <p:sp>
        <p:nvSpPr>
          <p:cNvPr id="241" name="Google Shape;241;p35"/>
          <p:cNvSpPr txBox="1"/>
          <p:nvPr/>
        </p:nvSpPr>
        <p:spPr>
          <a:xfrm>
            <a:off x="3832050" y="1277325"/>
            <a:ext cx="475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fr"/>
              <a:t>4</a:t>
            </a:r>
            <a:endParaRPr/>
          </a:p>
        </p:txBody>
      </p:sp>
      <p:sp>
        <p:nvSpPr>
          <p:cNvPr id="242" name="Google Shape;242;p35"/>
          <p:cNvSpPr txBox="1"/>
          <p:nvPr/>
        </p:nvSpPr>
        <p:spPr>
          <a:xfrm>
            <a:off x="5499625" y="2116850"/>
            <a:ext cx="475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fr"/>
              <a:t>2</a:t>
            </a:r>
            <a:endParaRPr/>
          </a:p>
        </p:txBody>
      </p:sp>
      <p:sp>
        <p:nvSpPr>
          <p:cNvPr id="243" name="Google Shape;243;p35"/>
          <p:cNvSpPr txBox="1"/>
          <p:nvPr/>
        </p:nvSpPr>
        <p:spPr>
          <a:xfrm>
            <a:off x="7968875" y="3273500"/>
            <a:ext cx="475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fr"/>
              <a:t>3</a:t>
            </a:r>
            <a:endParaRPr/>
          </a:p>
        </p:txBody>
      </p:sp>
      <p:sp>
        <p:nvSpPr>
          <p:cNvPr id="244" name="Google Shape;244;p35"/>
          <p:cNvSpPr txBox="1"/>
          <p:nvPr/>
        </p:nvSpPr>
        <p:spPr>
          <a:xfrm>
            <a:off x="1805025" y="3273500"/>
            <a:ext cx="475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fr"/>
              <a:t>1</a:t>
            </a:r>
            <a:endParaRPr/>
          </a:p>
        </p:txBody>
      </p:sp>
      <p:sp>
        <p:nvSpPr>
          <p:cNvPr id="245" name="Google Shape;245;p35"/>
          <p:cNvSpPr txBox="1"/>
          <p:nvPr/>
        </p:nvSpPr>
        <p:spPr>
          <a:xfrm>
            <a:off x="706525" y="1677525"/>
            <a:ext cx="475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fr"/>
              <a:t>A</a:t>
            </a:r>
            <a:endParaRPr/>
          </a:p>
        </p:txBody>
      </p:sp>
      <p:sp>
        <p:nvSpPr>
          <p:cNvPr id="246" name="Google Shape;246;p35"/>
          <p:cNvSpPr txBox="1"/>
          <p:nvPr/>
        </p:nvSpPr>
        <p:spPr>
          <a:xfrm>
            <a:off x="2832200" y="3818800"/>
            <a:ext cx="475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fr"/>
              <a:t>B</a:t>
            </a:r>
            <a:endParaRPr/>
          </a:p>
        </p:txBody>
      </p:sp>
      <p:sp>
        <p:nvSpPr>
          <p:cNvPr id="247" name="Google Shape;247;p35"/>
          <p:cNvSpPr txBox="1"/>
          <p:nvPr/>
        </p:nvSpPr>
        <p:spPr>
          <a:xfrm>
            <a:off x="6860675" y="3759775"/>
            <a:ext cx="475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fr"/>
              <a:t>C</a:t>
            </a:r>
            <a:endParaRPr/>
          </a:p>
        </p:txBody>
      </p:sp>
      <p:sp>
        <p:nvSpPr>
          <p:cNvPr id="248" name="Google Shape;248;p35"/>
          <p:cNvSpPr txBox="1"/>
          <p:nvPr/>
        </p:nvSpPr>
        <p:spPr>
          <a:xfrm>
            <a:off x="4886950" y="3273500"/>
            <a:ext cx="475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fr"/>
              <a:t>D</a:t>
            </a:r>
            <a:endParaRPr/>
          </a:p>
        </p:txBody>
      </p:sp>
      <p:sp>
        <p:nvSpPr>
          <p:cNvPr id="249" name="Google Shape;249;p35"/>
          <p:cNvSpPr txBox="1"/>
          <p:nvPr/>
        </p:nvSpPr>
        <p:spPr>
          <a:xfrm>
            <a:off x="5246832" y="2832337"/>
            <a:ext cx="475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fr">
                <a:solidFill>
                  <a:schemeClr val="lt1"/>
                </a:solidFill>
              </a:rPr>
              <a:t>a</a:t>
            </a:r>
            <a:endParaRPr>
              <a:solidFill>
                <a:schemeClr val="lt1"/>
              </a:solidFill>
            </a:endParaRPr>
          </a:p>
        </p:txBody>
      </p:sp>
      <p:sp>
        <p:nvSpPr>
          <p:cNvPr id="250" name="Google Shape;250;p35"/>
          <p:cNvSpPr txBox="1"/>
          <p:nvPr/>
        </p:nvSpPr>
        <p:spPr>
          <a:xfrm>
            <a:off x="5246825" y="3359575"/>
            <a:ext cx="475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fr">
                <a:solidFill>
                  <a:schemeClr val="lt1"/>
                </a:solidFill>
              </a:rPr>
              <a:t>b</a:t>
            </a:r>
            <a:endParaRPr>
              <a:solidFill>
                <a:schemeClr val="lt1"/>
              </a:solidFill>
            </a:endParaRPr>
          </a:p>
        </p:txBody>
      </p:sp>
      <p:sp>
        <p:nvSpPr>
          <p:cNvPr id="251" name="Google Shape;251;p35"/>
          <p:cNvSpPr txBox="1"/>
          <p:nvPr/>
        </p:nvSpPr>
        <p:spPr>
          <a:xfrm>
            <a:off x="4480405" y="2841146"/>
            <a:ext cx="475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fr">
                <a:solidFill>
                  <a:schemeClr val="lt1"/>
                </a:solidFill>
              </a:rPr>
              <a:t>c</a:t>
            </a:r>
            <a:endParaRPr>
              <a:solidFill>
                <a:schemeClr val="lt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6"/>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Case Study</a:t>
            </a:r>
            <a:endParaRPr/>
          </a:p>
        </p:txBody>
      </p:sp>
      <p:sp>
        <p:nvSpPr>
          <p:cNvPr id="257" name="Google Shape;257;p36"/>
          <p:cNvSpPr txBox="1"/>
          <p:nvPr>
            <p:ph idx="1" type="body"/>
          </p:nvPr>
        </p:nvSpPr>
        <p:spPr>
          <a:xfrm>
            <a:off x="311700" y="1152475"/>
            <a:ext cx="8520600" cy="548700"/>
          </a:xfrm>
          <a:prstGeom prst="rect">
            <a:avLst/>
          </a:prstGeom>
        </p:spPr>
        <p:txBody>
          <a:bodyPr anchorCtr="0" anchor="t" bIns="91425" lIns="91425" spcFirstLastPara="1" rIns="91425" wrap="square" tIns="91425">
            <a:spAutoFit/>
          </a:bodyPr>
          <a:lstStyle/>
          <a:p>
            <a:pPr indent="0" lvl="0" marL="0" rtl="0" algn="l">
              <a:spcBef>
                <a:spcPts val="1200"/>
              </a:spcBef>
              <a:spcAft>
                <a:spcPts val="1200"/>
              </a:spcAft>
              <a:buClr>
                <a:schemeClr val="dk1"/>
              </a:buClr>
              <a:buSzPts val="1100"/>
              <a:buFont typeface="Arial"/>
              <a:buNone/>
            </a:pPr>
            <a:r>
              <a:rPr lang="fr" sz="1100">
                <a:solidFill>
                  <a:schemeClr val="dk1"/>
                </a:solidFill>
              </a:rPr>
              <a:t>Scrum outside the development industry : the case of Saab :  </a:t>
            </a:r>
            <a:r>
              <a:rPr lang="fr" sz="1100" u="sng">
                <a:solidFill>
                  <a:schemeClr val="hlink"/>
                </a:solidFill>
                <a:hlinkClick r:id="rId3"/>
              </a:rPr>
              <a:t>https://conceptsandbeyond.com/wp-content/uploads/2022/11/Owning-the-Sky-with-Agile.pdf</a:t>
            </a:r>
            <a:r>
              <a:rPr lang="fr" sz="1100">
                <a:solidFill>
                  <a:schemeClr val="dk1"/>
                </a:solidFill>
              </a:rPr>
              <a:t> </a:t>
            </a:r>
            <a:endParaRPr/>
          </a:p>
        </p:txBody>
      </p:sp>
      <p:sp>
        <p:nvSpPr>
          <p:cNvPr id="258" name="Google Shape;258;p36"/>
          <p:cNvSpPr txBox="1"/>
          <p:nvPr/>
        </p:nvSpPr>
        <p:spPr>
          <a:xfrm>
            <a:off x="123300" y="1793025"/>
            <a:ext cx="8897400" cy="1639200"/>
          </a:xfrm>
          <a:prstGeom prst="rect">
            <a:avLst/>
          </a:prstGeom>
          <a:noFill/>
          <a:ln>
            <a:noFill/>
          </a:ln>
        </p:spPr>
        <p:txBody>
          <a:bodyPr anchorCtr="0" anchor="t" bIns="91425" lIns="91425" spcFirstLastPara="1" rIns="91425" wrap="square" tIns="91425">
            <a:spAutoFit/>
          </a:bodyPr>
          <a:lstStyle/>
          <a:p>
            <a:pPr indent="-298450" lvl="0" marL="457200" rtl="0" algn="l">
              <a:lnSpc>
                <a:spcPct val="115000"/>
              </a:lnSpc>
              <a:spcBef>
                <a:spcPts val="1200"/>
              </a:spcBef>
              <a:spcAft>
                <a:spcPts val="0"/>
              </a:spcAft>
              <a:buClr>
                <a:schemeClr val="dk1"/>
              </a:buClr>
              <a:buSzPts val="1100"/>
              <a:buAutoNum type="arabicPeriod"/>
            </a:pPr>
            <a:r>
              <a:rPr lang="fr"/>
              <a:t>What was the problem that the team was trying to solve in the case study?</a:t>
            </a:r>
            <a:endParaRPr/>
          </a:p>
          <a:p>
            <a:pPr indent="-298450" lvl="0" marL="457200" rtl="0" algn="l">
              <a:lnSpc>
                <a:spcPct val="115000"/>
              </a:lnSpc>
              <a:spcBef>
                <a:spcPts val="0"/>
              </a:spcBef>
              <a:spcAft>
                <a:spcPts val="0"/>
              </a:spcAft>
              <a:buClr>
                <a:schemeClr val="dk1"/>
              </a:buClr>
              <a:buSzPts val="1100"/>
              <a:buAutoNum type="arabicPeriod"/>
            </a:pPr>
            <a:r>
              <a:rPr lang="fr"/>
              <a:t>What were the potential solutions that the team considered and why were they chosen?</a:t>
            </a:r>
            <a:endParaRPr/>
          </a:p>
          <a:p>
            <a:pPr indent="-298450" lvl="0" marL="457200" rtl="0" algn="l">
              <a:lnSpc>
                <a:spcPct val="115000"/>
              </a:lnSpc>
              <a:spcBef>
                <a:spcPts val="0"/>
              </a:spcBef>
              <a:spcAft>
                <a:spcPts val="0"/>
              </a:spcAft>
              <a:buClr>
                <a:schemeClr val="dk1"/>
              </a:buClr>
              <a:buSzPts val="1100"/>
              <a:buAutoNum type="arabicPeriod"/>
            </a:pPr>
            <a:r>
              <a:rPr lang="fr"/>
              <a:t>What were the main challenges that the team faced during the implementation of their chosen solution?</a:t>
            </a:r>
            <a:endParaRPr/>
          </a:p>
          <a:p>
            <a:pPr indent="-298450" lvl="0" marL="457200" rtl="0" algn="l">
              <a:lnSpc>
                <a:spcPct val="115000"/>
              </a:lnSpc>
              <a:spcBef>
                <a:spcPts val="0"/>
              </a:spcBef>
              <a:spcAft>
                <a:spcPts val="0"/>
              </a:spcAft>
              <a:buClr>
                <a:schemeClr val="dk1"/>
              </a:buClr>
              <a:buSzPts val="1100"/>
              <a:buAutoNum type="arabicPeriod"/>
            </a:pPr>
            <a:r>
              <a:rPr lang="fr"/>
              <a:t>How did the team evaluate the success of their solution?</a:t>
            </a:r>
            <a:endParaRPr/>
          </a:p>
          <a:p>
            <a:pPr indent="-298450" lvl="0" marL="457200" rtl="0" algn="l">
              <a:lnSpc>
                <a:spcPct val="115000"/>
              </a:lnSpc>
              <a:spcBef>
                <a:spcPts val="0"/>
              </a:spcBef>
              <a:spcAft>
                <a:spcPts val="0"/>
              </a:spcAft>
              <a:buClr>
                <a:schemeClr val="dk1"/>
              </a:buClr>
              <a:buSzPts val="1100"/>
              <a:buAutoNum type="arabicPeriod"/>
            </a:pPr>
            <a:r>
              <a:rPr lang="fr"/>
              <a:t>What lessons or takeaways can be learned from the case study that could be applied to similar problems in the future?</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7"/>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Scrum Certifications &amp; Prep</a:t>
            </a:r>
            <a:endParaRPr/>
          </a:p>
        </p:txBody>
      </p:sp>
      <p:sp>
        <p:nvSpPr>
          <p:cNvPr id="264" name="Google Shape;264;p37"/>
          <p:cNvSpPr txBox="1"/>
          <p:nvPr>
            <p:ph idx="1" type="body"/>
          </p:nvPr>
        </p:nvSpPr>
        <p:spPr>
          <a:xfrm>
            <a:off x="311700" y="1152475"/>
            <a:ext cx="8520600" cy="28245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Scrum Master Certification</a:t>
            </a:r>
            <a:endParaRPr/>
          </a:p>
          <a:p>
            <a:pPr indent="0" lvl="0" marL="0" rtl="0" algn="l">
              <a:spcBef>
                <a:spcPts val="1200"/>
              </a:spcBef>
              <a:spcAft>
                <a:spcPts val="0"/>
              </a:spcAft>
              <a:buNone/>
            </a:pPr>
            <a:r>
              <a:rPr lang="fr"/>
              <a:t>Product Owner Certification</a:t>
            </a:r>
            <a:endParaRPr/>
          </a:p>
          <a:p>
            <a:pPr indent="0" lvl="0" marL="0" rtl="0" algn="l">
              <a:spcBef>
                <a:spcPts val="1200"/>
              </a:spcBef>
              <a:spcAft>
                <a:spcPts val="0"/>
              </a:spcAft>
              <a:buNone/>
            </a:pPr>
            <a:r>
              <a:rPr lang="fr"/>
              <a:t>Scrum Developer Certification…</a:t>
            </a:r>
            <a:endParaRPr/>
          </a:p>
          <a:p>
            <a:pPr indent="0" lvl="0" marL="0" rtl="0" algn="l">
              <a:spcBef>
                <a:spcPts val="1200"/>
              </a:spcBef>
              <a:spcAft>
                <a:spcPts val="0"/>
              </a:spcAft>
              <a:buNone/>
            </a:pPr>
            <a:r>
              <a:t/>
            </a:r>
            <a:endParaRPr/>
          </a:p>
          <a:p>
            <a:pPr indent="0" lvl="0" marL="0" rtl="0" algn="ctr">
              <a:spcBef>
                <a:spcPts val="1200"/>
              </a:spcBef>
              <a:spcAft>
                <a:spcPts val="0"/>
              </a:spcAft>
              <a:buNone/>
            </a:pPr>
            <a:r>
              <a:rPr lang="fr"/>
              <a:t>READ THE SCRUM GUIDE</a:t>
            </a:r>
            <a:endParaRPr/>
          </a:p>
          <a:p>
            <a:pPr indent="0" lvl="0" marL="0" rtl="0" algn="l">
              <a:spcBef>
                <a:spcPts val="1200"/>
              </a:spcBef>
              <a:spcAft>
                <a:spcPts val="120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8"/>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Practice exam ! (30’)</a:t>
            </a:r>
            <a:endParaRPr/>
          </a:p>
        </p:txBody>
      </p:sp>
      <p:sp>
        <p:nvSpPr>
          <p:cNvPr id="270" name="Google Shape;270;p38"/>
          <p:cNvSpPr txBox="1"/>
          <p:nvPr>
            <p:ph idx="1" type="body"/>
          </p:nvPr>
        </p:nvSpPr>
        <p:spPr>
          <a:xfrm>
            <a:off x="311700" y="1152475"/>
            <a:ext cx="8520600" cy="23520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Go here : </a:t>
            </a:r>
            <a:r>
              <a:rPr lang="fr" u="sng">
                <a:solidFill>
                  <a:schemeClr val="hlink"/>
                </a:solidFill>
                <a:hlinkClick r:id="rId3"/>
              </a:rPr>
              <a:t>https://www.scrum.org/open-assessments</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fr"/>
              <a:t>Choose “Scrum Open”</a:t>
            </a:r>
            <a:endParaRPr/>
          </a:p>
          <a:p>
            <a:pPr indent="0" lvl="0" marL="0" rtl="0" algn="l">
              <a:spcBef>
                <a:spcPts val="1200"/>
              </a:spcBef>
              <a:spcAft>
                <a:spcPts val="0"/>
              </a:spcAft>
              <a:buNone/>
            </a:pPr>
            <a:r>
              <a:rPr lang="fr"/>
              <a:t>You got 30’ </a:t>
            </a:r>
            <a:endParaRPr/>
          </a:p>
          <a:p>
            <a:pPr indent="0" lvl="0" marL="0" rtl="0" algn="l">
              <a:spcBef>
                <a:spcPts val="1200"/>
              </a:spcBef>
              <a:spcAft>
                <a:spcPts val="1200"/>
              </a:spcAft>
              <a:buNone/>
            </a:pPr>
            <a:r>
              <a:rPr lang="fr"/>
              <a:t>Open book exam</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39"/>
          <p:cNvSpPr txBox="1"/>
          <p:nvPr>
            <p:ph type="title"/>
          </p:nvPr>
        </p:nvSpPr>
        <p:spPr>
          <a:xfrm>
            <a:off x="311700" y="2150850"/>
            <a:ext cx="8520600" cy="1293000"/>
          </a:xfrm>
          <a:prstGeom prst="rect">
            <a:avLst/>
          </a:prstGeom>
        </p:spPr>
        <p:txBody>
          <a:bodyPr anchorCtr="0" anchor="ctr" bIns="91425" lIns="91425" spcFirstLastPara="1" rIns="91425" wrap="square" tIns="91425">
            <a:spAutoFit/>
          </a:bodyPr>
          <a:lstStyle/>
          <a:p>
            <a:pPr indent="0" lvl="0" marL="0" rtl="0" algn="ctr">
              <a:spcBef>
                <a:spcPts val="0"/>
              </a:spcBef>
              <a:spcAft>
                <a:spcPts val="0"/>
              </a:spcAft>
              <a:buNone/>
            </a:pPr>
            <a:r>
              <a:rPr lang="fr"/>
              <a:t>Knowledge workers </a:t>
            </a:r>
            <a:br>
              <a:rPr lang="fr"/>
            </a:br>
            <a:r>
              <a:rPr lang="fr"/>
              <a:t>&amp; Cross-functional teams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40"/>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Cross-functional teams</a:t>
            </a:r>
            <a:endParaRPr/>
          </a:p>
        </p:txBody>
      </p:sp>
      <p:sp>
        <p:nvSpPr>
          <p:cNvPr id="281" name="Google Shape;281;p40"/>
          <p:cNvSpPr txBox="1"/>
          <p:nvPr>
            <p:ph idx="1" type="body"/>
          </p:nvPr>
        </p:nvSpPr>
        <p:spPr>
          <a:xfrm>
            <a:off x="311700" y="1152475"/>
            <a:ext cx="8520600" cy="3801900"/>
          </a:xfrm>
          <a:prstGeom prst="rect">
            <a:avLst/>
          </a:prstGeom>
        </p:spPr>
        <p:txBody>
          <a:bodyPr anchorCtr="0" anchor="t" bIns="91425" lIns="91425" spcFirstLastPara="1" rIns="91425" wrap="square" tIns="91425">
            <a:spAutoFit/>
          </a:bodyPr>
          <a:lstStyle/>
          <a:p>
            <a:pPr indent="-298450" lvl="0" marL="457200" rtl="0" algn="l">
              <a:spcBef>
                <a:spcPts val="1200"/>
              </a:spcBef>
              <a:spcAft>
                <a:spcPts val="0"/>
              </a:spcAft>
              <a:buClr>
                <a:schemeClr val="dk1"/>
              </a:buClr>
              <a:buSzPts val="1100"/>
              <a:buChar char="●"/>
            </a:pPr>
            <a:r>
              <a:rPr lang="fr"/>
              <a:t>Cross-functional teams are groups of people with diverse skills and expertise who work together to achieve a common goal.</a:t>
            </a:r>
            <a:endParaRPr/>
          </a:p>
          <a:p>
            <a:pPr indent="-298450" lvl="0" marL="457200" rtl="0" algn="l">
              <a:spcBef>
                <a:spcPts val="0"/>
              </a:spcBef>
              <a:spcAft>
                <a:spcPts val="0"/>
              </a:spcAft>
              <a:buClr>
                <a:schemeClr val="dk1"/>
              </a:buClr>
              <a:buSzPts val="1100"/>
              <a:buChar char="●"/>
            </a:pPr>
            <a:r>
              <a:rPr lang="fr"/>
              <a:t>These teams are composed of members with different functional areas, such as engineering, marketing, and sales.</a:t>
            </a:r>
            <a:endParaRPr/>
          </a:p>
          <a:p>
            <a:pPr indent="-298450" lvl="0" marL="457200" rtl="0" algn="l">
              <a:spcBef>
                <a:spcPts val="0"/>
              </a:spcBef>
              <a:spcAft>
                <a:spcPts val="0"/>
              </a:spcAft>
              <a:buClr>
                <a:schemeClr val="dk1"/>
              </a:buClr>
              <a:buSzPts val="1100"/>
              <a:buChar char="●"/>
            </a:pPr>
            <a:r>
              <a:rPr lang="fr"/>
              <a:t>The goal of a cross-functional team is to bring together different perspectives and skills to solve problems, make decisions, and deliver results more effectively.</a:t>
            </a:r>
            <a:endParaRPr/>
          </a:p>
          <a:p>
            <a:pPr indent="-298450" lvl="0" marL="457200" rtl="0" algn="l">
              <a:spcBef>
                <a:spcPts val="0"/>
              </a:spcBef>
              <a:spcAft>
                <a:spcPts val="0"/>
              </a:spcAft>
              <a:buClr>
                <a:schemeClr val="dk1"/>
              </a:buClr>
              <a:buSzPts val="1100"/>
              <a:buChar char="●"/>
            </a:pPr>
            <a:r>
              <a:rPr lang="fr"/>
              <a:t>Some advantages of cross-functional teams include increased efficiency, improved communication and collaboration, and enhanced creativity and innovation.</a:t>
            </a:r>
            <a:endParaRPr/>
          </a:p>
          <a:p>
            <a:pPr indent="0" lvl="0" marL="0" rtl="0" algn="l">
              <a:spcBef>
                <a:spcPts val="1200"/>
              </a:spcBef>
              <a:spcAft>
                <a:spcPts val="120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41"/>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Challenges &amp; Best-practices	</a:t>
            </a:r>
            <a:endParaRPr/>
          </a:p>
        </p:txBody>
      </p:sp>
      <p:sp>
        <p:nvSpPr>
          <p:cNvPr id="287" name="Google Shape;287;p41"/>
          <p:cNvSpPr txBox="1"/>
          <p:nvPr>
            <p:ph idx="1" type="body"/>
          </p:nvPr>
        </p:nvSpPr>
        <p:spPr>
          <a:xfrm>
            <a:off x="311700" y="1152475"/>
            <a:ext cx="8520600" cy="3164700"/>
          </a:xfrm>
          <a:prstGeom prst="rect">
            <a:avLst/>
          </a:prstGeom>
        </p:spPr>
        <p:txBody>
          <a:bodyPr anchorCtr="0" anchor="t" bIns="91425" lIns="91425" spcFirstLastPara="1" rIns="91425" wrap="square" tIns="91425">
            <a:spAutoFit/>
          </a:bodyPr>
          <a:lstStyle/>
          <a:p>
            <a:pPr indent="-298450" lvl="0" marL="457200" rtl="0" algn="l">
              <a:spcBef>
                <a:spcPts val="1200"/>
              </a:spcBef>
              <a:spcAft>
                <a:spcPts val="0"/>
              </a:spcAft>
              <a:buClr>
                <a:schemeClr val="dk1"/>
              </a:buClr>
              <a:buSzPts val="1100"/>
              <a:buChar char="●"/>
            </a:pPr>
            <a:r>
              <a:rPr lang="fr"/>
              <a:t>One challenge of cross-functional teams is that members may have different goals, priorities, and ways of working.</a:t>
            </a:r>
            <a:endParaRPr/>
          </a:p>
          <a:p>
            <a:pPr indent="-298450" lvl="0" marL="457200" rtl="0" algn="l">
              <a:spcBef>
                <a:spcPts val="0"/>
              </a:spcBef>
              <a:spcAft>
                <a:spcPts val="0"/>
              </a:spcAft>
              <a:buClr>
                <a:schemeClr val="dk1"/>
              </a:buClr>
              <a:buSzPts val="1100"/>
              <a:buChar char="●"/>
            </a:pPr>
            <a:r>
              <a:rPr lang="fr"/>
              <a:t>To overcome these challenges, it is important to establish clear roles and responsibilities, as well as effective communication and collaboration practices.</a:t>
            </a:r>
            <a:endParaRPr/>
          </a:p>
          <a:p>
            <a:pPr indent="-298450" lvl="0" marL="457200" rtl="0" algn="l">
              <a:spcBef>
                <a:spcPts val="0"/>
              </a:spcBef>
              <a:spcAft>
                <a:spcPts val="0"/>
              </a:spcAft>
              <a:buClr>
                <a:schemeClr val="dk1"/>
              </a:buClr>
              <a:buSzPts val="1100"/>
              <a:buChar char="●"/>
            </a:pPr>
            <a:r>
              <a:rPr lang="fr"/>
              <a:t>Some best practices for cross-functional teams include setting common goals and objectives, fostering open communication and transparency, and providing opportunities for team members to learn from each other.</a:t>
            </a:r>
            <a:endParaRPr/>
          </a:p>
          <a:p>
            <a:pPr indent="0" lvl="0" marL="0" rtl="0" algn="l">
              <a:spcBef>
                <a:spcPts val="1200"/>
              </a:spcBef>
              <a:spcAft>
                <a:spcPts val="1200"/>
              </a:spcAft>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2"/>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Knowledge workers &amp; roles 	</a:t>
            </a:r>
            <a:endParaRPr/>
          </a:p>
        </p:txBody>
      </p:sp>
      <p:sp>
        <p:nvSpPr>
          <p:cNvPr id="293" name="Google Shape;293;p42"/>
          <p:cNvSpPr txBox="1"/>
          <p:nvPr>
            <p:ph idx="1" type="body"/>
          </p:nvPr>
        </p:nvSpPr>
        <p:spPr>
          <a:xfrm>
            <a:off x="311700" y="1152475"/>
            <a:ext cx="8520600" cy="3164700"/>
          </a:xfrm>
          <a:prstGeom prst="rect">
            <a:avLst/>
          </a:prstGeom>
        </p:spPr>
        <p:txBody>
          <a:bodyPr anchorCtr="0" anchor="t" bIns="91425" lIns="91425" spcFirstLastPara="1" rIns="91425" wrap="square" tIns="91425">
            <a:spAutoFit/>
          </a:bodyPr>
          <a:lstStyle/>
          <a:p>
            <a:pPr indent="-298450" lvl="0" marL="457200" rtl="0" algn="l">
              <a:spcBef>
                <a:spcPts val="1200"/>
              </a:spcBef>
              <a:spcAft>
                <a:spcPts val="0"/>
              </a:spcAft>
              <a:buClr>
                <a:schemeClr val="dk1"/>
              </a:buClr>
              <a:buSzPts val="1100"/>
              <a:buChar char="●"/>
            </a:pPr>
            <a:r>
              <a:rPr lang="fr"/>
              <a:t>Knowledge workers are individuals who use their knowledge, skills, and expertise to add value to an organization.</a:t>
            </a:r>
            <a:endParaRPr/>
          </a:p>
          <a:p>
            <a:pPr indent="-298450" lvl="0" marL="457200" rtl="0" algn="l">
              <a:spcBef>
                <a:spcPts val="0"/>
              </a:spcBef>
              <a:spcAft>
                <a:spcPts val="0"/>
              </a:spcAft>
              <a:buClr>
                <a:schemeClr val="dk1"/>
              </a:buClr>
              <a:buSzPts val="1100"/>
              <a:buChar char="●"/>
            </a:pPr>
            <a:r>
              <a:rPr lang="fr"/>
              <a:t>They often work in complex and dynamic environments, and rely on their ability to think critically and solve problems.</a:t>
            </a:r>
            <a:endParaRPr/>
          </a:p>
          <a:p>
            <a:pPr indent="-298450" lvl="0" marL="457200" rtl="0" algn="l">
              <a:spcBef>
                <a:spcPts val="0"/>
              </a:spcBef>
              <a:spcAft>
                <a:spcPts val="0"/>
              </a:spcAft>
              <a:buClr>
                <a:schemeClr val="dk1"/>
              </a:buClr>
              <a:buSzPts val="1100"/>
              <a:buChar char="●"/>
            </a:pPr>
            <a:r>
              <a:rPr lang="fr"/>
              <a:t>Cross-functional teams can be especially effective in supporting knowledge workers, as they provide a diverse range of skills and expertise to draw upon.</a:t>
            </a:r>
            <a:endParaRPr/>
          </a:p>
          <a:p>
            <a:pPr indent="-298450" lvl="0" marL="457200" rtl="0" algn="l">
              <a:spcBef>
                <a:spcPts val="0"/>
              </a:spcBef>
              <a:spcAft>
                <a:spcPts val="0"/>
              </a:spcAft>
              <a:buClr>
                <a:schemeClr val="dk1"/>
              </a:buClr>
              <a:buSzPts val="1100"/>
              <a:buChar char="●"/>
            </a:pPr>
            <a:r>
              <a:rPr lang="fr"/>
              <a:t>By working together, knowledge workers and cross-functional teams can effectively tackle complex problems and deliver high-quality solutions.</a:t>
            </a:r>
            <a:endParaRPr/>
          </a:p>
          <a:p>
            <a:pPr indent="0" lvl="0" marL="0" rtl="0" algn="l">
              <a:spcBef>
                <a:spcPts val="1200"/>
              </a:spcBef>
              <a:spcAft>
                <a:spcPts val="1200"/>
              </a:spcAft>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3"/>
          <p:cNvSpPr txBox="1"/>
          <p:nvPr>
            <p:ph type="title"/>
          </p:nvPr>
        </p:nvSpPr>
        <p:spPr>
          <a:xfrm>
            <a:off x="311700" y="2150850"/>
            <a:ext cx="8520600" cy="738900"/>
          </a:xfrm>
          <a:prstGeom prst="rect">
            <a:avLst/>
          </a:prstGeom>
        </p:spPr>
        <p:txBody>
          <a:bodyPr anchorCtr="0" anchor="ctr" bIns="91425" lIns="91425" spcFirstLastPara="1" rIns="91425" wrap="square" tIns="91425">
            <a:spAutoFit/>
          </a:bodyPr>
          <a:lstStyle/>
          <a:p>
            <a:pPr indent="0" lvl="0" marL="0" rtl="0" algn="ctr">
              <a:spcBef>
                <a:spcPts val="0"/>
              </a:spcBef>
              <a:spcAft>
                <a:spcPts val="0"/>
              </a:spcAft>
              <a:buNone/>
            </a:pPr>
            <a:r>
              <a:rPr lang="fr"/>
              <a:t>Knowledge Check (10’)</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