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9"/>
  </p:notesMasterIdLst>
  <p:sldIdLst>
    <p:sldId id="274" r:id="rId2"/>
    <p:sldId id="257" r:id="rId3"/>
    <p:sldId id="267" r:id="rId4"/>
    <p:sldId id="295" r:id="rId5"/>
    <p:sldId id="301" r:id="rId6"/>
    <p:sldId id="296" r:id="rId7"/>
    <p:sldId id="322" r:id="rId8"/>
    <p:sldId id="321" r:id="rId9"/>
    <p:sldId id="320" r:id="rId10"/>
    <p:sldId id="304" r:id="rId11"/>
    <p:sldId id="305" r:id="rId12"/>
    <p:sldId id="323" r:id="rId13"/>
    <p:sldId id="319" r:id="rId14"/>
    <p:sldId id="308" r:id="rId15"/>
    <p:sldId id="325" r:id="rId16"/>
    <p:sldId id="324" r:id="rId17"/>
    <p:sldId id="309" r:id="rId18"/>
    <p:sldId id="367" r:id="rId19"/>
    <p:sldId id="310" r:id="rId20"/>
    <p:sldId id="294" r:id="rId21"/>
    <p:sldId id="330" r:id="rId22"/>
    <p:sldId id="334" r:id="rId23"/>
    <p:sldId id="335" r:id="rId24"/>
    <p:sldId id="333" r:id="rId25"/>
    <p:sldId id="337" r:id="rId26"/>
    <p:sldId id="338" r:id="rId27"/>
    <p:sldId id="339" r:id="rId28"/>
    <p:sldId id="332" r:id="rId29"/>
    <p:sldId id="342" r:id="rId30"/>
    <p:sldId id="341" r:id="rId31"/>
    <p:sldId id="343" r:id="rId32"/>
    <p:sldId id="345" r:id="rId33"/>
    <p:sldId id="340" r:id="rId34"/>
    <p:sldId id="331" r:id="rId35"/>
    <p:sldId id="346" r:id="rId36"/>
    <p:sldId id="366" r:id="rId37"/>
    <p:sldId id="347" r:id="rId38"/>
    <p:sldId id="348" r:id="rId39"/>
    <p:sldId id="349" r:id="rId40"/>
    <p:sldId id="350" r:id="rId41"/>
    <p:sldId id="354" r:id="rId42"/>
    <p:sldId id="352" r:id="rId43"/>
    <p:sldId id="353" r:id="rId44"/>
    <p:sldId id="362" r:id="rId45"/>
    <p:sldId id="356" r:id="rId46"/>
    <p:sldId id="364" r:id="rId47"/>
    <p:sldId id="365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6327"/>
  </p:normalViewPr>
  <p:slideViewPr>
    <p:cSldViewPr snapToGrid="0">
      <p:cViewPr varScale="1">
        <p:scale>
          <a:sx n="128" d="100"/>
          <a:sy n="128" d="100"/>
        </p:scale>
        <p:origin x="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DCD00-6634-CF44-A527-0F3C5933985B}" type="datetimeFigureOut">
              <a:rPr lang="fr-FR" smtClean="0"/>
              <a:t>02/10/2023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4C2E07-78CE-784D-AF6A-8BE5131BEE9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9716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: Alexandre Gressier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A1237-63C0-2149-90AD-33FFCF7C857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5395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35FED-2507-6347-9B57-3FF5AFCD8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8B847-1B82-BE49-A9A7-C3023CD2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611D94-0717-E14D-B19C-F142F7DB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D62BDA-0F08-504D-9BDA-A04B89E8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0C21CC-1B92-B44B-AE72-CDCCB2D8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455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A51D4-1867-8845-820C-C21D7BCE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841B2-2299-484D-98D4-2509FDD8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F3535-31CB-2243-9FD7-D6385CE3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28F9A-0BE6-2040-B200-CA9AD15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53960E-7BA0-5744-B871-2625A924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801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28FD5-3D75-FF4B-8910-57BF5A27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4D373C-AC4E-4749-AF27-1D4F5473F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4B37BF-0D5B-EE4F-B5D2-4991975B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CC8B85-AF4B-D347-9A59-97FD4522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0FD24F-150A-1443-9905-84B822D4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1695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238437-A9AA-1649-93B3-41C10243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2425-B188-F44E-AE00-4A68E5EA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B7208-E02E-5B44-B5B0-8F7E4329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479033-F7B2-3340-AA42-C9315CC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51178-4562-B14F-81E9-EEB57190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1059-2BD2-DE48-8A78-A1F0952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7020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87D52-2FB1-1B49-AB3F-B878A6C6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5322B7-F0A2-534D-A6BC-4D36CFB7E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541A8E-94B9-9948-9F7F-B59CE4A7A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7F5E04-45D9-0B41-A49B-C539BB240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5050A4-C507-9A4F-B6CE-71C0EC9B7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FAFD617-5DC0-7146-8644-37FDEF3C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6D3D1A-4433-FB46-BCB3-2FC07477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8BE2A0-7142-7944-9978-9CF0A02E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9502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3AE92-F78E-674F-9897-3D26B7A9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96ECA-9486-6E4B-B4BC-7E76B34E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B4D8AF-4BB6-934B-A379-CBF84C9A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E009D-38CE-D34C-82BA-3182CA4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9500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844418-3E68-CA4E-AC8C-9D66D92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D285BC-A399-C24D-9863-55D71A82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C877D-0D91-8442-9A72-AF3420B9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5023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C8412-37C8-4B46-9CE8-3469F189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CD95-5780-714B-A453-63A2F345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D7CA0C-E415-F14F-9EF8-44A9C7CBE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697766-D919-5247-A55B-2A12BA74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77295-5D11-2841-AC5B-84946CEA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AF8E56-0D31-804D-9F4F-DD615D5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963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54B13-E418-4E42-B170-1BC86021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49CDA-C85B-4F42-B8C6-26E684ED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E92AAF-FCE8-F84A-8EB9-CC618F3F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83901-E98D-6B44-A440-F9809CD8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5FCBB-5385-494D-A3C1-C59A68C9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4BFBC5-500C-E04C-A17A-AC6C64E8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995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EDC94-6368-2D4E-8A75-930EFDF0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EE47BB-5DBD-034C-84DA-C86FA33B9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7FE81-3F94-FB4B-AB88-842AE52D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51EDF4-8F0D-4644-BC7F-8EDA683F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779F0B-3D1B-234B-8E0E-0005BA6E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7840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D2D733-6537-F246-9DD6-47A2CFFE2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ED1EB9-F8C4-6F42-9293-8EFB0A55D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78BEE2-EC2A-B14D-8087-8A8A25C4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C088C9-8381-E84F-AEB6-0CE68238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EFA170-D382-C048-933C-9BCF9266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4255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016B3E-7434-F444-85B1-81A3F66D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C2A833-B532-5441-8F6F-770D7BDE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D43F0-39EC-1047-86D5-82DFE14D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6F5D3-EF53-A447-B4AC-97397E1C3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42739-B2AF-EA41-A1C0-C7A7135E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2512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openxmlformats.org/officeDocument/2006/relationships/image" Target="../media/image28.png"/><Relationship Id="rId5" Type="http://schemas.openxmlformats.org/officeDocument/2006/relationships/image" Target="../media/image24.png"/><Relationship Id="rId10" Type="http://schemas.openxmlformats.org/officeDocument/2006/relationships/image" Target="../media/image12.svg"/><Relationship Id="rId4" Type="http://schemas.openxmlformats.org/officeDocument/2006/relationships/image" Target="../media/image23.png"/><Relationship Id="rId9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1 – Introduction à Docker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3DOKR – Développement et livraison d’applications avec Docker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943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54565"/>
            <a:ext cx="10515600" cy="16874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Évolution du déploiement d’applications</a:t>
            </a:r>
          </a:p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Présentation de Docker</a:t>
            </a:r>
          </a:p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Architecture de Docker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2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6E163-1E71-0AF0-EEDF-C14D40054A5D}"/>
              </a:ext>
            </a:extLst>
          </p:cNvPr>
          <p:cNvSpPr txBox="1">
            <a:spLocks/>
          </p:cNvSpPr>
          <p:nvPr/>
        </p:nvSpPr>
        <p:spPr>
          <a:xfrm>
            <a:off x="831850" y="3618967"/>
            <a:ext cx="10515600" cy="838276"/>
          </a:xfrm>
          <a:prstGeom prst="rect">
            <a:avLst/>
          </a:prstGeom>
        </p:spPr>
        <p:txBody>
          <a:bodyPr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Évolution du déploiement d’applications</a:t>
            </a:r>
          </a:p>
        </p:txBody>
      </p:sp>
    </p:spTree>
    <p:extLst>
      <p:ext uri="{BB962C8B-B14F-4D97-AF65-F5344CB8AC3E}">
        <p14:creationId xmlns:p14="http://schemas.microsoft.com/office/powerpoint/2010/main" val="1118698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Évolution du déploiement d’applications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52577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Serveurs dédiés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applications (typiquement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back end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ou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front end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sont installées et exécutées directement sur la machine hôte.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Approche la plus naturelle car identique pour une machine de développement.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Accès direct au matériel</a:t>
            </a:r>
          </a:p>
        </p:txBody>
      </p:sp>
      <p:pic>
        <p:nvPicPr>
          <p:cNvPr id="5" name="Picture 4" descr="A white computer tower with a black background&#10;&#10;Description automatically generated">
            <a:extLst>
              <a:ext uri="{FF2B5EF4-FFF2-40B4-BE49-F238E27FC236}">
                <a16:creationId xmlns:a16="http://schemas.microsoft.com/office/drawing/2014/main" id="{952F54BE-8F28-6019-2311-1B88BB7C5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615" y="1872547"/>
            <a:ext cx="3365369" cy="410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321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Évolution du déploiement d’applications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Serveurs dédiés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97D45-E628-2C47-D490-605A1502659D}"/>
              </a:ext>
            </a:extLst>
          </p:cNvPr>
          <p:cNvSpPr/>
          <p:nvPr/>
        </p:nvSpPr>
        <p:spPr>
          <a:xfrm>
            <a:off x="2909740" y="2030027"/>
            <a:ext cx="6372520" cy="3494082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56E2DE-E219-31E2-BEFF-E50CDE7A4C29}"/>
              </a:ext>
            </a:extLst>
          </p:cNvPr>
          <p:cNvSpPr txBox="1"/>
          <p:nvPr/>
        </p:nvSpPr>
        <p:spPr>
          <a:xfrm>
            <a:off x="2963155" y="2124339"/>
            <a:ext cx="433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Machine hôte (physique)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4ADFC-EC3C-DD97-2878-529D23CAC06D}"/>
              </a:ext>
            </a:extLst>
          </p:cNvPr>
          <p:cNvSpPr txBox="1"/>
          <p:nvPr/>
        </p:nvSpPr>
        <p:spPr>
          <a:xfrm>
            <a:off x="3060565" y="2587984"/>
            <a:ext cx="2952000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n˚1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729261-C423-742D-3D2C-4C64F3914563}"/>
              </a:ext>
            </a:extLst>
          </p:cNvPr>
          <p:cNvSpPr txBox="1"/>
          <p:nvPr/>
        </p:nvSpPr>
        <p:spPr>
          <a:xfrm>
            <a:off x="3060565" y="3327513"/>
            <a:ext cx="6070867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Librairies / Exécutables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D06362-C845-A852-B649-00F4FCE9275D}"/>
              </a:ext>
            </a:extLst>
          </p:cNvPr>
          <p:cNvSpPr txBox="1"/>
          <p:nvPr/>
        </p:nvSpPr>
        <p:spPr>
          <a:xfrm>
            <a:off x="3060567" y="4771479"/>
            <a:ext cx="6070865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Matériel physique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B8A3A9-8EEA-F919-CA6B-F0E46979C6E9}"/>
              </a:ext>
            </a:extLst>
          </p:cNvPr>
          <p:cNvSpPr txBox="1"/>
          <p:nvPr/>
        </p:nvSpPr>
        <p:spPr>
          <a:xfrm>
            <a:off x="3060567" y="4052275"/>
            <a:ext cx="6070866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Système d’exploitation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E4DC5B-7723-EB66-01EA-50E9FB9E1DDA}"/>
              </a:ext>
            </a:extLst>
          </p:cNvPr>
          <p:cNvSpPr txBox="1"/>
          <p:nvPr/>
        </p:nvSpPr>
        <p:spPr>
          <a:xfrm>
            <a:off x="6192007" y="2602751"/>
            <a:ext cx="2952000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n˚2</a:t>
            </a:r>
          </a:p>
        </p:txBody>
      </p:sp>
    </p:spTree>
    <p:extLst>
      <p:ext uri="{BB962C8B-B14F-4D97-AF65-F5344CB8AC3E}">
        <p14:creationId xmlns:p14="http://schemas.microsoft.com/office/powerpoint/2010/main" val="1940778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Évolution du déploiement d’applications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Serveurs dédiés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Avantages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Isolation :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aucun partage de ressources avec d’autres systèmes.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Contrôle :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choix du système d’exploitation, d’effectuer des mises à jour ou non, des applications préinstallées, d’appliquer des configurations spécifiques…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Performance :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meilleure performance grâce à l'accès direct au matériel, sans aucune surcharge de virtualisation. Peut être aussi utile pour accéder à certains  matériels spécifiques (exemple : cryptographiques).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0611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Évolution du déploiement d’applications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Serveurs dédiés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Inconvénients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Inefficacité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les serveurs dédiés sont pratiquement sous-utilisés en permanence. Les temps de démarrage et d’arrêt sont également longs.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Complexité :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ils nécessitent une certaine expertise technique pour être configurés et maintenus.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Maintenance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en cas de défaillance d'un serveur dédié, il faut mettre en place un nouveau serveur et migrer l'application, ce qui peut entraîner des temps d'arrêt.</a:t>
            </a:r>
          </a:p>
        </p:txBody>
      </p:sp>
    </p:spTree>
    <p:extLst>
      <p:ext uri="{BB962C8B-B14F-4D97-AF65-F5344CB8AC3E}">
        <p14:creationId xmlns:p14="http://schemas.microsoft.com/office/powerpoint/2010/main" val="3357560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Évolution du déploiement d’applications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560030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Machines virtuelles (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VMs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applications sont installées et exécutées dans une machine virtuelle.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Permet de lancer plusieurs machines sur une seule.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 hyperviseur permet de créer, gérer et lancer ces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VMs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Cet hyperviseur peut être installé directement sur l’hôte (type 1) ou au sein d’un système d’exploitation (type 2).</a:t>
            </a:r>
          </a:p>
        </p:txBody>
      </p:sp>
      <p:pic>
        <p:nvPicPr>
          <p:cNvPr id="7" name="Picture 6" descr="A blue and white cube with white text&#10;&#10;Description automatically generated">
            <a:extLst>
              <a:ext uri="{FF2B5EF4-FFF2-40B4-BE49-F238E27FC236}">
                <a16:creationId xmlns:a16="http://schemas.microsoft.com/office/drawing/2014/main" id="{6E6CFBA1-8EE2-58DC-45EE-C435126C1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783" y="2125970"/>
            <a:ext cx="3853468" cy="385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25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Évolution du déploiement d’applications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Machines virtuelles (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VMs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97D45-E628-2C47-D490-605A1502659D}"/>
              </a:ext>
            </a:extLst>
          </p:cNvPr>
          <p:cNvSpPr/>
          <p:nvPr/>
        </p:nvSpPr>
        <p:spPr>
          <a:xfrm>
            <a:off x="2909740" y="1690660"/>
            <a:ext cx="6372520" cy="4803845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56E2DE-E219-31E2-BEFF-E50CDE7A4C29}"/>
              </a:ext>
            </a:extLst>
          </p:cNvPr>
          <p:cNvSpPr txBox="1"/>
          <p:nvPr/>
        </p:nvSpPr>
        <p:spPr>
          <a:xfrm>
            <a:off x="2963155" y="1784973"/>
            <a:ext cx="433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Machine hôte (physique)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4ADFC-EC3C-DD97-2878-529D23CAC06D}"/>
              </a:ext>
            </a:extLst>
          </p:cNvPr>
          <p:cNvSpPr txBox="1"/>
          <p:nvPr/>
        </p:nvSpPr>
        <p:spPr>
          <a:xfrm>
            <a:off x="3187829" y="2757701"/>
            <a:ext cx="2696065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n˚1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729261-C423-742D-3D2C-4C64F3914563}"/>
              </a:ext>
            </a:extLst>
          </p:cNvPr>
          <p:cNvSpPr txBox="1"/>
          <p:nvPr/>
        </p:nvSpPr>
        <p:spPr>
          <a:xfrm>
            <a:off x="3054280" y="4929615"/>
            <a:ext cx="6070867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Hyperviseur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D06362-C845-A852-B649-00F4FCE9275D}"/>
              </a:ext>
            </a:extLst>
          </p:cNvPr>
          <p:cNvSpPr txBox="1"/>
          <p:nvPr/>
        </p:nvSpPr>
        <p:spPr>
          <a:xfrm>
            <a:off x="3054282" y="5974867"/>
            <a:ext cx="6070865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Matériel physique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B8A3A9-8EEA-F919-CA6B-F0E46979C6E9}"/>
              </a:ext>
            </a:extLst>
          </p:cNvPr>
          <p:cNvSpPr txBox="1"/>
          <p:nvPr/>
        </p:nvSpPr>
        <p:spPr>
          <a:xfrm>
            <a:off x="3054281" y="5458239"/>
            <a:ext cx="6070866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Système d’exploitation (si hyperviseur de type 2)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5150E2-6154-E461-6FF8-08D709C9B0A0}"/>
              </a:ext>
            </a:extLst>
          </p:cNvPr>
          <p:cNvSpPr/>
          <p:nvPr/>
        </p:nvSpPr>
        <p:spPr>
          <a:xfrm>
            <a:off x="3054284" y="2262441"/>
            <a:ext cx="2963161" cy="250788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70976D-005D-ED81-AF01-37C6AF856B73}"/>
              </a:ext>
            </a:extLst>
          </p:cNvPr>
          <p:cNvSpPr txBox="1"/>
          <p:nvPr/>
        </p:nvSpPr>
        <p:spPr>
          <a:xfrm>
            <a:off x="3091992" y="2305193"/>
            <a:ext cx="2432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Machine virtuelle n˚1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FB4B65-1BEB-D801-FED3-B7ED01F6892A}"/>
              </a:ext>
            </a:extLst>
          </p:cNvPr>
          <p:cNvSpPr txBox="1"/>
          <p:nvPr/>
        </p:nvSpPr>
        <p:spPr>
          <a:xfrm>
            <a:off x="3187829" y="3254665"/>
            <a:ext cx="2696065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Librairies / Exécutables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85628D-913F-4167-E330-A756816D1461}"/>
              </a:ext>
            </a:extLst>
          </p:cNvPr>
          <p:cNvSpPr/>
          <p:nvPr/>
        </p:nvSpPr>
        <p:spPr>
          <a:xfrm>
            <a:off x="6161990" y="2262441"/>
            <a:ext cx="2963161" cy="250788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982005-5F02-205C-DC49-4FEDF294E076}"/>
              </a:ext>
            </a:extLst>
          </p:cNvPr>
          <p:cNvSpPr txBox="1"/>
          <p:nvPr/>
        </p:nvSpPr>
        <p:spPr>
          <a:xfrm>
            <a:off x="6199698" y="2305193"/>
            <a:ext cx="247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Machine virtuelle n˚2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B96111-0D4F-AB13-BD99-37DD7DA309B9}"/>
              </a:ext>
            </a:extLst>
          </p:cNvPr>
          <p:cNvSpPr txBox="1"/>
          <p:nvPr/>
        </p:nvSpPr>
        <p:spPr>
          <a:xfrm>
            <a:off x="3187830" y="3735862"/>
            <a:ext cx="2696065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Système d’exploitation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4BDD39-29F0-1356-197D-4F679448B982}"/>
              </a:ext>
            </a:extLst>
          </p:cNvPr>
          <p:cNvSpPr txBox="1"/>
          <p:nvPr/>
        </p:nvSpPr>
        <p:spPr>
          <a:xfrm>
            <a:off x="3187829" y="4233556"/>
            <a:ext cx="2696065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Système d’exploitation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0BD80-BA71-C197-6354-384E4D66DF29}"/>
              </a:ext>
            </a:extLst>
          </p:cNvPr>
          <p:cNvSpPr txBox="1"/>
          <p:nvPr/>
        </p:nvSpPr>
        <p:spPr>
          <a:xfrm>
            <a:off x="6300245" y="2757701"/>
            <a:ext cx="2696065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n˚2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C34CA7-FC83-0BBC-C2CB-228BECF0D14F}"/>
              </a:ext>
            </a:extLst>
          </p:cNvPr>
          <p:cNvSpPr txBox="1"/>
          <p:nvPr/>
        </p:nvSpPr>
        <p:spPr>
          <a:xfrm>
            <a:off x="6300245" y="3254665"/>
            <a:ext cx="2696065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Librairies / Exécutables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5D605-30EB-71CA-3224-AC1258346CB2}"/>
              </a:ext>
            </a:extLst>
          </p:cNvPr>
          <p:cNvSpPr txBox="1"/>
          <p:nvPr/>
        </p:nvSpPr>
        <p:spPr>
          <a:xfrm>
            <a:off x="6300246" y="3735862"/>
            <a:ext cx="2696065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Système d’exploitation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78FBEA-1343-30F3-C0C6-ED8A559A97A6}"/>
              </a:ext>
            </a:extLst>
          </p:cNvPr>
          <p:cNvSpPr txBox="1"/>
          <p:nvPr/>
        </p:nvSpPr>
        <p:spPr>
          <a:xfrm>
            <a:off x="6300245" y="4233556"/>
            <a:ext cx="2696065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Système d’exploitation</a:t>
            </a:r>
          </a:p>
        </p:txBody>
      </p:sp>
    </p:spTree>
    <p:extLst>
      <p:ext uri="{BB962C8B-B14F-4D97-AF65-F5344CB8AC3E}">
        <p14:creationId xmlns:p14="http://schemas.microsoft.com/office/powerpoint/2010/main" val="4124229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Évolution du déploiement d’applications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Machines virtuelles (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VMs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Avantages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Reproductibilité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possibilité de cloner ou de revenir dans le temps pour une VM donnée.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Gestion des dépendances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pas de conflits entre les dépendances.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Efficacité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Meilleure efficacité d'utilisation, car les ressources peuvent être allouées précisément.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Impact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rayon d'impact réduit si une des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VMs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venait à faillir.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Rapidité de démarrage: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démarrages et arrêts plus rapides.</a:t>
            </a:r>
          </a:p>
        </p:txBody>
      </p:sp>
    </p:spTree>
    <p:extLst>
      <p:ext uri="{BB962C8B-B14F-4D97-AF65-F5344CB8AC3E}">
        <p14:creationId xmlns:p14="http://schemas.microsoft.com/office/powerpoint/2010/main" val="726375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Évolution du déploiement d’applications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Machines virtuelles (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VMs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Inconvénients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Surconsommation des ressources :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chaque VM doit exécuter un système d'exploitation intégral, ce qui peut consommer beaucoup de ressources système.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Redondance :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chaque VM a son propre système d'exploitation, ce qui entraîne une redondance dans les systèmes et les processus communs.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Gestion :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avec de nombreuses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VMs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il peut être difficile de gérer, de mettre à jour et de sécuriser tous les systèmes d'exploitation.</a:t>
            </a:r>
          </a:p>
        </p:txBody>
      </p:sp>
    </p:spTree>
    <p:extLst>
      <p:ext uri="{BB962C8B-B14F-4D97-AF65-F5344CB8AC3E}">
        <p14:creationId xmlns:p14="http://schemas.microsoft.com/office/powerpoint/2010/main" val="1050690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Évolution du déploiement d’applications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52577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Conteneurs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Unité logicielle légère qui englobe une application et toutes ses dépendances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Légers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car tous les conteneurs partagent le même noyau système.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Ils sont en réalités des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processus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isolés du système hôte.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Fonctionnent uniquement avec un noyau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Linux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5" name="Picture 4" descr="A stack of shipping containers&#10;&#10;Description automatically generated">
            <a:extLst>
              <a:ext uri="{FF2B5EF4-FFF2-40B4-BE49-F238E27FC236}">
                <a16:creationId xmlns:a16="http://schemas.microsoft.com/office/drawing/2014/main" id="{FA652F6B-6C6C-1D71-8700-077B4066A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096000" y="1437786"/>
            <a:ext cx="4928320" cy="492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311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Évolution du déploiement d’applications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Conteneurs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97D45-E628-2C47-D490-605A1502659D}"/>
              </a:ext>
            </a:extLst>
          </p:cNvPr>
          <p:cNvSpPr/>
          <p:nvPr/>
        </p:nvSpPr>
        <p:spPr>
          <a:xfrm>
            <a:off x="2909740" y="1690660"/>
            <a:ext cx="6372520" cy="4803845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56E2DE-E219-31E2-BEFF-E50CDE7A4C29}"/>
              </a:ext>
            </a:extLst>
          </p:cNvPr>
          <p:cNvSpPr txBox="1"/>
          <p:nvPr/>
        </p:nvSpPr>
        <p:spPr>
          <a:xfrm>
            <a:off x="2963155" y="1784973"/>
            <a:ext cx="433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Machine hôte (virtuelle ou physique)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4ADFC-EC3C-DD97-2878-529D23CAC06D}"/>
              </a:ext>
            </a:extLst>
          </p:cNvPr>
          <p:cNvSpPr txBox="1"/>
          <p:nvPr/>
        </p:nvSpPr>
        <p:spPr>
          <a:xfrm>
            <a:off x="3187830" y="2743245"/>
            <a:ext cx="2696065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n˚1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729261-C423-742D-3D2C-4C64F3914563}"/>
              </a:ext>
            </a:extLst>
          </p:cNvPr>
          <p:cNvSpPr txBox="1"/>
          <p:nvPr/>
        </p:nvSpPr>
        <p:spPr>
          <a:xfrm>
            <a:off x="3054280" y="4333073"/>
            <a:ext cx="6070867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Plateforme de conteneurisation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D06362-C845-A852-B649-00F4FCE9275D}"/>
              </a:ext>
            </a:extLst>
          </p:cNvPr>
          <p:cNvSpPr txBox="1"/>
          <p:nvPr/>
        </p:nvSpPr>
        <p:spPr>
          <a:xfrm>
            <a:off x="3054282" y="5760534"/>
            <a:ext cx="6070865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Matériel (virtuel ou physique)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B8A3A9-8EEA-F919-CA6B-F0E46979C6E9}"/>
              </a:ext>
            </a:extLst>
          </p:cNvPr>
          <p:cNvSpPr txBox="1"/>
          <p:nvPr/>
        </p:nvSpPr>
        <p:spPr>
          <a:xfrm>
            <a:off x="3054282" y="5035772"/>
            <a:ext cx="6070866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Système d’exploitation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5150E2-6154-E461-6FF8-08D709C9B0A0}"/>
              </a:ext>
            </a:extLst>
          </p:cNvPr>
          <p:cNvSpPr/>
          <p:nvPr/>
        </p:nvSpPr>
        <p:spPr>
          <a:xfrm>
            <a:off x="3054284" y="2262441"/>
            <a:ext cx="2963161" cy="191076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70976D-005D-ED81-AF01-37C6AF856B73}"/>
              </a:ext>
            </a:extLst>
          </p:cNvPr>
          <p:cNvSpPr txBox="1"/>
          <p:nvPr/>
        </p:nvSpPr>
        <p:spPr>
          <a:xfrm>
            <a:off x="3091992" y="2305193"/>
            <a:ext cx="1973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 n˚1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FB4B65-1BEB-D801-FED3-B7ED01F6892A}"/>
              </a:ext>
            </a:extLst>
          </p:cNvPr>
          <p:cNvSpPr txBox="1"/>
          <p:nvPr/>
        </p:nvSpPr>
        <p:spPr>
          <a:xfrm>
            <a:off x="3187830" y="3456091"/>
            <a:ext cx="2696065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Librairies / Exécutables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E4DC5B-7723-EB66-01EA-50E9FB9E1DDA}"/>
              </a:ext>
            </a:extLst>
          </p:cNvPr>
          <p:cNvSpPr txBox="1"/>
          <p:nvPr/>
        </p:nvSpPr>
        <p:spPr>
          <a:xfrm>
            <a:off x="6295536" y="2743245"/>
            <a:ext cx="2696065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n˚1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85628D-913F-4167-E330-A756816D1461}"/>
              </a:ext>
            </a:extLst>
          </p:cNvPr>
          <p:cNvSpPr/>
          <p:nvPr/>
        </p:nvSpPr>
        <p:spPr>
          <a:xfrm>
            <a:off x="6161990" y="2262441"/>
            <a:ext cx="2963161" cy="191076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982005-5F02-205C-DC49-4FEDF294E076}"/>
              </a:ext>
            </a:extLst>
          </p:cNvPr>
          <p:cNvSpPr txBox="1"/>
          <p:nvPr/>
        </p:nvSpPr>
        <p:spPr>
          <a:xfrm>
            <a:off x="6199698" y="2305193"/>
            <a:ext cx="1973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 n˚2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F5E838-8867-C7F9-76EF-3306B0951C51}"/>
              </a:ext>
            </a:extLst>
          </p:cNvPr>
          <p:cNvSpPr txBox="1"/>
          <p:nvPr/>
        </p:nvSpPr>
        <p:spPr>
          <a:xfrm>
            <a:off x="6295535" y="3479110"/>
            <a:ext cx="2696065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Librairies / Exécutables</a:t>
            </a:r>
          </a:p>
        </p:txBody>
      </p:sp>
    </p:spTree>
    <p:extLst>
      <p:ext uri="{BB962C8B-B14F-4D97-AF65-F5344CB8AC3E}">
        <p14:creationId xmlns:p14="http://schemas.microsoft.com/office/powerpoint/2010/main" val="670912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Évolution du déploiement d’applications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Avantages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Gestion des dépendances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les conteneurs permettent d’embarques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toutes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les dépendances nécessaires à une application (exemples : librairies, exécutables, variable d’environnement…).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Efficacité :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conteneurs consomment moins de ressources (mémoire et espace disque).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Rapidité de démarrage :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conteneurs peuvent démarrer en quelques secondes, par opposition aux minutes pour des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VMs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4761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Évolution du déploiement d’applications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Avantages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Remplaçabilité :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étant donné les faibles temps de redémarrage, un conteneur venant à faillir peut être très facilement remplacé 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Portabilité :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conteneurs sont indépendants du système d'exploitation, ce qui leur permet de fonctionner uniformément sur toutes les plateformes.</a:t>
            </a:r>
          </a:p>
        </p:txBody>
      </p:sp>
    </p:spTree>
    <p:extLst>
      <p:ext uri="{BB962C8B-B14F-4D97-AF65-F5344CB8AC3E}">
        <p14:creationId xmlns:p14="http://schemas.microsoft.com/office/powerpoint/2010/main" val="2892646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Évolution du déploiement d’applications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Inconvénients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Contrôle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moins de contrôle sur la configuration exacte du système hôte (+ requiert un noyau Linux).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Isolation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bien que les conteneurs fournissent un certain niveau d'isolation, ils ne sont pas aussi isolés que les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VMs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ou les serveurs dédiés. Si un utilisateur parvenait à sortir d'un conteneur, il pourrait accéder au système hôte ou à d'autres conteneurs.</a:t>
            </a:r>
          </a:p>
        </p:txBody>
      </p:sp>
    </p:spTree>
    <p:extLst>
      <p:ext uri="{BB962C8B-B14F-4D97-AF65-F5344CB8AC3E}">
        <p14:creationId xmlns:p14="http://schemas.microsoft.com/office/powerpoint/2010/main" val="1279457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Évolution du déploiement d’applications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Matrice des compromis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91C469-9356-65B5-7BBD-4E47B905930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89028"/>
          <a:ext cx="10515599" cy="4692915"/>
        </p:xfrm>
        <a:graphic>
          <a:graphicData uri="http://schemas.openxmlformats.org/drawingml/2006/table">
            <a:tbl>
              <a:tblPr firstRow="1" firstCol="1">
                <a:tableStyleId>{8799B23B-EC83-4686-B30A-512413B5E67A}</a:tableStyleId>
              </a:tblPr>
              <a:tblGrid>
                <a:gridCol w="2932522">
                  <a:extLst>
                    <a:ext uri="{9D8B030D-6E8A-4147-A177-3AD203B41FA5}">
                      <a16:colId xmlns:a16="http://schemas.microsoft.com/office/drawing/2014/main" val="262854802"/>
                    </a:ext>
                  </a:extLst>
                </a:gridCol>
                <a:gridCol w="2516956">
                  <a:extLst>
                    <a:ext uri="{9D8B030D-6E8A-4147-A177-3AD203B41FA5}">
                      <a16:colId xmlns:a16="http://schemas.microsoft.com/office/drawing/2014/main" val="1880610375"/>
                    </a:ext>
                  </a:extLst>
                </a:gridCol>
                <a:gridCol w="2554664">
                  <a:extLst>
                    <a:ext uri="{9D8B030D-6E8A-4147-A177-3AD203B41FA5}">
                      <a16:colId xmlns:a16="http://schemas.microsoft.com/office/drawing/2014/main" val="2074218594"/>
                    </a:ext>
                  </a:extLst>
                </a:gridCol>
                <a:gridCol w="2511457">
                  <a:extLst>
                    <a:ext uri="{9D8B030D-6E8A-4147-A177-3AD203B41FA5}">
                      <a16:colId xmlns:a16="http://schemas.microsoft.com/office/drawing/2014/main" val="2825852787"/>
                    </a:ext>
                  </a:extLst>
                </a:gridCol>
              </a:tblGrid>
              <a:tr h="521435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Serveurs dédiés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Machines virtuelles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Conteneurs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712812"/>
                  </a:ext>
                </a:extLst>
              </a:tr>
              <a:tr h="521435">
                <a:tc>
                  <a:txBody>
                    <a:bodyPr/>
                    <a:lstStyle/>
                    <a:p>
                      <a:r>
                        <a:rPr lang="fr-FR" dirty="0"/>
                        <a:t>Gestion des dépendances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73FB79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73F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614904"/>
                  </a:ext>
                </a:extLst>
              </a:tr>
              <a:tr h="521435">
                <a:tc>
                  <a:txBody>
                    <a:bodyPr/>
                    <a:lstStyle/>
                    <a:p>
                      <a:r>
                        <a:rPr lang="fr-FR" dirty="0"/>
                        <a:t>Optimisation des ressources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FD78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73F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54032"/>
                  </a:ext>
                </a:extLst>
              </a:tr>
              <a:tr h="521435">
                <a:tc>
                  <a:txBody>
                    <a:bodyPr/>
                    <a:lstStyle/>
                    <a:p>
                      <a:r>
                        <a:rPr lang="fr-FR" dirty="0"/>
                        <a:t>Isolation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73FB79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73FB79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FD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326648"/>
                  </a:ext>
                </a:extLst>
              </a:tr>
              <a:tr h="521435">
                <a:tc>
                  <a:txBody>
                    <a:bodyPr/>
                    <a:lstStyle/>
                    <a:p>
                      <a:r>
                        <a:rPr lang="fr-FR" dirty="0"/>
                        <a:t>Vitesse de démarrage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FD78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73F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107640"/>
                  </a:ext>
                </a:extLst>
              </a:tr>
              <a:tr h="521435">
                <a:tc>
                  <a:txBody>
                    <a:bodyPr/>
                    <a:lstStyle/>
                    <a:p>
                      <a:r>
                        <a:rPr lang="fr-FR" dirty="0"/>
                        <a:t>Parité entre dev/prod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FD78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73F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254000"/>
                  </a:ext>
                </a:extLst>
              </a:tr>
              <a:tr h="521435">
                <a:tc>
                  <a:txBody>
                    <a:bodyPr/>
                    <a:lstStyle/>
                    <a:p>
                      <a:r>
                        <a:rPr lang="fr-FR" dirty="0"/>
                        <a:t>Contrôle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73FB79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FD78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FD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217739"/>
                  </a:ext>
                </a:extLst>
              </a:tr>
              <a:tr h="521435">
                <a:tc>
                  <a:txBody>
                    <a:bodyPr/>
                    <a:lstStyle/>
                    <a:p>
                      <a:r>
                        <a:rPr lang="fr-FR" dirty="0"/>
                        <a:t>Performance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73FB79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73FB79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73F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558752"/>
                  </a:ext>
                </a:extLst>
              </a:tr>
              <a:tr h="521435">
                <a:tc>
                  <a:txBody>
                    <a:bodyPr/>
                    <a:lstStyle/>
                    <a:p>
                      <a:r>
                        <a:rPr lang="fr-FR" dirty="0"/>
                        <a:t>Frais d’exploitation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FFFD78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73F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894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873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Évolution du déploiement d’applications</a:t>
            </a:r>
          </a:p>
        </p:txBody>
      </p:sp>
    </p:spTree>
    <p:extLst>
      <p:ext uri="{BB962C8B-B14F-4D97-AF65-F5344CB8AC3E}">
        <p14:creationId xmlns:p14="http://schemas.microsoft.com/office/powerpoint/2010/main" val="3870515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6E163-1E71-0AF0-EEDF-C14D40054A5D}"/>
              </a:ext>
            </a:extLst>
          </p:cNvPr>
          <p:cNvSpPr txBox="1">
            <a:spLocks/>
          </p:cNvSpPr>
          <p:nvPr/>
        </p:nvSpPr>
        <p:spPr>
          <a:xfrm>
            <a:off x="831850" y="3618967"/>
            <a:ext cx="10515600" cy="8382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Présentation de Docker</a:t>
            </a:r>
          </a:p>
        </p:txBody>
      </p:sp>
    </p:spTree>
    <p:extLst>
      <p:ext uri="{BB962C8B-B14F-4D97-AF65-F5344CB8AC3E}">
        <p14:creationId xmlns:p14="http://schemas.microsoft.com/office/powerpoint/2010/main" val="1859031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Présentation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52577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 une plateforme centrée autour du concept des conteneurs.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Sorti en 2013.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Écrit avec le langage Go.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Open-source.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Disponible aussi sous macOS et Windows (car met implicitement à disposition un noyau Linux).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27C3C73-AB8F-7BBD-9BB6-4E3AA853F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7951" y="2519011"/>
            <a:ext cx="3412045" cy="239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471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Présentation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Conteneurs Docker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n’a pas inventé les conteneurs mais les a largement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démocratisés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en rendant simple leur utilisation.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change la manière dont on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pense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livre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des applications.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effet, le livrable à l’issue des développements n’est plus un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artéfact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(exemples : .jar/.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pour une application Java, dossier "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 pour une application web…) mais un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environnement autonome et complet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Cet environnement contient l’artéfact et en plus toutes les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dépendances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dont il a besoin pour s’exécuter (exemples : librairies, paquets, variables d’environnement, fichiers de configuration).</a:t>
            </a:r>
          </a:p>
        </p:txBody>
      </p:sp>
    </p:spTree>
    <p:extLst>
      <p:ext uri="{BB962C8B-B14F-4D97-AF65-F5344CB8AC3E}">
        <p14:creationId xmlns:p14="http://schemas.microsoft.com/office/powerpoint/2010/main" val="617255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Présentation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Exemple de conteneur Docker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(Écosystème Java)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7FC509-109E-40C7-FAAC-AA1690D6A030}"/>
              </a:ext>
            </a:extLst>
          </p:cNvPr>
          <p:cNvSpPr/>
          <p:nvPr/>
        </p:nvSpPr>
        <p:spPr>
          <a:xfrm>
            <a:off x="4787219" y="2363865"/>
            <a:ext cx="2617561" cy="3015531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82A747-592A-1455-45C6-95F6735DC44C}"/>
              </a:ext>
            </a:extLst>
          </p:cNvPr>
          <p:cNvSpPr txBox="1"/>
          <p:nvPr/>
        </p:nvSpPr>
        <p:spPr>
          <a:xfrm>
            <a:off x="4824927" y="2406618"/>
            <a:ext cx="1973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 n˚1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CB10C990-D8D3-0EEC-6D6A-91984059A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9345" y="4785135"/>
            <a:ext cx="1156346" cy="3144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8D8D0BE-7AF2-4084-05AE-C718E08A3D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1593" y="3919009"/>
            <a:ext cx="891850" cy="6358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B6C35D-74F4-63CE-0F60-9507DAE0B7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074" y="2938991"/>
            <a:ext cx="891850" cy="8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51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Présentation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Exemple de conteneur Docker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(Écosystème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Node.js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7FC509-109E-40C7-FAAC-AA1690D6A030}"/>
              </a:ext>
            </a:extLst>
          </p:cNvPr>
          <p:cNvSpPr/>
          <p:nvPr/>
        </p:nvSpPr>
        <p:spPr>
          <a:xfrm>
            <a:off x="4787219" y="2363865"/>
            <a:ext cx="2617561" cy="3015531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82A747-592A-1455-45C6-95F6735DC44C}"/>
              </a:ext>
            </a:extLst>
          </p:cNvPr>
          <p:cNvSpPr txBox="1"/>
          <p:nvPr/>
        </p:nvSpPr>
        <p:spPr>
          <a:xfrm>
            <a:off x="4824927" y="2406618"/>
            <a:ext cx="1973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 n˚2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AE8D99-B0C8-7B8C-0656-F4CC23E8B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549" y="2818703"/>
            <a:ext cx="13589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92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Présentation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Images Docker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 définir un conteneur, Docker emploie le concept d’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Une image exécutée est un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 conteneur est l’instance d’une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1775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Présentation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Exécution d’une image Docker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7FC509-109E-40C7-FAAC-AA1690D6A030}"/>
              </a:ext>
            </a:extLst>
          </p:cNvPr>
          <p:cNvSpPr/>
          <p:nvPr/>
        </p:nvSpPr>
        <p:spPr>
          <a:xfrm>
            <a:off x="7277501" y="2600690"/>
            <a:ext cx="2117715" cy="2396072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82A747-592A-1455-45C6-95F6735DC44C}"/>
              </a:ext>
            </a:extLst>
          </p:cNvPr>
          <p:cNvSpPr txBox="1"/>
          <p:nvPr/>
        </p:nvSpPr>
        <p:spPr>
          <a:xfrm>
            <a:off x="7315210" y="2643442"/>
            <a:ext cx="159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 n˚1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CB10C990-D8D3-0EEC-6D6A-91984059A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9345" y="4436283"/>
            <a:ext cx="994025" cy="27032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8D8D0BE-7AF2-4084-05AE-C718E08A3D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51276" y="3756379"/>
            <a:ext cx="546629" cy="3897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B6C35D-74F4-63CE-0F60-9507DAE0B7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1875" y="3072184"/>
            <a:ext cx="546629" cy="54662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126B0A1-BCF3-916F-AFAA-79987A79EB78}"/>
              </a:ext>
            </a:extLst>
          </p:cNvPr>
          <p:cNvSpPr/>
          <p:nvPr/>
        </p:nvSpPr>
        <p:spPr>
          <a:xfrm>
            <a:off x="2796785" y="2600690"/>
            <a:ext cx="2117715" cy="23960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E4589E-D802-511E-B76C-E535B796C748}"/>
              </a:ext>
            </a:extLst>
          </p:cNvPr>
          <p:cNvSpPr txBox="1"/>
          <p:nvPr/>
        </p:nvSpPr>
        <p:spPr>
          <a:xfrm>
            <a:off x="2834494" y="2643442"/>
            <a:ext cx="159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 n˚1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1821851D-301F-49CA-862E-C8047B26F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8629" y="4436283"/>
            <a:ext cx="994025" cy="270324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252C87D4-A24B-3204-5B1E-FB12DCE530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70560" y="3756379"/>
            <a:ext cx="546629" cy="38974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D42C047-C86E-708A-524A-136D821A63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1159" y="3072184"/>
            <a:ext cx="546629" cy="546629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AF8B055-5FDC-5EB2-203C-F50CDC730C83}"/>
              </a:ext>
            </a:extLst>
          </p:cNvPr>
          <p:cNvCxnSpPr>
            <a:stCxn id="20" idx="3"/>
            <a:endCxn id="10" idx="1"/>
          </p:cNvCxnSpPr>
          <p:nvPr/>
        </p:nvCxnSpPr>
        <p:spPr>
          <a:xfrm>
            <a:off x="4914500" y="3798726"/>
            <a:ext cx="236300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2A1FADD-63C0-944B-FFA4-E8E30E919729}"/>
              </a:ext>
            </a:extLst>
          </p:cNvPr>
          <p:cNvSpPr txBox="1"/>
          <p:nvPr/>
        </p:nvSpPr>
        <p:spPr>
          <a:xfrm>
            <a:off x="5297742" y="3380724"/>
            <a:ext cx="159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 exécutée</a:t>
            </a:r>
          </a:p>
        </p:txBody>
      </p:sp>
    </p:spTree>
    <p:extLst>
      <p:ext uri="{BB962C8B-B14F-4D97-AF65-F5344CB8AC3E}">
        <p14:creationId xmlns:p14="http://schemas.microsoft.com/office/powerpoint/2010/main" val="20152187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Présentation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Images Docker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est possible d’exécuter une image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plusieurs fois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afin de disposer de plusieurs conteneurs identiques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simultanément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Cette pratique est notamment employée dans des scénarios de haute disponibilité.</a:t>
            </a:r>
          </a:p>
        </p:txBody>
      </p:sp>
    </p:spTree>
    <p:extLst>
      <p:ext uri="{BB962C8B-B14F-4D97-AF65-F5344CB8AC3E}">
        <p14:creationId xmlns:p14="http://schemas.microsoft.com/office/powerpoint/2010/main" val="1594383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Présentation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Exécutions d’une image Docker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7FC509-109E-40C7-FAAC-AA1690D6A030}"/>
              </a:ext>
            </a:extLst>
          </p:cNvPr>
          <p:cNvSpPr/>
          <p:nvPr/>
        </p:nvSpPr>
        <p:spPr>
          <a:xfrm>
            <a:off x="7277501" y="944219"/>
            <a:ext cx="2117715" cy="2396072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82A747-592A-1455-45C6-95F6735DC44C}"/>
              </a:ext>
            </a:extLst>
          </p:cNvPr>
          <p:cNvSpPr txBox="1"/>
          <p:nvPr/>
        </p:nvSpPr>
        <p:spPr>
          <a:xfrm>
            <a:off x="7315210" y="986971"/>
            <a:ext cx="159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 n˚1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CB10C990-D8D3-0EEC-6D6A-91984059A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9345" y="2779812"/>
            <a:ext cx="994025" cy="27032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8D8D0BE-7AF2-4084-05AE-C718E08A3D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51276" y="2099908"/>
            <a:ext cx="546629" cy="3897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B6C35D-74F4-63CE-0F60-9507DAE0B7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1875" y="1415713"/>
            <a:ext cx="546629" cy="54662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FCD5DCC-5249-48EC-34E0-546FDFA5F500}"/>
              </a:ext>
            </a:extLst>
          </p:cNvPr>
          <p:cNvSpPr/>
          <p:nvPr/>
        </p:nvSpPr>
        <p:spPr>
          <a:xfrm>
            <a:off x="7277501" y="3630446"/>
            <a:ext cx="2117715" cy="2396072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DC0BDD-EDCE-1DD9-9979-BB6F14CB3911}"/>
              </a:ext>
            </a:extLst>
          </p:cNvPr>
          <p:cNvSpPr txBox="1"/>
          <p:nvPr/>
        </p:nvSpPr>
        <p:spPr>
          <a:xfrm>
            <a:off x="7315210" y="3673198"/>
            <a:ext cx="159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 n˚2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875C292-B990-7CBF-807F-BC3659DA5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9345" y="5466039"/>
            <a:ext cx="994025" cy="270324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3B63258-2375-86FF-79B8-43595C4A16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51276" y="4786135"/>
            <a:ext cx="546629" cy="38974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F5C76A-6978-FD1D-CD33-86EE9F59F6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1875" y="4101940"/>
            <a:ext cx="546629" cy="54662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126B0A1-BCF3-916F-AFAA-79987A79EB78}"/>
              </a:ext>
            </a:extLst>
          </p:cNvPr>
          <p:cNvSpPr/>
          <p:nvPr/>
        </p:nvSpPr>
        <p:spPr>
          <a:xfrm>
            <a:off x="2796785" y="2600690"/>
            <a:ext cx="2117715" cy="23960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E4589E-D802-511E-B76C-E535B796C748}"/>
              </a:ext>
            </a:extLst>
          </p:cNvPr>
          <p:cNvSpPr txBox="1"/>
          <p:nvPr/>
        </p:nvSpPr>
        <p:spPr>
          <a:xfrm>
            <a:off x="2834494" y="2643442"/>
            <a:ext cx="159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 n˚1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1821851D-301F-49CA-862E-C8047B26F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8629" y="4436283"/>
            <a:ext cx="994025" cy="270324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252C87D4-A24B-3204-5B1E-FB12DCE530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70560" y="3756379"/>
            <a:ext cx="546629" cy="38974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D42C047-C86E-708A-524A-136D821A63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1159" y="3072184"/>
            <a:ext cx="546629" cy="546629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AF8B055-5FDC-5EB2-203C-F50CDC730C83}"/>
              </a:ext>
            </a:extLst>
          </p:cNvPr>
          <p:cNvCxnSpPr>
            <a:stCxn id="20" idx="3"/>
            <a:endCxn id="10" idx="1"/>
          </p:cNvCxnSpPr>
          <p:nvPr/>
        </p:nvCxnSpPr>
        <p:spPr>
          <a:xfrm flipV="1">
            <a:off x="4914500" y="2142255"/>
            <a:ext cx="2363001" cy="16564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2A1FADD-63C0-944B-FFA4-E8E30E919729}"/>
              </a:ext>
            </a:extLst>
          </p:cNvPr>
          <p:cNvSpPr txBox="1"/>
          <p:nvPr/>
        </p:nvSpPr>
        <p:spPr>
          <a:xfrm>
            <a:off x="5297742" y="2281539"/>
            <a:ext cx="159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 exécutée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DD0EB11-B639-A9F6-0413-A664BD7D49D0}"/>
              </a:ext>
            </a:extLst>
          </p:cNvPr>
          <p:cNvCxnSpPr>
            <a:cxnSpLocks/>
            <a:stCxn id="20" idx="3"/>
            <a:endCxn id="14" idx="1"/>
          </p:cNvCxnSpPr>
          <p:nvPr/>
        </p:nvCxnSpPr>
        <p:spPr>
          <a:xfrm>
            <a:off x="4914500" y="3798726"/>
            <a:ext cx="2363001" cy="10297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C095778-38CF-85EC-B994-19360785F943}"/>
              </a:ext>
            </a:extLst>
          </p:cNvPr>
          <p:cNvSpPr txBox="1"/>
          <p:nvPr/>
        </p:nvSpPr>
        <p:spPr>
          <a:xfrm>
            <a:off x="5450142" y="4574950"/>
            <a:ext cx="159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 exécutée</a:t>
            </a:r>
          </a:p>
        </p:txBody>
      </p:sp>
    </p:spTree>
    <p:extLst>
      <p:ext uri="{BB962C8B-B14F-4D97-AF65-F5344CB8AC3E}">
        <p14:creationId xmlns:p14="http://schemas.microsoft.com/office/powerpoint/2010/main" val="1896830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Présentation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Hub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Une des raisons expliquant la popularité de Docker est la mise à disposition d’une vaste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collection publique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d’images.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À ce jour, elle en contient plus de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100 000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existe ainsi pratiquement toujours une image pour une technologie, un service, ou une application donnée.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plus populaires sont généralement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officielles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c’est-à-dire publiées et maintenues régulièrement par Docker eux-mêmes.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Cette collection est ce que l’on appelle un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registre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Docker.</a:t>
            </a:r>
          </a:p>
        </p:txBody>
      </p:sp>
    </p:spTree>
    <p:extLst>
      <p:ext uri="{BB962C8B-B14F-4D97-AF65-F5344CB8AC3E}">
        <p14:creationId xmlns:p14="http://schemas.microsoft.com/office/powerpoint/2010/main" val="2946669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Présentation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Hub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https://hub.docker.com/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A screenshot of a login form&#10;&#10;Description automatically generated">
            <a:extLst>
              <a:ext uri="{FF2B5EF4-FFF2-40B4-BE49-F238E27FC236}">
                <a16:creationId xmlns:a16="http://schemas.microsoft.com/office/drawing/2014/main" id="{8D878E3F-100D-02E7-B6DF-950BBA59D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957" y="2058361"/>
            <a:ext cx="8682086" cy="470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5679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Présentation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Exemples d’images sur Docker Hub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904D5E9-2098-7934-FD58-1144A3827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262" y="1689029"/>
            <a:ext cx="9651476" cy="489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2774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Présentation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Exemples d’images sur Docker Hub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18A3C67A-FCBE-2224-53E7-22D6128FE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81666"/>
            <a:ext cx="7772400" cy="456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730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Présentation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Exemples d’images sur Docker Hub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23939C2-892D-4B3F-C171-150571AE7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373" y="1781666"/>
            <a:ext cx="7772400" cy="456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32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Présentation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Conteneurs Docker et noyau Linux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Comme mentionné plus tôt, les conteneurs partagent un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même noyau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Linux.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Ainsi, on ne peut pas dire d’eux qu’ils soient totalement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isolés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puisqu’ils communiquent avec ce noyau.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 autant, des images Docker de distributions Linux (exemples : Ubuntu, Debian,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openSUSE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sont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disponibles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 Docker Hub.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Comment est-ce possible ?</a:t>
            </a:r>
          </a:p>
        </p:txBody>
      </p:sp>
    </p:spTree>
    <p:extLst>
      <p:ext uri="{BB962C8B-B14F-4D97-AF65-F5344CB8AC3E}">
        <p14:creationId xmlns:p14="http://schemas.microsoft.com/office/powerpoint/2010/main" val="24450432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Présentation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Conteneurs Docker et noyau Linux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26F6D2-FCB2-CA68-7913-394EC69BF23A}"/>
              </a:ext>
            </a:extLst>
          </p:cNvPr>
          <p:cNvSpPr/>
          <p:nvPr/>
        </p:nvSpPr>
        <p:spPr>
          <a:xfrm>
            <a:off x="1239476" y="1689029"/>
            <a:ext cx="9713048" cy="4803845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16A41-6319-FADC-08DE-4F13433CEB87}"/>
              </a:ext>
            </a:extLst>
          </p:cNvPr>
          <p:cNvSpPr txBox="1"/>
          <p:nvPr/>
        </p:nvSpPr>
        <p:spPr>
          <a:xfrm>
            <a:off x="1448601" y="5691134"/>
            <a:ext cx="9254247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Noyau Linux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7FC509-109E-40C7-FAAC-AA1690D6A030}"/>
              </a:ext>
            </a:extLst>
          </p:cNvPr>
          <p:cNvSpPr/>
          <p:nvPr/>
        </p:nvSpPr>
        <p:spPr>
          <a:xfrm>
            <a:off x="1448601" y="1867754"/>
            <a:ext cx="2963161" cy="359764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82A747-592A-1455-45C6-95F6735DC44C}"/>
              </a:ext>
            </a:extLst>
          </p:cNvPr>
          <p:cNvSpPr txBox="1"/>
          <p:nvPr/>
        </p:nvSpPr>
        <p:spPr>
          <a:xfrm>
            <a:off x="1486309" y="1910507"/>
            <a:ext cx="1973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 n˚1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45FEB5-F162-F15E-8849-31032B24A046}"/>
              </a:ext>
            </a:extLst>
          </p:cNvPr>
          <p:cNvSpPr/>
          <p:nvPr/>
        </p:nvSpPr>
        <p:spPr>
          <a:xfrm>
            <a:off x="4620885" y="1867754"/>
            <a:ext cx="2963161" cy="359764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3448CF-F1B4-E12F-FF11-6CE8F129FAD5}"/>
              </a:ext>
            </a:extLst>
          </p:cNvPr>
          <p:cNvSpPr txBox="1"/>
          <p:nvPr/>
        </p:nvSpPr>
        <p:spPr>
          <a:xfrm>
            <a:off x="4658593" y="1910507"/>
            <a:ext cx="1973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 n˚2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D100C1-7962-5674-914B-C297356AF272}"/>
              </a:ext>
            </a:extLst>
          </p:cNvPr>
          <p:cNvSpPr/>
          <p:nvPr/>
        </p:nvSpPr>
        <p:spPr>
          <a:xfrm>
            <a:off x="7793169" y="1867754"/>
            <a:ext cx="2963161" cy="359764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86B22B-8A76-8E43-D2C9-D25299BA5268}"/>
              </a:ext>
            </a:extLst>
          </p:cNvPr>
          <p:cNvSpPr txBox="1"/>
          <p:nvPr/>
        </p:nvSpPr>
        <p:spPr>
          <a:xfrm>
            <a:off x="7830877" y="1910507"/>
            <a:ext cx="1973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 n˚3</a:t>
            </a:r>
          </a:p>
        </p:txBody>
      </p:sp>
      <p:pic>
        <p:nvPicPr>
          <p:cNvPr id="26" name="Picture 25" descr="A blue elephant with black background&#10;&#10;Description automatically generated">
            <a:extLst>
              <a:ext uri="{FF2B5EF4-FFF2-40B4-BE49-F238E27FC236}">
                <a16:creationId xmlns:a16="http://schemas.microsoft.com/office/drawing/2014/main" id="{1B16BCF5-9BC9-7DD9-D65E-58619C333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5005" y="3387543"/>
            <a:ext cx="879485" cy="879485"/>
          </a:xfrm>
          <a:prstGeom prst="rect">
            <a:avLst/>
          </a:prstGeom>
        </p:spPr>
      </p:pic>
      <p:pic>
        <p:nvPicPr>
          <p:cNvPr id="29" name="Picture 28" descr="A black and white logo&#10;&#10;Description automatically generated">
            <a:extLst>
              <a:ext uri="{FF2B5EF4-FFF2-40B4-BE49-F238E27FC236}">
                <a16:creationId xmlns:a16="http://schemas.microsoft.com/office/drawing/2014/main" id="{7CF0E53F-CD36-D8D3-AAB3-88E24FECB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832" y="4538535"/>
            <a:ext cx="1458335" cy="51269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3C32F57-AFFA-6339-2D73-9504BA419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051" y="2255723"/>
            <a:ext cx="1323614" cy="132361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C189619-4BCA-06EE-DA4F-556FE0A94B58}"/>
              </a:ext>
            </a:extLst>
          </p:cNvPr>
          <p:cNvSpPr txBox="1"/>
          <p:nvPr/>
        </p:nvSpPr>
        <p:spPr>
          <a:xfrm>
            <a:off x="5676089" y="2774173"/>
            <a:ext cx="679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dist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FE45C866-73D4-43F8-8709-91A52933E0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2598" y="3519132"/>
            <a:ext cx="1224334" cy="747896"/>
          </a:xfrm>
          <a:prstGeom prst="rect">
            <a:avLst/>
          </a:prstGeom>
        </p:spPr>
      </p:pic>
      <p:pic>
        <p:nvPicPr>
          <p:cNvPr id="35" name="Picture 34" descr="A black and white logo&#10;&#10;Description automatically generated">
            <a:extLst>
              <a:ext uri="{FF2B5EF4-FFF2-40B4-BE49-F238E27FC236}">
                <a16:creationId xmlns:a16="http://schemas.microsoft.com/office/drawing/2014/main" id="{7355627C-9D18-965F-022B-8E574079E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581" y="4538535"/>
            <a:ext cx="1458335" cy="512696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62B6F91A-5937-5912-7820-F799EE6D58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66143" y="4538535"/>
            <a:ext cx="2128075" cy="517063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CB10C990-D8D3-0EEC-6D6A-91984059A1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10727" y="3665334"/>
            <a:ext cx="1674914" cy="455491"/>
          </a:xfrm>
          <a:prstGeom prst="rect">
            <a:avLst/>
          </a:prstGeom>
        </p:spPr>
      </p:pic>
      <p:pic>
        <p:nvPicPr>
          <p:cNvPr id="49" name="Picture 48" descr="A black and white image of a jar&#10;&#10;Description automatically generated">
            <a:extLst>
              <a:ext uri="{FF2B5EF4-FFF2-40B4-BE49-F238E27FC236}">
                <a16:creationId xmlns:a16="http://schemas.microsoft.com/office/drawing/2014/main" id="{883EB7B9-D4B1-D767-F78A-6F125ABFEBA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85258" y="2354604"/>
            <a:ext cx="1125851" cy="112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634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Présentation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Conteneurs Docker et noyau Linux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Ces images Docker de distributions Linux ne sont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 strictement équivalentes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à leurs homologues originaux.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effet, on y trouve uniquement le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gestionnaire de paquets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les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et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outils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habituels.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Elles n’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incluent pas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 noyau et autres composants système (exemple : pilotes).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Ces images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spécialement configurée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 pour fonctionner dans l'environnement Docker.  </a:t>
            </a:r>
          </a:p>
        </p:txBody>
      </p:sp>
    </p:spTree>
    <p:extLst>
      <p:ext uri="{BB962C8B-B14F-4D97-AF65-F5344CB8AC3E}">
        <p14:creationId xmlns:p14="http://schemas.microsoft.com/office/powerpoint/2010/main" val="21442564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Présentation de Docker</a:t>
            </a:r>
          </a:p>
        </p:txBody>
      </p:sp>
    </p:spTree>
    <p:extLst>
      <p:ext uri="{BB962C8B-B14F-4D97-AF65-F5344CB8AC3E}">
        <p14:creationId xmlns:p14="http://schemas.microsoft.com/office/powerpoint/2010/main" val="39627956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6E163-1E71-0AF0-EEDF-C14D40054A5D}"/>
              </a:ext>
            </a:extLst>
          </p:cNvPr>
          <p:cNvSpPr txBox="1">
            <a:spLocks/>
          </p:cNvSpPr>
          <p:nvPr/>
        </p:nvSpPr>
        <p:spPr>
          <a:xfrm>
            <a:off x="831850" y="3618967"/>
            <a:ext cx="10515600" cy="8382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Architecture de Docker</a:t>
            </a:r>
          </a:p>
        </p:txBody>
      </p:sp>
    </p:spTree>
    <p:extLst>
      <p:ext uri="{BB962C8B-B14F-4D97-AF65-F5344CB8AC3E}">
        <p14:creationId xmlns:p14="http://schemas.microsoft.com/office/powerpoint/2010/main" val="13362087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Architecture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622247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est basé sur un modèle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client-serveur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client Docker communique avec un programme qui tourne en arrière-plan : le 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daemon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Docker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 découplage permet de communiquer avec un daemon Docker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extérieur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à la machine cliente (exemple : serveur distant).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client et le daemon communiquent via une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API RESTful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9" name="Picture 8" descr="A blue box with gears on it&#10;&#10;Description automatically generated">
            <a:extLst>
              <a:ext uri="{FF2B5EF4-FFF2-40B4-BE49-F238E27FC236}">
                <a16:creationId xmlns:a16="http://schemas.microsoft.com/office/drawing/2014/main" id="{177BCCE4-D1CE-98BA-472D-9D15439E4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037" y="2369481"/>
            <a:ext cx="3703457" cy="306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880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Architecture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6222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Schématisation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8B84E8-378F-1B1E-A02F-3C7A8500C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239" y="1689029"/>
            <a:ext cx="8901522" cy="469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54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Architecture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Daemon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Docker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daemon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Docker (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dockerd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traite les instructions reçues via l'API Docker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gère les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objets Docker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tels que les images ou les conteneurs.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 daemon peut également communiquer avec d'autres daemons pour gérer les services Docker.</a:t>
            </a:r>
          </a:p>
        </p:txBody>
      </p:sp>
    </p:spTree>
    <p:extLst>
      <p:ext uri="{BB962C8B-B14F-4D97-AF65-F5344CB8AC3E}">
        <p14:creationId xmlns:p14="http://schemas.microsoft.com/office/powerpoint/2010/main" val="30943568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Architecture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Client Docker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client Docker est le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moyen principal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d’interagir avec Docker.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correspond à la commande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docker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dans le terminal.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exécutant des commandes telles que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docker run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le client envoie ces commandes à </a:t>
            </a: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dockerd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via l’API.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client Docker peut communiquer avec plus d'un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daemon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à la fois.</a:t>
            </a:r>
          </a:p>
        </p:txBody>
      </p:sp>
    </p:spTree>
    <p:extLst>
      <p:ext uri="{BB962C8B-B14F-4D97-AF65-F5344CB8AC3E}">
        <p14:creationId xmlns:p14="http://schemas.microsoft.com/office/powerpoint/2010/main" val="33552158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Architecture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Desktop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Desktop est une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à destination d’ordinateurs (par opposition aux serveurs).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Elle constitue un moyen simple d’installer Docker.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Elle est disponible sous macOS, Windows ou Linux.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Elle inclut entre autres :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daemon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Docker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client Docker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Une interface graphique</a:t>
            </a:r>
          </a:p>
        </p:txBody>
      </p:sp>
    </p:spTree>
    <p:extLst>
      <p:ext uri="{BB962C8B-B14F-4D97-AF65-F5344CB8AC3E}">
        <p14:creationId xmlns:p14="http://schemas.microsoft.com/office/powerpoint/2010/main" val="229464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Architecture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Desktop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8D8E2FB-4627-FEA2-D7FC-FAC16911F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029" y="1689029"/>
            <a:ext cx="7273942" cy="503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119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Architecture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Ajuster les ressources allouées pour Docker Desktop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EF327E6-3DDE-03C1-C6D0-462E7075C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47456"/>
            <a:ext cx="7772400" cy="530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1372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Architecture de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Vérification de la présence du client Docker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S’assurer que la commande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docker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est disponible dans le terminal :</a:t>
            </a:r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C6A64543-8407-9E1D-D978-AF25046E347D}"/>
              </a:ext>
            </a:extLst>
          </p:cNvPr>
          <p:cNvSpPr txBox="1"/>
          <p:nvPr/>
        </p:nvSpPr>
        <p:spPr>
          <a:xfrm>
            <a:off x="838200" y="2631997"/>
            <a:ext cx="10515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--version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Docker version 24.0.6, build ed223bc</a:t>
            </a:r>
          </a:p>
        </p:txBody>
      </p:sp>
    </p:spTree>
    <p:extLst>
      <p:ext uri="{BB962C8B-B14F-4D97-AF65-F5344CB8AC3E}">
        <p14:creationId xmlns:p14="http://schemas.microsoft.com/office/powerpoint/2010/main" val="23603797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3. Architecture de Docker</a:t>
            </a:r>
          </a:p>
        </p:txBody>
      </p:sp>
    </p:spTree>
    <p:extLst>
      <p:ext uri="{BB962C8B-B14F-4D97-AF65-F5344CB8AC3E}">
        <p14:creationId xmlns:p14="http://schemas.microsoft.com/office/powerpoint/2010/main" val="19264026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23145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1763</Words>
  <Application>Microsoft Macintosh PowerPoint</Application>
  <PresentationFormat>Widescreen</PresentationFormat>
  <Paragraphs>319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Calibri Light</vt:lpstr>
      <vt:lpstr>Consolas</vt:lpstr>
      <vt:lpstr>Thème Office</vt:lpstr>
      <vt:lpstr>1 – Introduction à Docker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– Introduction à Docker</dc:title>
  <dc:creator>Alexandre Gressier</dc:creator>
  <cp:lastModifiedBy>Alexandre Gressier</cp:lastModifiedBy>
  <cp:revision>1</cp:revision>
  <dcterms:created xsi:type="dcterms:W3CDTF">2023-10-02T06:20:08Z</dcterms:created>
  <dcterms:modified xsi:type="dcterms:W3CDTF">2023-10-02T06:20:36Z</dcterms:modified>
</cp:coreProperties>
</file>