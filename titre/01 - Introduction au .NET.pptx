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8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7" r:id="rId4"/>
    <p:sldId id="258" r:id="rId5"/>
    <p:sldId id="329" r:id="rId6"/>
    <p:sldId id="330" r:id="rId7"/>
    <p:sldId id="331" r:id="rId8"/>
    <p:sldId id="332" r:id="rId9"/>
    <p:sldId id="333" r:id="rId10"/>
    <p:sldId id="334" r:id="rId11"/>
    <p:sldId id="325" r:id="rId12"/>
    <p:sldId id="262" r:id="rId13"/>
    <p:sldId id="268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28" r:id="rId22"/>
    <p:sldId id="263" r:id="rId23"/>
    <p:sldId id="269" r:id="rId24"/>
    <p:sldId id="342" r:id="rId25"/>
    <p:sldId id="343" r:id="rId26"/>
    <p:sldId id="344" r:id="rId27"/>
    <p:sldId id="345" r:id="rId28"/>
    <p:sldId id="327" r:id="rId29"/>
    <p:sldId id="272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626"/>
  </p:normalViewPr>
  <p:slideViewPr>
    <p:cSldViewPr snapToGrid="0" snapToObjects="1">
      <p:cViewPr varScale="1">
        <p:scale>
          <a:sx n="70" d="100"/>
          <a:sy n="70" d="100"/>
        </p:scale>
        <p:origin x="11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Corentin Zimmermann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2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Github</a:t>
            </a:r>
            <a:r>
              <a:rPr lang="fr-FR" dirty="0"/>
              <a:t> possédé par Microsoft depuis 2018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085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1417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4792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235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i="0" dirty="0" err="1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IronPython</a:t>
            </a:r>
            <a:r>
              <a:rPr lang="fr-FR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:</a:t>
            </a:r>
            <a:r>
              <a:rPr lang="fr-FR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"It Runs On .NET", Implémentation du Python en .NET, encore à jour</a:t>
            </a:r>
          </a:p>
          <a:p>
            <a:pPr algn="just"/>
            <a:r>
              <a:rPr lang="fr-FR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J# :</a:t>
            </a:r>
            <a:r>
              <a:rPr lang="fr-FR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Implémentation non officielle de Java , en .NET, disparu il y a 17 ans 😉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7446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Même principe que le Java, vu par les étudiants l’année d’avant avec le Java Virtual Machine </a:t>
            </a:r>
            <a:r>
              <a:rPr lang="fr-FR" b="0" i="0" dirty="0" err="1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Language</a:t>
            </a:r>
            <a:r>
              <a:rPr lang="fr-FR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409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i="0" dirty="0">
              <a:solidFill>
                <a:srgbClr val="202122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364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75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40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94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13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43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08/09/2024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tn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Introduction au .NET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3ASP - C# / ASP.NET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6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2851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.NET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SDKs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Les outils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 dirty="0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1. .NET</a:t>
            </a:r>
          </a:p>
        </p:txBody>
      </p:sp>
    </p:spTree>
    <p:extLst>
      <p:ext uri="{BB962C8B-B14F-4D97-AF65-F5344CB8AC3E}">
        <p14:creationId xmlns:p14="http://schemas.microsoft.com/office/powerpoint/2010/main" val="111869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NET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 dirty="0"/>
              <a:t>.NET Framework VS .NET (</a:t>
            </a:r>
            <a:r>
              <a:rPr lang="nl-NL" sz="2400" b="1" dirty="0" err="1"/>
              <a:t>Core</a:t>
            </a:r>
            <a:r>
              <a:rPr lang="nl-NL" sz="2400" b="1" dirty="0"/>
              <a:t>)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.NET Framework ≠ .NET (ex .NET </a:t>
            </a:r>
            <a:r>
              <a:rPr lang="fr-FR" sz="2400" dirty="0" err="1"/>
              <a:t>Core</a:t>
            </a:r>
            <a:r>
              <a:rPr lang="fr-F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.NET est une refonte totale de .NET Framework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/>
              <a:t>Nouvelle architecture d’exécution des langages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/>
              <a:t>Unification des plateformes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/>
              <a:t>Open-source (</a:t>
            </a:r>
            <a:r>
              <a:rPr lang="fr-FR" sz="2400" dirty="0">
                <a:sym typeface="Wingdings" panose="05000000000000000000" pitchFamily="2" charset="2"/>
              </a:rPr>
              <a:t> </a:t>
            </a:r>
            <a:r>
              <a:rPr lang="fr-FR" sz="2400" dirty="0" err="1">
                <a:hlinkClick r:id="rId3"/>
              </a:rPr>
              <a:t>Github</a:t>
            </a:r>
            <a:r>
              <a:rPr lang="fr-F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58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NET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/>
              <a:t>.NET Framework</a:t>
            </a:r>
          </a:p>
          <a:p>
            <a:endParaRPr lang="fr-FR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/>
              <a:t>Créé à partir de 1999 (v4.8 en mai 2019)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/>
              <a:t>Mature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/>
              <a:t>Très nombreux contenus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/>
              <a:t>Windows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/>
              <a:t>portage Linux avec Mono</a:t>
            </a:r>
            <a:endParaRPr lang="fr-FR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/>
              <a:t>Propriétaire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/>
              <a:t>devenu Open-Source en 2019</a:t>
            </a:r>
            <a:endParaRPr lang="fr-FR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/>
              <a:t>Performance moyenne (CLR)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/>
              <a:t>Mise à jour de sécurité uniquement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/>
              <a:t>version 4.8.1 en août 2022</a:t>
            </a:r>
            <a:endParaRPr lang="fr-FR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7F1FEF9-83F5-162F-B996-61862F955A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0077" y="4450702"/>
            <a:ext cx="3705032" cy="128465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A447C37-5A32-3E82-ADB3-9E0229ECCD1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5706" y="2795464"/>
            <a:ext cx="396169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2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NET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 dirty="0"/>
              <a:t>.NET (</a:t>
            </a:r>
            <a:r>
              <a:rPr lang="nl-NL" sz="2400" b="1" dirty="0" err="1"/>
              <a:t>Core</a:t>
            </a:r>
            <a:r>
              <a:rPr lang="nl-NL" sz="2400" b="1" dirty="0"/>
              <a:t>)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Créé en 2016 (v8 en </a:t>
            </a:r>
            <a:r>
              <a:rPr lang="fr-FR" sz="2400" dirty="0" err="1"/>
              <a:t>nov</a:t>
            </a:r>
            <a:r>
              <a:rPr lang="fr-FR" sz="2400" dirty="0"/>
              <a:t> 2023)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Refonte complète du </a:t>
            </a:r>
            <a:r>
              <a:rPr lang="fr-FR" sz="2400" dirty="0" err="1"/>
              <a:t>framework</a:t>
            </a:r>
            <a:endParaRPr lang="fr-F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dirty="0"/>
              <a:t>certaines APIs internes sont partagées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Mature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dirty="0"/>
              <a:t>depuis la version 3.x (2019)</a:t>
            </a: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Linux, Mac OS et Windows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Open-Source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Ultra performant (</a:t>
            </a:r>
            <a:r>
              <a:rPr lang="fr-FR" sz="2400" dirty="0" err="1"/>
              <a:t>CoreCLR</a:t>
            </a:r>
            <a:r>
              <a:rPr lang="fr-F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Migration possible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Cycle de versions rapide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(v9 prévu fin d’année 2024)</a:t>
            </a: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D231D4E1-80E8-4BA1-E0FD-D763F4FE35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6517" y="1598894"/>
            <a:ext cx="1606296" cy="1606296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B9EA7875-D9BC-805C-AD11-BD7A6B3A68D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77387" y="4042956"/>
            <a:ext cx="1444752" cy="144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4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NET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5139984-F77F-5B33-0C60-37D76CDF53B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9048" y="665558"/>
            <a:ext cx="1444752" cy="1443227"/>
          </a:xfrm>
          <a:prstGeom prst="rect">
            <a:avLst/>
          </a:prstGeom>
        </p:spPr>
      </p:pic>
      <p:pic>
        <p:nvPicPr>
          <p:cNvPr id="11" name="Image 10" descr="Une image contenant texte, capture d’écran, Tracé, ligne&#10;&#10;Description générée automatiquement">
            <a:extLst>
              <a:ext uri="{FF2B5EF4-FFF2-40B4-BE49-F238E27FC236}">
                <a16:creationId xmlns:a16="http://schemas.microsoft.com/office/drawing/2014/main" id="{D52949A7-835D-A8A8-59D4-0A540E180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371" y="2097899"/>
            <a:ext cx="9710057" cy="389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45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NET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 dirty="0" err="1"/>
              <a:t>Langages</a:t>
            </a:r>
            <a:r>
              <a:rPr lang="nl-NL" sz="2400" b="1" dirty="0"/>
              <a:t> en .NET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 </a:t>
            </a:r>
            <a:r>
              <a:rPr lang="fr-FR" sz="2400" dirty="0" err="1"/>
              <a:t>framework</a:t>
            </a:r>
            <a:r>
              <a:rPr lang="fr-FR" sz="2400" dirty="0"/>
              <a:t> supporte plusieurs langages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C# (plus commun)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F#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Visual Basic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Autre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dirty="0"/>
              <a:t>J#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dirty="0" err="1"/>
              <a:t>IronPython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DAF78600-DB4A-3E4A-A221-9588287CE4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9048" y="654672"/>
            <a:ext cx="1444752" cy="144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84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NET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 dirty="0" err="1"/>
              <a:t>Langages</a:t>
            </a:r>
            <a:r>
              <a:rPr lang="nl-NL" sz="2400" b="1" dirty="0"/>
              <a:t> en .NET</a:t>
            </a:r>
          </a:p>
          <a:p>
            <a:endParaRPr lang="fr-FR" sz="2400" dirty="0"/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Tous ces codes sont compilés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langage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unique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Ce code</a:t>
            </a:r>
            <a:r>
              <a:rPr lang="fr-FR" sz="2000" spc="-5" dirty="0">
                <a:latin typeface="Segoe UI"/>
                <a:cs typeface="Segoe UI"/>
              </a:rPr>
              <a:t> compilé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appelé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IL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(ou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b="1" dirty="0">
                <a:latin typeface="Segoe UI"/>
                <a:cs typeface="Segoe UI"/>
              </a:rPr>
              <a:t>MSIL</a:t>
            </a:r>
            <a:r>
              <a:rPr lang="fr-FR" sz="2000" dirty="0">
                <a:latin typeface="Segoe UI"/>
                <a:cs typeface="Segoe UI"/>
              </a:rPr>
              <a:t>)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"langage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intermédiaire"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Puis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sera</a:t>
            </a:r>
            <a:r>
              <a:rPr lang="fr-FR" sz="2000" spc="-30" dirty="0">
                <a:latin typeface="Segoe UI"/>
                <a:cs typeface="Segoe UI"/>
              </a:rPr>
              <a:t> interprété et </a:t>
            </a:r>
            <a:r>
              <a:rPr lang="fr-FR" sz="2000" dirty="0">
                <a:latin typeface="Segoe UI"/>
                <a:cs typeface="Segoe UI"/>
              </a:rPr>
              <a:t>exécuté par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b="1" spc="-10" dirty="0" err="1">
                <a:latin typeface="Segoe UI"/>
                <a:cs typeface="Segoe UI"/>
              </a:rPr>
              <a:t>CoreCLR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pc="-10" dirty="0">
                <a:latin typeface="Segoe UI"/>
                <a:cs typeface="Segoe UI"/>
              </a:rPr>
              <a:t>(Common </a:t>
            </a:r>
            <a:r>
              <a:rPr lang="fr-FR" spc="-10" dirty="0" err="1">
                <a:latin typeface="Segoe UI"/>
                <a:cs typeface="Segoe UI"/>
              </a:rPr>
              <a:t>Language</a:t>
            </a:r>
            <a:r>
              <a:rPr lang="fr-FR" spc="-10" dirty="0">
                <a:latin typeface="Segoe UI"/>
                <a:cs typeface="Segoe UI"/>
              </a:rPr>
              <a:t> Runtime)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DAF78600-DB4A-3E4A-A221-9588287CE4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9048" y="654672"/>
            <a:ext cx="1444752" cy="144322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770424B-882C-C952-599E-9880EE208BBA}"/>
              </a:ext>
            </a:extLst>
          </p:cNvPr>
          <p:cNvSpPr txBox="1"/>
          <p:nvPr/>
        </p:nvSpPr>
        <p:spPr>
          <a:xfrm>
            <a:off x="3638518" y="4455970"/>
            <a:ext cx="39062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C#</a:t>
            </a:r>
            <a:endParaRPr lang="fr-FR" sz="2400" b="1" dirty="0">
              <a:sym typeface="Wingdings" panose="05000000000000000000" pitchFamily="2" charset="2"/>
            </a:endParaRPr>
          </a:p>
          <a:p>
            <a:r>
              <a:rPr lang="fr-FR" sz="2400" b="1" dirty="0"/>
              <a:t>F#</a:t>
            </a:r>
            <a:r>
              <a:rPr lang="fr-FR" sz="2400" b="1" dirty="0">
                <a:sym typeface="Wingdings" panose="05000000000000000000" pitchFamily="2" charset="2"/>
              </a:rPr>
              <a:t>    IL  Langage machine</a:t>
            </a:r>
            <a:endParaRPr lang="fr-FR" sz="2400" b="1" dirty="0"/>
          </a:p>
          <a:p>
            <a:r>
              <a:rPr lang="fr-FR" sz="2400" b="1" dirty="0"/>
              <a:t>VB</a:t>
            </a:r>
          </a:p>
        </p:txBody>
      </p:sp>
    </p:spTree>
    <p:extLst>
      <p:ext uri="{BB962C8B-B14F-4D97-AF65-F5344CB8AC3E}">
        <p14:creationId xmlns:p14="http://schemas.microsoft.com/office/powerpoint/2010/main" val="2392173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NET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736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tabLst>
                <a:tab pos="240665" algn="l"/>
              </a:tabLst>
            </a:pPr>
            <a:r>
              <a:rPr lang="nl-NL" sz="2400" b="1" dirty="0" err="1"/>
              <a:t>Langages</a:t>
            </a:r>
            <a:r>
              <a:rPr lang="nl-NL" sz="2400" b="1" dirty="0"/>
              <a:t> en .NET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spc="-25" dirty="0">
                <a:latin typeface="Segoe UI"/>
                <a:cs typeface="Segoe UI"/>
              </a:rPr>
              <a:t>Langage C#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Syntaxe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proche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langages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C,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C++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et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Java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Nombreuses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versions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liées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aux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évolutions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du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 err="1">
                <a:latin typeface="Segoe UI"/>
                <a:cs typeface="Segoe UI"/>
              </a:rPr>
              <a:t>framework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Version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actuelle</a:t>
            </a:r>
            <a:r>
              <a:rPr lang="fr-FR" sz="2000" spc="-60" dirty="0">
                <a:latin typeface="Segoe UI"/>
                <a:cs typeface="Segoe UI"/>
              </a:rPr>
              <a:t> : </a:t>
            </a:r>
            <a:r>
              <a:rPr lang="fr-FR" sz="2000" dirty="0">
                <a:latin typeface="Segoe UI"/>
                <a:cs typeface="Segoe UI"/>
              </a:rPr>
              <a:t>C#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12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DAF78600-DB4A-3E4A-A221-9588287CE4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9048" y="654672"/>
            <a:ext cx="1444752" cy="1443227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6C1EA013-4A56-B3AA-98CE-31A8F73F038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3979" y="4119371"/>
            <a:ext cx="1844039" cy="206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25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NET</a:t>
            </a:r>
          </a:p>
        </p:txBody>
      </p:sp>
    </p:spTree>
    <p:extLst>
      <p:ext uri="{BB962C8B-B14F-4D97-AF65-F5344CB8AC3E}">
        <p14:creationId xmlns:p14="http://schemas.microsoft.com/office/powerpoint/2010/main" val="1926402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SDKs</a:t>
            </a:r>
          </a:p>
        </p:txBody>
      </p:sp>
    </p:spTree>
    <p:extLst>
      <p:ext uri="{BB962C8B-B14F-4D97-AF65-F5344CB8AC3E}">
        <p14:creationId xmlns:p14="http://schemas.microsoft.com/office/powerpoint/2010/main" val="227131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SDKs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Les SDKs en .NET</a:t>
            </a:r>
          </a:p>
          <a:p>
            <a:endParaRPr lang="fr-FR" sz="2400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3F788DDD-FA39-88F2-99F6-8F276BAA490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0507" y="1998287"/>
            <a:ext cx="7990985" cy="449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61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SDKs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3F4865-8AD3-EC0E-EFF3-EBECC135125F}"/>
              </a:ext>
            </a:extLst>
          </p:cNvPr>
          <p:cNvSpPr txBox="1"/>
          <p:nvPr/>
        </p:nvSpPr>
        <p:spPr>
          <a:xfrm>
            <a:off x="844826" y="1431230"/>
            <a:ext cx="10525539" cy="3534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tabLst>
                <a:tab pos="240665" algn="l"/>
              </a:tabLst>
            </a:pPr>
            <a:r>
              <a:rPr lang="nl-NL" sz="2400" b="1" dirty="0" err="1"/>
              <a:t>SDKs</a:t>
            </a:r>
            <a:r>
              <a:rPr lang="nl-NL" sz="2400" b="1" dirty="0"/>
              <a:t> Client </a:t>
            </a:r>
            <a:r>
              <a:rPr lang="nl-NL" sz="2400" b="1" dirty="0" err="1"/>
              <a:t>lourd</a:t>
            </a:r>
            <a:r>
              <a:rPr lang="nl-NL" sz="2400" b="1" dirty="0"/>
              <a:t> (ancien)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Windows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Forms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(Win32)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Fenêtres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dite</a:t>
            </a:r>
            <a:r>
              <a:rPr lang="fr-FR" sz="2000" spc="-8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"classique"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Basé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sur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GDI+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Programmation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évènementielle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gestion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transparence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Redimensionnement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complexe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Maintenance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d'application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existante</a:t>
            </a:r>
            <a:r>
              <a:rPr lang="fr-FR" sz="2000" spc="-7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uniquement</a:t>
            </a:r>
            <a:endParaRPr lang="fr-FR" sz="2000" dirty="0">
              <a:latin typeface="Segoe UI"/>
              <a:cs typeface="Segoe UI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4565DE80-17CD-7C66-B81B-698C4D7E43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0210" y="1469026"/>
            <a:ext cx="3376964" cy="391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88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SDKs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3F4865-8AD3-EC0E-EFF3-EBECC135125F}"/>
              </a:ext>
            </a:extLst>
          </p:cNvPr>
          <p:cNvSpPr txBox="1"/>
          <p:nvPr/>
        </p:nvSpPr>
        <p:spPr>
          <a:xfrm>
            <a:off x="844826" y="1431230"/>
            <a:ext cx="10525539" cy="3813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tabLst>
                <a:tab pos="240665" algn="l"/>
              </a:tabLst>
            </a:pPr>
            <a:r>
              <a:rPr lang="nl-NL" sz="2400" b="1" dirty="0" err="1"/>
              <a:t>SDKs</a:t>
            </a:r>
            <a:r>
              <a:rPr lang="nl-NL" sz="2400" b="1" dirty="0"/>
              <a:t> Client </a:t>
            </a:r>
            <a:r>
              <a:rPr lang="nl-NL" sz="2400" b="1" dirty="0" err="1"/>
              <a:t>lourd</a:t>
            </a:r>
            <a:endParaRPr lang="nl-NL" sz="2400" b="1" dirty="0"/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spc="-25" dirty="0">
                <a:latin typeface="Segoe UI"/>
                <a:cs typeface="Segoe UI"/>
              </a:rPr>
              <a:t>WPF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Créé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Windows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Vista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DirectX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Effets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spc="-25" dirty="0">
                <a:latin typeface="Segoe UI"/>
                <a:cs typeface="Segoe UI"/>
              </a:rPr>
              <a:t>3D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800" spc="-10" dirty="0">
                <a:latin typeface="Segoe UI"/>
                <a:cs typeface="Segoe UI"/>
              </a:rPr>
              <a:t>Transparence</a:t>
            </a: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20" dirty="0">
                <a:latin typeface="Segoe UI"/>
                <a:cs typeface="Segoe UI"/>
              </a:rPr>
              <a:t>XAML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Syntaxe</a:t>
            </a:r>
            <a:r>
              <a:rPr lang="fr-FR" sz="1800" spc="-6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xml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l'affichage</a:t>
            </a: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Encore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très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utilisé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entreprise</a:t>
            </a:r>
            <a:endParaRPr lang="fr-FR" sz="2000" dirty="0">
              <a:latin typeface="Segoe UI"/>
              <a:cs typeface="Segoe UI"/>
            </a:endParaRP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4B193A91-1918-12AB-02A6-18AF8AC8F8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8470" y="2011520"/>
            <a:ext cx="4661916" cy="265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47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SDKs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3F4865-8AD3-EC0E-EFF3-EBECC135125F}"/>
              </a:ext>
            </a:extLst>
          </p:cNvPr>
          <p:cNvSpPr txBox="1"/>
          <p:nvPr/>
        </p:nvSpPr>
        <p:spPr>
          <a:xfrm>
            <a:off x="844826" y="1431230"/>
            <a:ext cx="10525539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tabLst>
                <a:tab pos="240665" algn="l"/>
              </a:tabLst>
            </a:pPr>
            <a:r>
              <a:rPr lang="nl-NL" sz="2400" b="1" dirty="0" err="1"/>
              <a:t>SDKs</a:t>
            </a:r>
            <a:r>
              <a:rPr lang="nl-NL" sz="2400" b="1" dirty="0"/>
              <a:t> Client </a:t>
            </a:r>
            <a:r>
              <a:rPr lang="nl-NL" sz="2400" b="1" dirty="0" err="1"/>
              <a:t>lourd</a:t>
            </a:r>
            <a:r>
              <a:rPr lang="nl-NL" sz="2400" b="1" dirty="0"/>
              <a:t> (récent)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spc="-20" dirty="0">
                <a:latin typeface="Segoe UI"/>
                <a:cs typeface="Segoe UI"/>
              </a:rPr>
              <a:t>MAUI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Sortie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 </a:t>
            </a:r>
            <a:r>
              <a:rPr lang="fr-FR" sz="2000" spc="-10" dirty="0">
                <a:latin typeface="Segoe UI"/>
                <a:cs typeface="Segoe UI"/>
              </a:rPr>
              <a:t>25/06/22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Cross platform</a:t>
            </a: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Tactile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Adaptatif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Encore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b="1" dirty="0">
                <a:latin typeface="Segoe UI"/>
                <a:cs typeface="Segoe UI"/>
              </a:rPr>
              <a:t>trop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récent</a:t>
            </a:r>
            <a:endParaRPr lang="fr-FR" sz="2000" dirty="0">
              <a:latin typeface="Segoe UI"/>
              <a:cs typeface="Segoe U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19538D5-C79B-6277-DB10-3D79705027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0722" y="1337197"/>
            <a:ext cx="5028191" cy="440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63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SDKs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3F4865-8AD3-EC0E-EFF3-EBECC135125F}"/>
              </a:ext>
            </a:extLst>
          </p:cNvPr>
          <p:cNvSpPr txBox="1"/>
          <p:nvPr/>
        </p:nvSpPr>
        <p:spPr>
          <a:xfrm>
            <a:off x="844826" y="1431230"/>
            <a:ext cx="10525539" cy="4501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tabLst>
                <a:tab pos="240665" algn="l"/>
              </a:tabLst>
            </a:pPr>
            <a:r>
              <a:rPr lang="nl-NL" sz="2400" b="1" dirty="0" err="1"/>
              <a:t>SDKs</a:t>
            </a:r>
            <a:r>
              <a:rPr lang="nl-NL" sz="2400" b="1" dirty="0"/>
              <a:t> Client léger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50" dirty="0">
                <a:latin typeface="Segoe UI"/>
                <a:cs typeface="Segoe UI"/>
              </a:rPr>
              <a:t>ASP.NET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.NET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Framework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 err="1">
                <a:latin typeface="Segoe UI"/>
                <a:cs typeface="Segoe UI"/>
              </a:rPr>
              <a:t>WebForms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Dès</a:t>
            </a:r>
            <a:r>
              <a:rPr lang="fr-FR" sz="1600" spc="-45" dirty="0">
                <a:latin typeface="Segoe UI"/>
                <a:cs typeface="Segoe UI"/>
              </a:rPr>
              <a:t> </a:t>
            </a:r>
            <a:r>
              <a:rPr lang="fr-FR" sz="1600" spc="-20" dirty="0">
                <a:latin typeface="Segoe UI"/>
                <a:cs typeface="Segoe UI"/>
              </a:rPr>
              <a:t>2002</a:t>
            </a:r>
            <a:endParaRPr lang="fr-FR" sz="16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Site</a:t>
            </a:r>
            <a:r>
              <a:rPr lang="fr-FR" sz="1600" spc="-4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web</a:t>
            </a:r>
            <a:r>
              <a:rPr lang="fr-FR" sz="1600" spc="-2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en</a:t>
            </a:r>
            <a:r>
              <a:rPr lang="fr-FR" sz="1600" spc="-4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mode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page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spc="-10" dirty="0">
                <a:latin typeface="Segoe UI"/>
                <a:cs typeface="Segoe UI"/>
              </a:rPr>
              <a:t>(.</a:t>
            </a:r>
            <a:r>
              <a:rPr lang="fr-FR" sz="1600" spc="-10" dirty="0" err="1">
                <a:latin typeface="Segoe UI"/>
                <a:cs typeface="Segoe UI"/>
              </a:rPr>
              <a:t>aspx</a:t>
            </a:r>
            <a:r>
              <a:rPr lang="fr-FR" sz="1600" spc="-10" dirty="0">
                <a:latin typeface="Segoe UI"/>
                <a:cs typeface="Segoe UI"/>
              </a:rPr>
              <a:t>)</a:t>
            </a:r>
            <a:endParaRPr lang="fr-FR" sz="16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Obsolète,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mais</a:t>
            </a:r>
            <a:r>
              <a:rPr lang="fr-FR" sz="1600" spc="-6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encore</a:t>
            </a:r>
            <a:r>
              <a:rPr lang="fr-FR" sz="1600" spc="-2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utilisé</a:t>
            </a:r>
            <a:r>
              <a:rPr lang="fr-FR" sz="1600" spc="-4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(ex:</a:t>
            </a:r>
            <a:r>
              <a:rPr lang="fr-FR" sz="1600" spc="-25" dirty="0">
                <a:latin typeface="Segoe UI"/>
                <a:cs typeface="Segoe UI"/>
              </a:rPr>
              <a:t> </a:t>
            </a:r>
            <a:r>
              <a:rPr lang="fr-FR" sz="1600" spc="-10" dirty="0">
                <a:latin typeface="Segoe UI"/>
                <a:cs typeface="Segoe UI"/>
              </a:rPr>
              <a:t>SharePoint)</a:t>
            </a:r>
            <a:endParaRPr lang="fr-FR" sz="16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Pas</a:t>
            </a:r>
            <a:r>
              <a:rPr lang="fr-FR" sz="1600" spc="-4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de</a:t>
            </a:r>
            <a:r>
              <a:rPr lang="fr-FR" sz="1600" spc="-4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migration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possible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en</a:t>
            </a:r>
            <a:r>
              <a:rPr lang="fr-FR" sz="1600" spc="-4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.NET</a:t>
            </a:r>
            <a:r>
              <a:rPr lang="fr-FR" sz="1600" spc="-15" dirty="0">
                <a:latin typeface="Segoe UI"/>
                <a:cs typeface="Segoe UI"/>
              </a:rPr>
              <a:t> </a:t>
            </a:r>
            <a:r>
              <a:rPr lang="fr-FR" sz="1600" spc="-20" dirty="0" err="1">
                <a:latin typeface="Segoe UI"/>
                <a:cs typeface="Segoe UI"/>
              </a:rPr>
              <a:t>Core</a:t>
            </a:r>
            <a:endParaRPr lang="fr-FR" sz="16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350"/>
              </a:spcBef>
              <a:buFont typeface="Arial"/>
              <a:buChar char="•"/>
            </a:pPr>
            <a:endParaRPr lang="fr-FR" sz="16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lang="fr-FR" sz="2000" spc="-50" dirty="0">
                <a:latin typeface="Segoe UI"/>
                <a:cs typeface="Segoe UI"/>
              </a:rPr>
              <a:t>ASP.NET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MVC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Site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spc="-25" dirty="0">
                <a:latin typeface="Segoe UI"/>
                <a:cs typeface="Segoe UI"/>
              </a:rPr>
              <a:t>Web</a:t>
            </a:r>
            <a:endParaRPr lang="fr-FR" sz="16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API</a:t>
            </a:r>
            <a:r>
              <a:rPr lang="fr-FR" sz="1600" spc="-25" dirty="0">
                <a:latin typeface="Segoe UI"/>
                <a:cs typeface="Segoe UI"/>
              </a:rPr>
              <a:t> </a:t>
            </a:r>
            <a:r>
              <a:rPr lang="fr-FR" sz="1600" spc="-20" dirty="0" err="1">
                <a:latin typeface="Segoe UI"/>
                <a:cs typeface="Segoe UI"/>
              </a:rPr>
              <a:t>Rest</a:t>
            </a:r>
            <a:endParaRPr lang="fr-FR" sz="16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Utilisant</a:t>
            </a:r>
            <a:r>
              <a:rPr lang="fr-FR" sz="1600" spc="-4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le</a:t>
            </a:r>
            <a:r>
              <a:rPr lang="fr-FR" sz="1600" spc="-4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pattern</a:t>
            </a:r>
            <a:r>
              <a:rPr lang="fr-FR" sz="1600" spc="-50" dirty="0">
                <a:latin typeface="Segoe UI"/>
                <a:cs typeface="Segoe UI"/>
              </a:rPr>
              <a:t> </a:t>
            </a:r>
            <a:r>
              <a:rPr lang="fr-FR" sz="1600" spc="-25" dirty="0">
                <a:latin typeface="Segoe UI"/>
                <a:cs typeface="Segoe UI"/>
              </a:rPr>
              <a:t>MVC</a:t>
            </a:r>
            <a:endParaRPr lang="fr-FR" sz="1600" dirty="0">
              <a:latin typeface="Segoe UI"/>
              <a:cs typeface="Segoe UI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2230773E-6D15-1792-2A14-2753488A24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0243" y="1897379"/>
            <a:ext cx="1662683" cy="1624584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21167E8-F89F-90F0-1C88-7BE7E6CDF63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8996" y="5030474"/>
            <a:ext cx="2016623" cy="56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404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SDKs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3F4865-8AD3-EC0E-EFF3-EBECC135125F}"/>
              </a:ext>
            </a:extLst>
          </p:cNvPr>
          <p:cNvSpPr txBox="1"/>
          <p:nvPr/>
        </p:nvSpPr>
        <p:spPr>
          <a:xfrm>
            <a:off x="844826" y="1431230"/>
            <a:ext cx="10525539" cy="4501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tabLst>
                <a:tab pos="240665" algn="l"/>
              </a:tabLst>
            </a:pPr>
            <a:r>
              <a:rPr lang="nl-NL" sz="2400" b="1" dirty="0" err="1"/>
              <a:t>SDKs</a:t>
            </a:r>
            <a:r>
              <a:rPr lang="nl-NL" sz="2400" b="1" dirty="0"/>
              <a:t> Client léger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50" dirty="0">
                <a:latin typeface="Segoe UI"/>
                <a:cs typeface="Segoe UI"/>
              </a:rPr>
              <a:t>ASP.NET</a:t>
            </a:r>
            <a:r>
              <a:rPr lang="fr-FR" sz="2400" spc="-100" dirty="0">
                <a:latin typeface="Segoe UI"/>
                <a:cs typeface="Segoe UI"/>
              </a:rPr>
              <a:t> </a:t>
            </a:r>
            <a:r>
              <a:rPr lang="fr-FR" sz="2400" spc="-20" dirty="0" err="1">
                <a:latin typeface="Segoe UI"/>
                <a:cs typeface="Segoe UI"/>
              </a:rPr>
              <a:t>Core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Site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MVC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Utilisant</a:t>
            </a:r>
            <a:r>
              <a:rPr lang="fr-FR" sz="1800" spc="-5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le</a:t>
            </a:r>
            <a:r>
              <a:rPr lang="fr-FR" sz="1800" spc="-60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pattern</a:t>
            </a:r>
            <a:r>
              <a:rPr lang="fr-FR" sz="1800" spc="-45" dirty="0">
                <a:latin typeface="Segoe UI"/>
                <a:cs typeface="Segoe UI"/>
              </a:rPr>
              <a:t> </a:t>
            </a:r>
            <a:r>
              <a:rPr lang="fr-FR" sz="1800" spc="-25" dirty="0">
                <a:latin typeface="Segoe UI"/>
                <a:cs typeface="Segoe UI"/>
              </a:rPr>
              <a:t>MVC</a:t>
            </a:r>
            <a:endParaRPr lang="fr-FR" sz="18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800" dirty="0">
                <a:latin typeface="Segoe UI"/>
                <a:cs typeface="Segoe UI"/>
              </a:rPr>
              <a:t>Migration</a:t>
            </a:r>
            <a:r>
              <a:rPr lang="fr-FR" sz="1800" spc="-3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de</a:t>
            </a:r>
            <a:r>
              <a:rPr lang="fr-FR" sz="1800" spc="-15" dirty="0">
                <a:latin typeface="Segoe UI"/>
                <a:cs typeface="Segoe UI"/>
              </a:rPr>
              <a:t> </a:t>
            </a:r>
            <a:r>
              <a:rPr lang="fr-FR" sz="1800" dirty="0">
                <a:latin typeface="Segoe UI"/>
                <a:cs typeface="Segoe UI"/>
              </a:rPr>
              <a:t>.NET</a:t>
            </a:r>
            <a:r>
              <a:rPr lang="fr-FR" sz="1800" spc="-25" dirty="0">
                <a:latin typeface="Segoe UI"/>
                <a:cs typeface="Segoe UI"/>
              </a:rPr>
              <a:t> </a:t>
            </a:r>
            <a:r>
              <a:rPr lang="fr-FR" sz="1800" spc="-10" dirty="0">
                <a:latin typeface="Segoe UI"/>
                <a:cs typeface="Segoe UI"/>
              </a:rPr>
              <a:t>Framework</a:t>
            </a:r>
            <a:endParaRPr lang="fr-FR" sz="18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310"/>
              </a:spcBef>
              <a:buFont typeface="Arial"/>
              <a:buChar char="•"/>
            </a:pPr>
            <a:endParaRPr lang="fr-FR" sz="18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Site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Razor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Pages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Modèle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de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page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lié</a:t>
            </a:r>
            <a:r>
              <a:rPr lang="fr-FR" sz="1600" spc="-30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aux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verbes</a:t>
            </a:r>
            <a:r>
              <a:rPr lang="fr-FR" sz="1600" spc="-3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HTTP</a:t>
            </a:r>
            <a:r>
              <a:rPr lang="fr-FR" sz="1600" spc="-40" dirty="0">
                <a:latin typeface="Segoe UI"/>
                <a:cs typeface="Segoe UI"/>
              </a:rPr>
              <a:t> </a:t>
            </a:r>
            <a:r>
              <a:rPr lang="fr-FR" sz="1600" spc="-10" dirty="0">
                <a:latin typeface="Segoe UI"/>
                <a:cs typeface="Segoe UI"/>
              </a:rPr>
              <a:t>GET/POST</a:t>
            </a:r>
            <a:endParaRPr lang="fr-FR" sz="16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570"/>
              </a:spcBef>
              <a:buFont typeface="Arial"/>
              <a:buChar char="•"/>
            </a:pPr>
            <a:endParaRPr lang="fr-FR" sz="16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Web</a:t>
            </a:r>
            <a:r>
              <a:rPr lang="fr-FR" sz="2000" spc="-75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API</a:t>
            </a:r>
            <a:endParaRPr lang="fr-FR" sz="2000" dirty="0">
              <a:latin typeface="Segoe UI"/>
              <a:cs typeface="Segoe UI"/>
            </a:endParaRPr>
          </a:p>
          <a:p>
            <a:pPr marL="1155700" lvl="2" indent="-2286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155700" algn="l"/>
              </a:tabLst>
            </a:pPr>
            <a:r>
              <a:rPr lang="fr-FR" sz="1600" dirty="0">
                <a:latin typeface="Segoe UI"/>
                <a:cs typeface="Segoe UI"/>
              </a:rPr>
              <a:t>Services</a:t>
            </a:r>
            <a:r>
              <a:rPr lang="fr-FR" sz="1600" spc="-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web</a:t>
            </a:r>
            <a:r>
              <a:rPr lang="fr-FR" sz="1600" spc="-15" dirty="0">
                <a:latin typeface="Segoe UI"/>
                <a:cs typeface="Segoe UI"/>
              </a:rPr>
              <a:t> </a:t>
            </a:r>
            <a:r>
              <a:rPr lang="fr-FR" sz="1600" dirty="0">
                <a:latin typeface="Segoe UI"/>
                <a:cs typeface="Segoe UI"/>
              </a:rPr>
              <a:t>en</a:t>
            </a:r>
            <a:r>
              <a:rPr lang="fr-FR" sz="1600" spc="-20" dirty="0">
                <a:latin typeface="Segoe UI"/>
                <a:cs typeface="Segoe UI"/>
              </a:rPr>
              <a:t> REST</a:t>
            </a:r>
            <a:endParaRPr lang="fr-FR" sz="1600" dirty="0">
              <a:latin typeface="Segoe UI"/>
              <a:cs typeface="Segoe U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66D8088-FD44-3819-471D-2030304982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2549" y="2706624"/>
            <a:ext cx="1444752" cy="144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39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SDKs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3F4865-8AD3-EC0E-EFF3-EBECC135125F}"/>
              </a:ext>
            </a:extLst>
          </p:cNvPr>
          <p:cNvSpPr txBox="1"/>
          <p:nvPr/>
        </p:nvSpPr>
        <p:spPr>
          <a:xfrm>
            <a:off x="844826" y="1431230"/>
            <a:ext cx="10525539" cy="1956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tabLst>
                <a:tab pos="240665" algn="l"/>
              </a:tabLst>
            </a:pPr>
            <a:r>
              <a:rPr lang="nl-NL" sz="2400" b="1" dirty="0" err="1"/>
              <a:t>SDKs</a:t>
            </a:r>
            <a:r>
              <a:rPr lang="nl-NL" sz="2400" b="1" dirty="0"/>
              <a:t> Client léger (récent)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 err="1">
                <a:latin typeface="Segoe UI"/>
                <a:cs typeface="Segoe UI"/>
              </a:rPr>
              <a:t>Blazor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Mode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"Serveur"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"</a:t>
            </a:r>
            <a:r>
              <a:rPr lang="fr-FR" sz="2000" spc="-10" dirty="0" err="1">
                <a:latin typeface="Segoe UI"/>
                <a:cs typeface="Segoe UI"/>
              </a:rPr>
              <a:t>WebAssembly</a:t>
            </a:r>
            <a:r>
              <a:rPr lang="fr-FR" sz="2000" spc="-10" dirty="0">
                <a:latin typeface="Segoe UI"/>
                <a:cs typeface="Segoe UI"/>
              </a:rPr>
              <a:t>"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Certains</a:t>
            </a:r>
            <a:r>
              <a:rPr lang="fr-FR" sz="2000" spc="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composants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30" dirty="0">
                <a:latin typeface="Segoe UI"/>
                <a:cs typeface="Segoe UI"/>
              </a:rPr>
              <a:t> </a:t>
            </a:r>
            <a:r>
              <a:rPr lang="fr-FR" sz="2000" spc="-20" dirty="0" err="1">
                <a:latin typeface="Segoe UI"/>
                <a:cs typeface="Segoe UI"/>
              </a:rPr>
              <a:t>pré-</a:t>
            </a:r>
            <a:r>
              <a:rPr lang="fr-FR" sz="2000" spc="-10" dirty="0" err="1">
                <a:latin typeface="Segoe UI"/>
                <a:cs typeface="Segoe UI"/>
              </a:rPr>
              <a:t>version</a:t>
            </a:r>
            <a:endParaRPr lang="fr-FR" sz="2000" dirty="0">
              <a:latin typeface="Segoe UI"/>
              <a:cs typeface="Segoe UI"/>
            </a:endParaRP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FB60B5EE-EBA8-E743-7DB0-852F5D961E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249" y="3553937"/>
            <a:ext cx="4796071" cy="3006912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02B32FD6-BB16-25F2-7CBB-AAD3AED70E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2262" y="2622037"/>
            <a:ext cx="4668625" cy="3938812"/>
          </a:xfrm>
          <a:prstGeom prst="rect">
            <a:avLst/>
          </a:prstGeom>
        </p:spPr>
      </p:pic>
      <p:pic>
        <p:nvPicPr>
          <p:cNvPr id="1026" name="Picture 2" descr="Blazor — Wikipédia">
            <a:extLst>
              <a:ext uri="{FF2B5EF4-FFF2-40B4-BE49-F238E27FC236}">
                <a16:creationId xmlns:a16="http://schemas.microsoft.com/office/drawing/2014/main" id="{58E0B008-6071-E9BF-F8A2-D11C465C8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774" y="687306"/>
            <a:ext cx="1339327" cy="133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485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SDKs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3F4865-8AD3-EC0E-EFF3-EBECC135125F}"/>
              </a:ext>
            </a:extLst>
          </p:cNvPr>
          <p:cNvSpPr txBox="1"/>
          <p:nvPr/>
        </p:nvSpPr>
        <p:spPr>
          <a:xfrm>
            <a:off x="844826" y="1431230"/>
            <a:ext cx="10525539" cy="4485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tabLst>
                <a:tab pos="240665" algn="l"/>
              </a:tabLst>
            </a:pPr>
            <a:r>
              <a:rPr lang="nl-NL" sz="2400" b="1" dirty="0" err="1"/>
              <a:t>Autres</a:t>
            </a:r>
            <a:r>
              <a:rPr lang="nl-NL" sz="2400" b="1" dirty="0"/>
              <a:t> </a:t>
            </a:r>
            <a:r>
              <a:rPr lang="nl-NL" sz="2400" b="1" dirty="0" err="1"/>
              <a:t>SDKs</a:t>
            </a:r>
            <a:r>
              <a:rPr lang="nl-NL" sz="2400" b="1" dirty="0"/>
              <a:t> en .NET 8</a:t>
            </a: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>
                <a:latin typeface="Segoe UI"/>
                <a:cs typeface="Segoe UI"/>
              </a:rPr>
              <a:t>Cloud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Microsoft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Azure</a:t>
            </a: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Jeux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vidéos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Unity3D</a:t>
            </a: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25" dirty="0">
                <a:latin typeface="Segoe UI"/>
                <a:cs typeface="Segoe UI"/>
              </a:rPr>
              <a:t>IOT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>
                <a:latin typeface="Segoe UI"/>
                <a:cs typeface="Segoe UI"/>
              </a:rPr>
              <a:t>Mobile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Xamarin / MAUI</a:t>
            </a: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>
                <a:latin typeface="Segoe UI"/>
                <a:cs typeface="Segoe UI"/>
              </a:rPr>
              <a:t>AI/ML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Segoe UI"/>
                <a:cs typeface="Segoe UI"/>
              </a:rPr>
              <a:t>ML.NET</a:t>
            </a:r>
            <a:endParaRPr lang="fr-FR" sz="2000" dirty="0">
              <a:latin typeface="Segoe UI"/>
              <a:cs typeface="Segoe UI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EAF59789-8E15-A0E7-6334-A2FBEA0C75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2143" y="2457872"/>
            <a:ext cx="1252870" cy="1444752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2444E78A-2B8B-EDC5-FA74-28BAF074DD0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9684" y="1153844"/>
            <a:ext cx="2275806" cy="659388"/>
          </a:xfrm>
          <a:prstGeom prst="rect">
            <a:avLst/>
          </a:prstGeom>
        </p:spPr>
      </p:pic>
      <p:pic>
        <p:nvPicPr>
          <p:cNvPr id="2050" name="Picture 2" descr="NET MAUI in .NET 8 Preview 5 Available: Bug Fixes and Performance  Improvements - InfoQ">
            <a:extLst>
              <a:ext uri="{FF2B5EF4-FFF2-40B4-BE49-F238E27FC236}">
                <a16:creationId xmlns:a16="http://schemas.microsoft.com/office/drawing/2014/main" id="{DD914250-95B7-B234-3581-16629A68F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284" y="5301839"/>
            <a:ext cx="2964116" cy="1556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L.NET - Wikipedia">
            <a:extLst>
              <a:ext uri="{FF2B5EF4-FFF2-40B4-BE49-F238E27FC236}">
                <a16:creationId xmlns:a16="http://schemas.microsoft.com/office/drawing/2014/main" id="{BCD66D2A-383B-2416-95BF-D7C664DFA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642" y="3074017"/>
            <a:ext cx="1582271" cy="158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907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SDKs</a:t>
            </a:r>
          </a:p>
        </p:txBody>
      </p:sp>
    </p:spTree>
    <p:extLst>
      <p:ext uri="{BB962C8B-B14F-4D97-AF65-F5344CB8AC3E}">
        <p14:creationId xmlns:p14="http://schemas.microsoft.com/office/powerpoint/2010/main" val="1184467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3. Les outils</a:t>
            </a:r>
          </a:p>
        </p:txBody>
      </p:sp>
    </p:spTree>
    <p:extLst>
      <p:ext uri="{BB962C8B-B14F-4D97-AF65-F5344CB8AC3E}">
        <p14:creationId xmlns:p14="http://schemas.microsoft.com/office/powerpoint/2010/main" val="2964092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Les outils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885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Visual Studio 2022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8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Version entreprise payante, </a:t>
            </a:r>
            <a:r>
              <a:rPr lang="fr-FR" sz="2400" dirty="0" err="1">
                <a:latin typeface="Segoe UI"/>
                <a:cs typeface="Segoe UI"/>
              </a:rPr>
              <a:t>community</a:t>
            </a:r>
            <a:r>
              <a:rPr lang="fr-FR" sz="2400" dirty="0">
                <a:latin typeface="Segoe UI"/>
                <a:cs typeface="Segoe UI"/>
              </a:rPr>
              <a:t> gratuite</a:t>
            </a: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Supporte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.NET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Framework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.NET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spc="-20" dirty="0" err="1">
                <a:latin typeface="Segoe UI"/>
                <a:cs typeface="Segoe UI"/>
              </a:rPr>
              <a:t>Core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Nombreux</a:t>
            </a:r>
            <a:r>
              <a:rPr lang="fr-FR" sz="2400" spc="-11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langages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Compilation,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Debug</a:t>
            </a:r>
            <a:r>
              <a:rPr lang="fr-FR" sz="2400" dirty="0">
                <a:latin typeface="Segoe UI"/>
                <a:cs typeface="Segoe UI"/>
              </a:rPr>
              <a:t>,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Test…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Support de </a:t>
            </a:r>
            <a:r>
              <a:rPr lang="fr-FR" sz="2400" spc="-10" dirty="0">
                <a:latin typeface="Segoe UI"/>
                <a:cs typeface="Segoe UI"/>
              </a:rPr>
              <a:t>GIT/TFS/Azure </a:t>
            </a:r>
            <a:r>
              <a:rPr lang="fr-FR" sz="2400" spc="-10" dirty="0" err="1">
                <a:latin typeface="Segoe UI"/>
                <a:cs typeface="Segoe UI"/>
              </a:rPr>
              <a:t>Devops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Petits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gros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projets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>
                <a:latin typeface="Segoe UI"/>
                <a:cs typeface="Segoe UI"/>
              </a:rPr>
              <a:t>Propriétaire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5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Windows</a:t>
            </a:r>
            <a:r>
              <a:rPr lang="fr-FR" sz="2400" spc="-114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uniquement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3078" name="Picture 6" descr="Visual Studio 2022 outil de programmation IDE pour les développeurs de  logiciels">
            <a:extLst>
              <a:ext uri="{FF2B5EF4-FFF2-40B4-BE49-F238E27FC236}">
                <a16:creationId xmlns:a16="http://schemas.microsoft.com/office/drawing/2014/main" id="{148F525F-D590-4D2B-FBA5-38B066AFB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076" y="2841668"/>
            <a:ext cx="4718630" cy="347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095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Les outils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Visual Studio 2022 for Mac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8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Développement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.NET</a:t>
            </a:r>
            <a:r>
              <a:rPr lang="fr-FR" sz="2400" b="1" spc="-10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Core</a:t>
            </a:r>
            <a:r>
              <a:rPr lang="fr-FR" sz="2400" b="1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/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iOS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/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Android…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Compilation,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Debug</a:t>
            </a:r>
            <a:r>
              <a:rPr lang="fr-FR" sz="2400" dirty="0">
                <a:latin typeface="Segoe UI"/>
                <a:cs typeface="Segoe UI"/>
              </a:rPr>
              <a:t>,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Test…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Support de </a:t>
            </a:r>
            <a:r>
              <a:rPr lang="fr-FR" sz="2400" spc="-10" dirty="0">
                <a:latin typeface="Segoe UI"/>
                <a:cs typeface="Segoe UI"/>
              </a:rPr>
              <a:t>GIT/TFS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>
                <a:latin typeface="Segoe UI"/>
                <a:cs typeface="Segoe UI"/>
              </a:rPr>
              <a:t>Propriétaire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Mac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OS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uniquement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E7392B9-3B0C-9068-F225-DE885D51F6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8152" y="2849879"/>
            <a:ext cx="5940552" cy="373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89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Les outils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42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Visual Studio Code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8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Editeur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texte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(pas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IDE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complet)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>
                <a:latin typeface="Segoe UI"/>
                <a:cs typeface="Segoe UI"/>
              </a:rPr>
              <a:t>Léger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Nombreux</a:t>
            </a:r>
            <a:r>
              <a:rPr lang="fr-FR" sz="2400" spc="-11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plugins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Support de </a:t>
            </a:r>
            <a:r>
              <a:rPr lang="fr-FR" sz="2400" spc="-10" dirty="0">
                <a:latin typeface="Segoe UI"/>
                <a:cs typeface="Segoe UI"/>
              </a:rPr>
              <a:t>GIT/TFS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Gratuit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Open-Source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Linux,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X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Windows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9E8C6E2-171B-3FD7-FB0B-A87358C83C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9023" y="3121151"/>
            <a:ext cx="5106924" cy="331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25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Les outils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42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Ligne de commande .NET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ligne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commande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dotnet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»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Permet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compiler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sources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Gérer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packages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Lancer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tests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Publier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application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50" dirty="0">
                <a:latin typeface="Segoe UI"/>
                <a:cs typeface="Segoe UI"/>
              </a:rPr>
              <a:t>…</a:t>
            </a: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921C687-30D8-53CA-E042-998C045E0A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8021" y="2419681"/>
            <a:ext cx="5394911" cy="413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75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Les outils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C# interactive</a:t>
            </a:r>
          </a:p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 err="1">
                <a:latin typeface="Segoe UI"/>
                <a:cs typeface="Segoe UI"/>
              </a:rPr>
              <a:t>Interpreteur</a:t>
            </a:r>
            <a:r>
              <a:rPr lang="fr-FR" sz="2400" dirty="0">
                <a:latin typeface="Segoe UI"/>
                <a:cs typeface="Segoe UI"/>
              </a:rPr>
              <a:t> (REPL) C#</a:t>
            </a: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Permet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tester rapidement</a:t>
            </a:r>
          </a:p>
          <a:p>
            <a:pPr marL="469900" lvl="1">
              <a:lnSpc>
                <a:spcPct val="100000"/>
              </a:lnSpc>
              <a:spcBef>
                <a:spcPts val="270"/>
              </a:spcBef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	sans compiler</a:t>
            </a: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Disponible dans Visual Studio</a:t>
            </a: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Ou en ligne de commande</a:t>
            </a:r>
          </a:p>
          <a:p>
            <a:pPr marL="927100" lvl="2">
              <a:spcBef>
                <a:spcPts val="265"/>
              </a:spcBef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(</a:t>
            </a:r>
            <a:r>
              <a:rPr lang="fr-FR" sz="2000" dirty="0" err="1">
                <a:latin typeface="Segoe UI"/>
                <a:cs typeface="Segoe UI"/>
              </a:rPr>
              <a:t>Developer</a:t>
            </a:r>
            <a:r>
              <a:rPr lang="fr-FR" sz="2000" dirty="0">
                <a:latin typeface="Segoe UI"/>
                <a:cs typeface="Segoe UI"/>
              </a:rPr>
              <a:t> Command Prompt</a:t>
            </a:r>
          </a:p>
          <a:p>
            <a:pPr marL="927100" lvl="2">
              <a:spcBef>
                <a:spcPts val="265"/>
              </a:spcBef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&gt; Commande « </a:t>
            </a:r>
            <a:r>
              <a:rPr lang="fr-FR" sz="2000" dirty="0" err="1">
                <a:latin typeface="Segoe UI"/>
                <a:cs typeface="Segoe UI"/>
              </a:rPr>
              <a:t>csi</a:t>
            </a:r>
            <a:r>
              <a:rPr lang="fr-FR" sz="2000" dirty="0">
                <a:latin typeface="Segoe UI"/>
                <a:cs typeface="Segoe UI"/>
              </a:rPr>
              <a:t> »)</a:t>
            </a: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8B30D8F-6809-72A9-2CA7-7CF31003D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868" y="815113"/>
            <a:ext cx="5479255" cy="261388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6ED6775-EFF2-8022-5067-E56A813A3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867" y="3663166"/>
            <a:ext cx="5479255" cy="298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9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3. Les outils</a:t>
            </a:r>
          </a:p>
        </p:txBody>
      </p:sp>
    </p:spTree>
    <p:extLst>
      <p:ext uri="{BB962C8B-B14F-4D97-AF65-F5344CB8AC3E}">
        <p14:creationId xmlns:p14="http://schemas.microsoft.com/office/powerpoint/2010/main" val="2692839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273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801</Words>
  <Application>Microsoft Office PowerPoint</Application>
  <PresentationFormat>Grand écran</PresentationFormat>
  <Paragraphs>230</Paragraphs>
  <Slides>29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Segoe UI</vt:lpstr>
      <vt:lpstr>Wingdings</vt:lpstr>
      <vt:lpstr>Thème Office</vt:lpstr>
      <vt:lpstr>Introduction au .NET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</dc:title>
  <dc:creator>Laurent Godefroy</dc:creator>
  <cp:lastModifiedBy>Corentin ZIMMERMANN</cp:lastModifiedBy>
  <cp:revision>55</cp:revision>
  <dcterms:created xsi:type="dcterms:W3CDTF">2021-02-04T09:09:06Z</dcterms:created>
  <dcterms:modified xsi:type="dcterms:W3CDTF">2024-09-08T17:25:58Z</dcterms:modified>
</cp:coreProperties>
</file>