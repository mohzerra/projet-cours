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67" r:id="rId4"/>
    <p:sldId id="329" r:id="rId5"/>
    <p:sldId id="331" r:id="rId6"/>
    <p:sldId id="332" r:id="rId7"/>
    <p:sldId id="333" r:id="rId8"/>
    <p:sldId id="334" r:id="rId9"/>
    <p:sldId id="335" r:id="rId10"/>
    <p:sldId id="325" r:id="rId11"/>
    <p:sldId id="262" r:id="rId12"/>
    <p:sldId id="268" r:id="rId13"/>
    <p:sldId id="336" r:id="rId14"/>
    <p:sldId id="337" r:id="rId15"/>
    <p:sldId id="338" r:id="rId16"/>
    <p:sldId id="339" r:id="rId17"/>
    <p:sldId id="340" r:id="rId18"/>
    <p:sldId id="341" r:id="rId19"/>
    <p:sldId id="342" r:id="rId20"/>
    <p:sldId id="343" r:id="rId21"/>
    <p:sldId id="344" r:id="rId22"/>
    <p:sldId id="345" r:id="rId23"/>
    <p:sldId id="346" r:id="rId24"/>
    <p:sldId id="347" r:id="rId25"/>
    <p:sldId id="348" r:id="rId26"/>
    <p:sldId id="328" r:id="rId27"/>
    <p:sldId id="263" r:id="rId28"/>
    <p:sldId id="269" r:id="rId29"/>
    <p:sldId id="349" r:id="rId30"/>
    <p:sldId id="350" r:id="rId31"/>
    <p:sldId id="351" r:id="rId32"/>
    <p:sldId id="352" r:id="rId33"/>
    <p:sldId id="353" r:id="rId34"/>
    <p:sldId id="354" r:id="rId35"/>
    <p:sldId id="355" r:id="rId36"/>
    <p:sldId id="327" r:id="rId37"/>
    <p:sldId id="272" r:id="rId3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26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4626"/>
  </p:normalViewPr>
  <p:slideViewPr>
    <p:cSldViewPr snapToGrid="0" snapToObjects="1">
      <p:cViewPr varScale="1">
        <p:scale>
          <a:sx n="70" d="100"/>
          <a:sy n="70" d="100"/>
        </p:scale>
        <p:origin x="113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44D0C-1CB1-E645-87B8-5887239B9ECD}" type="datetimeFigureOut">
              <a:rPr lang="fr-FR" smtClean="0"/>
              <a:t>02/09/2024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9A1237-63C0-2149-90AD-33FFCF7C85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7762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© SUPINFO</a:t>
            </a:r>
          </a:p>
          <a:p>
            <a:r>
              <a:rPr lang="fr-FR" dirty="0"/>
              <a:t>Auteur </a:t>
            </a:r>
            <a:r>
              <a:rPr lang="fr-FR"/>
              <a:t>: Corentin Zimmermann</a:t>
            </a: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1732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La requête n’est pas effectuée car elle est toujours dans son état d’énumération, l’itérateur n’a pas commencé son travail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4743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8064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2726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03046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0262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69513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1097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E35FED-2507-6347-9B57-3FF5AFCD8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D8B847-1B82-BE49-A9A7-C3023CD2D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611D94-0717-E14D-B19C-F142F7DBD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02/09/2024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D62BDA-0F08-504D-9BDA-A04B89E82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0C21CC-1B92-B44B-AE72-CDCCB2D83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1407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EA51D4-1867-8845-820C-C21D7BCEC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3841B2-2299-484D-98D4-2509FDD87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7F3535-31CB-2243-9FD7-D6385CE3D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02/09/2024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828F9A-0BE6-2040-B200-CA9AD150D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53960E-7BA0-5744-B871-2625A9246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7754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D28FD5-3D75-FF4B-8910-57BF5A278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4D373C-AC4E-4749-AF27-1D4F5473F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4B37BF-0D5B-EE4F-B5D2-4991975BE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02/09/2024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CC8B85-AF4B-D347-9A59-97FD4522E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0FD24F-150A-1443-9905-84B822D4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5405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238437-A9AA-1649-93B3-41C10243C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052425-B188-F44E-AE00-4A68E5EA4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1B7208-E02E-5B44-B5B0-8F7E4329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479033-F7B2-3340-AA42-C9315CC6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02/09/2024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BC51178-4562-B14F-81E9-EEB57190D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CB1059-2BD2-DE48-8A78-A1F0952E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3048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E87D52-2FB1-1B49-AB3F-B878A6C6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5322B7-F0A2-534D-A6BC-4D36CFB7E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541A8E-94B9-9948-9F7F-B59CE4A7A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87F5E04-45D9-0B41-A49B-C539BB240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45050A4-C507-9A4F-B6CE-71C0EC9B7E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FAFD617-5DC0-7146-8644-37FDEF3C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02/09/2024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66D3D1A-4433-FB46-BCB3-2FC07477E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28BE2A0-7142-7944-9978-9CF0A02E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1945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23AE92-F78E-674F-9897-3D26B7A9F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AC96ECA-9486-6E4B-B4BC-7E76B34E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02/09/2024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8B4D8AF-4BB6-934B-A379-CBF84C9A4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8E009D-38CE-D34C-82BA-3182CA4F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5514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D844418-3E68-CA4E-AC8C-9D66D9255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02/09/2024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CD285BC-A399-C24D-9863-55D71A825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BC877D-0D91-8442-9A72-AF3420B94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0732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9C8412-37C8-4B46-9CE8-3469F189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A9CD95-5780-714B-A453-63A2F3456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2D7CA0C-E415-F14F-9EF8-44A9C7CBE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697766-D919-5247-A55B-2A12BA74B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02/09/2024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B77295-5D11-2841-AC5B-84946CEA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AF8E56-0D31-804D-9F4F-DD615D5E8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0111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B54B13-E418-4E42-B170-1BC860212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B349CDA-C85B-4F42-B8C6-26E684EDA6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E92AAF-FCE8-F84A-8EB9-CC618F3F7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AB83901-E98D-6B44-A440-F9809CD85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02/09/2024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B5FCBB-5385-494D-A3C1-C59A68C9E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24BFBC5-500C-E04C-A17A-AC6C64E82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9208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3EDC94-6368-2D4E-8A75-930EFDF09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EE47BB-5DBD-034C-84DA-C86FA33B9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E7FE81-3F94-FB4B-AB88-842AE52DC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02/09/2024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51EDF4-8F0D-4644-BC7F-8EDA683F6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779F0B-3D1B-234B-8E0E-0005BA6E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2137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FD2D733-6537-F246-9DD6-47A2CFFE25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FED1EB9-F8C4-6F42-9293-8EFB0A55D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78BEE2-EC2A-B14D-8087-8A8A25C4D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02/09/2024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C088C9-8381-E84F-AEB6-0CE68238A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EFA170-D382-C048-933C-9BCF9266E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2432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1016B3E-7434-F444-85B1-81A3F66D7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C2A833-B532-5441-8F6F-770D7BDE7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AD43F0-39EC-1047-86D5-82DFE14D5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B14F5-1D21-F14F-B36B-BCA0A34A15FF}" type="datetimeFigureOut">
              <a:rPr lang="fr-FR" smtClean="0"/>
              <a:t>02/09/2024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06F5D3-EF53-A447-B4AC-97397E1C3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542739-B2AF-EA41-A1C0-C7A7135EE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FE8A8-8232-1F4D-846D-4EBDDCE93E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8103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msdn.microsoft.com/en-us/library/dd363565.aspx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26" Type="http://schemas.openxmlformats.org/officeDocument/2006/relationships/image" Target="../media/image35.png"/><Relationship Id="rId3" Type="http://schemas.openxmlformats.org/officeDocument/2006/relationships/image" Target="../media/image12.png"/><Relationship Id="rId21" Type="http://schemas.openxmlformats.org/officeDocument/2006/relationships/image" Target="../media/image30.png"/><Relationship Id="rId34" Type="http://schemas.openxmlformats.org/officeDocument/2006/relationships/image" Target="../media/image43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33" Type="http://schemas.openxmlformats.org/officeDocument/2006/relationships/image" Target="../media/image42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29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32" Type="http://schemas.openxmlformats.org/officeDocument/2006/relationships/image" Target="../media/image41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28" Type="http://schemas.openxmlformats.org/officeDocument/2006/relationships/image" Target="../media/image37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31" Type="http://schemas.openxmlformats.org/officeDocument/2006/relationships/image" Target="../media/image40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36.png"/><Relationship Id="rId30" Type="http://schemas.openxmlformats.org/officeDocument/2006/relationships/image" Target="../media/image39.png"/><Relationship Id="rId35" Type="http://schemas.openxmlformats.org/officeDocument/2006/relationships/image" Target="../media/image44.png"/><Relationship Id="rId8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8221A-BD6C-D743-8F79-B5CC237B7B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>
                <a:solidFill>
                  <a:schemeClr val="bg1"/>
                </a:solidFill>
              </a:rPr>
              <a:t>Entity</a:t>
            </a:r>
            <a:r>
              <a:rPr lang="fr-FR" dirty="0">
                <a:solidFill>
                  <a:schemeClr val="bg1"/>
                </a:solidFill>
              </a:rPr>
              <a:t> Framework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76B8DA83-B860-924D-B9FE-FE02FD8A3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5983"/>
            <a:ext cx="9144000" cy="1655762"/>
          </a:xfrm>
        </p:spPr>
        <p:txBody>
          <a:bodyPr/>
          <a:lstStyle/>
          <a:p>
            <a:r>
              <a:rPr lang="fr-FR">
                <a:solidFill>
                  <a:schemeClr val="bg1"/>
                </a:solidFill>
              </a:rPr>
              <a:t>3ASP - C# / ASP.NET</a:t>
            </a: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5A1A31C-D020-0B43-A654-BC830BBC2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200" y="5454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462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2565451"/>
            <a:ext cx="10515600" cy="28512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ADO.NET </a:t>
            </a:r>
            <a:r>
              <a:rPr lang="fr-FR" sz="3600" dirty="0" err="1">
                <a:solidFill>
                  <a:schemeClr val="bg1"/>
                </a:solidFill>
              </a:rPr>
              <a:t>Entity</a:t>
            </a:r>
            <a:r>
              <a:rPr lang="fr-FR" sz="3600" dirty="0">
                <a:solidFill>
                  <a:schemeClr val="bg1"/>
                </a:solidFill>
              </a:rPr>
              <a:t> Framework</a:t>
            </a:r>
          </a:p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Code First</a:t>
            </a:r>
          </a:p>
          <a:p>
            <a:pPr marL="742950" indent="-742950">
              <a:buAutoNum type="arabicPeriod"/>
            </a:pPr>
            <a:r>
              <a:rPr lang="fr-FR" sz="3600" dirty="0" err="1">
                <a:solidFill>
                  <a:schemeClr val="bg1"/>
                </a:solidFill>
              </a:rPr>
              <a:t>Linq</a:t>
            </a:r>
            <a:endParaRPr lang="fr-FR" sz="3600" dirty="0">
              <a:solidFill>
                <a:schemeClr val="bg1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E19DB8DF-56A9-C146-8CC5-1A72BBF66B41}"/>
              </a:ext>
            </a:extLst>
          </p:cNvPr>
          <p:cNvSpPr txBox="1">
            <a:spLocks/>
          </p:cNvSpPr>
          <p:nvPr/>
        </p:nvSpPr>
        <p:spPr>
          <a:xfrm>
            <a:off x="4994689" y="402196"/>
            <a:ext cx="2189922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i="1" dirty="0">
                <a:solidFill>
                  <a:schemeClr val="bg1"/>
                </a:solidFill>
              </a:rPr>
              <a:t>Sommaire</a:t>
            </a:r>
          </a:p>
        </p:txBody>
      </p:sp>
      <p:pic>
        <p:nvPicPr>
          <p:cNvPr id="6" name="Graphique 5" descr="Menu avec un remplissage uni">
            <a:extLst>
              <a:ext uri="{FF2B5EF4-FFF2-40B4-BE49-F238E27FC236}">
                <a16:creationId xmlns:a16="http://schemas.microsoft.com/office/drawing/2014/main" id="{F3640D13-DDD0-8D47-9978-9A138749B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40000" y="5040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723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1. ADO.NET </a:t>
            </a:r>
            <a:r>
              <a:rPr lang="fr-FR" sz="5400" dirty="0" err="1">
                <a:solidFill>
                  <a:schemeClr val="bg1"/>
                </a:solidFill>
              </a:rPr>
              <a:t>Entity</a:t>
            </a:r>
            <a:r>
              <a:rPr lang="fr-FR" sz="5400" dirty="0">
                <a:solidFill>
                  <a:schemeClr val="bg1"/>
                </a:solidFill>
              </a:rPr>
              <a:t> Framework</a:t>
            </a:r>
          </a:p>
        </p:txBody>
      </p:sp>
    </p:spTree>
    <p:extLst>
      <p:ext uri="{BB962C8B-B14F-4D97-AF65-F5344CB8AC3E}">
        <p14:creationId xmlns:p14="http://schemas.microsoft.com/office/powerpoint/2010/main" val="1118698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ADO.NET </a:t>
            </a:r>
            <a:r>
              <a:rPr lang="fr-FR" sz="3200" dirty="0" err="1"/>
              <a:t>Entity</a:t>
            </a:r>
            <a:r>
              <a:rPr lang="fr-FR" sz="3200" dirty="0"/>
              <a:t> Framework</a:t>
            </a:r>
          </a:p>
          <a:p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73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240029" algn="l"/>
              </a:tabLst>
            </a:pPr>
            <a:endParaRPr lang="fr-FR" sz="28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800" dirty="0">
                <a:latin typeface="Calibri"/>
                <a:cs typeface="Calibri"/>
              </a:rPr>
              <a:t>ActiveX</a:t>
            </a:r>
            <a:r>
              <a:rPr lang="fr-FR" sz="2800" spc="-95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Data</a:t>
            </a:r>
            <a:r>
              <a:rPr lang="fr-FR" sz="2800" spc="-90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Object</a:t>
            </a:r>
            <a:r>
              <a:rPr lang="fr-FR" sz="2800" spc="-75" dirty="0">
                <a:latin typeface="Calibri"/>
                <a:cs typeface="Calibri"/>
              </a:rPr>
              <a:t> </a:t>
            </a:r>
            <a:r>
              <a:rPr lang="fr-FR" sz="2800" spc="-10" dirty="0">
                <a:latin typeface="Calibri"/>
                <a:cs typeface="Calibri"/>
              </a:rPr>
              <a:t>(ADO)</a:t>
            </a:r>
            <a:endParaRPr lang="fr-FR" sz="28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7865" algn="l"/>
              </a:tabLst>
            </a:pPr>
            <a:r>
              <a:rPr lang="fr-FR" sz="2400" dirty="0">
                <a:latin typeface="Calibri"/>
                <a:cs typeface="Calibri"/>
              </a:rPr>
              <a:t>Crée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en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1996</a:t>
            </a:r>
            <a:endParaRPr lang="fr-FR" sz="24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865" algn="l"/>
              </a:tabLst>
            </a:pPr>
            <a:r>
              <a:rPr lang="fr-FR" sz="2400" spc="-10" dirty="0">
                <a:latin typeface="Calibri"/>
                <a:cs typeface="Calibri"/>
              </a:rPr>
              <a:t>Interface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d’accès</a:t>
            </a:r>
            <a:r>
              <a:rPr lang="fr-FR" sz="2400" spc="-6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à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une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base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de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données</a:t>
            </a:r>
            <a:endParaRPr lang="fr-FR" sz="24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endParaRPr lang="fr-FR" sz="24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lang="fr-FR" sz="2800" spc="-10" dirty="0">
                <a:latin typeface="Calibri"/>
                <a:cs typeface="Calibri"/>
              </a:rPr>
              <a:t>ADO.NET</a:t>
            </a:r>
            <a:endParaRPr lang="fr-FR" sz="28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7865" algn="l"/>
              </a:tabLst>
            </a:pPr>
            <a:r>
              <a:rPr lang="fr-FR" sz="2400" spc="-10" dirty="0">
                <a:latin typeface="Calibri"/>
                <a:cs typeface="Calibri"/>
              </a:rPr>
              <a:t>Evolution</a:t>
            </a:r>
            <a:r>
              <a:rPr lang="fr-FR" sz="2400" spc="-6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pour</a:t>
            </a:r>
            <a:r>
              <a:rPr lang="fr-FR" sz="2400" spc="-6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.NET</a:t>
            </a:r>
            <a:r>
              <a:rPr lang="fr-FR" sz="2400" spc="-6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(2001)</a:t>
            </a:r>
            <a:endParaRPr lang="fr-FR" sz="24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865" algn="l"/>
              </a:tabLst>
            </a:pPr>
            <a:r>
              <a:rPr lang="fr-FR" sz="2400" spc="-10" dirty="0">
                <a:latin typeface="Calibri"/>
                <a:cs typeface="Calibri"/>
              </a:rPr>
              <a:t>Requêtes</a:t>
            </a:r>
            <a:r>
              <a:rPr lang="fr-FR" sz="2400" spc="-7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en</a:t>
            </a:r>
            <a:r>
              <a:rPr lang="fr-FR" sz="2400" spc="-7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langage</a:t>
            </a:r>
            <a:r>
              <a:rPr lang="fr-FR" sz="2400" spc="-70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SQL</a:t>
            </a:r>
            <a:endParaRPr lang="fr-FR" sz="24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865" algn="l"/>
              </a:tabLst>
            </a:pPr>
            <a:r>
              <a:rPr lang="fr-FR" sz="2400" dirty="0">
                <a:latin typeface="Calibri"/>
                <a:cs typeface="Calibri"/>
              </a:rPr>
              <a:t>Mode</a:t>
            </a:r>
            <a:r>
              <a:rPr lang="fr-FR" sz="2400" spc="-4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connecté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ou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déconnecté</a:t>
            </a:r>
            <a:endParaRPr lang="fr-FR" sz="24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09"/>
              </a:spcBef>
              <a:buFont typeface="Arial"/>
              <a:buChar char="•"/>
              <a:tabLst>
                <a:tab pos="697865" algn="l"/>
              </a:tabLst>
            </a:pPr>
            <a:r>
              <a:rPr lang="fr-FR" sz="2400" dirty="0">
                <a:latin typeface="Calibri"/>
                <a:cs typeface="Calibri"/>
              </a:rPr>
              <a:t>Nombreux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«</a:t>
            </a:r>
            <a:r>
              <a:rPr lang="fr-FR" sz="2400" spc="-6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Providers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»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(SQL</a:t>
            </a:r>
            <a:r>
              <a:rPr lang="fr-FR" sz="2400" spc="-60" dirty="0">
                <a:latin typeface="Calibri"/>
                <a:cs typeface="Calibri"/>
              </a:rPr>
              <a:t> </a:t>
            </a:r>
            <a:r>
              <a:rPr lang="fr-FR" sz="2400" spc="-30" dirty="0">
                <a:latin typeface="Calibri"/>
                <a:cs typeface="Calibri"/>
              </a:rPr>
              <a:t>Server,</a:t>
            </a:r>
            <a:r>
              <a:rPr lang="fr-FR" sz="2400" spc="-6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Oracle,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DB2…)</a:t>
            </a:r>
            <a:endParaRPr lang="fr-FR" sz="2400" dirty="0">
              <a:latin typeface="Calibri"/>
              <a:cs typeface="Calibri"/>
            </a:endParaRPr>
          </a:p>
          <a:p>
            <a:pPr marL="302260">
              <a:lnSpc>
                <a:spcPct val="100000"/>
              </a:lnSpc>
              <a:spcBef>
                <a:spcPts val="215"/>
              </a:spcBef>
            </a:pPr>
            <a:r>
              <a:rPr lang="fr-FR" sz="24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https://msdn.microsoft.com/en-</a:t>
            </a:r>
            <a:r>
              <a:rPr lang="fr-FR" sz="2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us/library/dd363565.aspx</a:t>
            </a:r>
            <a:endParaRPr lang="fr-FR"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1438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ADO.NET </a:t>
            </a:r>
            <a:r>
              <a:rPr lang="fr-FR" sz="3200" dirty="0" err="1"/>
              <a:t>Entity</a:t>
            </a:r>
            <a:r>
              <a:rPr lang="fr-FR" sz="3200" dirty="0"/>
              <a:t> Framework</a:t>
            </a:r>
          </a:p>
          <a:p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344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Object-</a:t>
            </a:r>
            <a:r>
              <a:rPr lang="fr-FR" sz="2400" b="1" dirty="0" err="1"/>
              <a:t>Relational</a:t>
            </a:r>
            <a:r>
              <a:rPr lang="fr-FR" sz="2400" b="1" dirty="0"/>
              <a:t> Mapping (ORM)</a:t>
            </a:r>
          </a:p>
          <a:p>
            <a:endParaRPr lang="fr-FR" sz="2400" b="1" dirty="0">
              <a:latin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Calibri"/>
                <a:cs typeface="Calibri"/>
              </a:rPr>
              <a:t>Mise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en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relation</a:t>
            </a:r>
            <a:r>
              <a:rPr lang="fr-FR" sz="2400" spc="-7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entre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les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objets</a:t>
            </a:r>
            <a:r>
              <a:rPr lang="fr-FR" sz="2400" spc="-6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du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langage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et</a:t>
            </a:r>
            <a:r>
              <a:rPr lang="fr-FR" sz="2400" spc="-6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la</a:t>
            </a:r>
            <a:r>
              <a:rPr lang="fr-FR" sz="2400" spc="-6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base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de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données.</a:t>
            </a:r>
            <a:endParaRPr lang="fr-FR" sz="2400" dirty="0">
              <a:latin typeface="Calibri"/>
              <a:cs typeface="Calibri"/>
            </a:endParaRPr>
          </a:p>
          <a:p>
            <a:pPr marL="812801" lvl="1" indent="-342900">
              <a:spcBef>
                <a:spcPts val="204"/>
              </a:spcBef>
              <a:buFont typeface="Arial" panose="020B0604020202020204" pitchFamily="34" charset="0"/>
              <a:buChar char="•"/>
              <a:tabLst>
                <a:tab pos="1154430" algn="l"/>
              </a:tabLst>
            </a:pPr>
            <a:r>
              <a:rPr lang="fr-FR" sz="2400" dirty="0">
                <a:latin typeface="Calibri"/>
                <a:cs typeface="Calibri"/>
              </a:rPr>
              <a:t>Une table</a:t>
            </a:r>
            <a:r>
              <a:rPr lang="fr-FR" sz="2400" spc="-30" dirty="0">
                <a:latin typeface="Calibri"/>
                <a:cs typeface="Calibri"/>
              </a:rPr>
              <a:t> souvent symbolisée par une </a:t>
            </a:r>
            <a:r>
              <a:rPr lang="fr-FR" sz="2400" spc="-10" dirty="0">
                <a:latin typeface="Calibri"/>
                <a:cs typeface="Calibri"/>
              </a:rPr>
              <a:t>classe</a:t>
            </a:r>
            <a:endParaRPr lang="fr-FR" sz="2400" dirty="0">
              <a:latin typeface="Calibri"/>
              <a:cs typeface="Calibri"/>
            </a:endParaRPr>
          </a:p>
          <a:p>
            <a:pPr marL="812801" lvl="1" indent="-342900">
              <a:spcBef>
                <a:spcPts val="215"/>
              </a:spcBef>
              <a:buFont typeface="Arial" panose="020B0604020202020204" pitchFamily="34" charset="0"/>
              <a:buChar char="•"/>
              <a:tabLst>
                <a:tab pos="1154430" algn="l"/>
              </a:tabLst>
            </a:pPr>
            <a:r>
              <a:rPr lang="fr-FR" sz="2400" spc="-30" dirty="0">
                <a:latin typeface="Calibri"/>
                <a:cs typeface="Calibri"/>
              </a:rPr>
              <a:t>Une  </a:t>
            </a:r>
            <a:r>
              <a:rPr lang="fr-FR" sz="2400" dirty="0">
                <a:latin typeface="Calibri"/>
                <a:cs typeface="Calibri"/>
              </a:rPr>
              <a:t>ligne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de</a:t>
            </a:r>
            <a:r>
              <a:rPr lang="fr-FR" sz="2400" spc="-1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la</a:t>
            </a:r>
            <a:r>
              <a:rPr lang="fr-FR" sz="2400" spc="-1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table</a:t>
            </a:r>
            <a:r>
              <a:rPr lang="fr-FR" sz="2400" spc="-30" dirty="0">
                <a:latin typeface="Calibri"/>
                <a:cs typeface="Calibri"/>
              </a:rPr>
              <a:t> souvent symbolisée par </a:t>
            </a:r>
            <a:r>
              <a:rPr lang="fr-FR" sz="2400" dirty="0">
                <a:latin typeface="Calibri"/>
                <a:cs typeface="Calibri"/>
              </a:rPr>
              <a:t>1</a:t>
            </a:r>
            <a:r>
              <a:rPr lang="fr-FR" sz="2400" spc="-2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objet</a:t>
            </a:r>
            <a:endParaRPr lang="fr-FR" sz="2400" dirty="0">
              <a:latin typeface="Calibri"/>
              <a:cs typeface="Calibri"/>
            </a:endParaRPr>
          </a:p>
          <a:p>
            <a:pPr marR="5080">
              <a:lnSpc>
                <a:spcPct val="100000"/>
              </a:lnSpc>
              <a:spcBef>
                <a:spcPts val="990"/>
              </a:spcBef>
            </a:pPr>
            <a:endParaRPr lang="fr-FR" sz="1800" dirty="0">
              <a:latin typeface="Calibri"/>
              <a:cs typeface="Calibri"/>
            </a:endParaRPr>
          </a:p>
          <a:p>
            <a:pPr marL="240665" indent="-227965">
              <a:spcBef>
                <a:spcPts val="155"/>
              </a:spcBef>
              <a:buFont typeface="Arial"/>
              <a:buChar char="•"/>
              <a:tabLst>
                <a:tab pos="697865" algn="l"/>
              </a:tabLst>
            </a:pPr>
            <a:r>
              <a:rPr lang="fr-FR" sz="2400" dirty="0">
                <a:latin typeface="Calibri"/>
                <a:cs typeface="Calibri"/>
              </a:rPr>
              <a:t>Permet</a:t>
            </a:r>
            <a:r>
              <a:rPr lang="fr-FR" sz="2400" spc="-6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l’illusion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de</a:t>
            </a:r>
            <a:r>
              <a:rPr lang="fr-FR" sz="2400" spc="-4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la</a:t>
            </a:r>
            <a:r>
              <a:rPr lang="fr-FR" sz="2400" spc="-4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POO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dans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une</a:t>
            </a:r>
            <a:r>
              <a:rPr lang="fr-FR" sz="2400" spc="-30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base</a:t>
            </a:r>
            <a:endParaRPr lang="fr-FR" sz="2400" dirty="0">
              <a:latin typeface="Calibri"/>
              <a:cs typeface="Calibri"/>
            </a:endParaRPr>
          </a:p>
          <a:p>
            <a:pPr marL="697230" lvl="1" indent="-227329">
              <a:spcBef>
                <a:spcPts val="215"/>
              </a:spcBef>
              <a:buFont typeface="Arial"/>
              <a:buChar char="•"/>
              <a:tabLst>
                <a:tab pos="1154430" algn="l"/>
              </a:tabLst>
            </a:pPr>
            <a:r>
              <a:rPr lang="fr-FR" sz="2400" dirty="0">
                <a:latin typeface="Calibri"/>
                <a:cs typeface="Calibri"/>
              </a:rPr>
              <a:t>Plus</a:t>
            </a:r>
            <a:r>
              <a:rPr lang="fr-FR" sz="2400" spc="-4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proche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du</a:t>
            </a:r>
            <a:r>
              <a:rPr lang="fr-FR" sz="2400" spc="-4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diagramme</a:t>
            </a:r>
            <a:r>
              <a:rPr lang="fr-FR" sz="2400" spc="-7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de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classes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UML</a:t>
            </a:r>
            <a:endParaRPr lang="fr-FR" sz="2400" dirty="0">
              <a:latin typeface="Calibri"/>
              <a:cs typeface="Calibri"/>
            </a:endParaRPr>
          </a:p>
          <a:p>
            <a:pPr marL="697230" lvl="1" indent="-227329">
              <a:spcBef>
                <a:spcPts val="219"/>
              </a:spcBef>
              <a:buFont typeface="Arial"/>
              <a:buChar char="•"/>
              <a:tabLst>
                <a:tab pos="1154430" algn="l"/>
              </a:tabLst>
            </a:pPr>
            <a:r>
              <a:rPr lang="fr-FR" sz="2400" spc="-10" dirty="0">
                <a:latin typeface="Calibri"/>
                <a:cs typeface="Calibri"/>
              </a:rPr>
              <a:t>Héritage</a:t>
            </a:r>
            <a:endParaRPr lang="fr-FR" sz="2400" dirty="0">
              <a:latin typeface="Calibri"/>
              <a:cs typeface="Calibri"/>
            </a:endParaRPr>
          </a:p>
          <a:p>
            <a:pPr marL="697230" lvl="1" indent="-227329">
              <a:spcBef>
                <a:spcPts val="200"/>
              </a:spcBef>
              <a:buFont typeface="Arial"/>
              <a:buChar char="•"/>
              <a:tabLst>
                <a:tab pos="1154430" algn="l"/>
              </a:tabLst>
            </a:pPr>
            <a:r>
              <a:rPr lang="fr-FR" sz="2400" spc="-10" dirty="0">
                <a:latin typeface="Calibri"/>
                <a:cs typeface="Calibri"/>
              </a:rPr>
              <a:t>Relations</a:t>
            </a:r>
            <a:r>
              <a:rPr lang="fr-FR" sz="2400" spc="-6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par</a:t>
            </a:r>
            <a:r>
              <a:rPr lang="fr-FR" sz="2400" spc="-2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des</a:t>
            </a:r>
            <a:r>
              <a:rPr lang="fr-FR" sz="2400" spc="-3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propriétés</a:t>
            </a:r>
            <a:endParaRPr lang="fr-FR" sz="2400" dirty="0">
              <a:latin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660360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ADO.NET </a:t>
            </a:r>
            <a:r>
              <a:rPr lang="fr-FR" sz="3200" dirty="0" err="1"/>
              <a:t>Entity</a:t>
            </a:r>
            <a:r>
              <a:rPr lang="fr-FR" sz="3200" dirty="0"/>
              <a:t> Framework</a:t>
            </a:r>
          </a:p>
          <a:p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/>
              <a:t>Entity</a:t>
            </a:r>
            <a:r>
              <a:rPr lang="fr-FR" sz="2400" b="1" dirty="0"/>
              <a:t> Framework</a:t>
            </a:r>
          </a:p>
          <a:p>
            <a:endParaRPr lang="fr-FR" sz="2400" b="1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535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800" dirty="0" err="1">
                <a:latin typeface="Calibri"/>
                <a:cs typeface="Calibri"/>
              </a:rPr>
              <a:t>Entity</a:t>
            </a:r>
            <a:r>
              <a:rPr lang="fr-FR" sz="2800" spc="-110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Framework</a:t>
            </a:r>
            <a:r>
              <a:rPr lang="fr-FR" sz="2800" spc="-110" dirty="0">
                <a:latin typeface="Calibri"/>
                <a:cs typeface="Calibri"/>
              </a:rPr>
              <a:t> </a:t>
            </a:r>
            <a:r>
              <a:rPr lang="fr-FR" sz="2800" spc="-20" dirty="0">
                <a:latin typeface="Calibri"/>
                <a:cs typeface="Calibri"/>
              </a:rPr>
              <a:t>(EF)</a:t>
            </a:r>
            <a:endParaRPr lang="fr-FR" sz="28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Calibri"/>
                <a:cs typeface="Calibri"/>
              </a:rPr>
              <a:t>Crée</a:t>
            </a:r>
            <a:r>
              <a:rPr lang="fr-FR" sz="2000" spc="-6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par</a:t>
            </a:r>
            <a:r>
              <a:rPr lang="fr-FR" sz="2000" spc="-6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Microsoft</a:t>
            </a:r>
            <a:r>
              <a:rPr lang="fr-FR" sz="2000" spc="-50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(2008)</a:t>
            </a:r>
            <a:endParaRPr lang="fr-FR" sz="20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Calibri"/>
                <a:cs typeface="Calibri"/>
              </a:rPr>
              <a:t>Le</a:t>
            </a:r>
            <a:r>
              <a:rPr lang="fr-FR" sz="2000" spc="-3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plus</a:t>
            </a:r>
            <a:r>
              <a:rPr lang="fr-FR" sz="2000" spc="-4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utilisé</a:t>
            </a:r>
            <a:r>
              <a:rPr lang="fr-FR" sz="2000" spc="-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en</a:t>
            </a:r>
            <a:r>
              <a:rPr lang="fr-FR" sz="2000" spc="-40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.NET</a:t>
            </a:r>
            <a:endParaRPr lang="fr-FR" sz="20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60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spc="-25" dirty="0">
                <a:latin typeface="Calibri"/>
                <a:cs typeface="Calibri"/>
              </a:rPr>
              <a:t>Très</a:t>
            </a:r>
            <a:r>
              <a:rPr lang="fr-FR" sz="2000" spc="-85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complet</a:t>
            </a:r>
            <a:endParaRPr lang="fr-FR" sz="20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Calibri"/>
                <a:cs typeface="Calibri"/>
              </a:rPr>
              <a:t>Compatible</a:t>
            </a:r>
            <a:r>
              <a:rPr lang="fr-FR" sz="2000" spc="-4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.NET</a:t>
            </a:r>
            <a:r>
              <a:rPr lang="fr-FR" sz="2000" spc="-5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7</a:t>
            </a:r>
            <a:r>
              <a:rPr lang="fr-FR" sz="2000" spc="-3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(Windows</a:t>
            </a:r>
            <a:r>
              <a:rPr lang="fr-FR" sz="2000" spc="-50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uniquement</a:t>
            </a:r>
            <a:r>
              <a:rPr lang="fr-FR" sz="2000" spc="-35" dirty="0">
                <a:latin typeface="Calibri"/>
                <a:cs typeface="Calibri"/>
              </a:rPr>
              <a:t> </a:t>
            </a:r>
            <a:r>
              <a:rPr lang="fr-FR" sz="2000" spc="-25" dirty="0">
                <a:latin typeface="Calibri"/>
                <a:cs typeface="Calibri"/>
              </a:rPr>
              <a:t>!)</a:t>
            </a:r>
            <a:endParaRPr lang="fr-FR" sz="20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830"/>
              </a:spcBef>
              <a:buFont typeface="Arial"/>
              <a:buChar char="•"/>
            </a:pPr>
            <a:endParaRPr lang="fr-FR" sz="20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lang="fr-FR" sz="2800" dirty="0" err="1">
                <a:latin typeface="Calibri"/>
                <a:cs typeface="Calibri"/>
              </a:rPr>
              <a:t>Entity</a:t>
            </a:r>
            <a:r>
              <a:rPr lang="fr-FR" sz="2800" spc="-60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Framework</a:t>
            </a:r>
            <a:r>
              <a:rPr lang="fr-FR" sz="2800" spc="-60" dirty="0">
                <a:latin typeface="Calibri"/>
                <a:cs typeface="Calibri"/>
              </a:rPr>
              <a:t> </a:t>
            </a:r>
            <a:r>
              <a:rPr lang="fr-FR" sz="2800" dirty="0" err="1">
                <a:latin typeface="Calibri"/>
                <a:cs typeface="Calibri"/>
              </a:rPr>
              <a:t>Core</a:t>
            </a:r>
            <a:r>
              <a:rPr lang="fr-FR" sz="2800" spc="-65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7</a:t>
            </a:r>
            <a:r>
              <a:rPr lang="fr-FR" sz="2800" spc="-55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(EF</a:t>
            </a:r>
            <a:r>
              <a:rPr lang="fr-FR" sz="2800" spc="-50" dirty="0">
                <a:latin typeface="Calibri"/>
                <a:cs typeface="Calibri"/>
              </a:rPr>
              <a:t> </a:t>
            </a:r>
            <a:r>
              <a:rPr lang="fr-FR" sz="2800" spc="-10" dirty="0" err="1">
                <a:latin typeface="Calibri"/>
                <a:cs typeface="Calibri"/>
              </a:rPr>
              <a:t>Core</a:t>
            </a:r>
            <a:r>
              <a:rPr lang="fr-FR" sz="2800" spc="-10" dirty="0">
                <a:latin typeface="Calibri"/>
                <a:cs typeface="Calibri"/>
              </a:rPr>
              <a:t>)</a:t>
            </a:r>
            <a:endParaRPr lang="fr-FR" sz="28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Calibri"/>
                <a:cs typeface="Calibri"/>
              </a:rPr>
              <a:t>Uniquement</a:t>
            </a:r>
            <a:r>
              <a:rPr lang="fr-FR" sz="2000" spc="-5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.Net</a:t>
            </a:r>
            <a:r>
              <a:rPr lang="fr-FR" sz="2000" spc="-50" dirty="0">
                <a:latin typeface="Calibri"/>
                <a:cs typeface="Calibri"/>
              </a:rPr>
              <a:t> </a:t>
            </a:r>
            <a:r>
              <a:rPr lang="fr-FR" sz="2000" spc="-20" dirty="0" err="1">
                <a:latin typeface="Calibri"/>
                <a:cs typeface="Calibri"/>
              </a:rPr>
              <a:t>Core</a:t>
            </a:r>
            <a:endParaRPr lang="fr-FR" sz="2000" dirty="0">
              <a:latin typeface="Calibri"/>
              <a:cs typeface="Calibri"/>
            </a:endParaRPr>
          </a:p>
          <a:p>
            <a:pPr marL="697230" lvl="1" indent="-227329">
              <a:spcBef>
                <a:spcPts val="200"/>
              </a:spcBef>
              <a:buFont typeface="Arial"/>
              <a:buChar char="•"/>
              <a:tabLst>
                <a:tab pos="1154430" algn="l"/>
              </a:tabLst>
            </a:pPr>
            <a:endParaRPr lang="fr-FR" sz="2400" dirty="0">
              <a:latin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77308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ADO.NET </a:t>
            </a:r>
            <a:r>
              <a:rPr lang="fr-FR" sz="3200" dirty="0" err="1"/>
              <a:t>Entity</a:t>
            </a:r>
            <a:r>
              <a:rPr lang="fr-FR" sz="3200" dirty="0"/>
              <a:t> Framework</a:t>
            </a:r>
          </a:p>
          <a:p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103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b="1" dirty="0"/>
          </a:p>
          <a:p>
            <a:pPr marL="240029" indent="-227329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800" dirty="0" err="1">
                <a:latin typeface="Calibri"/>
                <a:cs typeface="Calibri"/>
              </a:rPr>
              <a:t>NuGet</a:t>
            </a:r>
            <a:r>
              <a:rPr lang="fr-FR" sz="2800" spc="-80" dirty="0">
                <a:latin typeface="Calibri"/>
                <a:cs typeface="Calibri"/>
              </a:rPr>
              <a:t> </a:t>
            </a:r>
            <a:r>
              <a:rPr lang="fr-FR" sz="2800" spc="-10" dirty="0">
                <a:latin typeface="Calibri"/>
                <a:cs typeface="Calibri"/>
              </a:rPr>
              <a:t>Package</a:t>
            </a:r>
            <a:r>
              <a:rPr lang="fr-FR" sz="2800" spc="-90" dirty="0">
                <a:latin typeface="Calibri"/>
                <a:cs typeface="Calibri"/>
              </a:rPr>
              <a:t> </a:t>
            </a:r>
            <a:r>
              <a:rPr lang="fr-FR" sz="2800" spc="-10" dirty="0">
                <a:latin typeface="Calibri"/>
                <a:cs typeface="Calibri"/>
              </a:rPr>
              <a:t>Manager</a:t>
            </a:r>
            <a:endParaRPr lang="fr-FR" sz="28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7865" algn="l"/>
              </a:tabLst>
            </a:pPr>
            <a:r>
              <a:rPr lang="fr-FR" sz="2400" spc="-10" dirty="0">
                <a:latin typeface="Calibri"/>
                <a:cs typeface="Calibri"/>
              </a:rPr>
              <a:t>Projet</a:t>
            </a:r>
            <a:endParaRPr lang="fr-FR" sz="24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865" algn="l"/>
              </a:tabLst>
            </a:pPr>
            <a:r>
              <a:rPr lang="fr-FR" sz="2400" spc="-10" dirty="0">
                <a:latin typeface="Calibri"/>
                <a:cs typeface="Calibri"/>
              </a:rPr>
              <a:t>Solution</a:t>
            </a:r>
            <a:endParaRPr lang="fr-FR" sz="2400" dirty="0">
              <a:latin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grpSp>
        <p:nvGrpSpPr>
          <p:cNvPr id="4" name="object 5">
            <a:extLst>
              <a:ext uri="{FF2B5EF4-FFF2-40B4-BE49-F238E27FC236}">
                <a16:creationId xmlns:a16="http://schemas.microsoft.com/office/drawing/2014/main" id="{C4808B27-FC99-664F-A69D-CD6549EFF527}"/>
              </a:ext>
            </a:extLst>
          </p:cNvPr>
          <p:cNvGrpSpPr/>
          <p:nvPr/>
        </p:nvGrpSpPr>
        <p:grpSpPr>
          <a:xfrm>
            <a:off x="3047420" y="2775585"/>
            <a:ext cx="8322945" cy="3314700"/>
            <a:chOff x="3315017" y="2740469"/>
            <a:chExt cx="8322945" cy="3314700"/>
          </a:xfrm>
        </p:grpSpPr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06E627C3-95AE-AE0F-1DE4-12704C032A9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80231" y="2806827"/>
              <a:ext cx="8200643" cy="324802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8065C024-A2F5-602F-9F71-AE30C3B2D056}"/>
                </a:ext>
              </a:extLst>
            </p:cNvPr>
            <p:cNvSpPr/>
            <p:nvPr/>
          </p:nvSpPr>
          <p:spPr>
            <a:xfrm>
              <a:off x="11153901" y="2765806"/>
              <a:ext cx="484505" cy="334645"/>
            </a:xfrm>
            <a:custGeom>
              <a:avLst/>
              <a:gdLst/>
              <a:ahLst/>
              <a:cxnLst/>
              <a:rect l="l" t="t" r="r" b="b"/>
              <a:pathLst>
                <a:path w="484504" h="334644">
                  <a:moveTo>
                    <a:pt x="479044" y="0"/>
                  </a:moveTo>
                  <a:lnTo>
                    <a:pt x="5079" y="0"/>
                  </a:lnTo>
                  <a:lnTo>
                    <a:pt x="0" y="5080"/>
                  </a:lnTo>
                  <a:lnTo>
                    <a:pt x="0" y="329692"/>
                  </a:lnTo>
                  <a:lnTo>
                    <a:pt x="5079" y="334645"/>
                  </a:lnTo>
                  <a:lnTo>
                    <a:pt x="479044" y="334645"/>
                  </a:lnTo>
                  <a:lnTo>
                    <a:pt x="483997" y="329692"/>
                  </a:lnTo>
                  <a:lnTo>
                    <a:pt x="483997" y="312420"/>
                  </a:lnTo>
                  <a:lnTo>
                    <a:pt x="22225" y="312420"/>
                  </a:lnTo>
                  <a:lnTo>
                    <a:pt x="22225" y="22225"/>
                  </a:lnTo>
                  <a:lnTo>
                    <a:pt x="483997" y="22225"/>
                  </a:lnTo>
                  <a:lnTo>
                    <a:pt x="483997" y="5080"/>
                  </a:lnTo>
                  <a:lnTo>
                    <a:pt x="479044" y="0"/>
                  </a:lnTo>
                  <a:close/>
                </a:path>
                <a:path w="484504" h="334644">
                  <a:moveTo>
                    <a:pt x="483997" y="22225"/>
                  </a:moveTo>
                  <a:lnTo>
                    <a:pt x="461772" y="22225"/>
                  </a:lnTo>
                  <a:lnTo>
                    <a:pt x="461772" y="312420"/>
                  </a:lnTo>
                  <a:lnTo>
                    <a:pt x="483997" y="312420"/>
                  </a:lnTo>
                  <a:lnTo>
                    <a:pt x="483997" y="22225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8">
              <a:extLst>
                <a:ext uri="{FF2B5EF4-FFF2-40B4-BE49-F238E27FC236}">
                  <a16:creationId xmlns:a16="http://schemas.microsoft.com/office/drawing/2014/main" id="{49419369-84A4-F305-13E7-917F79FC5114}"/>
                </a:ext>
              </a:extLst>
            </p:cNvPr>
            <p:cNvSpPr/>
            <p:nvPr/>
          </p:nvSpPr>
          <p:spPr>
            <a:xfrm>
              <a:off x="11139677" y="2751582"/>
              <a:ext cx="462280" cy="312420"/>
            </a:xfrm>
            <a:custGeom>
              <a:avLst/>
              <a:gdLst/>
              <a:ahLst/>
              <a:cxnLst/>
              <a:rect l="l" t="t" r="r" b="b"/>
              <a:pathLst>
                <a:path w="462279" h="312419">
                  <a:moveTo>
                    <a:pt x="0" y="312420"/>
                  </a:moveTo>
                  <a:lnTo>
                    <a:pt x="461772" y="312420"/>
                  </a:lnTo>
                  <a:lnTo>
                    <a:pt x="461772" y="0"/>
                  </a:lnTo>
                  <a:lnTo>
                    <a:pt x="0" y="0"/>
                  </a:lnTo>
                  <a:lnTo>
                    <a:pt x="0" y="312420"/>
                  </a:lnTo>
                  <a:close/>
                </a:path>
              </a:pathLst>
            </a:custGeom>
            <a:ln w="222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9">
              <a:extLst>
                <a:ext uri="{FF2B5EF4-FFF2-40B4-BE49-F238E27FC236}">
                  <a16:creationId xmlns:a16="http://schemas.microsoft.com/office/drawing/2014/main" id="{0422AF41-8D75-BC92-B30A-983051C09F62}"/>
                </a:ext>
              </a:extLst>
            </p:cNvPr>
            <p:cNvSpPr/>
            <p:nvPr/>
          </p:nvSpPr>
          <p:spPr>
            <a:xfrm>
              <a:off x="3340353" y="3792982"/>
              <a:ext cx="3690620" cy="717550"/>
            </a:xfrm>
            <a:custGeom>
              <a:avLst/>
              <a:gdLst/>
              <a:ahLst/>
              <a:cxnLst/>
              <a:rect l="l" t="t" r="r" b="b"/>
              <a:pathLst>
                <a:path w="3690620" h="717550">
                  <a:moveTo>
                    <a:pt x="3685540" y="0"/>
                  </a:moveTo>
                  <a:lnTo>
                    <a:pt x="5080" y="0"/>
                  </a:lnTo>
                  <a:lnTo>
                    <a:pt x="0" y="5080"/>
                  </a:lnTo>
                  <a:lnTo>
                    <a:pt x="0" y="712216"/>
                  </a:lnTo>
                  <a:lnTo>
                    <a:pt x="5080" y="717169"/>
                  </a:lnTo>
                  <a:lnTo>
                    <a:pt x="3685540" y="717169"/>
                  </a:lnTo>
                  <a:lnTo>
                    <a:pt x="3690493" y="712216"/>
                  </a:lnTo>
                  <a:lnTo>
                    <a:pt x="3690493" y="694944"/>
                  </a:lnTo>
                  <a:lnTo>
                    <a:pt x="22225" y="694944"/>
                  </a:lnTo>
                  <a:lnTo>
                    <a:pt x="22225" y="22225"/>
                  </a:lnTo>
                  <a:lnTo>
                    <a:pt x="3690493" y="22225"/>
                  </a:lnTo>
                  <a:lnTo>
                    <a:pt x="3690493" y="5080"/>
                  </a:lnTo>
                  <a:lnTo>
                    <a:pt x="3685540" y="0"/>
                  </a:lnTo>
                  <a:close/>
                </a:path>
                <a:path w="3690620" h="717550">
                  <a:moveTo>
                    <a:pt x="3690493" y="22225"/>
                  </a:moveTo>
                  <a:lnTo>
                    <a:pt x="3668268" y="22225"/>
                  </a:lnTo>
                  <a:lnTo>
                    <a:pt x="3668268" y="694944"/>
                  </a:lnTo>
                  <a:lnTo>
                    <a:pt x="3690493" y="694944"/>
                  </a:lnTo>
                  <a:lnTo>
                    <a:pt x="3690493" y="22225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0">
              <a:extLst>
                <a:ext uri="{FF2B5EF4-FFF2-40B4-BE49-F238E27FC236}">
                  <a16:creationId xmlns:a16="http://schemas.microsoft.com/office/drawing/2014/main" id="{BDF78CE0-F7C9-49D5-B883-1C2801C065AA}"/>
                </a:ext>
              </a:extLst>
            </p:cNvPr>
            <p:cNvSpPr/>
            <p:nvPr/>
          </p:nvSpPr>
          <p:spPr>
            <a:xfrm>
              <a:off x="3326129" y="3778758"/>
              <a:ext cx="3668395" cy="695325"/>
            </a:xfrm>
            <a:custGeom>
              <a:avLst/>
              <a:gdLst/>
              <a:ahLst/>
              <a:cxnLst/>
              <a:rect l="l" t="t" r="r" b="b"/>
              <a:pathLst>
                <a:path w="3668395" h="695325">
                  <a:moveTo>
                    <a:pt x="0" y="694944"/>
                  </a:moveTo>
                  <a:lnTo>
                    <a:pt x="3668268" y="694944"/>
                  </a:lnTo>
                  <a:lnTo>
                    <a:pt x="3668268" y="0"/>
                  </a:lnTo>
                  <a:lnTo>
                    <a:pt x="0" y="0"/>
                  </a:lnTo>
                  <a:lnTo>
                    <a:pt x="0" y="694944"/>
                  </a:lnTo>
                  <a:close/>
                </a:path>
              </a:pathLst>
            </a:custGeom>
            <a:ln w="222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1">
              <a:extLst>
                <a:ext uri="{FF2B5EF4-FFF2-40B4-BE49-F238E27FC236}">
                  <a16:creationId xmlns:a16="http://schemas.microsoft.com/office/drawing/2014/main" id="{3B39DE71-0508-3922-1880-9C13BB4810AC}"/>
                </a:ext>
              </a:extLst>
            </p:cNvPr>
            <p:cNvSpPr/>
            <p:nvPr/>
          </p:nvSpPr>
          <p:spPr>
            <a:xfrm>
              <a:off x="10522965" y="4161790"/>
              <a:ext cx="985519" cy="271145"/>
            </a:xfrm>
            <a:custGeom>
              <a:avLst/>
              <a:gdLst/>
              <a:ahLst/>
              <a:cxnLst/>
              <a:rect l="l" t="t" r="r" b="b"/>
              <a:pathLst>
                <a:path w="985520" h="271145">
                  <a:moveTo>
                    <a:pt x="980439" y="0"/>
                  </a:moveTo>
                  <a:lnTo>
                    <a:pt x="5079" y="0"/>
                  </a:lnTo>
                  <a:lnTo>
                    <a:pt x="0" y="5080"/>
                  </a:lnTo>
                  <a:lnTo>
                    <a:pt x="0" y="265684"/>
                  </a:lnTo>
                  <a:lnTo>
                    <a:pt x="5079" y="270637"/>
                  </a:lnTo>
                  <a:lnTo>
                    <a:pt x="980439" y="270637"/>
                  </a:lnTo>
                  <a:lnTo>
                    <a:pt x="985392" y="265684"/>
                  </a:lnTo>
                  <a:lnTo>
                    <a:pt x="985392" y="248412"/>
                  </a:lnTo>
                  <a:lnTo>
                    <a:pt x="22225" y="248412"/>
                  </a:lnTo>
                  <a:lnTo>
                    <a:pt x="22225" y="22225"/>
                  </a:lnTo>
                  <a:lnTo>
                    <a:pt x="985392" y="22225"/>
                  </a:lnTo>
                  <a:lnTo>
                    <a:pt x="985392" y="5080"/>
                  </a:lnTo>
                  <a:lnTo>
                    <a:pt x="980439" y="0"/>
                  </a:lnTo>
                  <a:close/>
                </a:path>
                <a:path w="985520" h="271145">
                  <a:moveTo>
                    <a:pt x="985392" y="22225"/>
                  </a:moveTo>
                  <a:lnTo>
                    <a:pt x="963167" y="22225"/>
                  </a:lnTo>
                  <a:lnTo>
                    <a:pt x="963167" y="248412"/>
                  </a:lnTo>
                  <a:lnTo>
                    <a:pt x="985392" y="248412"/>
                  </a:lnTo>
                  <a:lnTo>
                    <a:pt x="985392" y="22225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2">
              <a:extLst>
                <a:ext uri="{FF2B5EF4-FFF2-40B4-BE49-F238E27FC236}">
                  <a16:creationId xmlns:a16="http://schemas.microsoft.com/office/drawing/2014/main" id="{59C6F098-9F0F-87F5-4837-013B89870E99}"/>
                </a:ext>
              </a:extLst>
            </p:cNvPr>
            <p:cNvSpPr/>
            <p:nvPr/>
          </p:nvSpPr>
          <p:spPr>
            <a:xfrm>
              <a:off x="10508741" y="4147566"/>
              <a:ext cx="963294" cy="248920"/>
            </a:xfrm>
            <a:custGeom>
              <a:avLst/>
              <a:gdLst/>
              <a:ahLst/>
              <a:cxnLst/>
              <a:rect l="l" t="t" r="r" b="b"/>
              <a:pathLst>
                <a:path w="963295" h="248920">
                  <a:moveTo>
                    <a:pt x="0" y="248412"/>
                  </a:moveTo>
                  <a:lnTo>
                    <a:pt x="963168" y="248412"/>
                  </a:lnTo>
                  <a:lnTo>
                    <a:pt x="963168" y="0"/>
                  </a:lnTo>
                  <a:lnTo>
                    <a:pt x="0" y="0"/>
                  </a:lnTo>
                  <a:lnTo>
                    <a:pt x="0" y="248412"/>
                  </a:lnTo>
                  <a:close/>
                </a:path>
              </a:pathLst>
            </a:custGeom>
            <a:ln w="222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4">
            <a:extLst>
              <a:ext uri="{FF2B5EF4-FFF2-40B4-BE49-F238E27FC236}">
                <a16:creationId xmlns:a16="http://schemas.microsoft.com/office/drawing/2014/main" id="{84B5CC11-D666-1627-58CC-96E267E4A4D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16311" y="1048511"/>
            <a:ext cx="1202436" cy="119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618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ADO.NET </a:t>
            </a:r>
            <a:r>
              <a:rPr lang="fr-FR" sz="3200" dirty="0" err="1"/>
              <a:t>Entity</a:t>
            </a:r>
            <a:r>
              <a:rPr lang="fr-FR" sz="3200" dirty="0"/>
              <a:t> Framework</a:t>
            </a:r>
          </a:p>
          <a:p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3798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  <a:tabLst>
                <a:tab pos="240665" algn="l"/>
              </a:tabLst>
            </a:pPr>
            <a:r>
              <a:rPr lang="fr-FR" sz="2400" b="1" spc="-10" dirty="0">
                <a:latin typeface="Calibri"/>
                <a:cs typeface="Calibri"/>
              </a:rPr>
              <a:t>Les packages</a:t>
            </a:r>
          </a:p>
          <a:p>
            <a:pPr marL="240665" indent="-227965">
              <a:lnSpc>
                <a:spcPct val="100000"/>
              </a:lnSpc>
              <a:spcBef>
                <a:spcPts val="440"/>
              </a:spcBef>
              <a:buFont typeface="Arial"/>
              <a:buChar char="•"/>
              <a:tabLst>
                <a:tab pos="240665" algn="l"/>
              </a:tabLst>
            </a:pPr>
            <a:endParaRPr lang="fr-FR" sz="2400" spc="-1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44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spc="-10" dirty="0" err="1">
                <a:latin typeface="Calibri"/>
                <a:cs typeface="Calibri"/>
              </a:rPr>
              <a:t>Microsoft.EntityFrameworkCore</a:t>
            </a:r>
            <a:endParaRPr lang="fr-FR" sz="24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Calibri"/>
                <a:cs typeface="Calibri"/>
              </a:rPr>
              <a:t>Le</a:t>
            </a:r>
            <a:r>
              <a:rPr lang="fr-FR" sz="2000" spc="-2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package</a:t>
            </a:r>
            <a:r>
              <a:rPr lang="fr-FR" sz="2000" spc="-5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de</a:t>
            </a:r>
            <a:r>
              <a:rPr lang="fr-FR" sz="2000" spc="-3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base</a:t>
            </a:r>
            <a:r>
              <a:rPr lang="fr-FR" sz="2000" spc="-20" dirty="0">
                <a:latin typeface="Calibri"/>
                <a:cs typeface="Calibri"/>
              </a:rPr>
              <a:t> d’EF</a:t>
            </a:r>
            <a:endParaRPr lang="fr-FR" sz="20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05"/>
              </a:spcBef>
              <a:buFont typeface="Arial"/>
              <a:buChar char="•"/>
            </a:pPr>
            <a:endParaRPr lang="fr-FR" sz="20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lang="fr-FR" sz="2400" spc="-10" dirty="0" err="1">
                <a:latin typeface="Calibri"/>
                <a:cs typeface="Calibri"/>
              </a:rPr>
              <a:t>Microsoft.EntityFrameworkCore.SqlServer</a:t>
            </a:r>
            <a:endParaRPr lang="fr-FR" sz="24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Calibri"/>
                <a:cs typeface="Calibri"/>
              </a:rPr>
              <a:t>Le</a:t>
            </a:r>
            <a:r>
              <a:rPr lang="fr-FR" sz="2000" spc="-25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fournisseur</a:t>
            </a:r>
            <a:r>
              <a:rPr lang="fr-FR" sz="2000" spc="-30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permettant</a:t>
            </a:r>
            <a:r>
              <a:rPr lang="fr-FR" sz="2000" spc="-1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la</a:t>
            </a:r>
            <a:r>
              <a:rPr lang="fr-FR" sz="2000" spc="-20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communication</a:t>
            </a:r>
            <a:r>
              <a:rPr lang="fr-FR" sz="2000" spc="-4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pour</a:t>
            </a:r>
            <a:r>
              <a:rPr lang="fr-FR" sz="2000" spc="-2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base</a:t>
            </a:r>
            <a:r>
              <a:rPr lang="fr-FR" sz="2000" spc="-2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de</a:t>
            </a:r>
            <a:r>
              <a:rPr lang="fr-FR" sz="2000" spc="-3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données</a:t>
            </a:r>
            <a:r>
              <a:rPr lang="fr-FR" sz="2000" spc="-3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SQL</a:t>
            </a:r>
            <a:r>
              <a:rPr lang="fr-FR" sz="2000" spc="-25" dirty="0">
                <a:latin typeface="Calibri"/>
                <a:cs typeface="Calibri"/>
              </a:rPr>
              <a:t> </a:t>
            </a:r>
            <a:r>
              <a:rPr lang="fr-FR" sz="2000" spc="-10" dirty="0">
                <a:latin typeface="Calibri"/>
                <a:cs typeface="Calibri"/>
              </a:rPr>
              <a:t>Server</a:t>
            </a:r>
            <a:endParaRPr lang="fr-FR" sz="20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endParaRPr lang="fr-FR" sz="20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lang="fr-FR" sz="2400" spc="-10" dirty="0" err="1">
                <a:latin typeface="Calibri"/>
                <a:cs typeface="Calibri"/>
              </a:rPr>
              <a:t>Microsoft.EntityFrameworkCore.Tools</a:t>
            </a:r>
            <a:endParaRPr lang="fr-FR" sz="24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Calibri"/>
                <a:cs typeface="Calibri"/>
              </a:rPr>
              <a:t>Pour</a:t>
            </a:r>
            <a:r>
              <a:rPr lang="fr-FR" sz="2000" spc="-4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les</a:t>
            </a:r>
            <a:r>
              <a:rPr lang="fr-FR" sz="2000" spc="-2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outils</a:t>
            </a:r>
            <a:r>
              <a:rPr lang="fr-FR" sz="2000" spc="-4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en</a:t>
            </a:r>
            <a:r>
              <a:rPr lang="fr-FR" sz="2000" spc="-2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ligne</a:t>
            </a:r>
            <a:r>
              <a:rPr lang="fr-FR" sz="2000" spc="-4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de</a:t>
            </a:r>
            <a:r>
              <a:rPr lang="fr-FR" sz="2000" spc="-2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commande</a:t>
            </a:r>
            <a:r>
              <a:rPr lang="fr-FR" sz="2000" spc="-5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'</a:t>
            </a:r>
            <a:r>
              <a:rPr lang="fr-FR" sz="2000" dirty="0" err="1">
                <a:latin typeface="Calibri"/>
                <a:cs typeface="Calibri"/>
              </a:rPr>
              <a:t>dotnet</a:t>
            </a:r>
            <a:r>
              <a:rPr lang="fr-FR" sz="2000" spc="-40" dirty="0">
                <a:latin typeface="Calibri"/>
                <a:cs typeface="Calibri"/>
              </a:rPr>
              <a:t> </a:t>
            </a:r>
            <a:r>
              <a:rPr lang="fr-FR" sz="2000" spc="-25" dirty="0" err="1">
                <a:latin typeface="Calibri"/>
                <a:cs typeface="Calibri"/>
              </a:rPr>
              <a:t>ef</a:t>
            </a:r>
            <a:r>
              <a:rPr lang="fr-FR" sz="2000" spc="-25" dirty="0">
                <a:latin typeface="Calibri"/>
                <a:cs typeface="Calibri"/>
              </a:rPr>
              <a:t>'</a:t>
            </a:r>
            <a:endParaRPr lang="fr-FR"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2242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ADO.NET </a:t>
            </a:r>
            <a:r>
              <a:rPr lang="fr-FR" sz="3200" dirty="0" err="1"/>
              <a:t>Entity</a:t>
            </a:r>
            <a:r>
              <a:rPr lang="fr-FR" sz="3200" dirty="0"/>
              <a:t> Framework</a:t>
            </a:r>
          </a:p>
          <a:p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  <a:tabLst>
                <a:tab pos="240665" algn="l"/>
              </a:tabLst>
            </a:pPr>
            <a:r>
              <a:rPr lang="fr-FR" sz="2400" b="1" spc="-10" dirty="0">
                <a:latin typeface="Calibri"/>
                <a:cs typeface="Calibri"/>
              </a:rPr>
              <a:t>Génération</a:t>
            </a:r>
          </a:p>
          <a:p>
            <a:pPr marL="240665" indent="-227965">
              <a:lnSpc>
                <a:spcPct val="100000"/>
              </a:lnSpc>
              <a:spcBef>
                <a:spcPts val="440"/>
              </a:spcBef>
              <a:buFont typeface="Arial"/>
              <a:buChar char="•"/>
              <a:tabLst>
                <a:tab pos="240665" algn="l"/>
              </a:tabLst>
            </a:pPr>
            <a:endParaRPr lang="fr-FR" sz="2400" spc="-1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44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dirty="0">
                <a:latin typeface="Calibri"/>
                <a:cs typeface="Calibri"/>
              </a:rPr>
              <a:t>Model</a:t>
            </a:r>
            <a:r>
              <a:rPr lang="fr-FR" sz="2400" spc="-65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First</a:t>
            </a:r>
            <a:endParaRPr lang="fr-FR" sz="24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dirty="0">
                <a:latin typeface="Calibri"/>
                <a:cs typeface="Calibri"/>
              </a:rPr>
              <a:t>Création</a:t>
            </a:r>
            <a:r>
              <a:rPr lang="fr-FR" sz="2000" spc="-3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de</a:t>
            </a:r>
            <a:r>
              <a:rPr lang="fr-FR" sz="2000" spc="-4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la</a:t>
            </a:r>
            <a:r>
              <a:rPr lang="fr-FR" sz="2000" spc="-3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base</a:t>
            </a:r>
            <a:r>
              <a:rPr lang="fr-FR" sz="2000" spc="-3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depuis</a:t>
            </a:r>
            <a:r>
              <a:rPr lang="fr-FR" sz="2000" spc="-5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le</a:t>
            </a:r>
            <a:r>
              <a:rPr lang="fr-FR" sz="2000" spc="-25" dirty="0">
                <a:latin typeface="Calibri"/>
                <a:cs typeface="Calibri"/>
              </a:rPr>
              <a:t> </a:t>
            </a:r>
            <a:r>
              <a:rPr lang="fr-FR" sz="2000" spc="-20" dirty="0">
                <a:latin typeface="Calibri"/>
                <a:cs typeface="Calibri"/>
              </a:rPr>
              <a:t>code</a:t>
            </a:r>
            <a:endParaRPr lang="fr-FR" sz="20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05"/>
              </a:spcBef>
              <a:buFont typeface="Arial"/>
              <a:buChar char="•"/>
            </a:pPr>
            <a:endParaRPr lang="fr-FR" sz="20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lang="fr-FR" sz="2400" dirty="0" err="1">
                <a:latin typeface="Calibri"/>
                <a:cs typeface="Calibri"/>
              </a:rPr>
              <a:t>Database</a:t>
            </a:r>
            <a:r>
              <a:rPr lang="fr-FR" sz="2400" spc="-125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First</a:t>
            </a:r>
            <a:endParaRPr lang="fr-FR" sz="24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>
                <a:latin typeface="Calibri"/>
                <a:cs typeface="Calibri"/>
              </a:rPr>
              <a:t>Génération</a:t>
            </a:r>
            <a:r>
              <a:rPr lang="fr-FR" sz="2000" spc="-2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du</a:t>
            </a:r>
            <a:r>
              <a:rPr lang="fr-FR" sz="2000" spc="-2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code</a:t>
            </a:r>
            <a:r>
              <a:rPr lang="fr-FR" sz="2000" spc="-4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depuis</a:t>
            </a:r>
            <a:r>
              <a:rPr lang="fr-FR" sz="2000" spc="-3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la</a:t>
            </a:r>
            <a:r>
              <a:rPr lang="fr-FR" sz="2000" spc="-20" dirty="0">
                <a:latin typeface="Calibri"/>
                <a:cs typeface="Calibri"/>
              </a:rPr>
              <a:t> base</a:t>
            </a:r>
            <a:endParaRPr lang="fr-FR"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4365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1. ADO.NET </a:t>
            </a:r>
            <a:r>
              <a:rPr lang="fr-FR" sz="3200" dirty="0" err="1">
                <a:solidFill>
                  <a:schemeClr val="bg1"/>
                </a:solidFill>
              </a:rPr>
              <a:t>Entity</a:t>
            </a:r>
            <a:r>
              <a:rPr lang="fr-FR" sz="3200" dirty="0">
                <a:solidFill>
                  <a:schemeClr val="bg1"/>
                </a:solidFill>
              </a:rPr>
              <a:t> Framework</a:t>
            </a:r>
          </a:p>
        </p:txBody>
      </p:sp>
    </p:spTree>
    <p:extLst>
      <p:ext uri="{BB962C8B-B14F-4D97-AF65-F5344CB8AC3E}">
        <p14:creationId xmlns:p14="http://schemas.microsoft.com/office/powerpoint/2010/main" val="1926402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2. Code First</a:t>
            </a:r>
          </a:p>
        </p:txBody>
      </p:sp>
    </p:spTree>
    <p:extLst>
      <p:ext uri="{BB962C8B-B14F-4D97-AF65-F5344CB8AC3E}">
        <p14:creationId xmlns:p14="http://schemas.microsoft.com/office/powerpoint/2010/main" val="227131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Code First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30849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Création des modèles :</a:t>
            </a:r>
          </a:p>
          <a:p>
            <a:endParaRPr lang="fr-FR" sz="24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440D932-4E50-7611-5F11-19604EC12B07}"/>
              </a:ext>
            </a:extLst>
          </p:cNvPr>
          <p:cNvSpPr txBox="1"/>
          <p:nvPr/>
        </p:nvSpPr>
        <p:spPr>
          <a:xfrm>
            <a:off x="1513114" y="4119380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Person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PersonID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FirstName {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LastName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  <p:pic>
        <p:nvPicPr>
          <p:cNvPr id="15" name="object 4">
            <a:extLst>
              <a:ext uri="{FF2B5EF4-FFF2-40B4-BE49-F238E27FC236}">
                <a16:creationId xmlns:a16="http://schemas.microsoft.com/office/drawing/2014/main" id="{6B6BBEBC-1292-FCD0-DD1E-A9469671928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8931" y="4727447"/>
            <a:ext cx="1317752" cy="1230883"/>
          </a:xfrm>
          <a:prstGeom prst="rect">
            <a:avLst/>
          </a:prstGeom>
        </p:spPr>
      </p:pic>
      <p:grpSp>
        <p:nvGrpSpPr>
          <p:cNvPr id="16" name="object 5">
            <a:extLst>
              <a:ext uri="{FF2B5EF4-FFF2-40B4-BE49-F238E27FC236}">
                <a16:creationId xmlns:a16="http://schemas.microsoft.com/office/drawing/2014/main" id="{1C869496-0925-1CFB-6B88-0CD017852E2F}"/>
              </a:ext>
            </a:extLst>
          </p:cNvPr>
          <p:cNvGrpSpPr/>
          <p:nvPr/>
        </p:nvGrpSpPr>
        <p:grpSpPr>
          <a:xfrm>
            <a:off x="7409008" y="1818369"/>
            <a:ext cx="4057650" cy="1934210"/>
            <a:chOff x="7409008" y="1818369"/>
            <a:chExt cx="4057650" cy="1934210"/>
          </a:xfrm>
        </p:grpSpPr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729D0F33-CD62-BAF9-3534-FFB3591F3DEB}"/>
                </a:ext>
              </a:extLst>
            </p:cNvPr>
            <p:cNvSpPr/>
            <p:nvPr/>
          </p:nvSpPr>
          <p:spPr>
            <a:xfrm>
              <a:off x="7417263" y="2514370"/>
              <a:ext cx="4041140" cy="1238250"/>
            </a:xfrm>
            <a:custGeom>
              <a:avLst/>
              <a:gdLst/>
              <a:ahLst/>
              <a:cxnLst/>
              <a:rect l="l" t="t" r="r" b="b"/>
              <a:pathLst>
                <a:path w="4041140" h="1238250">
                  <a:moveTo>
                    <a:pt x="4041002" y="0"/>
                  </a:moveTo>
                  <a:lnTo>
                    <a:pt x="0" y="0"/>
                  </a:lnTo>
                  <a:lnTo>
                    <a:pt x="0" y="1237690"/>
                  </a:lnTo>
                  <a:lnTo>
                    <a:pt x="4041002" y="1237690"/>
                  </a:lnTo>
                  <a:lnTo>
                    <a:pt x="404100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7">
              <a:extLst>
                <a:ext uri="{FF2B5EF4-FFF2-40B4-BE49-F238E27FC236}">
                  <a16:creationId xmlns:a16="http://schemas.microsoft.com/office/drawing/2014/main" id="{F5566D9C-A508-D68C-3ADB-555E1D335108}"/>
                </a:ext>
              </a:extLst>
            </p:cNvPr>
            <p:cNvSpPr/>
            <p:nvPr/>
          </p:nvSpPr>
          <p:spPr>
            <a:xfrm>
              <a:off x="7417263" y="1826624"/>
              <a:ext cx="4041140" cy="688340"/>
            </a:xfrm>
            <a:custGeom>
              <a:avLst/>
              <a:gdLst/>
              <a:ahLst/>
              <a:cxnLst/>
              <a:rect l="l" t="t" r="r" b="b"/>
              <a:pathLst>
                <a:path w="4041140" h="688339">
                  <a:moveTo>
                    <a:pt x="4041002" y="0"/>
                  </a:moveTo>
                  <a:lnTo>
                    <a:pt x="0" y="0"/>
                  </a:lnTo>
                  <a:lnTo>
                    <a:pt x="0" y="687754"/>
                  </a:lnTo>
                  <a:lnTo>
                    <a:pt x="4041002" y="687754"/>
                  </a:lnTo>
                  <a:lnTo>
                    <a:pt x="404100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8">
              <a:extLst>
                <a:ext uri="{FF2B5EF4-FFF2-40B4-BE49-F238E27FC236}">
                  <a16:creationId xmlns:a16="http://schemas.microsoft.com/office/drawing/2014/main" id="{24858995-A072-3FA1-8A20-A6A108007157}"/>
                </a:ext>
              </a:extLst>
            </p:cNvPr>
            <p:cNvSpPr/>
            <p:nvPr/>
          </p:nvSpPr>
          <p:spPr>
            <a:xfrm>
              <a:off x="7417263" y="1826624"/>
              <a:ext cx="4041140" cy="688340"/>
            </a:xfrm>
            <a:custGeom>
              <a:avLst/>
              <a:gdLst/>
              <a:ahLst/>
              <a:cxnLst/>
              <a:rect l="l" t="t" r="r" b="b"/>
              <a:pathLst>
                <a:path w="4041140" h="688339">
                  <a:moveTo>
                    <a:pt x="0" y="687754"/>
                  </a:moveTo>
                  <a:lnTo>
                    <a:pt x="4041002" y="687754"/>
                  </a:lnTo>
                  <a:lnTo>
                    <a:pt x="4041002" y="0"/>
                  </a:lnTo>
                  <a:lnTo>
                    <a:pt x="0" y="0"/>
                  </a:lnTo>
                  <a:lnTo>
                    <a:pt x="0" y="687754"/>
                  </a:lnTo>
                  <a:close/>
                </a:path>
              </a:pathLst>
            </a:custGeom>
            <a:ln w="1644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9">
            <a:extLst>
              <a:ext uri="{FF2B5EF4-FFF2-40B4-BE49-F238E27FC236}">
                <a16:creationId xmlns:a16="http://schemas.microsoft.com/office/drawing/2014/main" id="{6934E243-63AD-C6C0-F254-C7EBDA51BF7B}"/>
              </a:ext>
            </a:extLst>
          </p:cNvPr>
          <p:cNvSpPr txBox="1"/>
          <p:nvPr/>
        </p:nvSpPr>
        <p:spPr>
          <a:xfrm>
            <a:off x="7417263" y="1826624"/>
            <a:ext cx="4041140" cy="68834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1305"/>
              </a:spcBef>
            </a:pPr>
            <a:r>
              <a:rPr sz="2050" spc="-10" dirty="0">
                <a:solidFill>
                  <a:srgbClr val="FFFFFF"/>
                </a:solidFill>
                <a:latin typeface="Calibri"/>
                <a:cs typeface="Calibri"/>
              </a:rPr>
              <a:t>Person</a:t>
            </a:r>
            <a:endParaRPr sz="2050" dirty="0">
              <a:latin typeface="Calibri"/>
              <a:cs typeface="Calibri"/>
            </a:endParaRPr>
          </a:p>
        </p:txBody>
      </p:sp>
      <p:sp>
        <p:nvSpPr>
          <p:cNvPr id="22" name="object 11">
            <a:extLst>
              <a:ext uri="{FF2B5EF4-FFF2-40B4-BE49-F238E27FC236}">
                <a16:creationId xmlns:a16="http://schemas.microsoft.com/office/drawing/2014/main" id="{04274972-7B83-9106-4EFD-18DF7793700C}"/>
              </a:ext>
            </a:extLst>
          </p:cNvPr>
          <p:cNvSpPr txBox="1"/>
          <p:nvPr/>
        </p:nvSpPr>
        <p:spPr>
          <a:xfrm>
            <a:off x="7417263" y="2514370"/>
            <a:ext cx="4041140" cy="123825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67030" indent="-117475">
              <a:lnSpc>
                <a:spcPct val="100000"/>
              </a:lnSpc>
              <a:spcBef>
                <a:spcPts val="405"/>
              </a:spcBef>
              <a:buChar char="-"/>
              <a:tabLst>
                <a:tab pos="367030" algn="l"/>
              </a:tabLst>
            </a:pPr>
            <a:r>
              <a:rPr sz="1700" dirty="0">
                <a:solidFill>
                  <a:srgbClr val="5B9BD4"/>
                </a:solidFill>
                <a:latin typeface="Calibri"/>
                <a:cs typeface="Calibri"/>
              </a:rPr>
              <a:t>personID</a:t>
            </a:r>
            <a:r>
              <a:rPr sz="1700" spc="60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5B9BD4"/>
                </a:solidFill>
                <a:latin typeface="Calibri"/>
                <a:cs typeface="Calibri"/>
              </a:rPr>
              <a:t>:</a:t>
            </a:r>
            <a:r>
              <a:rPr sz="1700" spc="5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5B9BD4"/>
                </a:solidFill>
                <a:latin typeface="Calibri"/>
                <a:cs typeface="Calibri"/>
              </a:rPr>
              <a:t>int</a:t>
            </a:r>
            <a:endParaRPr sz="1700">
              <a:latin typeface="Calibri"/>
              <a:cs typeface="Calibri"/>
            </a:endParaRPr>
          </a:p>
          <a:p>
            <a:pPr marL="367030" indent="-117475">
              <a:lnSpc>
                <a:spcPct val="100000"/>
              </a:lnSpc>
              <a:spcBef>
                <a:spcPts val="50"/>
              </a:spcBef>
              <a:buChar char="-"/>
              <a:tabLst>
                <a:tab pos="367030" algn="l"/>
              </a:tabLst>
            </a:pPr>
            <a:r>
              <a:rPr sz="1700" dirty="0">
                <a:solidFill>
                  <a:srgbClr val="5B9BD4"/>
                </a:solidFill>
                <a:latin typeface="Calibri"/>
                <a:cs typeface="Calibri"/>
              </a:rPr>
              <a:t>firstName</a:t>
            </a:r>
            <a:r>
              <a:rPr sz="1700" spc="60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5B9BD4"/>
                </a:solidFill>
                <a:latin typeface="Calibri"/>
                <a:cs typeface="Calibri"/>
              </a:rPr>
              <a:t>:</a:t>
            </a:r>
            <a:r>
              <a:rPr sz="1700" spc="2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5B9BD4"/>
                </a:solidFill>
                <a:latin typeface="Calibri"/>
                <a:cs typeface="Calibri"/>
              </a:rPr>
              <a:t>String</a:t>
            </a:r>
            <a:endParaRPr sz="1700">
              <a:latin typeface="Calibri"/>
              <a:cs typeface="Calibri"/>
            </a:endParaRPr>
          </a:p>
          <a:p>
            <a:pPr marL="367030" indent="-117475">
              <a:lnSpc>
                <a:spcPct val="100000"/>
              </a:lnSpc>
              <a:spcBef>
                <a:spcPts val="45"/>
              </a:spcBef>
              <a:buChar char="-"/>
              <a:tabLst>
                <a:tab pos="367030" algn="l"/>
              </a:tabLst>
            </a:pPr>
            <a:r>
              <a:rPr sz="1700" dirty="0">
                <a:solidFill>
                  <a:srgbClr val="5B9BD4"/>
                </a:solidFill>
                <a:latin typeface="Calibri"/>
                <a:cs typeface="Calibri"/>
              </a:rPr>
              <a:t>lastName</a:t>
            </a:r>
            <a:r>
              <a:rPr sz="1700" spc="50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5B9BD4"/>
                </a:solidFill>
                <a:latin typeface="Calibri"/>
                <a:cs typeface="Calibri"/>
              </a:rPr>
              <a:t>:</a:t>
            </a:r>
            <a:r>
              <a:rPr sz="1700" spc="50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5B9BD4"/>
                </a:solidFill>
                <a:latin typeface="Calibri"/>
                <a:cs typeface="Calibri"/>
              </a:rPr>
              <a:t>String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8A1451F3-989E-635C-BC73-27340CA09BFB}"/>
              </a:ext>
            </a:extLst>
          </p:cNvPr>
          <p:cNvSpPr txBox="1"/>
          <p:nvPr/>
        </p:nvSpPr>
        <p:spPr>
          <a:xfrm>
            <a:off x="3838394" y="1431229"/>
            <a:ext cx="3084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Entité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812561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Code First</a:t>
            </a:r>
          </a:p>
        </p:txBody>
      </p:sp>
      <p:grpSp>
        <p:nvGrpSpPr>
          <p:cNvPr id="16" name="object 5">
            <a:extLst>
              <a:ext uri="{FF2B5EF4-FFF2-40B4-BE49-F238E27FC236}">
                <a16:creationId xmlns:a16="http://schemas.microsoft.com/office/drawing/2014/main" id="{1C869496-0925-1CFB-6B88-0CD017852E2F}"/>
              </a:ext>
            </a:extLst>
          </p:cNvPr>
          <p:cNvGrpSpPr/>
          <p:nvPr/>
        </p:nvGrpSpPr>
        <p:grpSpPr>
          <a:xfrm>
            <a:off x="5773520" y="907925"/>
            <a:ext cx="2798719" cy="1439674"/>
            <a:chOff x="7417263" y="1826624"/>
            <a:chExt cx="4041140" cy="1925996"/>
          </a:xfrm>
        </p:grpSpPr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729D0F33-CD62-BAF9-3534-FFB3591F3DEB}"/>
                </a:ext>
              </a:extLst>
            </p:cNvPr>
            <p:cNvSpPr/>
            <p:nvPr/>
          </p:nvSpPr>
          <p:spPr>
            <a:xfrm>
              <a:off x="7417263" y="2514370"/>
              <a:ext cx="4041140" cy="1238250"/>
            </a:xfrm>
            <a:custGeom>
              <a:avLst/>
              <a:gdLst/>
              <a:ahLst/>
              <a:cxnLst/>
              <a:rect l="l" t="t" r="r" b="b"/>
              <a:pathLst>
                <a:path w="4041140" h="1238250">
                  <a:moveTo>
                    <a:pt x="4041002" y="0"/>
                  </a:moveTo>
                  <a:lnTo>
                    <a:pt x="0" y="0"/>
                  </a:lnTo>
                  <a:lnTo>
                    <a:pt x="0" y="1237690"/>
                  </a:lnTo>
                  <a:lnTo>
                    <a:pt x="4041002" y="1237690"/>
                  </a:lnTo>
                  <a:lnTo>
                    <a:pt x="404100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7">
              <a:extLst>
                <a:ext uri="{FF2B5EF4-FFF2-40B4-BE49-F238E27FC236}">
                  <a16:creationId xmlns:a16="http://schemas.microsoft.com/office/drawing/2014/main" id="{F5566D9C-A508-D68C-3ADB-555E1D335108}"/>
                </a:ext>
              </a:extLst>
            </p:cNvPr>
            <p:cNvSpPr/>
            <p:nvPr/>
          </p:nvSpPr>
          <p:spPr>
            <a:xfrm>
              <a:off x="7417263" y="1826624"/>
              <a:ext cx="4041140" cy="688340"/>
            </a:xfrm>
            <a:custGeom>
              <a:avLst/>
              <a:gdLst/>
              <a:ahLst/>
              <a:cxnLst/>
              <a:rect l="l" t="t" r="r" b="b"/>
              <a:pathLst>
                <a:path w="4041140" h="688339">
                  <a:moveTo>
                    <a:pt x="4041002" y="0"/>
                  </a:moveTo>
                  <a:lnTo>
                    <a:pt x="0" y="0"/>
                  </a:lnTo>
                  <a:lnTo>
                    <a:pt x="0" y="687754"/>
                  </a:lnTo>
                  <a:lnTo>
                    <a:pt x="4041002" y="687754"/>
                  </a:lnTo>
                  <a:lnTo>
                    <a:pt x="404100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8">
              <a:extLst>
                <a:ext uri="{FF2B5EF4-FFF2-40B4-BE49-F238E27FC236}">
                  <a16:creationId xmlns:a16="http://schemas.microsoft.com/office/drawing/2014/main" id="{24858995-A072-3FA1-8A20-A6A108007157}"/>
                </a:ext>
              </a:extLst>
            </p:cNvPr>
            <p:cNvSpPr/>
            <p:nvPr/>
          </p:nvSpPr>
          <p:spPr>
            <a:xfrm>
              <a:off x="7417263" y="1826624"/>
              <a:ext cx="4041140" cy="688340"/>
            </a:xfrm>
            <a:custGeom>
              <a:avLst/>
              <a:gdLst/>
              <a:ahLst/>
              <a:cxnLst/>
              <a:rect l="l" t="t" r="r" b="b"/>
              <a:pathLst>
                <a:path w="4041140" h="688339">
                  <a:moveTo>
                    <a:pt x="0" y="687754"/>
                  </a:moveTo>
                  <a:lnTo>
                    <a:pt x="4041002" y="687754"/>
                  </a:lnTo>
                  <a:lnTo>
                    <a:pt x="4041002" y="0"/>
                  </a:lnTo>
                  <a:lnTo>
                    <a:pt x="0" y="0"/>
                  </a:lnTo>
                  <a:lnTo>
                    <a:pt x="0" y="687754"/>
                  </a:lnTo>
                  <a:close/>
                </a:path>
              </a:pathLst>
            </a:custGeom>
            <a:ln w="1644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9">
            <a:extLst>
              <a:ext uri="{FF2B5EF4-FFF2-40B4-BE49-F238E27FC236}">
                <a16:creationId xmlns:a16="http://schemas.microsoft.com/office/drawing/2014/main" id="{6934E243-63AD-C6C0-F254-C7EBDA51BF7B}"/>
              </a:ext>
            </a:extLst>
          </p:cNvPr>
          <p:cNvSpPr txBox="1"/>
          <p:nvPr/>
        </p:nvSpPr>
        <p:spPr>
          <a:xfrm>
            <a:off x="5773520" y="907925"/>
            <a:ext cx="4041140" cy="41357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1305"/>
              </a:spcBef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Person</a:t>
            </a:r>
            <a:endParaRPr sz="2050" dirty="0">
              <a:latin typeface="Calibri"/>
              <a:cs typeface="Calibri"/>
            </a:endParaRPr>
          </a:p>
        </p:txBody>
      </p:sp>
      <p:sp>
        <p:nvSpPr>
          <p:cNvPr id="22" name="object 11">
            <a:extLst>
              <a:ext uri="{FF2B5EF4-FFF2-40B4-BE49-F238E27FC236}">
                <a16:creationId xmlns:a16="http://schemas.microsoft.com/office/drawing/2014/main" id="{04274972-7B83-9106-4EFD-18DF7793700C}"/>
              </a:ext>
            </a:extLst>
          </p:cNvPr>
          <p:cNvSpPr txBox="1"/>
          <p:nvPr/>
        </p:nvSpPr>
        <p:spPr>
          <a:xfrm>
            <a:off x="5740866" y="1443267"/>
            <a:ext cx="4041140" cy="711092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67030" indent="-117475">
              <a:lnSpc>
                <a:spcPct val="100000"/>
              </a:lnSpc>
              <a:spcBef>
                <a:spcPts val="405"/>
              </a:spcBef>
              <a:buChar char="-"/>
              <a:tabLst>
                <a:tab pos="367030" algn="l"/>
              </a:tabLst>
            </a:pPr>
            <a:r>
              <a:rPr sz="1400" dirty="0">
                <a:solidFill>
                  <a:srgbClr val="5B9BD4"/>
                </a:solidFill>
                <a:latin typeface="Calibri"/>
                <a:cs typeface="Calibri"/>
              </a:rPr>
              <a:t>personID</a:t>
            </a:r>
            <a:r>
              <a:rPr sz="1400" spc="60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B9BD4"/>
                </a:solidFill>
                <a:latin typeface="Calibri"/>
                <a:cs typeface="Calibri"/>
              </a:rPr>
              <a:t>:</a:t>
            </a:r>
            <a:r>
              <a:rPr sz="1400" spc="5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B9BD4"/>
                </a:solidFill>
                <a:latin typeface="Calibri"/>
                <a:cs typeface="Calibri"/>
              </a:rPr>
              <a:t>int</a:t>
            </a:r>
            <a:endParaRPr sz="1400" dirty="0">
              <a:latin typeface="Calibri"/>
              <a:cs typeface="Calibri"/>
            </a:endParaRPr>
          </a:p>
          <a:p>
            <a:pPr marL="367030" indent="-117475">
              <a:lnSpc>
                <a:spcPct val="100000"/>
              </a:lnSpc>
              <a:spcBef>
                <a:spcPts val="50"/>
              </a:spcBef>
              <a:buChar char="-"/>
              <a:tabLst>
                <a:tab pos="367030" algn="l"/>
              </a:tabLst>
            </a:pPr>
            <a:r>
              <a:rPr sz="1400" dirty="0">
                <a:solidFill>
                  <a:srgbClr val="5B9BD4"/>
                </a:solidFill>
                <a:latin typeface="Calibri"/>
                <a:cs typeface="Calibri"/>
              </a:rPr>
              <a:t>firstName</a:t>
            </a:r>
            <a:r>
              <a:rPr sz="1400" spc="60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B9BD4"/>
                </a:solidFill>
                <a:latin typeface="Calibri"/>
                <a:cs typeface="Calibri"/>
              </a:rPr>
              <a:t>:</a:t>
            </a:r>
            <a:r>
              <a:rPr sz="1400" spc="2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B9BD4"/>
                </a:solidFill>
                <a:latin typeface="Calibri"/>
                <a:cs typeface="Calibri"/>
              </a:rPr>
              <a:t>String</a:t>
            </a:r>
            <a:endParaRPr sz="1400" dirty="0">
              <a:latin typeface="Calibri"/>
              <a:cs typeface="Calibri"/>
            </a:endParaRPr>
          </a:p>
          <a:p>
            <a:pPr marL="367030" indent="-117475">
              <a:lnSpc>
                <a:spcPct val="100000"/>
              </a:lnSpc>
              <a:spcBef>
                <a:spcPts val="45"/>
              </a:spcBef>
              <a:buChar char="-"/>
              <a:tabLst>
                <a:tab pos="367030" algn="l"/>
              </a:tabLst>
            </a:pPr>
            <a:r>
              <a:rPr sz="1400" dirty="0">
                <a:solidFill>
                  <a:srgbClr val="5B9BD4"/>
                </a:solidFill>
                <a:latin typeface="Calibri"/>
                <a:cs typeface="Calibri"/>
              </a:rPr>
              <a:t>lastName</a:t>
            </a:r>
            <a:r>
              <a:rPr sz="1400" spc="50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B9BD4"/>
                </a:solidFill>
                <a:latin typeface="Calibri"/>
                <a:cs typeface="Calibri"/>
              </a:rPr>
              <a:t>:</a:t>
            </a:r>
            <a:r>
              <a:rPr sz="1400" spc="50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B9BD4"/>
                </a:solidFill>
                <a:latin typeface="Calibri"/>
                <a:cs typeface="Calibri"/>
              </a:rPr>
              <a:t>String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28" name="object 3">
            <a:extLst>
              <a:ext uri="{FF2B5EF4-FFF2-40B4-BE49-F238E27FC236}">
                <a16:creationId xmlns:a16="http://schemas.microsoft.com/office/drawing/2014/main" id="{40BB2EE4-8B47-21D2-F92A-AAF79C661FDC}"/>
              </a:ext>
            </a:extLst>
          </p:cNvPr>
          <p:cNvGrpSpPr/>
          <p:nvPr/>
        </p:nvGrpSpPr>
        <p:grpSpPr>
          <a:xfrm>
            <a:off x="3854823" y="3861414"/>
            <a:ext cx="2708275" cy="1115695"/>
            <a:chOff x="2533281" y="3654844"/>
            <a:chExt cx="2708275" cy="1115695"/>
          </a:xfrm>
        </p:grpSpPr>
        <p:sp>
          <p:nvSpPr>
            <p:cNvPr id="29" name="object 4">
              <a:extLst>
                <a:ext uri="{FF2B5EF4-FFF2-40B4-BE49-F238E27FC236}">
                  <a16:creationId xmlns:a16="http://schemas.microsoft.com/office/drawing/2014/main" id="{AC6DCA54-2F32-A515-7977-1A133865FA01}"/>
                </a:ext>
              </a:extLst>
            </p:cNvPr>
            <p:cNvSpPr/>
            <p:nvPr/>
          </p:nvSpPr>
          <p:spPr>
            <a:xfrm>
              <a:off x="2538996" y="4119716"/>
              <a:ext cx="2696845" cy="650875"/>
            </a:xfrm>
            <a:custGeom>
              <a:avLst/>
              <a:gdLst/>
              <a:ahLst/>
              <a:cxnLst/>
              <a:rect l="l" t="t" r="r" b="b"/>
              <a:pathLst>
                <a:path w="2696845" h="650875">
                  <a:moveTo>
                    <a:pt x="2696490" y="0"/>
                  </a:moveTo>
                  <a:lnTo>
                    <a:pt x="0" y="0"/>
                  </a:lnTo>
                  <a:lnTo>
                    <a:pt x="0" y="650788"/>
                  </a:lnTo>
                  <a:lnTo>
                    <a:pt x="2696490" y="650788"/>
                  </a:lnTo>
                  <a:lnTo>
                    <a:pt x="269649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5">
              <a:extLst>
                <a:ext uri="{FF2B5EF4-FFF2-40B4-BE49-F238E27FC236}">
                  <a16:creationId xmlns:a16="http://schemas.microsoft.com/office/drawing/2014/main" id="{C19BA7E8-1BB6-22EE-8CE0-DE3B7728BFAB}"/>
                </a:ext>
              </a:extLst>
            </p:cNvPr>
            <p:cNvSpPr/>
            <p:nvPr/>
          </p:nvSpPr>
          <p:spPr>
            <a:xfrm>
              <a:off x="2538996" y="3660559"/>
              <a:ext cx="2696845" cy="459740"/>
            </a:xfrm>
            <a:custGeom>
              <a:avLst/>
              <a:gdLst/>
              <a:ahLst/>
              <a:cxnLst/>
              <a:rect l="l" t="t" r="r" b="b"/>
              <a:pathLst>
                <a:path w="2696845" h="459739">
                  <a:moveTo>
                    <a:pt x="2696490" y="0"/>
                  </a:moveTo>
                  <a:lnTo>
                    <a:pt x="0" y="0"/>
                  </a:lnTo>
                  <a:lnTo>
                    <a:pt x="0" y="459153"/>
                  </a:lnTo>
                  <a:lnTo>
                    <a:pt x="2696490" y="459153"/>
                  </a:lnTo>
                  <a:lnTo>
                    <a:pt x="269649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6">
              <a:extLst>
                <a:ext uri="{FF2B5EF4-FFF2-40B4-BE49-F238E27FC236}">
                  <a16:creationId xmlns:a16="http://schemas.microsoft.com/office/drawing/2014/main" id="{22E71569-EF7B-71A9-0FA2-9CAF6A16510C}"/>
                </a:ext>
              </a:extLst>
            </p:cNvPr>
            <p:cNvSpPr/>
            <p:nvPr/>
          </p:nvSpPr>
          <p:spPr>
            <a:xfrm>
              <a:off x="2538996" y="3660559"/>
              <a:ext cx="2696845" cy="459740"/>
            </a:xfrm>
            <a:custGeom>
              <a:avLst/>
              <a:gdLst/>
              <a:ahLst/>
              <a:cxnLst/>
              <a:rect l="l" t="t" r="r" b="b"/>
              <a:pathLst>
                <a:path w="2696845" h="459739">
                  <a:moveTo>
                    <a:pt x="0" y="459153"/>
                  </a:moveTo>
                  <a:lnTo>
                    <a:pt x="2696490" y="459153"/>
                  </a:lnTo>
                  <a:lnTo>
                    <a:pt x="2696490" y="0"/>
                  </a:lnTo>
                  <a:lnTo>
                    <a:pt x="0" y="0"/>
                  </a:lnTo>
                  <a:lnTo>
                    <a:pt x="0" y="459153"/>
                  </a:lnTo>
                  <a:close/>
                </a:path>
              </a:pathLst>
            </a:custGeom>
            <a:ln w="1097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7">
            <a:extLst>
              <a:ext uri="{FF2B5EF4-FFF2-40B4-BE49-F238E27FC236}">
                <a16:creationId xmlns:a16="http://schemas.microsoft.com/office/drawing/2014/main" id="{672630D3-1F52-FE06-81DA-0DAEC07B20A4}"/>
              </a:ext>
            </a:extLst>
          </p:cNvPr>
          <p:cNvSpPr txBox="1"/>
          <p:nvPr/>
        </p:nvSpPr>
        <p:spPr>
          <a:xfrm>
            <a:off x="3860538" y="3867129"/>
            <a:ext cx="2696845" cy="45974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940"/>
              </a:spcBef>
            </a:pP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Student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3" name="object 16">
            <a:extLst>
              <a:ext uri="{FF2B5EF4-FFF2-40B4-BE49-F238E27FC236}">
                <a16:creationId xmlns:a16="http://schemas.microsoft.com/office/drawing/2014/main" id="{6895DB85-910E-1EFB-1AD8-538D5AF14931}"/>
              </a:ext>
            </a:extLst>
          </p:cNvPr>
          <p:cNvSpPr txBox="1"/>
          <p:nvPr/>
        </p:nvSpPr>
        <p:spPr>
          <a:xfrm>
            <a:off x="4027012" y="4353278"/>
            <a:ext cx="1377950" cy="3727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7470" indent="-77470">
              <a:lnSpc>
                <a:spcPct val="100000"/>
              </a:lnSpc>
              <a:spcBef>
                <a:spcPts val="125"/>
              </a:spcBef>
              <a:buChar char="-"/>
              <a:tabLst>
                <a:tab pos="77470" algn="l"/>
              </a:tabLst>
            </a:pPr>
            <a:r>
              <a:rPr sz="1100" dirty="0">
                <a:solidFill>
                  <a:srgbClr val="5B9BD4"/>
                </a:solidFill>
                <a:latin typeface="Calibri"/>
                <a:cs typeface="Calibri"/>
              </a:rPr>
              <a:t>average</a:t>
            </a:r>
            <a:r>
              <a:rPr sz="1100" spc="100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B9BD4"/>
                </a:solidFill>
                <a:latin typeface="Calibri"/>
                <a:cs typeface="Calibri"/>
              </a:rPr>
              <a:t>:</a:t>
            </a:r>
            <a:r>
              <a:rPr sz="1100" spc="5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5B9BD4"/>
                </a:solidFill>
                <a:latin typeface="Calibri"/>
                <a:cs typeface="Calibri"/>
              </a:rPr>
              <a:t>double</a:t>
            </a:r>
            <a:endParaRPr sz="1100">
              <a:latin typeface="Calibri"/>
              <a:cs typeface="Calibri"/>
            </a:endParaRPr>
          </a:p>
          <a:p>
            <a:pPr marL="77470" indent="-77470">
              <a:lnSpc>
                <a:spcPct val="100000"/>
              </a:lnSpc>
              <a:spcBef>
                <a:spcPts val="65"/>
              </a:spcBef>
              <a:buChar char="-"/>
              <a:tabLst>
                <a:tab pos="77470" algn="l"/>
              </a:tabLst>
            </a:pPr>
            <a:r>
              <a:rPr sz="1100" dirty="0">
                <a:solidFill>
                  <a:srgbClr val="5B9BD4"/>
                </a:solidFill>
                <a:latin typeface="Calibri"/>
                <a:cs typeface="Calibri"/>
              </a:rPr>
              <a:t>isClassDelegate</a:t>
            </a:r>
            <a:r>
              <a:rPr sz="1100" spc="17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B9BD4"/>
                </a:solidFill>
                <a:latin typeface="Calibri"/>
                <a:cs typeface="Calibri"/>
              </a:rPr>
              <a:t>:</a:t>
            </a:r>
            <a:r>
              <a:rPr sz="1100" spc="150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5B9BD4"/>
                </a:solidFill>
                <a:latin typeface="Calibri"/>
                <a:cs typeface="Calibri"/>
              </a:rPr>
              <a:t>bool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4" name="object 17">
            <a:extLst>
              <a:ext uri="{FF2B5EF4-FFF2-40B4-BE49-F238E27FC236}">
                <a16:creationId xmlns:a16="http://schemas.microsoft.com/office/drawing/2014/main" id="{2A04A9A9-D63E-06FD-72CC-A7D4E78E82E3}"/>
              </a:ext>
            </a:extLst>
          </p:cNvPr>
          <p:cNvGrpSpPr/>
          <p:nvPr/>
        </p:nvGrpSpPr>
        <p:grpSpPr>
          <a:xfrm>
            <a:off x="5203085" y="2366242"/>
            <a:ext cx="5384165" cy="2611120"/>
            <a:chOff x="3881543" y="2159672"/>
            <a:chExt cx="5384165" cy="2611120"/>
          </a:xfrm>
        </p:grpSpPr>
        <p:sp>
          <p:nvSpPr>
            <p:cNvPr id="35" name="object 18">
              <a:extLst>
                <a:ext uri="{FF2B5EF4-FFF2-40B4-BE49-F238E27FC236}">
                  <a16:creationId xmlns:a16="http://schemas.microsoft.com/office/drawing/2014/main" id="{925C7740-68F0-E80D-ECA9-38DB7BB55D66}"/>
                </a:ext>
              </a:extLst>
            </p:cNvPr>
            <p:cNvSpPr/>
            <p:nvPr/>
          </p:nvSpPr>
          <p:spPr>
            <a:xfrm>
              <a:off x="3887258" y="2165387"/>
              <a:ext cx="2014855" cy="1495425"/>
            </a:xfrm>
            <a:custGeom>
              <a:avLst/>
              <a:gdLst/>
              <a:ahLst/>
              <a:cxnLst/>
              <a:rect l="l" t="t" r="r" b="b"/>
              <a:pathLst>
                <a:path w="2014854" h="1495425">
                  <a:moveTo>
                    <a:pt x="0" y="1495172"/>
                  </a:moveTo>
                  <a:lnTo>
                    <a:pt x="0" y="968777"/>
                  </a:lnTo>
                  <a:lnTo>
                    <a:pt x="1970582" y="968777"/>
                  </a:lnTo>
                  <a:lnTo>
                    <a:pt x="1970582" y="132464"/>
                  </a:lnTo>
                </a:path>
                <a:path w="2014854" h="1495425">
                  <a:moveTo>
                    <a:pt x="2014779" y="132464"/>
                  </a:moveTo>
                  <a:lnTo>
                    <a:pt x="1970582" y="0"/>
                  </a:lnTo>
                  <a:lnTo>
                    <a:pt x="1926384" y="132464"/>
                  </a:lnTo>
                  <a:lnTo>
                    <a:pt x="2014779" y="132464"/>
                  </a:lnTo>
                  <a:close/>
                </a:path>
              </a:pathLst>
            </a:custGeom>
            <a:ln w="10981">
              <a:solidFill>
                <a:srgbClr val="5592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19">
              <a:extLst>
                <a:ext uri="{FF2B5EF4-FFF2-40B4-BE49-F238E27FC236}">
                  <a16:creationId xmlns:a16="http://schemas.microsoft.com/office/drawing/2014/main" id="{B57D3814-505A-0F69-6A8A-C6E9F954D5D6}"/>
                </a:ext>
              </a:extLst>
            </p:cNvPr>
            <p:cNvSpPr/>
            <p:nvPr/>
          </p:nvSpPr>
          <p:spPr>
            <a:xfrm>
              <a:off x="6563099" y="4119716"/>
              <a:ext cx="2696845" cy="650875"/>
            </a:xfrm>
            <a:custGeom>
              <a:avLst/>
              <a:gdLst/>
              <a:ahLst/>
              <a:cxnLst/>
              <a:rect l="l" t="t" r="r" b="b"/>
              <a:pathLst>
                <a:path w="2696845" h="650875">
                  <a:moveTo>
                    <a:pt x="2696490" y="0"/>
                  </a:moveTo>
                  <a:lnTo>
                    <a:pt x="0" y="0"/>
                  </a:lnTo>
                  <a:lnTo>
                    <a:pt x="0" y="650788"/>
                  </a:lnTo>
                  <a:lnTo>
                    <a:pt x="2696490" y="650788"/>
                  </a:lnTo>
                  <a:lnTo>
                    <a:pt x="269649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7" name="object 20">
              <a:extLst>
                <a:ext uri="{FF2B5EF4-FFF2-40B4-BE49-F238E27FC236}">
                  <a16:creationId xmlns:a16="http://schemas.microsoft.com/office/drawing/2014/main" id="{8A409EBC-E53C-D3B5-DC4A-46F0814B90FE}"/>
                </a:ext>
              </a:extLst>
            </p:cNvPr>
            <p:cNvSpPr/>
            <p:nvPr/>
          </p:nvSpPr>
          <p:spPr>
            <a:xfrm>
              <a:off x="6563099" y="3660559"/>
              <a:ext cx="2696845" cy="459740"/>
            </a:xfrm>
            <a:custGeom>
              <a:avLst/>
              <a:gdLst/>
              <a:ahLst/>
              <a:cxnLst/>
              <a:rect l="l" t="t" r="r" b="b"/>
              <a:pathLst>
                <a:path w="2696845" h="459739">
                  <a:moveTo>
                    <a:pt x="2696490" y="0"/>
                  </a:moveTo>
                  <a:lnTo>
                    <a:pt x="0" y="0"/>
                  </a:lnTo>
                  <a:lnTo>
                    <a:pt x="0" y="459153"/>
                  </a:lnTo>
                  <a:lnTo>
                    <a:pt x="2696490" y="459153"/>
                  </a:lnTo>
                  <a:lnTo>
                    <a:pt x="269649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21">
              <a:extLst>
                <a:ext uri="{FF2B5EF4-FFF2-40B4-BE49-F238E27FC236}">
                  <a16:creationId xmlns:a16="http://schemas.microsoft.com/office/drawing/2014/main" id="{35058093-298F-3691-D7CA-964A2E5C54DB}"/>
                </a:ext>
              </a:extLst>
            </p:cNvPr>
            <p:cNvSpPr/>
            <p:nvPr/>
          </p:nvSpPr>
          <p:spPr>
            <a:xfrm>
              <a:off x="6563099" y="3660559"/>
              <a:ext cx="2696845" cy="459740"/>
            </a:xfrm>
            <a:custGeom>
              <a:avLst/>
              <a:gdLst/>
              <a:ahLst/>
              <a:cxnLst/>
              <a:rect l="l" t="t" r="r" b="b"/>
              <a:pathLst>
                <a:path w="2696845" h="459739">
                  <a:moveTo>
                    <a:pt x="0" y="459153"/>
                  </a:moveTo>
                  <a:lnTo>
                    <a:pt x="2696490" y="459153"/>
                  </a:lnTo>
                  <a:lnTo>
                    <a:pt x="2696490" y="0"/>
                  </a:lnTo>
                  <a:lnTo>
                    <a:pt x="0" y="0"/>
                  </a:lnTo>
                  <a:lnTo>
                    <a:pt x="0" y="459153"/>
                  </a:lnTo>
                  <a:close/>
                </a:path>
              </a:pathLst>
            </a:custGeom>
            <a:ln w="1097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22">
            <a:extLst>
              <a:ext uri="{FF2B5EF4-FFF2-40B4-BE49-F238E27FC236}">
                <a16:creationId xmlns:a16="http://schemas.microsoft.com/office/drawing/2014/main" id="{8C5DC95A-5CBD-CCC4-6800-FD9F2C049798}"/>
              </a:ext>
            </a:extLst>
          </p:cNvPr>
          <p:cNvSpPr txBox="1"/>
          <p:nvPr/>
        </p:nvSpPr>
        <p:spPr>
          <a:xfrm>
            <a:off x="7884640" y="3867129"/>
            <a:ext cx="2696845" cy="45974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940"/>
              </a:spcBef>
            </a:pP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Teacher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1" name="object 24">
            <a:extLst>
              <a:ext uri="{FF2B5EF4-FFF2-40B4-BE49-F238E27FC236}">
                <a16:creationId xmlns:a16="http://schemas.microsoft.com/office/drawing/2014/main" id="{29B6296C-3AEE-1BD4-3E49-010C69F4097E}"/>
              </a:ext>
            </a:extLst>
          </p:cNvPr>
          <p:cNvSpPr txBox="1"/>
          <p:nvPr/>
        </p:nvSpPr>
        <p:spPr>
          <a:xfrm>
            <a:off x="8057479" y="4353278"/>
            <a:ext cx="1398270" cy="3727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6835" indent="-76835">
              <a:lnSpc>
                <a:spcPct val="100000"/>
              </a:lnSpc>
              <a:spcBef>
                <a:spcPts val="125"/>
              </a:spcBef>
              <a:buChar char="-"/>
              <a:tabLst>
                <a:tab pos="76835" algn="l"/>
              </a:tabLst>
            </a:pPr>
            <a:r>
              <a:rPr sz="1100" dirty="0">
                <a:solidFill>
                  <a:srgbClr val="5B9BD4"/>
                </a:solidFill>
                <a:latin typeface="Calibri"/>
                <a:cs typeface="Calibri"/>
              </a:rPr>
              <a:t>discipline</a:t>
            </a:r>
            <a:r>
              <a:rPr sz="1100" spc="12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B9BD4"/>
                </a:solidFill>
                <a:latin typeface="Calibri"/>
                <a:cs typeface="Calibri"/>
              </a:rPr>
              <a:t>:</a:t>
            </a:r>
            <a:r>
              <a:rPr sz="1100" spc="8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5B9BD4"/>
                </a:solidFill>
                <a:latin typeface="Calibri"/>
                <a:cs typeface="Calibri"/>
              </a:rPr>
              <a:t>String</a:t>
            </a:r>
            <a:endParaRPr sz="1100">
              <a:latin typeface="Calibri"/>
              <a:cs typeface="Calibri"/>
            </a:endParaRPr>
          </a:p>
          <a:p>
            <a:pPr marL="76835" indent="-76835">
              <a:lnSpc>
                <a:spcPct val="100000"/>
              </a:lnSpc>
              <a:spcBef>
                <a:spcPts val="65"/>
              </a:spcBef>
              <a:buChar char="-"/>
              <a:tabLst>
                <a:tab pos="76835" algn="l"/>
              </a:tabLst>
            </a:pPr>
            <a:r>
              <a:rPr sz="1100" dirty="0">
                <a:solidFill>
                  <a:srgbClr val="5B9BD4"/>
                </a:solidFill>
                <a:latin typeface="Calibri"/>
                <a:cs typeface="Calibri"/>
              </a:rPr>
              <a:t>hiringDate</a:t>
            </a:r>
            <a:r>
              <a:rPr sz="1100" spc="13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B9BD4"/>
                </a:solidFill>
                <a:latin typeface="Calibri"/>
                <a:cs typeface="Calibri"/>
              </a:rPr>
              <a:t>:</a:t>
            </a:r>
            <a:r>
              <a:rPr sz="1100" spc="9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5B9BD4"/>
                </a:solidFill>
                <a:latin typeface="Calibri"/>
                <a:cs typeface="Calibri"/>
              </a:rPr>
              <a:t>DateTime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2" name="object 25">
            <a:extLst>
              <a:ext uri="{FF2B5EF4-FFF2-40B4-BE49-F238E27FC236}">
                <a16:creationId xmlns:a16="http://schemas.microsoft.com/office/drawing/2014/main" id="{10CA30CA-4431-A047-704E-187DBE36B5F2}"/>
              </a:ext>
            </a:extLst>
          </p:cNvPr>
          <p:cNvSpPr/>
          <p:nvPr/>
        </p:nvSpPr>
        <p:spPr>
          <a:xfrm>
            <a:off x="7135184" y="2371957"/>
            <a:ext cx="2098040" cy="1495425"/>
          </a:xfrm>
          <a:custGeom>
            <a:avLst/>
            <a:gdLst/>
            <a:ahLst/>
            <a:cxnLst/>
            <a:rect l="l" t="t" r="r" b="b"/>
            <a:pathLst>
              <a:path w="2098040" h="1495425">
                <a:moveTo>
                  <a:pt x="2097628" y="1495172"/>
                </a:moveTo>
                <a:lnTo>
                  <a:pt x="2097628" y="968777"/>
                </a:lnTo>
                <a:lnTo>
                  <a:pt x="44197" y="968777"/>
                </a:lnTo>
                <a:lnTo>
                  <a:pt x="44197" y="132464"/>
                </a:lnTo>
              </a:path>
              <a:path w="2098040" h="1495425">
                <a:moveTo>
                  <a:pt x="88395" y="132464"/>
                </a:moveTo>
                <a:lnTo>
                  <a:pt x="44197" y="0"/>
                </a:lnTo>
                <a:lnTo>
                  <a:pt x="0" y="132464"/>
                </a:lnTo>
                <a:lnTo>
                  <a:pt x="88395" y="132464"/>
                </a:lnTo>
                <a:close/>
              </a:path>
            </a:pathLst>
          </a:custGeom>
          <a:ln w="10981">
            <a:solidFill>
              <a:srgbClr val="5592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81C5154C-198A-21DE-AA79-BAAC05BBAB3B}"/>
              </a:ext>
            </a:extLst>
          </p:cNvPr>
          <p:cNvSpPr txBox="1"/>
          <p:nvPr/>
        </p:nvSpPr>
        <p:spPr>
          <a:xfrm>
            <a:off x="1071278" y="5323322"/>
            <a:ext cx="514494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: Person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Average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IsClassDelegate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400" dirty="0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D7C84B84-FF09-11DC-3E32-784ADC735281}"/>
              </a:ext>
            </a:extLst>
          </p:cNvPr>
          <p:cNvSpPr txBox="1"/>
          <p:nvPr/>
        </p:nvSpPr>
        <p:spPr>
          <a:xfrm>
            <a:off x="6557383" y="5323323"/>
            <a:ext cx="500947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Teacher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: Person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Discipline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DateTime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HiringDate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sz="1400" dirty="0"/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39E0EE84-7085-E7AE-6EEC-FE85C344F4C0}"/>
              </a:ext>
            </a:extLst>
          </p:cNvPr>
          <p:cNvSpPr txBox="1"/>
          <p:nvPr/>
        </p:nvSpPr>
        <p:spPr>
          <a:xfrm>
            <a:off x="844826" y="1431230"/>
            <a:ext cx="30849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Création des modèles :</a:t>
            </a:r>
          </a:p>
          <a:p>
            <a:endParaRPr lang="fr-FR" sz="2400" dirty="0"/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122FE703-F15A-F618-647D-118C4F0BD69D}"/>
              </a:ext>
            </a:extLst>
          </p:cNvPr>
          <p:cNvSpPr txBox="1"/>
          <p:nvPr/>
        </p:nvSpPr>
        <p:spPr>
          <a:xfrm>
            <a:off x="3838394" y="1431229"/>
            <a:ext cx="3084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Héritage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00389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Code First</a:t>
            </a:r>
          </a:p>
        </p:txBody>
      </p:sp>
      <p:grpSp>
        <p:nvGrpSpPr>
          <p:cNvPr id="28" name="object 3">
            <a:extLst>
              <a:ext uri="{FF2B5EF4-FFF2-40B4-BE49-F238E27FC236}">
                <a16:creationId xmlns:a16="http://schemas.microsoft.com/office/drawing/2014/main" id="{40BB2EE4-8B47-21D2-F92A-AAF79C661FDC}"/>
              </a:ext>
            </a:extLst>
          </p:cNvPr>
          <p:cNvGrpSpPr/>
          <p:nvPr/>
        </p:nvGrpSpPr>
        <p:grpSpPr>
          <a:xfrm>
            <a:off x="5541762" y="1335046"/>
            <a:ext cx="2708275" cy="1115695"/>
            <a:chOff x="2533281" y="3654844"/>
            <a:chExt cx="2708275" cy="1115695"/>
          </a:xfrm>
        </p:grpSpPr>
        <p:sp>
          <p:nvSpPr>
            <p:cNvPr id="29" name="object 4">
              <a:extLst>
                <a:ext uri="{FF2B5EF4-FFF2-40B4-BE49-F238E27FC236}">
                  <a16:creationId xmlns:a16="http://schemas.microsoft.com/office/drawing/2014/main" id="{AC6DCA54-2F32-A515-7977-1A133865FA01}"/>
                </a:ext>
              </a:extLst>
            </p:cNvPr>
            <p:cNvSpPr/>
            <p:nvPr/>
          </p:nvSpPr>
          <p:spPr>
            <a:xfrm>
              <a:off x="2538996" y="4119716"/>
              <a:ext cx="2696845" cy="650875"/>
            </a:xfrm>
            <a:custGeom>
              <a:avLst/>
              <a:gdLst/>
              <a:ahLst/>
              <a:cxnLst/>
              <a:rect l="l" t="t" r="r" b="b"/>
              <a:pathLst>
                <a:path w="2696845" h="650875">
                  <a:moveTo>
                    <a:pt x="2696490" y="0"/>
                  </a:moveTo>
                  <a:lnTo>
                    <a:pt x="0" y="0"/>
                  </a:lnTo>
                  <a:lnTo>
                    <a:pt x="0" y="650788"/>
                  </a:lnTo>
                  <a:lnTo>
                    <a:pt x="2696490" y="650788"/>
                  </a:lnTo>
                  <a:lnTo>
                    <a:pt x="269649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5">
              <a:extLst>
                <a:ext uri="{FF2B5EF4-FFF2-40B4-BE49-F238E27FC236}">
                  <a16:creationId xmlns:a16="http://schemas.microsoft.com/office/drawing/2014/main" id="{C19BA7E8-1BB6-22EE-8CE0-DE3B7728BFAB}"/>
                </a:ext>
              </a:extLst>
            </p:cNvPr>
            <p:cNvSpPr/>
            <p:nvPr/>
          </p:nvSpPr>
          <p:spPr>
            <a:xfrm>
              <a:off x="2538996" y="3660559"/>
              <a:ext cx="2696845" cy="459740"/>
            </a:xfrm>
            <a:custGeom>
              <a:avLst/>
              <a:gdLst/>
              <a:ahLst/>
              <a:cxnLst/>
              <a:rect l="l" t="t" r="r" b="b"/>
              <a:pathLst>
                <a:path w="2696845" h="459739">
                  <a:moveTo>
                    <a:pt x="2696490" y="0"/>
                  </a:moveTo>
                  <a:lnTo>
                    <a:pt x="0" y="0"/>
                  </a:lnTo>
                  <a:lnTo>
                    <a:pt x="0" y="459153"/>
                  </a:lnTo>
                  <a:lnTo>
                    <a:pt x="2696490" y="459153"/>
                  </a:lnTo>
                  <a:lnTo>
                    <a:pt x="269649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6">
              <a:extLst>
                <a:ext uri="{FF2B5EF4-FFF2-40B4-BE49-F238E27FC236}">
                  <a16:creationId xmlns:a16="http://schemas.microsoft.com/office/drawing/2014/main" id="{22E71569-EF7B-71A9-0FA2-9CAF6A16510C}"/>
                </a:ext>
              </a:extLst>
            </p:cNvPr>
            <p:cNvSpPr/>
            <p:nvPr/>
          </p:nvSpPr>
          <p:spPr>
            <a:xfrm>
              <a:off x="2538996" y="3660559"/>
              <a:ext cx="2696845" cy="459740"/>
            </a:xfrm>
            <a:custGeom>
              <a:avLst/>
              <a:gdLst/>
              <a:ahLst/>
              <a:cxnLst/>
              <a:rect l="l" t="t" r="r" b="b"/>
              <a:pathLst>
                <a:path w="2696845" h="459739">
                  <a:moveTo>
                    <a:pt x="0" y="459153"/>
                  </a:moveTo>
                  <a:lnTo>
                    <a:pt x="2696490" y="459153"/>
                  </a:lnTo>
                  <a:lnTo>
                    <a:pt x="2696490" y="0"/>
                  </a:lnTo>
                  <a:lnTo>
                    <a:pt x="0" y="0"/>
                  </a:lnTo>
                  <a:lnTo>
                    <a:pt x="0" y="459153"/>
                  </a:lnTo>
                  <a:close/>
                </a:path>
              </a:pathLst>
            </a:custGeom>
            <a:ln w="1097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7">
            <a:extLst>
              <a:ext uri="{FF2B5EF4-FFF2-40B4-BE49-F238E27FC236}">
                <a16:creationId xmlns:a16="http://schemas.microsoft.com/office/drawing/2014/main" id="{672630D3-1F52-FE06-81DA-0DAEC07B20A4}"/>
              </a:ext>
            </a:extLst>
          </p:cNvPr>
          <p:cNvSpPr txBox="1"/>
          <p:nvPr/>
        </p:nvSpPr>
        <p:spPr>
          <a:xfrm>
            <a:off x="5547477" y="1340761"/>
            <a:ext cx="2696845" cy="45974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940"/>
              </a:spcBef>
            </a:pP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Student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3" name="object 16">
            <a:extLst>
              <a:ext uri="{FF2B5EF4-FFF2-40B4-BE49-F238E27FC236}">
                <a16:creationId xmlns:a16="http://schemas.microsoft.com/office/drawing/2014/main" id="{6895DB85-910E-1EFB-1AD8-538D5AF14931}"/>
              </a:ext>
            </a:extLst>
          </p:cNvPr>
          <p:cNvSpPr txBox="1"/>
          <p:nvPr/>
        </p:nvSpPr>
        <p:spPr>
          <a:xfrm>
            <a:off x="5713951" y="1826910"/>
            <a:ext cx="1377950" cy="3727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7470" indent="-77470">
              <a:lnSpc>
                <a:spcPct val="100000"/>
              </a:lnSpc>
              <a:spcBef>
                <a:spcPts val="125"/>
              </a:spcBef>
              <a:buChar char="-"/>
              <a:tabLst>
                <a:tab pos="77470" algn="l"/>
              </a:tabLst>
            </a:pPr>
            <a:r>
              <a:rPr sz="1100" dirty="0">
                <a:solidFill>
                  <a:srgbClr val="5B9BD4"/>
                </a:solidFill>
                <a:latin typeface="Calibri"/>
                <a:cs typeface="Calibri"/>
              </a:rPr>
              <a:t>average</a:t>
            </a:r>
            <a:r>
              <a:rPr sz="1100" spc="100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B9BD4"/>
                </a:solidFill>
                <a:latin typeface="Calibri"/>
                <a:cs typeface="Calibri"/>
              </a:rPr>
              <a:t>:</a:t>
            </a:r>
            <a:r>
              <a:rPr sz="1100" spc="5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5B9BD4"/>
                </a:solidFill>
                <a:latin typeface="Calibri"/>
                <a:cs typeface="Calibri"/>
              </a:rPr>
              <a:t>double</a:t>
            </a:r>
            <a:endParaRPr sz="1100">
              <a:latin typeface="Calibri"/>
              <a:cs typeface="Calibri"/>
            </a:endParaRPr>
          </a:p>
          <a:p>
            <a:pPr marL="77470" indent="-77470">
              <a:lnSpc>
                <a:spcPct val="100000"/>
              </a:lnSpc>
              <a:spcBef>
                <a:spcPts val="65"/>
              </a:spcBef>
              <a:buChar char="-"/>
              <a:tabLst>
                <a:tab pos="77470" algn="l"/>
              </a:tabLst>
            </a:pPr>
            <a:r>
              <a:rPr sz="1100" dirty="0">
                <a:solidFill>
                  <a:srgbClr val="5B9BD4"/>
                </a:solidFill>
                <a:latin typeface="Calibri"/>
                <a:cs typeface="Calibri"/>
              </a:rPr>
              <a:t>isClassDelegate</a:t>
            </a:r>
            <a:r>
              <a:rPr sz="1100" spc="17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B9BD4"/>
                </a:solidFill>
                <a:latin typeface="Calibri"/>
                <a:cs typeface="Calibri"/>
              </a:rPr>
              <a:t>:</a:t>
            </a:r>
            <a:r>
              <a:rPr sz="1100" spc="150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5B9BD4"/>
                </a:solidFill>
                <a:latin typeface="Calibri"/>
                <a:cs typeface="Calibri"/>
              </a:rPr>
              <a:t>bool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4" name="object 17">
            <a:extLst>
              <a:ext uri="{FF2B5EF4-FFF2-40B4-BE49-F238E27FC236}">
                <a16:creationId xmlns:a16="http://schemas.microsoft.com/office/drawing/2014/main" id="{2A04A9A9-D63E-06FD-72CC-A7D4E78E82E3}"/>
              </a:ext>
            </a:extLst>
          </p:cNvPr>
          <p:cNvGrpSpPr/>
          <p:nvPr/>
        </p:nvGrpSpPr>
        <p:grpSpPr>
          <a:xfrm>
            <a:off x="8870017" y="1337878"/>
            <a:ext cx="2696845" cy="1110032"/>
            <a:chOff x="6563099" y="3660559"/>
            <a:chExt cx="2696845" cy="1110032"/>
          </a:xfrm>
        </p:grpSpPr>
        <p:sp>
          <p:nvSpPr>
            <p:cNvPr id="36" name="object 19">
              <a:extLst>
                <a:ext uri="{FF2B5EF4-FFF2-40B4-BE49-F238E27FC236}">
                  <a16:creationId xmlns:a16="http://schemas.microsoft.com/office/drawing/2014/main" id="{B57D3814-505A-0F69-6A8A-C6E9F954D5D6}"/>
                </a:ext>
              </a:extLst>
            </p:cNvPr>
            <p:cNvSpPr/>
            <p:nvPr/>
          </p:nvSpPr>
          <p:spPr>
            <a:xfrm>
              <a:off x="6563099" y="4119716"/>
              <a:ext cx="2696845" cy="650875"/>
            </a:xfrm>
            <a:custGeom>
              <a:avLst/>
              <a:gdLst/>
              <a:ahLst/>
              <a:cxnLst/>
              <a:rect l="l" t="t" r="r" b="b"/>
              <a:pathLst>
                <a:path w="2696845" h="650875">
                  <a:moveTo>
                    <a:pt x="2696490" y="0"/>
                  </a:moveTo>
                  <a:lnTo>
                    <a:pt x="0" y="0"/>
                  </a:lnTo>
                  <a:lnTo>
                    <a:pt x="0" y="650788"/>
                  </a:lnTo>
                  <a:lnTo>
                    <a:pt x="2696490" y="650788"/>
                  </a:lnTo>
                  <a:lnTo>
                    <a:pt x="269649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7" name="object 20">
              <a:extLst>
                <a:ext uri="{FF2B5EF4-FFF2-40B4-BE49-F238E27FC236}">
                  <a16:creationId xmlns:a16="http://schemas.microsoft.com/office/drawing/2014/main" id="{8A409EBC-E53C-D3B5-DC4A-46F0814B90FE}"/>
                </a:ext>
              </a:extLst>
            </p:cNvPr>
            <p:cNvSpPr/>
            <p:nvPr/>
          </p:nvSpPr>
          <p:spPr>
            <a:xfrm>
              <a:off x="6563099" y="3660559"/>
              <a:ext cx="2696845" cy="459740"/>
            </a:xfrm>
            <a:custGeom>
              <a:avLst/>
              <a:gdLst/>
              <a:ahLst/>
              <a:cxnLst/>
              <a:rect l="l" t="t" r="r" b="b"/>
              <a:pathLst>
                <a:path w="2696845" h="459739">
                  <a:moveTo>
                    <a:pt x="2696490" y="0"/>
                  </a:moveTo>
                  <a:lnTo>
                    <a:pt x="0" y="0"/>
                  </a:lnTo>
                  <a:lnTo>
                    <a:pt x="0" y="459153"/>
                  </a:lnTo>
                  <a:lnTo>
                    <a:pt x="2696490" y="459153"/>
                  </a:lnTo>
                  <a:lnTo>
                    <a:pt x="269649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21">
              <a:extLst>
                <a:ext uri="{FF2B5EF4-FFF2-40B4-BE49-F238E27FC236}">
                  <a16:creationId xmlns:a16="http://schemas.microsoft.com/office/drawing/2014/main" id="{35058093-298F-3691-D7CA-964A2E5C54DB}"/>
                </a:ext>
              </a:extLst>
            </p:cNvPr>
            <p:cNvSpPr/>
            <p:nvPr/>
          </p:nvSpPr>
          <p:spPr>
            <a:xfrm>
              <a:off x="6563099" y="3660559"/>
              <a:ext cx="2696845" cy="459740"/>
            </a:xfrm>
            <a:custGeom>
              <a:avLst/>
              <a:gdLst/>
              <a:ahLst/>
              <a:cxnLst/>
              <a:rect l="l" t="t" r="r" b="b"/>
              <a:pathLst>
                <a:path w="2696845" h="459739">
                  <a:moveTo>
                    <a:pt x="0" y="459153"/>
                  </a:moveTo>
                  <a:lnTo>
                    <a:pt x="2696490" y="459153"/>
                  </a:lnTo>
                  <a:lnTo>
                    <a:pt x="2696490" y="0"/>
                  </a:lnTo>
                  <a:lnTo>
                    <a:pt x="0" y="0"/>
                  </a:lnTo>
                  <a:lnTo>
                    <a:pt x="0" y="459153"/>
                  </a:lnTo>
                  <a:close/>
                </a:path>
              </a:pathLst>
            </a:custGeom>
            <a:ln w="1097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22">
            <a:extLst>
              <a:ext uri="{FF2B5EF4-FFF2-40B4-BE49-F238E27FC236}">
                <a16:creationId xmlns:a16="http://schemas.microsoft.com/office/drawing/2014/main" id="{8C5DC95A-5CBD-CCC4-6800-FD9F2C049798}"/>
              </a:ext>
            </a:extLst>
          </p:cNvPr>
          <p:cNvSpPr txBox="1"/>
          <p:nvPr/>
        </p:nvSpPr>
        <p:spPr>
          <a:xfrm>
            <a:off x="8870016" y="1337878"/>
            <a:ext cx="2696845" cy="45974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940"/>
              </a:spcBef>
            </a:pP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Teacher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1" name="object 24">
            <a:extLst>
              <a:ext uri="{FF2B5EF4-FFF2-40B4-BE49-F238E27FC236}">
                <a16:creationId xmlns:a16="http://schemas.microsoft.com/office/drawing/2014/main" id="{29B6296C-3AEE-1BD4-3E49-010C69F4097E}"/>
              </a:ext>
            </a:extLst>
          </p:cNvPr>
          <p:cNvSpPr txBox="1"/>
          <p:nvPr/>
        </p:nvSpPr>
        <p:spPr>
          <a:xfrm>
            <a:off x="9042855" y="1824027"/>
            <a:ext cx="1398270" cy="3727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6835" indent="-76835">
              <a:lnSpc>
                <a:spcPct val="100000"/>
              </a:lnSpc>
              <a:spcBef>
                <a:spcPts val="125"/>
              </a:spcBef>
              <a:buChar char="-"/>
              <a:tabLst>
                <a:tab pos="76835" algn="l"/>
              </a:tabLst>
            </a:pPr>
            <a:r>
              <a:rPr sz="1100" dirty="0">
                <a:solidFill>
                  <a:srgbClr val="5B9BD4"/>
                </a:solidFill>
                <a:latin typeface="Calibri"/>
                <a:cs typeface="Calibri"/>
              </a:rPr>
              <a:t>discipline</a:t>
            </a:r>
            <a:r>
              <a:rPr sz="1100" spc="12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B9BD4"/>
                </a:solidFill>
                <a:latin typeface="Calibri"/>
                <a:cs typeface="Calibri"/>
              </a:rPr>
              <a:t>:</a:t>
            </a:r>
            <a:r>
              <a:rPr sz="1100" spc="8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5B9BD4"/>
                </a:solidFill>
                <a:latin typeface="Calibri"/>
                <a:cs typeface="Calibri"/>
              </a:rPr>
              <a:t>String</a:t>
            </a:r>
            <a:endParaRPr sz="1100">
              <a:latin typeface="Calibri"/>
              <a:cs typeface="Calibri"/>
            </a:endParaRPr>
          </a:p>
          <a:p>
            <a:pPr marL="76835" indent="-76835">
              <a:lnSpc>
                <a:spcPct val="100000"/>
              </a:lnSpc>
              <a:spcBef>
                <a:spcPts val="65"/>
              </a:spcBef>
              <a:buChar char="-"/>
              <a:tabLst>
                <a:tab pos="76835" algn="l"/>
              </a:tabLst>
            </a:pPr>
            <a:r>
              <a:rPr sz="1100" dirty="0">
                <a:solidFill>
                  <a:srgbClr val="5B9BD4"/>
                </a:solidFill>
                <a:latin typeface="Calibri"/>
                <a:cs typeface="Calibri"/>
              </a:rPr>
              <a:t>hiringDate</a:t>
            </a:r>
            <a:r>
              <a:rPr sz="1100" spc="13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5B9BD4"/>
                </a:solidFill>
                <a:latin typeface="Calibri"/>
                <a:cs typeface="Calibri"/>
              </a:rPr>
              <a:t>:</a:t>
            </a:r>
            <a:r>
              <a:rPr sz="1100" spc="9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5B9BD4"/>
                </a:solidFill>
                <a:latin typeface="Calibri"/>
                <a:cs typeface="Calibri"/>
              </a:rPr>
              <a:t>DateTime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39E0EE84-7085-E7AE-6EEC-FE85C344F4C0}"/>
              </a:ext>
            </a:extLst>
          </p:cNvPr>
          <p:cNvSpPr txBox="1"/>
          <p:nvPr/>
        </p:nvSpPr>
        <p:spPr>
          <a:xfrm>
            <a:off x="844826" y="1431230"/>
            <a:ext cx="4869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Propriétés de navigation</a:t>
            </a:r>
            <a:endParaRPr lang="fr-FR" sz="2400" dirty="0"/>
          </a:p>
        </p:txBody>
      </p:sp>
      <p:grpSp>
        <p:nvGrpSpPr>
          <p:cNvPr id="3" name="object 17">
            <a:extLst>
              <a:ext uri="{FF2B5EF4-FFF2-40B4-BE49-F238E27FC236}">
                <a16:creationId xmlns:a16="http://schemas.microsoft.com/office/drawing/2014/main" id="{4CD59EE2-941E-2258-4EB1-43AE676C03EE}"/>
              </a:ext>
            </a:extLst>
          </p:cNvPr>
          <p:cNvGrpSpPr/>
          <p:nvPr/>
        </p:nvGrpSpPr>
        <p:grpSpPr>
          <a:xfrm>
            <a:off x="7239225" y="2866698"/>
            <a:ext cx="2813050" cy="1540510"/>
            <a:chOff x="6951140" y="3090413"/>
            <a:chExt cx="2813050" cy="1540510"/>
          </a:xfrm>
        </p:grpSpPr>
        <p:pic>
          <p:nvPicPr>
            <p:cNvPr id="4" name="object 18">
              <a:extLst>
                <a:ext uri="{FF2B5EF4-FFF2-40B4-BE49-F238E27FC236}">
                  <a16:creationId xmlns:a16="http://schemas.microsoft.com/office/drawing/2014/main" id="{6B0FFBEE-3ABE-8A6E-CBBB-5AF6DF2CB4D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4889" y="3124922"/>
              <a:ext cx="2778736" cy="1505864"/>
            </a:xfrm>
            <a:prstGeom prst="rect">
              <a:avLst/>
            </a:prstGeom>
          </p:spPr>
        </p:pic>
        <p:sp>
          <p:nvSpPr>
            <p:cNvPr id="5" name="object 19">
              <a:extLst>
                <a:ext uri="{FF2B5EF4-FFF2-40B4-BE49-F238E27FC236}">
                  <a16:creationId xmlns:a16="http://schemas.microsoft.com/office/drawing/2014/main" id="{68DF0EDE-3656-BFD0-83F0-F7861E7A76E4}"/>
                </a:ext>
              </a:extLst>
            </p:cNvPr>
            <p:cNvSpPr/>
            <p:nvPr/>
          </p:nvSpPr>
          <p:spPr>
            <a:xfrm>
              <a:off x="6960140" y="3566678"/>
              <a:ext cx="2764155" cy="1026794"/>
            </a:xfrm>
            <a:custGeom>
              <a:avLst/>
              <a:gdLst/>
              <a:ahLst/>
              <a:cxnLst/>
              <a:rect l="l" t="t" r="r" b="b"/>
              <a:pathLst>
                <a:path w="2764154" h="1026795">
                  <a:moveTo>
                    <a:pt x="2763736" y="0"/>
                  </a:moveTo>
                  <a:lnTo>
                    <a:pt x="0" y="0"/>
                  </a:lnTo>
                  <a:lnTo>
                    <a:pt x="0" y="1026654"/>
                  </a:lnTo>
                  <a:lnTo>
                    <a:pt x="2763736" y="1026654"/>
                  </a:lnTo>
                  <a:lnTo>
                    <a:pt x="276373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20">
              <a:extLst>
                <a:ext uri="{FF2B5EF4-FFF2-40B4-BE49-F238E27FC236}">
                  <a16:creationId xmlns:a16="http://schemas.microsoft.com/office/drawing/2014/main" id="{BD98E7FD-EDF3-1F45-4C40-D9598D0BCE49}"/>
                </a:ext>
              </a:extLst>
            </p:cNvPr>
            <p:cNvSpPr/>
            <p:nvPr/>
          </p:nvSpPr>
          <p:spPr>
            <a:xfrm>
              <a:off x="6960140" y="3566678"/>
              <a:ext cx="2764155" cy="1026794"/>
            </a:xfrm>
            <a:custGeom>
              <a:avLst/>
              <a:gdLst/>
              <a:ahLst/>
              <a:cxnLst/>
              <a:rect l="l" t="t" r="r" b="b"/>
              <a:pathLst>
                <a:path w="2764154" h="1026795">
                  <a:moveTo>
                    <a:pt x="0" y="1026654"/>
                  </a:moveTo>
                  <a:lnTo>
                    <a:pt x="2763736" y="1026654"/>
                  </a:lnTo>
                  <a:lnTo>
                    <a:pt x="2763736" y="0"/>
                  </a:lnTo>
                  <a:lnTo>
                    <a:pt x="0" y="0"/>
                  </a:lnTo>
                  <a:lnTo>
                    <a:pt x="0" y="1026654"/>
                  </a:lnTo>
                  <a:close/>
                </a:path>
              </a:pathLst>
            </a:custGeom>
            <a:ln w="112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21">
              <a:extLst>
                <a:ext uri="{FF2B5EF4-FFF2-40B4-BE49-F238E27FC236}">
                  <a16:creationId xmlns:a16="http://schemas.microsoft.com/office/drawing/2014/main" id="{55B075B4-2AD8-CA2A-9523-4B27786ED112}"/>
                </a:ext>
              </a:extLst>
            </p:cNvPr>
            <p:cNvSpPr/>
            <p:nvPr/>
          </p:nvSpPr>
          <p:spPr>
            <a:xfrm>
              <a:off x="6960140" y="3096128"/>
              <a:ext cx="2764155" cy="471170"/>
            </a:xfrm>
            <a:custGeom>
              <a:avLst/>
              <a:gdLst/>
              <a:ahLst/>
              <a:cxnLst/>
              <a:rect l="l" t="t" r="r" b="b"/>
              <a:pathLst>
                <a:path w="2764154" h="471170">
                  <a:moveTo>
                    <a:pt x="2763736" y="0"/>
                  </a:moveTo>
                  <a:lnTo>
                    <a:pt x="0" y="0"/>
                  </a:lnTo>
                  <a:lnTo>
                    <a:pt x="0" y="470548"/>
                  </a:lnTo>
                  <a:lnTo>
                    <a:pt x="2763736" y="470548"/>
                  </a:lnTo>
                  <a:lnTo>
                    <a:pt x="2763736" y="0"/>
                  </a:lnTo>
                  <a:close/>
                </a:path>
              </a:pathLst>
            </a:custGeom>
            <a:solidFill>
              <a:srgbClr val="73AD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22">
              <a:extLst>
                <a:ext uri="{FF2B5EF4-FFF2-40B4-BE49-F238E27FC236}">
                  <a16:creationId xmlns:a16="http://schemas.microsoft.com/office/drawing/2014/main" id="{6F294EDC-2E48-C259-E519-00AC7EFB2B54}"/>
                </a:ext>
              </a:extLst>
            </p:cNvPr>
            <p:cNvSpPr/>
            <p:nvPr/>
          </p:nvSpPr>
          <p:spPr>
            <a:xfrm>
              <a:off x="6960140" y="3096128"/>
              <a:ext cx="2764155" cy="471170"/>
            </a:xfrm>
            <a:custGeom>
              <a:avLst/>
              <a:gdLst/>
              <a:ahLst/>
              <a:cxnLst/>
              <a:rect l="l" t="t" r="r" b="b"/>
              <a:pathLst>
                <a:path w="2764154" h="471170">
                  <a:moveTo>
                    <a:pt x="0" y="470548"/>
                  </a:moveTo>
                  <a:lnTo>
                    <a:pt x="2763736" y="470548"/>
                  </a:lnTo>
                  <a:lnTo>
                    <a:pt x="2763736" y="0"/>
                  </a:lnTo>
                  <a:lnTo>
                    <a:pt x="0" y="0"/>
                  </a:lnTo>
                  <a:lnTo>
                    <a:pt x="0" y="470548"/>
                  </a:lnTo>
                  <a:close/>
                </a:path>
              </a:pathLst>
            </a:custGeom>
            <a:ln w="112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23">
              <a:extLst>
                <a:ext uri="{FF2B5EF4-FFF2-40B4-BE49-F238E27FC236}">
                  <a16:creationId xmlns:a16="http://schemas.microsoft.com/office/drawing/2014/main" id="{AB4E1CEF-F63E-205E-E53D-3F66D267089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51140" y="3192353"/>
              <a:ext cx="978745" cy="370847"/>
            </a:xfrm>
            <a:prstGeom prst="rect">
              <a:avLst/>
            </a:prstGeom>
          </p:spPr>
        </p:pic>
      </p:grpSp>
      <p:sp>
        <p:nvSpPr>
          <p:cNvPr id="10" name="object 24">
            <a:extLst>
              <a:ext uri="{FF2B5EF4-FFF2-40B4-BE49-F238E27FC236}">
                <a16:creationId xmlns:a16="http://schemas.microsoft.com/office/drawing/2014/main" id="{66999D5B-23FF-55B7-60CD-5EA307E2D663}"/>
              </a:ext>
            </a:extLst>
          </p:cNvPr>
          <p:cNvSpPr txBox="1"/>
          <p:nvPr/>
        </p:nvSpPr>
        <p:spPr>
          <a:xfrm>
            <a:off x="7248225" y="2872413"/>
            <a:ext cx="2764155" cy="471170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930"/>
              </a:spcBef>
            </a:pPr>
            <a:r>
              <a:rPr sz="1400" b="1" spc="-10" dirty="0">
                <a:solidFill>
                  <a:srgbClr val="FDFFFF"/>
                </a:solidFill>
                <a:latin typeface="Calibri"/>
                <a:cs typeface="Calibri"/>
              </a:rPr>
              <a:t>Classroom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25">
            <a:extLst>
              <a:ext uri="{FF2B5EF4-FFF2-40B4-BE49-F238E27FC236}">
                <a16:creationId xmlns:a16="http://schemas.microsoft.com/office/drawing/2014/main" id="{9AE5BCD1-9E68-6BA0-45AF-8E8B42D557BA}"/>
              </a:ext>
            </a:extLst>
          </p:cNvPr>
          <p:cNvSpPr/>
          <p:nvPr/>
        </p:nvSpPr>
        <p:spPr>
          <a:xfrm>
            <a:off x="7290825" y="4126101"/>
            <a:ext cx="2679065" cy="0"/>
          </a:xfrm>
          <a:custGeom>
            <a:avLst/>
            <a:gdLst/>
            <a:ahLst/>
            <a:cxnLst/>
            <a:rect l="l" t="t" r="r" b="b"/>
            <a:pathLst>
              <a:path w="2679065">
                <a:moveTo>
                  <a:pt x="0" y="0"/>
                </a:moveTo>
                <a:lnTo>
                  <a:pt x="2678687" y="0"/>
                </a:lnTo>
              </a:path>
            </a:pathLst>
          </a:custGeom>
          <a:ln w="11249">
            <a:solidFill>
              <a:srgbClr val="5592C8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26">
            <a:extLst>
              <a:ext uri="{FF2B5EF4-FFF2-40B4-BE49-F238E27FC236}">
                <a16:creationId xmlns:a16="http://schemas.microsoft.com/office/drawing/2014/main" id="{F3E76BD9-B66D-BC28-E0BC-E417E6D558D6}"/>
              </a:ext>
            </a:extLst>
          </p:cNvPr>
          <p:cNvSpPr txBox="1"/>
          <p:nvPr/>
        </p:nvSpPr>
        <p:spPr>
          <a:xfrm>
            <a:off x="7062276" y="3381102"/>
            <a:ext cx="8890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50" dirty="0">
                <a:solidFill>
                  <a:srgbClr val="5C9BD3"/>
                </a:solidFill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3" name="object 27">
            <a:extLst>
              <a:ext uri="{FF2B5EF4-FFF2-40B4-BE49-F238E27FC236}">
                <a16:creationId xmlns:a16="http://schemas.microsoft.com/office/drawing/2014/main" id="{72A93AE2-A7ED-7D45-DC48-0D7794124822}"/>
              </a:ext>
            </a:extLst>
          </p:cNvPr>
          <p:cNvSpPr txBox="1"/>
          <p:nvPr/>
        </p:nvSpPr>
        <p:spPr>
          <a:xfrm>
            <a:off x="6722777" y="2532199"/>
            <a:ext cx="7493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950" spc="-50" dirty="0">
                <a:solidFill>
                  <a:srgbClr val="5C9BD3"/>
                </a:solidFill>
                <a:latin typeface="Calibri"/>
                <a:cs typeface="Calibri"/>
              </a:rPr>
              <a:t>*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4" name="object 28">
            <a:extLst>
              <a:ext uri="{FF2B5EF4-FFF2-40B4-BE49-F238E27FC236}">
                <a16:creationId xmlns:a16="http://schemas.microsoft.com/office/drawing/2014/main" id="{B58CAAC7-EDDD-2458-C86D-CF47274AF6A4}"/>
              </a:ext>
            </a:extLst>
          </p:cNvPr>
          <p:cNvSpPr/>
          <p:nvPr/>
        </p:nvSpPr>
        <p:spPr>
          <a:xfrm>
            <a:off x="6631742" y="2454172"/>
            <a:ext cx="4124960" cy="1167130"/>
          </a:xfrm>
          <a:custGeom>
            <a:avLst/>
            <a:gdLst/>
            <a:ahLst/>
            <a:cxnLst/>
            <a:rect l="l" t="t" r="r" b="b"/>
            <a:pathLst>
              <a:path w="4124959" h="1167129">
                <a:moveTo>
                  <a:pt x="616482" y="1166842"/>
                </a:moveTo>
                <a:lnTo>
                  <a:pt x="0" y="1166842"/>
                </a:lnTo>
                <a:lnTo>
                  <a:pt x="0" y="0"/>
                </a:lnTo>
              </a:path>
              <a:path w="4124959" h="1167129">
                <a:moveTo>
                  <a:pt x="4124365" y="0"/>
                </a:moveTo>
                <a:lnTo>
                  <a:pt x="4124365" y="1166842"/>
                </a:lnTo>
                <a:lnTo>
                  <a:pt x="3380368" y="1166842"/>
                </a:lnTo>
              </a:path>
            </a:pathLst>
          </a:custGeom>
          <a:ln w="11255">
            <a:solidFill>
              <a:srgbClr val="5592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29">
            <a:extLst>
              <a:ext uri="{FF2B5EF4-FFF2-40B4-BE49-F238E27FC236}">
                <a16:creationId xmlns:a16="http://schemas.microsoft.com/office/drawing/2014/main" id="{402B4161-664C-8C75-E180-1F242F9025EB}"/>
              </a:ext>
            </a:extLst>
          </p:cNvPr>
          <p:cNvSpPr txBox="1"/>
          <p:nvPr/>
        </p:nvSpPr>
        <p:spPr>
          <a:xfrm>
            <a:off x="10841507" y="2534147"/>
            <a:ext cx="8890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50" dirty="0">
                <a:solidFill>
                  <a:srgbClr val="5C9BD3"/>
                </a:solidFill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1" name="object 30">
            <a:extLst>
              <a:ext uri="{FF2B5EF4-FFF2-40B4-BE49-F238E27FC236}">
                <a16:creationId xmlns:a16="http://schemas.microsoft.com/office/drawing/2014/main" id="{5A29CA97-A916-EA88-1EA0-8806EBE03B0B}"/>
              </a:ext>
            </a:extLst>
          </p:cNvPr>
          <p:cNvSpPr txBox="1"/>
          <p:nvPr/>
        </p:nvSpPr>
        <p:spPr>
          <a:xfrm>
            <a:off x="10124810" y="3676281"/>
            <a:ext cx="21018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20" dirty="0">
                <a:solidFill>
                  <a:srgbClr val="5C9BD3"/>
                </a:solidFill>
                <a:latin typeface="Calibri"/>
                <a:cs typeface="Calibri"/>
              </a:rPr>
              <a:t>0..1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3" name="object 31">
            <a:extLst>
              <a:ext uri="{FF2B5EF4-FFF2-40B4-BE49-F238E27FC236}">
                <a16:creationId xmlns:a16="http://schemas.microsoft.com/office/drawing/2014/main" id="{7CD59559-2579-F950-D7A0-1367B6EEFDB6}"/>
              </a:ext>
            </a:extLst>
          </p:cNvPr>
          <p:cNvSpPr txBox="1"/>
          <p:nvPr/>
        </p:nvSpPr>
        <p:spPr>
          <a:xfrm>
            <a:off x="7248225" y="3342963"/>
            <a:ext cx="2764155" cy="1026794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253365" indent="-80010">
              <a:lnSpc>
                <a:spcPct val="100000"/>
              </a:lnSpc>
              <a:spcBef>
                <a:spcPts val="309"/>
              </a:spcBef>
              <a:buChar char="-"/>
              <a:tabLst>
                <a:tab pos="253365" algn="l"/>
              </a:tabLst>
            </a:pPr>
            <a:r>
              <a:rPr sz="1150" dirty="0">
                <a:solidFill>
                  <a:srgbClr val="5B9BD4"/>
                </a:solidFill>
                <a:latin typeface="Calibri"/>
                <a:cs typeface="Calibri"/>
              </a:rPr>
              <a:t>classroomID</a:t>
            </a:r>
            <a:r>
              <a:rPr sz="1150" spc="8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5B9BD4"/>
                </a:solidFill>
                <a:latin typeface="Calibri"/>
                <a:cs typeface="Calibri"/>
              </a:rPr>
              <a:t>:</a:t>
            </a:r>
            <a:r>
              <a:rPr sz="1150" spc="40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150" spc="-25" dirty="0">
                <a:solidFill>
                  <a:srgbClr val="5B9BD4"/>
                </a:solidFill>
                <a:latin typeface="Calibri"/>
                <a:cs typeface="Calibri"/>
              </a:rPr>
              <a:t>int</a:t>
            </a:r>
            <a:endParaRPr sz="1150">
              <a:latin typeface="Calibri"/>
              <a:cs typeface="Calibri"/>
            </a:endParaRPr>
          </a:p>
          <a:p>
            <a:pPr marL="253365" indent="-80010">
              <a:lnSpc>
                <a:spcPct val="100000"/>
              </a:lnSpc>
              <a:spcBef>
                <a:spcPts val="40"/>
              </a:spcBef>
              <a:buChar char="-"/>
              <a:tabLst>
                <a:tab pos="253365" algn="l"/>
              </a:tabLst>
            </a:pPr>
            <a:r>
              <a:rPr sz="1150" dirty="0">
                <a:solidFill>
                  <a:srgbClr val="5B9BD4"/>
                </a:solidFill>
                <a:latin typeface="Calibri"/>
                <a:cs typeface="Calibri"/>
              </a:rPr>
              <a:t>name</a:t>
            </a:r>
            <a:r>
              <a:rPr sz="1150" spc="4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5B9BD4"/>
                </a:solidFill>
                <a:latin typeface="Calibri"/>
                <a:cs typeface="Calibri"/>
              </a:rPr>
              <a:t>:</a:t>
            </a:r>
            <a:r>
              <a:rPr sz="1150" spc="30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5B9BD4"/>
                </a:solidFill>
                <a:latin typeface="Calibri"/>
                <a:cs typeface="Calibri"/>
              </a:rPr>
              <a:t>String</a:t>
            </a:r>
            <a:endParaRPr sz="1150">
              <a:latin typeface="Calibri"/>
              <a:cs typeface="Calibri"/>
            </a:endParaRPr>
          </a:p>
          <a:p>
            <a:pPr marL="253365" indent="-80010">
              <a:lnSpc>
                <a:spcPct val="100000"/>
              </a:lnSpc>
              <a:spcBef>
                <a:spcPts val="40"/>
              </a:spcBef>
              <a:buChar char="-"/>
              <a:tabLst>
                <a:tab pos="253365" algn="l"/>
              </a:tabLst>
            </a:pPr>
            <a:r>
              <a:rPr sz="1150" dirty="0">
                <a:solidFill>
                  <a:srgbClr val="5B9BD4"/>
                </a:solidFill>
                <a:latin typeface="Calibri"/>
                <a:cs typeface="Calibri"/>
              </a:rPr>
              <a:t>floor</a:t>
            </a:r>
            <a:r>
              <a:rPr sz="1150" spc="3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5B9BD4"/>
                </a:solidFill>
                <a:latin typeface="Calibri"/>
                <a:cs typeface="Calibri"/>
              </a:rPr>
              <a:t>:</a:t>
            </a:r>
            <a:r>
              <a:rPr sz="1150" spc="10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150" spc="-25" dirty="0">
                <a:solidFill>
                  <a:srgbClr val="5B9BD4"/>
                </a:solidFill>
                <a:latin typeface="Calibri"/>
                <a:cs typeface="Calibri"/>
              </a:rPr>
              <a:t>Int</a:t>
            </a:r>
            <a:endParaRPr sz="1150">
              <a:latin typeface="Calibri"/>
              <a:cs typeface="Calibri"/>
            </a:endParaRPr>
          </a:p>
          <a:p>
            <a:pPr marL="253365" indent="-80010">
              <a:lnSpc>
                <a:spcPct val="100000"/>
              </a:lnSpc>
              <a:spcBef>
                <a:spcPts val="45"/>
              </a:spcBef>
              <a:buChar char="-"/>
              <a:tabLst>
                <a:tab pos="253365" algn="l"/>
              </a:tabLst>
            </a:pPr>
            <a:r>
              <a:rPr sz="1150" dirty="0">
                <a:solidFill>
                  <a:srgbClr val="5B9BD4"/>
                </a:solidFill>
                <a:latin typeface="Calibri"/>
                <a:cs typeface="Calibri"/>
              </a:rPr>
              <a:t>corridor</a:t>
            </a:r>
            <a:r>
              <a:rPr sz="1150" spc="5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5B9BD4"/>
                </a:solidFill>
                <a:latin typeface="Calibri"/>
                <a:cs typeface="Calibri"/>
              </a:rPr>
              <a:t>:</a:t>
            </a:r>
            <a:r>
              <a:rPr sz="1150" spc="30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5B9BD4"/>
                </a:solidFill>
                <a:latin typeface="Calibri"/>
                <a:cs typeface="Calibri"/>
              </a:rPr>
              <a:t>String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9FC77C70-8EC4-E71C-02F6-BFFBE455BEE2}"/>
              </a:ext>
            </a:extLst>
          </p:cNvPr>
          <p:cNvSpPr txBox="1"/>
          <p:nvPr/>
        </p:nvSpPr>
        <p:spPr>
          <a:xfrm>
            <a:off x="1063816" y="2973838"/>
            <a:ext cx="851886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Classroom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//Propriétés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ClassroomID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Name {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Floor {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Corridor {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//Propriétés de navigation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virtual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ICollection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&lt;Student&gt; Students {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virtual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Teacher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Teacher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4577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Code First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39E0EE84-7085-E7AE-6EEC-FE85C344F4C0}"/>
              </a:ext>
            </a:extLst>
          </p:cNvPr>
          <p:cNvSpPr txBox="1"/>
          <p:nvPr/>
        </p:nvSpPr>
        <p:spPr>
          <a:xfrm>
            <a:off x="844826" y="1431230"/>
            <a:ext cx="4869124" cy="1990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Contexte de données</a:t>
            </a:r>
          </a:p>
          <a:p>
            <a:endParaRPr lang="fr-FR" sz="2400" b="1" dirty="0"/>
          </a:p>
          <a:p>
            <a:pPr marL="240665" indent="-227965">
              <a:spcBef>
                <a:spcPts val="245"/>
              </a:spcBef>
              <a:buFont typeface="Arial"/>
              <a:buChar char="•"/>
              <a:tabLst>
                <a:tab pos="697865" algn="l"/>
              </a:tabLst>
            </a:pPr>
            <a:r>
              <a:rPr lang="fr-FR" sz="2400" dirty="0">
                <a:latin typeface="Calibri"/>
                <a:cs typeface="Calibri"/>
              </a:rPr>
              <a:t>Gestion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de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la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connexion</a:t>
            </a:r>
            <a:endParaRPr lang="fr-FR" sz="2400" dirty="0">
              <a:latin typeface="Calibri"/>
              <a:cs typeface="Calibri"/>
            </a:endParaRPr>
          </a:p>
          <a:p>
            <a:pPr marL="240665" indent="-227965">
              <a:spcBef>
                <a:spcPts val="215"/>
              </a:spcBef>
              <a:buFont typeface="Arial"/>
              <a:buChar char="•"/>
              <a:tabLst>
                <a:tab pos="697865" algn="l"/>
              </a:tabLst>
            </a:pPr>
            <a:r>
              <a:rPr lang="fr-FR" sz="2400" dirty="0">
                <a:latin typeface="Calibri"/>
                <a:cs typeface="Calibri"/>
              </a:rPr>
              <a:t>Mise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en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cache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des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données</a:t>
            </a:r>
            <a:endParaRPr lang="fr-FR" sz="2400" dirty="0">
              <a:latin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4AE1A85-9A82-6A3D-4176-40766C76C024}"/>
              </a:ext>
            </a:extLst>
          </p:cNvPr>
          <p:cNvSpPr txBox="1"/>
          <p:nvPr/>
        </p:nvSpPr>
        <p:spPr>
          <a:xfrm>
            <a:off x="1121229" y="3518825"/>
            <a:ext cx="717368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Microsoft.EntityFrameworkCore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SchoolContext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DbContext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DbSet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Person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 People {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DbSet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Classroom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 Classrooms {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42839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Code First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2D51B63-4FB9-A78B-66EE-5A90175E29BB}"/>
              </a:ext>
            </a:extLst>
          </p:cNvPr>
          <p:cNvSpPr txBox="1"/>
          <p:nvPr/>
        </p:nvSpPr>
        <p:spPr>
          <a:xfrm>
            <a:off x="1230085" y="172084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Person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fr-FR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Key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PersonID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fr-FR" sz="18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Column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"Prénom"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FirstName {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fr-FR" sz="18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ForeignKey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"Animal"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AnimalId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Animal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Animal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91053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Code First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AC8236F-16E3-C93F-B1AA-38BB43461C4E}"/>
              </a:ext>
            </a:extLst>
          </p:cNvPr>
          <p:cNvSpPr txBox="1"/>
          <p:nvPr/>
        </p:nvSpPr>
        <p:spPr>
          <a:xfrm>
            <a:off x="1240970" y="1613159"/>
            <a:ext cx="797923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Person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PersonID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fr-FR" sz="18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StringLength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(30)]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FirstName {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Required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ErrorMessage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"Please enter a last name."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LastName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Age {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[</a:t>
            </a:r>
            <a:r>
              <a:rPr lang="fr-FR" sz="18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Required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Email {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34861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Code First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39E0EE84-7085-E7AE-6EEC-FE85C344F4C0}"/>
              </a:ext>
            </a:extLst>
          </p:cNvPr>
          <p:cNvSpPr txBox="1"/>
          <p:nvPr/>
        </p:nvSpPr>
        <p:spPr>
          <a:xfrm>
            <a:off x="844826" y="1431230"/>
            <a:ext cx="8603974" cy="843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endParaRPr lang="fr-FR" sz="24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Calibri"/>
                <a:cs typeface="Calibri"/>
              </a:rPr>
              <a:t>ou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avec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la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Fluent</a:t>
            </a:r>
            <a:r>
              <a:rPr lang="fr-FR" sz="2400" spc="-1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API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(via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le</a:t>
            </a:r>
            <a:r>
              <a:rPr lang="fr-FR" sz="2400" spc="-4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contexte)</a:t>
            </a:r>
            <a:endParaRPr lang="fr-FR" sz="2400" dirty="0">
              <a:latin typeface="Calibri"/>
              <a:cs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71A2BD1-B78B-266B-A64B-E10C81A00AB0}"/>
              </a:ext>
            </a:extLst>
          </p:cNvPr>
          <p:cNvSpPr txBox="1"/>
          <p:nvPr/>
        </p:nvSpPr>
        <p:spPr>
          <a:xfrm>
            <a:off x="1317171" y="2736503"/>
            <a:ext cx="9144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protected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override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OnModelCreating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ModelBuilder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modelBuilder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modelBuilder.Entity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fr-FR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Person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&gt;().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ToTable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"Person"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modelBuilder.Entity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Classroom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&gt;().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ToTable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"Classroom"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modelBuilder.Entity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fr-FR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Person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.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HasKey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(p =&gt;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p.PersonID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.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Property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(p =&gt;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p.PersonID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.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UseSqlServerIdentityColumn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base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.OnModelCreating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modelBuilder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34921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Code First</a:t>
            </a: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F461E99-303F-B437-0FE3-6AFB4D14755F}"/>
              </a:ext>
            </a:extLst>
          </p:cNvPr>
          <p:cNvGrpSpPr/>
          <p:nvPr/>
        </p:nvGrpSpPr>
        <p:grpSpPr>
          <a:xfrm>
            <a:off x="1725635" y="4679432"/>
            <a:ext cx="2091689" cy="1579880"/>
            <a:chOff x="2276474" y="4679714"/>
            <a:chExt cx="2091689" cy="1579880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B43E1AFB-AE20-6A64-F034-50E47943B8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76474" y="4679714"/>
              <a:ext cx="2091147" cy="1579290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0D8272DB-3BCB-1945-7144-DA93F24008D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12815" y="4692511"/>
              <a:ext cx="2004754" cy="1501827"/>
            </a:xfrm>
            <a:prstGeom prst="rect">
              <a:avLst/>
            </a:prstGeom>
          </p:spPr>
        </p:pic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67770D3A-D755-EDCC-3DC1-0210E5A3E1E4}"/>
                </a:ext>
              </a:extLst>
            </p:cNvPr>
            <p:cNvSpPr/>
            <p:nvPr/>
          </p:nvSpPr>
          <p:spPr>
            <a:xfrm>
              <a:off x="2312815" y="4692511"/>
              <a:ext cx="2005330" cy="1502410"/>
            </a:xfrm>
            <a:custGeom>
              <a:avLst/>
              <a:gdLst/>
              <a:ahLst/>
              <a:cxnLst/>
              <a:rect l="l" t="t" r="r" b="b"/>
              <a:pathLst>
                <a:path w="2005329" h="1502410">
                  <a:moveTo>
                    <a:pt x="200478" y="1501827"/>
                  </a:moveTo>
                  <a:lnTo>
                    <a:pt x="1804276" y="1501827"/>
                  </a:lnTo>
                  <a:lnTo>
                    <a:pt x="1850241" y="1496538"/>
                  </a:lnTo>
                  <a:lnTo>
                    <a:pt x="1892437" y="1481474"/>
                  </a:lnTo>
                  <a:lnTo>
                    <a:pt x="1929661" y="1457836"/>
                  </a:lnTo>
                  <a:lnTo>
                    <a:pt x="1960708" y="1426826"/>
                  </a:lnTo>
                  <a:lnTo>
                    <a:pt x="1984376" y="1389645"/>
                  </a:lnTo>
                  <a:lnTo>
                    <a:pt x="1999459" y="1347496"/>
                  </a:lnTo>
                  <a:lnTo>
                    <a:pt x="2004754" y="1301579"/>
                  </a:lnTo>
                  <a:lnTo>
                    <a:pt x="2004754" y="200247"/>
                  </a:lnTo>
                  <a:lnTo>
                    <a:pt x="1999459" y="154335"/>
                  </a:lnTo>
                  <a:lnTo>
                    <a:pt x="1984375" y="112187"/>
                  </a:lnTo>
                  <a:lnTo>
                    <a:pt x="1960708" y="75006"/>
                  </a:lnTo>
                  <a:lnTo>
                    <a:pt x="1929661" y="43994"/>
                  </a:lnTo>
                  <a:lnTo>
                    <a:pt x="1892437" y="20354"/>
                  </a:lnTo>
                  <a:lnTo>
                    <a:pt x="1850241" y="5289"/>
                  </a:lnTo>
                  <a:lnTo>
                    <a:pt x="1804276" y="0"/>
                  </a:lnTo>
                  <a:lnTo>
                    <a:pt x="200478" y="0"/>
                  </a:lnTo>
                  <a:lnTo>
                    <a:pt x="154508" y="5289"/>
                  </a:lnTo>
                  <a:lnTo>
                    <a:pt x="112311" y="20354"/>
                  </a:lnTo>
                  <a:lnTo>
                    <a:pt x="75087" y="43994"/>
                  </a:lnTo>
                  <a:lnTo>
                    <a:pt x="44041" y="75006"/>
                  </a:lnTo>
                  <a:lnTo>
                    <a:pt x="20376" y="112187"/>
                  </a:lnTo>
                  <a:lnTo>
                    <a:pt x="5294" y="154335"/>
                  </a:lnTo>
                  <a:lnTo>
                    <a:pt x="0" y="200247"/>
                  </a:lnTo>
                  <a:lnTo>
                    <a:pt x="0" y="1301579"/>
                  </a:lnTo>
                  <a:lnTo>
                    <a:pt x="5294" y="1347496"/>
                  </a:lnTo>
                  <a:lnTo>
                    <a:pt x="20376" y="1389645"/>
                  </a:lnTo>
                  <a:lnTo>
                    <a:pt x="44041" y="1426826"/>
                  </a:lnTo>
                  <a:lnTo>
                    <a:pt x="75087" y="1457836"/>
                  </a:lnTo>
                  <a:lnTo>
                    <a:pt x="112311" y="1481474"/>
                  </a:lnTo>
                  <a:lnTo>
                    <a:pt x="154509" y="1496538"/>
                  </a:lnTo>
                  <a:lnTo>
                    <a:pt x="200478" y="1501827"/>
                  </a:lnTo>
                  <a:close/>
                </a:path>
              </a:pathLst>
            </a:custGeom>
            <a:ln w="10203">
              <a:solidFill>
                <a:srgbClr val="5374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7">
            <a:extLst>
              <a:ext uri="{FF2B5EF4-FFF2-40B4-BE49-F238E27FC236}">
                <a16:creationId xmlns:a16="http://schemas.microsoft.com/office/drawing/2014/main" id="{B9658BB8-5B67-6610-2F40-47123BD46C12}"/>
              </a:ext>
            </a:extLst>
          </p:cNvPr>
          <p:cNvSpPr txBox="1"/>
          <p:nvPr/>
        </p:nvSpPr>
        <p:spPr>
          <a:xfrm>
            <a:off x="2360680" y="5267202"/>
            <a:ext cx="81280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-10" dirty="0">
                <a:solidFill>
                  <a:srgbClr val="FDFFFF"/>
                </a:solidFill>
                <a:latin typeface="Calibri"/>
                <a:cs typeface="Calibri"/>
              </a:rPr>
              <a:t>Student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9" name="object 8">
            <a:extLst>
              <a:ext uri="{FF2B5EF4-FFF2-40B4-BE49-F238E27FC236}">
                <a16:creationId xmlns:a16="http://schemas.microsoft.com/office/drawing/2014/main" id="{C4C31AF8-3AEE-11FF-EE1D-61EB2E20E141}"/>
              </a:ext>
            </a:extLst>
          </p:cNvPr>
          <p:cNvGrpSpPr/>
          <p:nvPr/>
        </p:nvGrpSpPr>
        <p:grpSpPr>
          <a:xfrm>
            <a:off x="8376505" y="2162784"/>
            <a:ext cx="1622425" cy="1233170"/>
            <a:chOff x="8927344" y="2163066"/>
            <a:chExt cx="1622425" cy="1233170"/>
          </a:xfrm>
        </p:grpSpPr>
        <p:pic>
          <p:nvPicPr>
            <p:cNvPr id="10" name="object 9">
              <a:extLst>
                <a:ext uri="{FF2B5EF4-FFF2-40B4-BE49-F238E27FC236}">
                  <a16:creationId xmlns:a16="http://schemas.microsoft.com/office/drawing/2014/main" id="{98564186-0FEA-0A66-8C8A-86C43BC58BB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27344" y="2163066"/>
              <a:ext cx="1621914" cy="1232865"/>
            </a:xfrm>
            <a:prstGeom prst="rect">
              <a:avLst/>
            </a:prstGeom>
          </p:spPr>
        </p:pic>
        <p:pic>
          <p:nvPicPr>
            <p:cNvPr id="11" name="object 10">
              <a:extLst>
                <a:ext uri="{FF2B5EF4-FFF2-40B4-BE49-F238E27FC236}">
                  <a16:creationId xmlns:a16="http://schemas.microsoft.com/office/drawing/2014/main" id="{278C409B-36D0-CC2E-87AF-2234D8C191D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63386" y="2170130"/>
              <a:ext cx="1542076" cy="1155293"/>
            </a:xfrm>
            <a:prstGeom prst="rect">
              <a:avLst/>
            </a:prstGeom>
          </p:spPr>
        </p:pic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D6474893-BA20-FFCC-24DF-F33026D71728}"/>
                </a:ext>
              </a:extLst>
            </p:cNvPr>
            <p:cNvSpPr/>
            <p:nvPr/>
          </p:nvSpPr>
          <p:spPr>
            <a:xfrm>
              <a:off x="8963386" y="2170130"/>
              <a:ext cx="1542415" cy="1155700"/>
            </a:xfrm>
            <a:custGeom>
              <a:avLst/>
              <a:gdLst/>
              <a:ahLst/>
              <a:cxnLst/>
              <a:rect l="l" t="t" r="r" b="b"/>
              <a:pathLst>
                <a:path w="1542415" h="1155700">
                  <a:moveTo>
                    <a:pt x="154234" y="1155293"/>
                  </a:moveTo>
                  <a:lnTo>
                    <a:pt x="1387978" y="1155293"/>
                  </a:lnTo>
                  <a:lnTo>
                    <a:pt x="1436698" y="1147435"/>
                  </a:lnTo>
                  <a:lnTo>
                    <a:pt x="1479002" y="1125557"/>
                  </a:lnTo>
                  <a:lnTo>
                    <a:pt x="1512355" y="1092203"/>
                  </a:lnTo>
                  <a:lnTo>
                    <a:pt x="1534224" y="1049915"/>
                  </a:lnTo>
                  <a:lnTo>
                    <a:pt x="1542076" y="1001236"/>
                  </a:lnTo>
                  <a:lnTo>
                    <a:pt x="1542076" y="154057"/>
                  </a:lnTo>
                  <a:lnTo>
                    <a:pt x="1534224" y="105326"/>
                  </a:lnTo>
                  <a:lnTo>
                    <a:pt x="1512355" y="63031"/>
                  </a:lnTo>
                  <a:lnTo>
                    <a:pt x="1479002" y="29696"/>
                  </a:lnTo>
                  <a:lnTo>
                    <a:pt x="1436698" y="7844"/>
                  </a:lnTo>
                  <a:lnTo>
                    <a:pt x="1387978" y="0"/>
                  </a:lnTo>
                  <a:lnTo>
                    <a:pt x="154234" y="0"/>
                  </a:lnTo>
                  <a:lnTo>
                    <a:pt x="105447" y="7844"/>
                  </a:lnTo>
                  <a:lnTo>
                    <a:pt x="63104" y="29696"/>
                  </a:lnTo>
                  <a:lnTo>
                    <a:pt x="29730" y="63031"/>
                  </a:lnTo>
                  <a:lnTo>
                    <a:pt x="7853" y="105326"/>
                  </a:lnTo>
                  <a:lnTo>
                    <a:pt x="0" y="154057"/>
                  </a:lnTo>
                  <a:lnTo>
                    <a:pt x="0" y="1001236"/>
                  </a:lnTo>
                  <a:lnTo>
                    <a:pt x="7853" y="1049915"/>
                  </a:lnTo>
                  <a:lnTo>
                    <a:pt x="29730" y="1092203"/>
                  </a:lnTo>
                  <a:lnTo>
                    <a:pt x="63104" y="1125557"/>
                  </a:lnTo>
                  <a:lnTo>
                    <a:pt x="105447" y="1147435"/>
                  </a:lnTo>
                  <a:lnTo>
                    <a:pt x="154234" y="1155293"/>
                  </a:lnTo>
                  <a:close/>
                </a:path>
              </a:pathLst>
            </a:custGeom>
            <a:ln w="10203">
              <a:solidFill>
                <a:srgbClr val="2C51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2">
            <a:extLst>
              <a:ext uri="{FF2B5EF4-FFF2-40B4-BE49-F238E27FC236}">
                <a16:creationId xmlns:a16="http://schemas.microsoft.com/office/drawing/2014/main" id="{23E43825-E82A-98E1-D152-807FE3E30C77}"/>
              </a:ext>
            </a:extLst>
          </p:cNvPr>
          <p:cNvSpPr txBox="1"/>
          <p:nvPr/>
        </p:nvSpPr>
        <p:spPr>
          <a:xfrm>
            <a:off x="8835078" y="2566405"/>
            <a:ext cx="71501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-10" dirty="0">
                <a:solidFill>
                  <a:srgbClr val="FDFFFF"/>
                </a:solidFill>
                <a:latin typeface="Calibri"/>
                <a:cs typeface="Calibri"/>
              </a:rPr>
              <a:t>Person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14" name="object 13">
            <a:extLst>
              <a:ext uri="{FF2B5EF4-FFF2-40B4-BE49-F238E27FC236}">
                <a16:creationId xmlns:a16="http://schemas.microsoft.com/office/drawing/2014/main" id="{8B339BBA-16DC-1D3E-9BF1-46BE7F006F99}"/>
              </a:ext>
            </a:extLst>
          </p:cNvPr>
          <p:cNvGrpSpPr/>
          <p:nvPr/>
        </p:nvGrpSpPr>
        <p:grpSpPr>
          <a:xfrm>
            <a:off x="7417637" y="4271873"/>
            <a:ext cx="1622425" cy="1243330"/>
            <a:chOff x="7968476" y="4272155"/>
            <a:chExt cx="1622425" cy="1243330"/>
          </a:xfrm>
        </p:grpSpPr>
        <p:pic>
          <p:nvPicPr>
            <p:cNvPr id="15" name="object 14">
              <a:extLst>
                <a:ext uri="{FF2B5EF4-FFF2-40B4-BE49-F238E27FC236}">
                  <a16:creationId xmlns:a16="http://schemas.microsoft.com/office/drawing/2014/main" id="{B1F219B6-E715-A1E8-2438-ED307B9EECF0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68476" y="4272155"/>
              <a:ext cx="1621914" cy="1243054"/>
            </a:xfrm>
            <a:prstGeom prst="rect">
              <a:avLst/>
            </a:prstGeom>
          </p:spPr>
        </p:pic>
        <p:pic>
          <p:nvPicPr>
            <p:cNvPr id="16" name="object 15">
              <a:extLst>
                <a:ext uri="{FF2B5EF4-FFF2-40B4-BE49-F238E27FC236}">
                  <a16:creationId xmlns:a16="http://schemas.microsoft.com/office/drawing/2014/main" id="{47815A7F-D9E3-F164-483B-00DC53B270D5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99486" y="4288077"/>
              <a:ext cx="1542212" cy="1155334"/>
            </a:xfrm>
            <a:prstGeom prst="rect">
              <a:avLst/>
            </a:prstGeom>
          </p:spPr>
        </p:pic>
        <p:sp>
          <p:nvSpPr>
            <p:cNvPr id="17" name="object 16">
              <a:extLst>
                <a:ext uri="{FF2B5EF4-FFF2-40B4-BE49-F238E27FC236}">
                  <a16:creationId xmlns:a16="http://schemas.microsoft.com/office/drawing/2014/main" id="{BFD6EFE9-27BD-13F5-4214-03BF00645D3F}"/>
                </a:ext>
              </a:extLst>
            </p:cNvPr>
            <p:cNvSpPr/>
            <p:nvPr/>
          </p:nvSpPr>
          <p:spPr>
            <a:xfrm>
              <a:off x="7999486" y="4288077"/>
              <a:ext cx="1542415" cy="1155700"/>
            </a:xfrm>
            <a:custGeom>
              <a:avLst/>
              <a:gdLst/>
              <a:ahLst/>
              <a:cxnLst/>
              <a:rect l="l" t="t" r="r" b="b"/>
              <a:pathLst>
                <a:path w="1542415" h="1155700">
                  <a:moveTo>
                    <a:pt x="154234" y="1155334"/>
                  </a:moveTo>
                  <a:lnTo>
                    <a:pt x="1387978" y="1155334"/>
                  </a:lnTo>
                  <a:lnTo>
                    <a:pt x="1436713" y="1147480"/>
                  </a:lnTo>
                  <a:lnTo>
                    <a:pt x="1479050" y="1125607"/>
                  </a:lnTo>
                  <a:lnTo>
                    <a:pt x="1512443" y="1092252"/>
                  </a:lnTo>
                  <a:lnTo>
                    <a:pt x="1534346" y="1049950"/>
                  </a:lnTo>
                  <a:lnTo>
                    <a:pt x="1542212" y="1001236"/>
                  </a:lnTo>
                  <a:lnTo>
                    <a:pt x="1542212" y="154057"/>
                  </a:lnTo>
                  <a:lnTo>
                    <a:pt x="1534346" y="105378"/>
                  </a:lnTo>
                  <a:lnTo>
                    <a:pt x="1512443" y="63090"/>
                  </a:lnTo>
                  <a:lnTo>
                    <a:pt x="1479050" y="29735"/>
                  </a:lnTo>
                  <a:lnTo>
                    <a:pt x="1436713" y="7857"/>
                  </a:lnTo>
                  <a:lnTo>
                    <a:pt x="1387978" y="0"/>
                  </a:lnTo>
                  <a:lnTo>
                    <a:pt x="154234" y="0"/>
                  </a:lnTo>
                  <a:lnTo>
                    <a:pt x="105499" y="7857"/>
                  </a:lnTo>
                  <a:lnTo>
                    <a:pt x="63162" y="29735"/>
                  </a:lnTo>
                  <a:lnTo>
                    <a:pt x="29769" y="63090"/>
                  </a:lnTo>
                  <a:lnTo>
                    <a:pt x="7866" y="105378"/>
                  </a:lnTo>
                  <a:lnTo>
                    <a:pt x="0" y="154057"/>
                  </a:lnTo>
                  <a:lnTo>
                    <a:pt x="0" y="1001236"/>
                  </a:lnTo>
                  <a:lnTo>
                    <a:pt x="7866" y="1049950"/>
                  </a:lnTo>
                  <a:lnTo>
                    <a:pt x="29769" y="1092252"/>
                  </a:lnTo>
                  <a:lnTo>
                    <a:pt x="63162" y="1125607"/>
                  </a:lnTo>
                  <a:lnTo>
                    <a:pt x="105499" y="1147480"/>
                  </a:lnTo>
                  <a:lnTo>
                    <a:pt x="154234" y="1155334"/>
                  </a:lnTo>
                  <a:close/>
                </a:path>
              </a:pathLst>
            </a:custGeom>
            <a:ln w="10203">
              <a:solidFill>
                <a:srgbClr val="5374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7">
            <a:extLst>
              <a:ext uri="{FF2B5EF4-FFF2-40B4-BE49-F238E27FC236}">
                <a16:creationId xmlns:a16="http://schemas.microsoft.com/office/drawing/2014/main" id="{6AF29E8F-DB58-28F9-F962-0667F9FA6918}"/>
              </a:ext>
            </a:extLst>
          </p:cNvPr>
          <p:cNvSpPr txBox="1"/>
          <p:nvPr/>
        </p:nvSpPr>
        <p:spPr>
          <a:xfrm>
            <a:off x="7821534" y="4688428"/>
            <a:ext cx="81280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-10" dirty="0">
                <a:solidFill>
                  <a:srgbClr val="FDFFFF"/>
                </a:solidFill>
                <a:latin typeface="Calibri"/>
                <a:cs typeface="Calibri"/>
              </a:rPr>
              <a:t>Student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19" name="object 18">
            <a:extLst>
              <a:ext uri="{FF2B5EF4-FFF2-40B4-BE49-F238E27FC236}">
                <a16:creationId xmlns:a16="http://schemas.microsoft.com/office/drawing/2014/main" id="{32798B1A-7140-1EAD-B601-70D755788B6A}"/>
              </a:ext>
            </a:extLst>
          </p:cNvPr>
          <p:cNvGrpSpPr/>
          <p:nvPr/>
        </p:nvGrpSpPr>
        <p:grpSpPr>
          <a:xfrm>
            <a:off x="9376175" y="4271873"/>
            <a:ext cx="1622425" cy="1243330"/>
            <a:chOff x="9927014" y="4272155"/>
            <a:chExt cx="1622425" cy="1243330"/>
          </a:xfrm>
        </p:grpSpPr>
        <p:pic>
          <p:nvPicPr>
            <p:cNvPr id="20" name="object 19">
              <a:extLst>
                <a:ext uri="{FF2B5EF4-FFF2-40B4-BE49-F238E27FC236}">
                  <a16:creationId xmlns:a16="http://schemas.microsoft.com/office/drawing/2014/main" id="{4934E194-561F-7DBE-9DF2-2F345138B324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927014" y="4272155"/>
              <a:ext cx="1621914" cy="1243054"/>
            </a:xfrm>
            <a:prstGeom prst="rect">
              <a:avLst/>
            </a:prstGeom>
          </p:spPr>
        </p:pic>
        <p:pic>
          <p:nvPicPr>
            <p:cNvPr id="21" name="object 20">
              <a:extLst>
                <a:ext uri="{FF2B5EF4-FFF2-40B4-BE49-F238E27FC236}">
                  <a16:creationId xmlns:a16="http://schemas.microsoft.com/office/drawing/2014/main" id="{544C197B-B8CF-A2D8-6E00-9703BE48A5CE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965777" y="4288077"/>
              <a:ext cx="1542076" cy="1155334"/>
            </a:xfrm>
            <a:prstGeom prst="rect">
              <a:avLst/>
            </a:prstGeom>
          </p:spPr>
        </p:pic>
        <p:sp>
          <p:nvSpPr>
            <p:cNvPr id="22" name="object 21">
              <a:extLst>
                <a:ext uri="{FF2B5EF4-FFF2-40B4-BE49-F238E27FC236}">
                  <a16:creationId xmlns:a16="http://schemas.microsoft.com/office/drawing/2014/main" id="{387A8B01-E456-55AA-EA9B-652563848047}"/>
                </a:ext>
              </a:extLst>
            </p:cNvPr>
            <p:cNvSpPr/>
            <p:nvPr/>
          </p:nvSpPr>
          <p:spPr>
            <a:xfrm>
              <a:off x="9965777" y="4288077"/>
              <a:ext cx="1542415" cy="1155700"/>
            </a:xfrm>
            <a:custGeom>
              <a:avLst/>
              <a:gdLst/>
              <a:ahLst/>
              <a:cxnLst/>
              <a:rect l="l" t="t" r="r" b="b"/>
              <a:pathLst>
                <a:path w="1542415" h="1155700">
                  <a:moveTo>
                    <a:pt x="154234" y="1155334"/>
                  </a:moveTo>
                  <a:lnTo>
                    <a:pt x="1387978" y="1155334"/>
                  </a:lnTo>
                  <a:lnTo>
                    <a:pt x="1436698" y="1147480"/>
                  </a:lnTo>
                  <a:lnTo>
                    <a:pt x="1479002" y="1125607"/>
                  </a:lnTo>
                  <a:lnTo>
                    <a:pt x="1512355" y="1092252"/>
                  </a:lnTo>
                  <a:lnTo>
                    <a:pt x="1534224" y="1049950"/>
                  </a:lnTo>
                  <a:lnTo>
                    <a:pt x="1542076" y="1001236"/>
                  </a:lnTo>
                  <a:lnTo>
                    <a:pt x="1542076" y="154057"/>
                  </a:lnTo>
                  <a:lnTo>
                    <a:pt x="1534224" y="105378"/>
                  </a:lnTo>
                  <a:lnTo>
                    <a:pt x="1512355" y="63090"/>
                  </a:lnTo>
                  <a:lnTo>
                    <a:pt x="1479002" y="29735"/>
                  </a:lnTo>
                  <a:lnTo>
                    <a:pt x="1436698" y="7857"/>
                  </a:lnTo>
                  <a:lnTo>
                    <a:pt x="1387978" y="0"/>
                  </a:lnTo>
                  <a:lnTo>
                    <a:pt x="154234" y="0"/>
                  </a:lnTo>
                  <a:lnTo>
                    <a:pt x="105499" y="7857"/>
                  </a:lnTo>
                  <a:lnTo>
                    <a:pt x="63162" y="29735"/>
                  </a:lnTo>
                  <a:lnTo>
                    <a:pt x="29769" y="63090"/>
                  </a:lnTo>
                  <a:lnTo>
                    <a:pt x="7866" y="105378"/>
                  </a:lnTo>
                  <a:lnTo>
                    <a:pt x="0" y="154057"/>
                  </a:lnTo>
                  <a:lnTo>
                    <a:pt x="0" y="1001236"/>
                  </a:lnTo>
                  <a:lnTo>
                    <a:pt x="7866" y="1049950"/>
                  </a:lnTo>
                  <a:lnTo>
                    <a:pt x="29769" y="1092252"/>
                  </a:lnTo>
                  <a:lnTo>
                    <a:pt x="63162" y="1125607"/>
                  </a:lnTo>
                  <a:lnTo>
                    <a:pt x="105499" y="1147480"/>
                  </a:lnTo>
                  <a:lnTo>
                    <a:pt x="154234" y="1155334"/>
                  </a:lnTo>
                  <a:close/>
                </a:path>
              </a:pathLst>
            </a:custGeom>
            <a:ln w="10203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2">
            <a:extLst>
              <a:ext uri="{FF2B5EF4-FFF2-40B4-BE49-F238E27FC236}">
                <a16:creationId xmlns:a16="http://schemas.microsoft.com/office/drawing/2014/main" id="{A43F785C-AC1A-4445-9F52-830267CDF7DE}"/>
              </a:ext>
            </a:extLst>
          </p:cNvPr>
          <p:cNvSpPr txBox="1"/>
          <p:nvPr/>
        </p:nvSpPr>
        <p:spPr>
          <a:xfrm>
            <a:off x="9783065" y="4688428"/>
            <a:ext cx="82423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-10" dirty="0">
                <a:solidFill>
                  <a:srgbClr val="FDFFFF"/>
                </a:solidFill>
                <a:latin typeface="Calibri"/>
                <a:cs typeface="Calibri"/>
              </a:rPr>
              <a:t>Teacher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24" name="object 23">
            <a:extLst>
              <a:ext uri="{FF2B5EF4-FFF2-40B4-BE49-F238E27FC236}">
                <a16:creationId xmlns:a16="http://schemas.microsoft.com/office/drawing/2014/main" id="{BDE7BA21-29FE-5EAC-992F-8D164FB593FE}"/>
              </a:ext>
            </a:extLst>
          </p:cNvPr>
          <p:cNvGrpSpPr/>
          <p:nvPr/>
        </p:nvGrpSpPr>
        <p:grpSpPr>
          <a:xfrm>
            <a:off x="8212701" y="2274862"/>
            <a:ext cx="1980564" cy="2019935"/>
            <a:chOff x="8763540" y="2275144"/>
            <a:chExt cx="1980564" cy="2019935"/>
          </a:xfrm>
        </p:grpSpPr>
        <p:sp>
          <p:nvSpPr>
            <p:cNvPr id="25" name="object 24">
              <a:extLst>
                <a:ext uri="{FF2B5EF4-FFF2-40B4-BE49-F238E27FC236}">
                  <a16:creationId xmlns:a16="http://schemas.microsoft.com/office/drawing/2014/main" id="{7EE79DC5-929D-8E1F-3274-680112EA3F62}"/>
                </a:ext>
              </a:extLst>
            </p:cNvPr>
            <p:cNvSpPr/>
            <p:nvPr/>
          </p:nvSpPr>
          <p:spPr>
            <a:xfrm>
              <a:off x="8770525" y="3409108"/>
              <a:ext cx="963930" cy="879475"/>
            </a:xfrm>
            <a:custGeom>
              <a:avLst/>
              <a:gdLst/>
              <a:ahLst/>
              <a:cxnLst/>
              <a:rect l="l" t="t" r="r" b="b"/>
              <a:pathLst>
                <a:path w="963929" h="879475">
                  <a:moveTo>
                    <a:pt x="0" y="878968"/>
                  </a:moveTo>
                  <a:lnTo>
                    <a:pt x="0" y="378350"/>
                  </a:lnTo>
                  <a:lnTo>
                    <a:pt x="963900" y="378350"/>
                  </a:lnTo>
                  <a:lnTo>
                    <a:pt x="963900" y="0"/>
                  </a:lnTo>
                </a:path>
              </a:pathLst>
            </a:custGeom>
            <a:ln w="135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5">
              <a:extLst>
                <a:ext uri="{FF2B5EF4-FFF2-40B4-BE49-F238E27FC236}">
                  <a16:creationId xmlns:a16="http://schemas.microsoft.com/office/drawing/2014/main" id="{CE44F133-1A84-0FA5-D331-4C91E797FC94}"/>
                </a:ext>
              </a:extLst>
            </p:cNvPr>
            <p:cNvSpPr/>
            <p:nvPr/>
          </p:nvSpPr>
          <p:spPr>
            <a:xfrm>
              <a:off x="9686550" y="3325423"/>
              <a:ext cx="95885" cy="95885"/>
            </a:xfrm>
            <a:custGeom>
              <a:avLst/>
              <a:gdLst/>
              <a:ahLst/>
              <a:cxnLst/>
              <a:rect l="l" t="t" r="r" b="b"/>
              <a:pathLst>
                <a:path w="95884" h="95885">
                  <a:moveTo>
                    <a:pt x="47875" y="0"/>
                  </a:moveTo>
                  <a:lnTo>
                    <a:pt x="0" y="95640"/>
                  </a:lnTo>
                  <a:lnTo>
                    <a:pt x="95750" y="95640"/>
                  </a:lnTo>
                  <a:lnTo>
                    <a:pt x="47875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6">
              <a:extLst>
                <a:ext uri="{FF2B5EF4-FFF2-40B4-BE49-F238E27FC236}">
                  <a16:creationId xmlns:a16="http://schemas.microsoft.com/office/drawing/2014/main" id="{6B617620-6692-AC86-9F50-83C5D47503C2}"/>
                </a:ext>
              </a:extLst>
            </p:cNvPr>
            <p:cNvSpPr/>
            <p:nvPr/>
          </p:nvSpPr>
          <p:spPr>
            <a:xfrm>
              <a:off x="9734425" y="3409108"/>
              <a:ext cx="1002665" cy="879475"/>
            </a:xfrm>
            <a:custGeom>
              <a:avLst/>
              <a:gdLst/>
              <a:ahLst/>
              <a:cxnLst/>
              <a:rect l="l" t="t" r="r" b="b"/>
              <a:pathLst>
                <a:path w="1002665" h="879475">
                  <a:moveTo>
                    <a:pt x="1002390" y="878968"/>
                  </a:moveTo>
                  <a:lnTo>
                    <a:pt x="1002390" y="378350"/>
                  </a:lnTo>
                  <a:lnTo>
                    <a:pt x="0" y="378350"/>
                  </a:lnTo>
                  <a:lnTo>
                    <a:pt x="0" y="0"/>
                  </a:lnTo>
                </a:path>
              </a:pathLst>
            </a:custGeom>
            <a:ln w="135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7">
              <a:extLst>
                <a:ext uri="{FF2B5EF4-FFF2-40B4-BE49-F238E27FC236}">
                  <a16:creationId xmlns:a16="http://schemas.microsoft.com/office/drawing/2014/main" id="{076E9EE0-AFD7-34A5-3777-827BB8812B5C}"/>
                </a:ext>
              </a:extLst>
            </p:cNvPr>
            <p:cNvSpPr/>
            <p:nvPr/>
          </p:nvSpPr>
          <p:spPr>
            <a:xfrm>
              <a:off x="9686550" y="3325423"/>
              <a:ext cx="95885" cy="95885"/>
            </a:xfrm>
            <a:custGeom>
              <a:avLst/>
              <a:gdLst/>
              <a:ahLst/>
              <a:cxnLst/>
              <a:rect l="l" t="t" r="r" b="b"/>
              <a:pathLst>
                <a:path w="95884" h="95885">
                  <a:moveTo>
                    <a:pt x="47875" y="0"/>
                  </a:moveTo>
                  <a:lnTo>
                    <a:pt x="0" y="95640"/>
                  </a:lnTo>
                  <a:lnTo>
                    <a:pt x="95750" y="95640"/>
                  </a:lnTo>
                  <a:lnTo>
                    <a:pt x="47875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8">
              <a:extLst>
                <a:ext uri="{FF2B5EF4-FFF2-40B4-BE49-F238E27FC236}">
                  <a16:creationId xmlns:a16="http://schemas.microsoft.com/office/drawing/2014/main" id="{FD4FDF62-9722-58BF-84D0-710ED696153A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090555" y="2275144"/>
              <a:ext cx="469233" cy="387180"/>
            </a:xfrm>
            <a:prstGeom prst="rect">
              <a:avLst/>
            </a:prstGeom>
          </p:spPr>
        </p:pic>
        <p:pic>
          <p:nvPicPr>
            <p:cNvPr id="30" name="object 29">
              <a:extLst>
                <a:ext uri="{FF2B5EF4-FFF2-40B4-BE49-F238E27FC236}">
                  <a16:creationId xmlns:a16="http://schemas.microsoft.com/office/drawing/2014/main" id="{5789AA49-949C-056F-ADBE-D467FBCB284A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156112" y="2314813"/>
              <a:ext cx="333495" cy="249833"/>
            </a:xfrm>
            <a:prstGeom prst="rect">
              <a:avLst/>
            </a:prstGeom>
          </p:spPr>
        </p:pic>
      </p:grpSp>
      <p:sp>
        <p:nvSpPr>
          <p:cNvPr id="31" name="object 30">
            <a:extLst>
              <a:ext uri="{FF2B5EF4-FFF2-40B4-BE49-F238E27FC236}">
                <a16:creationId xmlns:a16="http://schemas.microsoft.com/office/drawing/2014/main" id="{8A596A04-550F-B014-3906-934CA0A12823}"/>
              </a:ext>
            </a:extLst>
          </p:cNvPr>
          <p:cNvSpPr txBox="1"/>
          <p:nvPr/>
        </p:nvSpPr>
        <p:spPr>
          <a:xfrm>
            <a:off x="8605273" y="2314531"/>
            <a:ext cx="334010" cy="250190"/>
          </a:xfrm>
          <a:prstGeom prst="rect">
            <a:avLst/>
          </a:prstGeom>
          <a:ln w="10203">
            <a:solidFill>
              <a:srgbClr val="AD5A2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275"/>
              </a:spcBef>
            </a:pPr>
            <a:r>
              <a:rPr sz="1050" spc="-25" dirty="0">
                <a:solidFill>
                  <a:srgbClr val="FDFFFF"/>
                </a:solidFill>
                <a:latin typeface="Calibri"/>
                <a:cs typeface="Calibri"/>
              </a:rPr>
              <a:t>PK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32" name="object 31">
            <a:extLst>
              <a:ext uri="{FF2B5EF4-FFF2-40B4-BE49-F238E27FC236}">
                <a16:creationId xmlns:a16="http://schemas.microsoft.com/office/drawing/2014/main" id="{E501F96E-4878-C7DB-7B13-CAFBA47557A0}"/>
              </a:ext>
            </a:extLst>
          </p:cNvPr>
          <p:cNvGrpSpPr/>
          <p:nvPr/>
        </p:nvGrpSpPr>
        <p:grpSpPr>
          <a:xfrm>
            <a:off x="4235012" y="4679432"/>
            <a:ext cx="2081530" cy="1579880"/>
            <a:chOff x="4785851" y="4679714"/>
            <a:chExt cx="2081530" cy="1579880"/>
          </a:xfrm>
        </p:grpSpPr>
        <p:pic>
          <p:nvPicPr>
            <p:cNvPr id="33" name="object 32">
              <a:extLst>
                <a:ext uri="{FF2B5EF4-FFF2-40B4-BE49-F238E27FC236}">
                  <a16:creationId xmlns:a16="http://schemas.microsoft.com/office/drawing/2014/main" id="{232FB824-F113-2107-CC61-E9B378C2330E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85851" y="4679714"/>
              <a:ext cx="2080947" cy="1579290"/>
            </a:xfrm>
            <a:prstGeom prst="rect">
              <a:avLst/>
            </a:prstGeom>
          </p:spPr>
        </p:pic>
        <p:pic>
          <p:nvPicPr>
            <p:cNvPr id="34" name="object 33">
              <a:extLst>
                <a:ext uri="{FF2B5EF4-FFF2-40B4-BE49-F238E27FC236}">
                  <a16:creationId xmlns:a16="http://schemas.microsoft.com/office/drawing/2014/main" id="{FE84F341-347D-0932-5E63-5604303A1EBA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18765" y="4692511"/>
              <a:ext cx="2004781" cy="1501827"/>
            </a:xfrm>
            <a:prstGeom prst="rect">
              <a:avLst/>
            </a:prstGeom>
          </p:spPr>
        </p:pic>
        <p:sp>
          <p:nvSpPr>
            <p:cNvPr id="35" name="object 34">
              <a:extLst>
                <a:ext uri="{FF2B5EF4-FFF2-40B4-BE49-F238E27FC236}">
                  <a16:creationId xmlns:a16="http://schemas.microsoft.com/office/drawing/2014/main" id="{29B42559-9FEB-A3F9-22E2-CF56576F02E4}"/>
                </a:ext>
              </a:extLst>
            </p:cNvPr>
            <p:cNvSpPr/>
            <p:nvPr/>
          </p:nvSpPr>
          <p:spPr>
            <a:xfrm>
              <a:off x="4818765" y="4692511"/>
              <a:ext cx="2005330" cy="1502410"/>
            </a:xfrm>
            <a:custGeom>
              <a:avLst/>
              <a:gdLst/>
              <a:ahLst/>
              <a:cxnLst/>
              <a:rect l="l" t="t" r="r" b="b"/>
              <a:pathLst>
                <a:path w="2005329" h="1502410">
                  <a:moveTo>
                    <a:pt x="200478" y="1501827"/>
                  </a:moveTo>
                  <a:lnTo>
                    <a:pt x="1804303" y="1501827"/>
                  </a:lnTo>
                  <a:lnTo>
                    <a:pt x="1850311" y="1496538"/>
                  </a:lnTo>
                  <a:lnTo>
                    <a:pt x="1892524" y="1481474"/>
                  </a:lnTo>
                  <a:lnTo>
                    <a:pt x="1929745" y="1457836"/>
                  </a:lnTo>
                  <a:lnTo>
                    <a:pt x="1960778" y="1426826"/>
                  </a:lnTo>
                  <a:lnTo>
                    <a:pt x="1984427" y="1389645"/>
                  </a:lnTo>
                  <a:lnTo>
                    <a:pt x="1999493" y="1347496"/>
                  </a:lnTo>
                  <a:lnTo>
                    <a:pt x="2004781" y="1301579"/>
                  </a:lnTo>
                  <a:lnTo>
                    <a:pt x="2004781" y="200247"/>
                  </a:lnTo>
                  <a:lnTo>
                    <a:pt x="1999493" y="154335"/>
                  </a:lnTo>
                  <a:lnTo>
                    <a:pt x="1984426" y="112187"/>
                  </a:lnTo>
                  <a:lnTo>
                    <a:pt x="1960778" y="75006"/>
                  </a:lnTo>
                  <a:lnTo>
                    <a:pt x="1929745" y="43994"/>
                  </a:lnTo>
                  <a:lnTo>
                    <a:pt x="1892524" y="20354"/>
                  </a:lnTo>
                  <a:lnTo>
                    <a:pt x="1850311" y="5289"/>
                  </a:lnTo>
                  <a:lnTo>
                    <a:pt x="1804303" y="0"/>
                  </a:lnTo>
                  <a:lnTo>
                    <a:pt x="200478" y="0"/>
                  </a:lnTo>
                  <a:lnTo>
                    <a:pt x="154513" y="5289"/>
                  </a:lnTo>
                  <a:lnTo>
                    <a:pt x="112316" y="20354"/>
                  </a:lnTo>
                  <a:lnTo>
                    <a:pt x="75093" y="43994"/>
                  </a:lnTo>
                  <a:lnTo>
                    <a:pt x="44045" y="75006"/>
                  </a:lnTo>
                  <a:lnTo>
                    <a:pt x="20378" y="112187"/>
                  </a:lnTo>
                  <a:lnTo>
                    <a:pt x="5295" y="154335"/>
                  </a:lnTo>
                  <a:lnTo>
                    <a:pt x="0" y="200247"/>
                  </a:lnTo>
                  <a:lnTo>
                    <a:pt x="0" y="1301579"/>
                  </a:lnTo>
                  <a:lnTo>
                    <a:pt x="5295" y="1347496"/>
                  </a:lnTo>
                  <a:lnTo>
                    <a:pt x="20378" y="1389645"/>
                  </a:lnTo>
                  <a:lnTo>
                    <a:pt x="44045" y="1426826"/>
                  </a:lnTo>
                  <a:lnTo>
                    <a:pt x="75093" y="1457836"/>
                  </a:lnTo>
                  <a:lnTo>
                    <a:pt x="112317" y="1481474"/>
                  </a:lnTo>
                  <a:lnTo>
                    <a:pt x="154513" y="1496538"/>
                  </a:lnTo>
                  <a:lnTo>
                    <a:pt x="200478" y="1501827"/>
                  </a:lnTo>
                  <a:close/>
                </a:path>
              </a:pathLst>
            </a:custGeom>
            <a:ln w="10203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5">
            <a:extLst>
              <a:ext uri="{FF2B5EF4-FFF2-40B4-BE49-F238E27FC236}">
                <a16:creationId xmlns:a16="http://schemas.microsoft.com/office/drawing/2014/main" id="{D9FAD0DE-B79A-2FA1-E9CA-747DF79D784F}"/>
              </a:ext>
            </a:extLst>
          </p:cNvPr>
          <p:cNvSpPr txBox="1"/>
          <p:nvPr/>
        </p:nvSpPr>
        <p:spPr>
          <a:xfrm>
            <a:off x="4862645" y="5267202"/>
            <a:ext cx="82423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-10" dirty="0">
                <a:solidFill>
                  <a:srgbClr val="FDFFFF"/>
                </a:solidFill>
                <a:latin typeface="Calibri"/>
                <a:cs typeface="Calibri"/>
              </a:rPr>
              <a:t>Teacher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37" name="object 36">
            <a:extLst>
              <a:ext uri="{FF2B5EF4-FFF2-40B4-BE49-F238E27FC236}">
                <a16:creationId xmlns:a16="http://schemas.microsoft.com/office/drawing/2014/main" id="{D54D0580-DB36-8811-C4CF-8A107F14F3C3}"/>
              </a:ext>
            </a:extLst>
          </p:cNvPr>
          <p:cNvGrpSpPr/>
          <p:nvPr/>
        </p:nvGrpSpPr>
        <p:grpSpPr>
          <a:xfrm>
            <a:off x="1858244" y="4832294"/>
            <a:ext cx="459105" cy="387350"/>
            <a:chOff x="2409083" y="4832576"/>
            <a:chExt cx="459105" cy="387350"/>
          </a:xfrm>
        </p:grpSpPr>
        <p:pic>
          <p:nvPicPr>
            <p:cNvPr id="38" name="object 37">
              <a:extLst>
                <a:ext uri="{FF2B5EF4-FFF2-40B4-BE49-F238E27FC236}">
                  <a16:creationId xmlns:a16="http://schemas.microsoft.com/office/drawing/2014/main" id="{08974A42-7355-8551-EF65-638BDF5EEE5C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409083" y="4832576"/>
              <a:ext cx="459032" cy="387180"/>
            </a:xfrm>
            <a:prstGeom prst="rect">
              <a:avLst/>
            </a:prstGeom>
          </p:spPr>
        </p:pic>
        <p:pic>
          <p:nvPicPr>
            <p:cNvPr id="39" name="object 38">
              <a:extLst>
                <a:ext uri="{FF2B5EF4-FFF2-40B4-BE49-F238E27FC236}">
                  <a16:creationId xmlns:a16="http://schemas.microsoft.com/office/drawing/2014/main" id="{615128A9-1FAD-7B9B-7C50-F5635609C5B3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467023" y="4875641"/>
              <a:ext cx="333495" cy="249833"/>
            </a:xfrm>
            <a:prstGeom prst="rect">
              <a:avLst/>
            </a:prstGeom>
          </p:spPr>
        </p:pic>
      </p:grpSp>
      <p:sp>
        <p:nvSpPr>
          <p:cNvPr id="40" name="object 39">
            <a:extLst>
              <a:ext uri="{FF2B5EF4-FFF2-40B4-BE49-F238E27FC236}">
                <a16:creationId xmlns:a16="http://schemas.microsoft.com/office/drawing/2014/main" id="{2880FEBF-81A3-DE59-71D9-023B9ECAA6C8}"/>
              </a:ext>
            </a:extLst>
          </p:cNvPr>
          <p:cNvSpPr txBox="1"/>
          <p:nvPr/>
        </p:nvSpPr>
        <p:spPr>
          <a:xfrm>
            <a:off x="1916184" y="4875359"/>
            <a:ext cx="334010" cy="250190"/>
          </a:xfrm>
          <a:prstGeom prst="rect">
            <a:avLst/>
          </a:prstGeom>
          <a:ln w="10203">
            <a:solidFill>
              <a:srgbClr val="AD5A2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310"/>
              </a:spcBef>
            </a:pPr>
            <a:r>
              <a:rPr sz="1050" spc="-25" dirty="0">
                <a:solidFill>
                  <a:srgbClr val="FDFFFF"/>
                </a:solidFill>
                <a:latin typeface="Calibri"/>
                <a:cs typeface="Calibri"/>
              </a:rPr>
              <a:t>PK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41" name="object 40">
            <a:extLst>
              <a:ext uri="{FF2B5EF4-FFF2-40B4-BE49-F238E27FC236}">
                <a16:creationId xmlns:a16="http://schemas.microsoft.com/office/drawing/2014/main" id="{ABDFE2CD-53F7-ABD8-E09B-611620C42CD4}"/>
              </a:ext>
            </a:extLst>
          </p:cNvPr>
          <p:cNvGrpSpPr/>
          <p:nvPr/>
        </p:nvGrpSpPr>
        <p:grpSpPr>
          <a:xfrm>
            <a:off x="4398224" y="4842483"/>
            <a:ext cx="469265" cy="387350"/>
            <a:chOff x="4949063" y="4842765"/>
            <a:chExt cx="469265" cy="387350"/>
          </a:xfrm>
        </p:grpSpPr>
        <p:pic>
          <p:nvPicPr>
            <p:cNvPr id="42" name="object 41">
              <a:extLst>
                <a:ext uri="{FF2B5EF4-FFF2-40B4-BE49-F238E27FC236}">
                  <a16:creationId xmlns:a16="http://schemas.microsoft.com/office/drawing/2014/main" id="{FC1B8910-F651-67CC-CD93-C9FC54DE08D8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949063" y="4842765"/>
              <a:ext cx="469233" cy="387180"/>
            </a:xfrm>
            <a:prstGeom prst="rect">
              <a:avLst/>
            </a:prstGeom>
          </p:spPr>
        </p:pic>
        <p:pic>
          <p:nvPicPr>
            <p:cNvPr id="43" name="object 42">
              <a:extLst>
                <a:ext uri="{FF2B5EF4-FFF2-40B4-BE49-F238E27FC236}">
                  <a16:creationId xmlns:a16="http://schemas.microsoft.com/office/drawing/2014/main" id="{52F7BE50-BA86-91A9-4550-35B9F0E5F9DB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011627" y="4885015"/>
              <a:ext cx="333495" cy="249833"/>
            </a:xfrm>
            <a:prstGeom prst="rect">
              <a:avLst/>
            </a:prstGeom>
          </p:spPr>
        </p:pic>
      </p:grpSp>
      <p:sp>
        <p:nvSpPr>
          <p:cNvPr id="44" name="object 43">
            <a:extLst>
              <a:ext uri="{FF2B5EF4-FFF2-40B4-BE49-F238E27FC236}">
                <a16:creationId xmlns:a16="http://schemas.microsoft.com/office/drawing/2014/main" id="{E91D698C-96F7-8587-0D82-315F35621039}"/>
              </a:ext>
            </a:extLst>
          </p:cNvPr>
          <p:cNvSpPr txBox="1"/>
          <p:nvPr/>
        </p:nvSpPr>
        <p:spPr>
          <a:xfrm>
            <a:off x="4460788" y="4884733"/>
            <a:ext cx="334010" cy="250190"/>
          </a:xfrm>
          <a:prstGeom prst="rect">
            <a:avLst/>
          </a:prstGeom>
          <a:ln w="10203">
            <a:solidFill>
              <a:srgbClr val="AD5A2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310"/>
              </a:spcBef>
            </a:pPr>
            <a:r>
              <a:rPr sz="1050" spc="-25" dirty="0">
                <a:solidFill>
                  <a:srgbClr val="FDFFFF"/>
                </a:solidFill>
                <a:latin typeface="Calibri"/>
                <a:cs typeface="Calibri"/>
              </a:rPr>
              <a:t>PK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45" name="object 44">
            <a:extLst>
              <a:ext uri="{FF2B5EF4-FFF2-40B4-BE49-F238E27FC236}">
                <a16:creationId xmlns:a16="http://schemas.microsoft.com/office/drawing/2014/main" id="{9A2C23A4-9AD5-9EE2-8344-C9B3A03292D7}"/>
              </a:ext>
            </a:extLst>
          </p:cNvPr>
          <p:cNvGrpSpPr/>
          <p:nvPr/>
        </p:nvGrpSpPr>
        <p:grpSpPr>
          <a:xfrm>
            <a:off x="2827312" y="1704280"/>
            <a:ext cx="2081530" cy="1579880"/>
            <a:chOff x="3378151" y="1704562"/>
            <a:chExt cx="2081530" cy="1579880"/>
          </a:xfrm>
        </p:grpSpPr>
        <p:pic>
          <p:nvPicPr>
            <p:cNvPr id="46" name="object 45">
              <a:extLst>
                <a:ext uri="{FF2B5EF4-FFF2-40B4-BE49-F238E27FC236}">
                  <a16:creationId xmlns:a16="http://schemas.microsoft.com/office/drawing/2014/main" id="{FEB654A4-9E4B-10C0-2143-1A86A1204579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378151" y="1704562"/>
              <a:ext cx="2080947" cy="1579290"/>
            </a:xfrm>
            <a:prstGeom prst="rect">
              <a:avLst/>
            </a:prstGeom>
          </p:spPr>
        </p:pic>
        <p:pic>
          <p:nvPicPr>
            <p:cNvPr id="48" name="object 46">
              <a:extLst>
                <a:ext uri="{FF2B5EF4-FFF2-40B4-BE49-F238E27FC236}">
                  <a16:creationId xmlns:a16="http://schemas.microsoft.com/office/drawing/2014/main" id="{621AC994-2DE5-FAFB-E2F7-4150282758CC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411610" y="1711626"/>
              <a:ext cx="2004781" cy="1501854"/>
            </a:xfrm>
            <a:prstGeom prst="rect">
              <a:avLst/>
            </a:prstGeom>
          </p:spPr>
        </p:pic>
        <p:sp>
          <p:nvSpPr>
            <p:cNvPr id="49" name="object 47">
              <a:extLst>
                <a:ext uri="{FF2B5EF4-FFF2-40B4-BE49-F238E27FC236}">
                  <a16:creationId xmlns:a16="http://schemas.microsoft.com/office/drawing/2014/main" id="{72680B73-4B18-AC1A-8E1A-B5960366789D}"/>
                </a:ext>
              </a:extLst>
            </p:cNvPr>
            <p:cNvSpPr/>
            <p:nvPr/>
          </p:nvSpPr>
          <p:spPr>
            <a:xfrm>
              <a:off x="3411610" y="1711626"/>
              <a:ext cx="2005330" cy="1502410"/>
            </a:xfrm>
            <a:custGeom>
              <a:avLst/>
              <a:gdLst/>
              <a:ahLst/>
              <a:cxnLst/>
              <a:rect l="l" t="t" r="r" b="b"/>
              <a:pathLst>
                <a:path w="2005329" h="1502410">
                  <a:moveTo>
                    <a:pt x="200478" y="1501854"/>
                  </a:moveTo>
                  <a:lnTo>
                    <a:pt x="1804303" y="1501854"/>
                  </a:lnTo>
                  <a:lnTo>
                    <a:pt x="1850268" y="1496565"/>
                  </a:lnTo>
                  <a:lnTo>
                    <a:pt x="1892464" y="1481499"/>
                  </a:lnTo>
                  <a:lnTo>
                    <a:pt x="1929688" y="1457859"/>
                  </a:lnTo>
                  <a:lnTo>
                    <a:pt x="1960735" y="1426847"/>
                  </a:lnTo>
                  <a:lnTo>
                    <a:pt x="1984403" y="1389666"/>
                  </a:lnTo>
                  <a:lnTo>
                    <a:pt x="1999486" y="1347519"/>
                  </a:lnTo>
                  <a:lnTo>
                    <a:pt x="2004781" y="1301607"/>
                  </a:lnTo>
                  <a:lnTo>
                    <a:pt x="2004781" y="200247"/>
                  </a:lnTo>
                  <a:lnTo>
                    <a:pt x="1999486" y="154335"/>
                  </a:lnTo>
                  <a:lnTo>
                    <a:pt x="1984403" y="112187"/>
                  </a:lnTo>
                  <a:lnTo>
                    <a:pt x="1960735" y="75006"/>
                  </a:lnTo>
                  <a:lnTo>
                    <a:pt x="1929688" y="43994"/>
                  </a:lnTo>
                  <a:lnTo>
                    <a:pt x="1892464" y="20354"/>
                  </a:lnTo>
                  <a:lnTo>
                    <a:pt x="1850268" y="5289"/>
                  </a:lnTo>
                  <a:lnTo>
                    <a:pt x="1804303" y="0"/>
                  </a:lnTo>
                  <a:lnTo>
                    <a:pt x="200478" y="0"/>
                  </a:lnTo>
                  <a:lnTo>
                    <a:pt x="154513" y="5289"/>
                  </a:lnTo>
                  <a:lnTo>
                    <a:pt x="112316" y="20354"/>
                  </a:lnTo>
                  <a:lnTo>
                    <a:pt x="75093" y="43994"/>
                  </a:lnTo>
                  <a:lnTo>
                    <a:pt x="44045" y="75006"/>
                  </a:lnTo>
                  <a:lnTo>
                    <a:pt x="20378" y="112187"/>
                  </a:lnTo>
                  <a:lnTo>
                    <a:pt x="5295" y="154335"/>
                  </a:lnTo>
                  <a:lnTo>
                    <a:pt x="0" y="200247"/>
                  </a:lnTo>
                  <a:lnTo>
                    <a:pt x="0" y="1301607"/>
                  </a:lnTo>
                  <a:lnTo>
                    <a:pt x="5295" y="1347519"/>
                  </a:lnTo>
                  <a:lnTo>
                    <a:pt x="20378" y="1389666"/>
                  </a:lnTo>
                  <a:lnTo>
                    <a:pt x="44045" y="1426847"/>
                  </a:lnTo>
                  <a:lnTo>
                    <a:pt x="75093" y="1457859"/>
                  </a:lnTo>
                  <a:lnTo>
                    <a:pt x="112317" y="1481499"/>
                  </a:lnTo>
                  <a:lnTo>
                    <a:pt x="154513" y="1496565"/>
                  </a:lnTo>
                  <a:lnTo>
                    <a:pt x="200478" y="1501854"/>
                  </a:lnTo>
                  <a:close/>
                </a:path>
              </a:pathLst>
            </a:custGeom>
            <a:ln w="10203">
              <a:solidFill>
                <a:srgbClr val="2C51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48">
            <a:extLst>
              <a:ext uri="{FF2B5EF4-FFF2-40B4-BE49-F238E27FC236}">
                <a16:creationId xmlns:a16="http://schemas.microsoft.com/office/drawing/2014/main" id="{CB419631-126D-1C33-8469-2410BF65434B}"/>
              </a:ext>
            </a:extLst>
          </p:cNvPr>
          <p:cNvSpPr txBox="1"/>
          <p:nvPr/>
        </p:nvSpPr>
        <p:spPr>
          <a:xfrm>
            <a:off x="3509349" y="2280842"/>
            <a:ext cx="71501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spc="-10" dirty="0">
                <a:solidFill>
                  <a:srgbClr val="FDFFFF"/>
                </a:solidFill>
                <a:latin typeface="Calibri"/>
                <a:cs typeface="Calibri"/>
              </a:rPr>
              <a:t>Person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51" name="object 49">
            <a:extLst>
              <a:ext uri="{FF2B5EF4-FFF2-40B4-BE49-F238E27FC236}">
                <a16:creationId xmlns:a16="http://schemas.microsoft.com/office/drawing/2014/main" id="{43C9A1D2-45B7-AEC8-508B-F28C63EDA087}"/>
              </a:ext>
            </a:extLst>
          </p:cNvPr>
          <p:cNvGrpSpPr/>
          <p:nvPr/>
        </p:nvGrpSpPr>
        <p:grpSpPr>
          <a:xfrm>
            <a:off x="2990524" y="1816359"/>
            <a:ext cx="469265" cy="387350"/>
            <a:chOff x="3541363" y="1816641"/>
            <a:chExt cx="469265" cy="387350"/>
          </a:xfrm>
        </p:grpSpPr>
        <p:pic>
          <p:nvPicPr>
            <p:cNvPr id="52" name="object 50">
              <a:extLst>
                <a:ext uri="{FF2B5EF4-FFF2-40B4-BE49-F238E27FC236}">
                  <a16:creationId xmlns:a16="http://schemas.microsoft.com/office/drawing/2014/main" id="{46E3F9EA-821E-9CF4-2D6B-ACF9A43F7188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541363" y="1816641"/>
              <a:ext cx="469233" cy="387180"/>
            </a:xfrm>
            <a:prstGeom prst="rect">
              <a:avLst/>
            </a:prstGeom>
          </p:spPr>
        </p:pic>
        <p:pic>
          <p:nvPicPr>
            <p:cNvPr id="53" name="object 51">
              <a:extLst>
                <a:ext uri="{FF2B5EF4-FFF2-40B4-BE49-F238E27FC236}">
                  <a16:creationId xmlns:a16="http://schemas.microsoft.com/office/drawing/2014/main" id="{B1CCD3B0-B784-566F-140F-7FDBE43AA4B1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604335" y="1856309"/>
              <a:ext cx="333495" cy="249833"/>
            </a:xfrm>
            <a:prstGeom prst="rect">
              <a:avLst/>
            </a:prstGeom>
          </p:spPr>
        </p:pic>
      </p:grpSp>
      <p:sp>
        <p:nvSpPr>
          <p:cNvPr id="54" name="object 52">
            <a:extLst>
              <a:ext uri="{FF2B5EF4-FFF2-40B4-BE49-F238E27FC236}">
                <a16:creationId xmlns:a16="http://schemas.microsoft.com/office/drawing/2014/main" id="{379BF102-82F8-EE82-84F6-76D977F33FC0}"/>
              </a:ext>
            </a:extLst>
          </p:cNvPr>
          <p:cNvSpPr txBox="1"/>
          <p:nvPr/>
        </p:nvSpPr>
        <p:spPr>
          <a:xfrm>
            <a:off x="3053496" y="1856027"/>
            <a:ext cx="334010" cy="250190"/>
          </a:xfrm>
          <a:prstGeom prst="rect">
            <a:avLst/>
          </a:prstGeom>
          <a:ln w="10203">
            <a:solidFill>
              <a:srgbClr val="AD5A2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265"/>
              </a:spcBef>
            </a:pPr>
            <a:r>
              <a:rPr sz="1050" spc="-25" dirty="0">
                <a:solidFill>
                  <a:srgbClr val="FDFFFF"/>
                </a:solidFill>
                <a:latin typeface="Calibri"/>
                <a:cs typeface="Calibri"/>
              </a:rPr>
              <a:t>PK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55" name="object 53">
            <a:extLst>
              <a:ext uri="{FF2B5EF4-FFF2-40B4-BE49-F238E27FC236}">
                <a16:creationId xmlns:a16="http://schemas.microsoft.com/office/drawing/2014/main" id="{C4221D31-8C1F-0C94-8360-6C899F7BECD1}"/>
              </a:ext>
            </a:extLst>
          </p:cNvPr>
          <p:cNvGrpSpPr/>
          <p:nvPr/>
        </p:nvGrpSpPr>
        <p:grpSpPr>
          <a:xfrm>
            <a:off x="2796710" y="2702799"/>
            <a:ext cx="1061085" cy="448309"/>
            <a:chOff x="3347549" y="2703081"/>
            <a:chExt cx="1061085" cy="448309"/>
          </a:xfrm>
        </p:grpSpPr>
        <p:pic>
          <p:nvPicPr>
            <p:cNvPr id="56" name="object 54">
              <a:extLst>
                <a:ext uri="{FF2B5EF4-FFF2-40B4-BE49-F238E27FC236}">
                  <a16:creationId xmlns:a16="http://schemas.microsoft.com/office/drawing/2014/main" id="{A00077A2-0257-88EC-AB86-73B39DD23CDD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347549" y="2703081"/>
              <a:ext cx="1060874" cy="448314"/>
            </a:xfrm>
            <a:prstGeom prst="rect">
              <a:avLst/>
            </a:prstGeom>
          </p:spPr>
        </p:pic>
        <p:pic>
          <p:nvPicPr>
            <p:cNvPr id="57" name="object 55">
              <a:extLst>
                <a:ext uri="{FF2B5EF4-FFF2-40B4-BE49-F238E27FC236}">
                  <a16:creationId xmlns:a16="http://schemas.microsoft.com/office/drawing/2014/main" id="{E8A41C7C-3D59-091A-FCB2-07232659EBD4}"/>
                </a:ext>
              </a:extLst>
            </p:cNvPr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411610" y="2739313"/>
              <a:ext cx="925286" cy="320110"/>
            </a:xfrm>
            <a:prstGeom prst="rect">
              <a:avLst/>
            </a:prstGeom>
          </p:spPr>
        </p:pic>
      </p:grpSp>
      <p:sp>
        <p:nvSpPr>
          <p:cNvPr id="58" name="object 56">
            <a:extLst>
              <a:ext uri="{FF2B5EF4-FFF2-40B4-BE49-F238E27FC236}">
                <a16:creationId xmlns:a16="http://schemas.microsoft.com/office/drawing/2014/main" id="{9D1B718A-1B16-6820-4D0B-BB3808481FBE}"/>
              </a:ext>
            </a:extLst>
          </p:cNvPr>
          <p:cNvSpPr txBox="1"/>
          <p:nvPr/>
        </p:nvSpPr>
        <p:spPr>
          <a:xfrm>
            <a:off x="2860771" y="2739031"/>
            <a:ext cx="925830" cy="320675"/>
          </a:xfrm>
          <a:prstGeom prst="rect">
            <a:avLst/>
          </a:prstGeom>
          <a:ln w="10200">
            <a:solidFill>
              <a:srgbClr val="53749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1755">
              <a:lnSpc>
                <a:spcPts val="2245"/>
              </a:lnSpc>
            </a:pPr>
            <a:r>
              <a:rPr sz="1900" spc="-10" dirty="0">
                <a:solidFill>
                  <a:srgbClr val="FDFFFF"/>
                </a:solidFill>
                <a:latin typeface="Calibri"/>
                <a:cs typeface="Calibri"/>
              </a:rPr>
              <a:t>Student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59" name="object 57">
            <a:extLst>
              <a:ext uri="{FF2B5EF4-FFF2-40B4-BE49-F238E27FC236}">
                <a16:creationId xmlns:a16="http://schemas.microsoft.com/office/drawing/2014/main" id="{6236E457-DE7C-B20E-6BAA-C385319F2803}"/>
              </a:ext>
            </a:extLst>
          </p:cNvPr>
          <p:cNvGrpSpPr/>
          <p:nvPr/>
        </p:nvGrpSpPr>
        <p:grpSpPr>
          <a:xfrm>
            <a:off x="3877987" y="2702799"/>
            <a:ext cx="1061085" cy="448309"/>
            <a:chOff x="4428826" y="2703081"/>
            <a:chExt cx="1061085" cy="448309"/>
          </a:xfrm>
        </p:grpSpPr>
        <p:pic>
          <p:nvPicPr>
            <p:cNvPr id="60" name="object 58">
              <a:extLst>
                <a:ext uri="{FF2B5EF4-FFF2-40B4-BE49-F238E27FC236}">
                  <a16:creationId xmlns:a16="http://schemas.microsoft.com/office/drawing/2014/main" id="{D1492951-A27B-BCAD-0A02-550523BE3ECB}"/>
                </a:ext>
              </a:extLst>
            </p:cNvPr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428826" y="2703081"/>
              <a:ext cx="1060874" cy="448314"/>
            </a:xfrm>
            <a:prstGeom prst="rect">
              <a:avLst/>
            </a:prstGeom>
          </p:spPr>
        </p:pic>
        <p:pic>
          <p:nvPicPr>
            <p:cNvPr id="61" name="object 59">
              <a:extLst>
                <a:ext uri="{FF2B5EF4-FFF2-40B4-BE49-F238E27FC236}">
                  <a16:creationId xmlns:a16="http://schemas.microsoft.com/office/drawing/2014/main" id="{35D5D8E9-846B-D477-55A2-6ED9D5B8116E}"/>
                </a:ext>
              </a:extLst>
            </p:cNvPr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491118" y="2739313"/>
              <a:ext cx="925286" cy="320110"/>
            </a:xfrm>
            <a:prstGeom prst="rect">
              <a:avLst/>
            </a:prstGeom>
          </p:spPr>
        </p:pic>
      </p:grpSp>
      <p:sp>
        <p:nvSpPr>
          <p:cNvPr id="62" name="object 60">
            <a:extLst>
              <a:ext uri="{FF2B5EF4-FFF2-40B4-BE49-F238E27FC236}">
                <a16:creationId xmlns:a16="http://schemas.microsoft.com/office/drawing/2014/main" id="{DF92E03D-57C7-905E-BF7A-C3EEB40ACFA3}"/>
              </a:ext>
            </a:extLst>
          </p:cNvPr>
          <p:cNvSpPr txBox="1"/>
          <p:nvPr/>
        </p:nvSpPr>
        <p:spPr>
          <a:xfrm>
            <a:off x="3940279" y="2739031"/>
            <a:ext cx="925830" cy="320675"/>
          </a:xfrm>
          <a:prstGeom prst="rect">
            <a:avLst/>
          </a:prstGeom>
          <a:ln w="10200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6040">
              <a:lnSpc>
                <a:spcPts val="2245"/>
              </a:lnSpc>
            </a:pPr>
            <a:r>
              <a:rPr sz="1900" spc="-10" dirty="0">
                <a:solidFill>
                  <a:srgbClr val="FDFFFF"/>
                </a:solidFill>
                <a:latin typeface="Calibri"/>
                <a:cs typeface="Calibri"/>
              </a:rPr>
              <a:t>Teacher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63" name="object 61">
            <a:extLst>
              <a:ext uri="{FF2B5EF4-FFF2-40B4-BE49-F238E27FC236}">
                <a16:creationId xmlns:a16="http://schemas.microsoft.com/office/drawing/2014/main" id="{B1BC3102-970F-2172-34A0-4406BE4DB5FB}"/>
              </a:ext>
            </a:extLst>
          </p:cNvPr>
          <p:cNvGrpSpPr/>
          <p:nvPr/>
        </p:nvGrpSpPr>
        <p:grpSpPr>
          <a:xfrm>
            <a:off x="1705233" y="5647384"/>
            <a:ext cx="1050925" cy="448309"/>
            <a:chOff x="2256072" y="5647666"/>
            <a:chExt cx="1050925" cy="448309"/>
          </a:xfrm>
        </p:grpSpPr>
        <p:pic>
          <p:nvPicPr>
            <p:cNvPr id="64" name="object 62">
              <a:extLst>
                <a:ext uri="{FF2B5EF4-FFF2-40B4-BE49-F238E27FC236}">
                  <a16:creationId xmlns:a16="http://schemas.microsoft.com/office/drawing/2014/main" id="{7A1D6E2B-9FE4-19E1-5841-D62E49D01795}"/>
                </a:ext>
              </a:extLst>
            </p:cNvPr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256072" y="5647666"/>
              <a:ext cx="1050674" cy="448314"/>
            </a:xfrm>
            <a:prstGeom prst="rect">
              <a:avLst/>
            </a:prstGeom>
          </p:spPr>
        </p:pic>
        <p:pic>
          <p:nvPicPr>
            <p:cNvPr id="65" name="object 63">
              <a:extLst>
                <a:ext uri="{FF2B5EF4-FFF2-40B4-BE49-F238E27FC236}">
                  <a16:creationId xmlns:a16="http://schemas.microsoft.com/office/drawing/2014/main" id="{8A5CE7E6-9BC9-30D3-2045-C1D7D6082C60}"/>
                </a:ext>
              </a:extLst>
            </p:cNvPr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312802" y="5687702"/>
              <a:ext cx="925286" cy="320110"/>
            </a:xfrm>
            <a:prstGeom prst="rect">
              <a:avLst/>
            </a:prstGeom>
          </p:spPr>
        </p:pic>
      </p:grpSp>
      <p:sp>
        <p:nvSpPr>
          <p:cNvPr id="66" name="object 64">
            <a:extLst>
              <a:ext uri="{FF2B5EF4-FFF2-40B4-BE49-F238E27FC236}">
                <a16:creationId xmlns:a16="http://schemas.microsoft.com/office/drawing/2014/main" id="{430D63FF-F91B-A440-3FB5-017796922B55}"/>
              </a:ext>
            </a:extLst>
          </p:cNvPr>
          <p:cNvSpPr txBox="1"/>
          <p:nvPr/>
        </p:nvSpPr>
        <p:spPr>
          <a:xfrm>
            <a:off x="1761963" y="5687420"/>
            <a:ext cx="925830" cy="320675"/>
          </a:xfrm>
          <a:prstGeom prst="rect">
            <a:avLst/>
          </a:prstGeom>
          <a:ln w="10200">
            <a:solidFill>
              <a:srgbClr val="2C517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119380">
              <a:lnSpc>
                <a:spcPct val="100000"/>
              </a:lnSpc>
              <a:spcBef>
                <a:spcPts val="5"/>
              </a:spcBef>
            </a:pPr>
            <a:r>
              <a:rPr sz="1900" spc="-10" dirty="0">
                <a:solidFill>
                  <a:srgbClr val="FDFFFF"/>
                </a:solidFill>
                <a:latin typeface="Calibri"/>
                <a:cs typeface="Calibri"/>
              </a:rPr>
              <a:t>Person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67" name="object 65">
            <a:extLst>
              <a:ext uri="{FF2B5EF4-FFF2-40B4-BE49-F238E27FC236}">
                <a16:creationId xmlns:a16="http://schemas.microsoft.com/office/drawing/2014/main" id="{7D52E031-8873-B1A4-C84D-B653DFBE9C7D}"/>
              </a:ext>
            </a:extLst>
          </p:cNvPr>
          <p:cNvGrpSpPr/>
          <p:nvPr/>
        </p:nvGrpSpPr>
        <p:grpSpPr>
          <a:xfrm>
            <a:off x="4204410" y="5647384"/>
            <a:ext cx="1061085" cy="448309"/>
            <a:chOff x="4755249" y="5647666"/>
            <a:chExt cx="1061085" cy="448309"/>
          </a:xfrm>
        </p:grpSpPr>
        <p:pic>
          <p:nvPicPr>
            <p:cNvPr id="68" name="object 66">
              <a:extLst>
                <a:ext uri="{FF2B5EF4-FFF2-40B4-BE49-F238E27FC236}">
                  <a16:creationId xmlns:a16="http://schemas.microsoft.com/office/drawing/2014/main" id="{BC338DC2-BA3F-DE36-E633-C1E80ACB30A1}"/>
                </a:ext>
              </a:extLst>
            </p:cNvPr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755249" y="5647666"/>
              <a:ext cx="1060874" cy="448314"/>
            </a:xfrm>
            <a:prstGeom prst="rect">
              <a:avLst/>
            </a:prstGeom>
          </p:spPr>
        </p:pic>
        <p:pic>
          <p:nvPicPr>
            <p:cNvPr id="69" name="object 67">
              <a:extLst>
                <a:ext uri="{FF2B5EF4-FFF2-40B4-BE49-F238E27FC236}">
                  <a16:creationId xmlns:a16="http://schemas.microsoft.com/office/drawing/2014/main" id="{4E6B8015-79D0-DA5F-1D7E-5950460A3E9B}"/>
                </a:ext>
              </a:extLst>
            </p:cNvPr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818765" y="5687702"/>
              <a:ext cx="925300" cy="320110"/>
            </a:xfrm>
            <a:prstGeom prst="rect">
              <a:avLst/>
            </a:prstGeom>
          </p:spPr>
        </p:pic>
      </p:grpSp>
      <p:sp>
        <p:nvSpPr>
          <p:cNvPr id="70" name="object 68">
            <a:extLst>
              <a:ext uri="{FF2B5EF4-FFF2-40B4-BE49-F238E27FC236}">
                <a16:creationId xmlns:a16="http://schemas.microsoft.com/office/drawing/2014/main" id="{CF868F19-A2AB-BCBA-2F02-70E01BB32108}"/>
              </a:ext>
            </a:extLst>
          </p:cNvPr>
          <p:cNvSpPr txBox="1"/>
          <p:nvPr/>
        </p:nvSpPr>
        <p:spPr>
          <a:xfrm>
            <a:off x="4267926" y="5687420"/>
            <a:ext cx="925830" cy="320675"/>
          </a:xfrm>
          <a:prstGeom prst="rect">
            <a:avLst/>
          </a:prstGeom>
          <a:ln w="10200">
            <a:solidFill>
              <a:srgbClr val="2C517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5"/>
              </a:spcBef>
            </a:pPr>
            <a:r>
              <a:rPr sz="1900" spc="-10" dirty="0">
                <a:solidFill>
                  <a:srgbClr val="FDFFFF"/>
                </a:solidFill>
                <a:latin typeface="Calibri"/>
                <a:cs typeface="Calibri"/>
              </a:rPr>
              <a:t>Person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71" name="object 69">
            <a:extLst>
              <a:ext uri="{FF2B5EF4-FFF2-40B4-BE49-F238E27FC236}">
                <a16:creationId xmlns:a16="http://schemas.microsoft.com/office/drawing/2014/main" id="{F8771E83-E788-4507-A6B1-6932FA1F1DC3}"/>
              </a:ext>
            </a:extLst>
          </p:cNvPr>
          <p:cNvGrpSpPr/>
          <p:nvPr/>
        </p:nvGrpSpPr>
        <p:grpSpPr>
          <a:xfrm>
            <a:off x="1184996" y="4047743"/>
            <a:ext cx="5528945" cy="2628900"/>
            <a:chOff x="1735835" y="4048025"/>
            <a:chExt cx="5528945" cy="2628900"/>
          </a:xfrm>
        </p:grpSpPr>
        <p:pic>
          <p:nvPicPr>
            <p:cNvPr id="72" name="object 70">
              <a:extLst>
                <a:ext uri="{FF2B5EF4-FFF2-40B4-BE49-F238E27FC236}">
                  <a16:creationId xmlns:a16="http://schemas.microsoft.com/office/drawing/2014/main" id="{31DBD9AA-97D4-B4A5-D214-F210B93B2FF6}"/>
                </a:ext>
              </a:extLst>
            </p:cNvPr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735835" y="4088755"/>
              <a:ext cx="5528790" cy="2587888"/>
            </a:xfrm>
            <a:prstGeom prst="rect">
              <a:avLst/>
            </a:prstGeom>
          </p:spPr>
        </p:pic>
        <p:sp>
          <p:nvSpPr>
            <p:cNvPr id="73" name="object 71">
              <a:extLst>
                <a:ext uri="{FF2B5EF4-FFF2-40B4-BE49-F238E27FC236}">
                  <a16:creationId xmlns:a16="http://schemas.microsoft.com/office/drawing/2014/main" id="{65105EB6-847D-1D46-3EDA-CFA848C989ED}"/>
                </a:ext>
              </a:extLst>
            </p:cNvPr>
            <p:cNvSpPr/>
            <p:nvPr/>
          </p:nvSpPr>
          <p:spPr>
            <a:xfrm>
              <a:off x="1792339" y="4126819"/>
              <a:ext cx="5397500" cy="2472055"/>
            </a:xfrm>
            <a:custGeom>
              <a:avLst/>
              <a:gdLst/>
              <a:ahLst/>
              <a:cxnLst/>
              <a:rect l="l" t="t" r="r" b="b"/>
              <a:pathLst>
                <a:path w="5397500" h="2472054">
                  <a:moveTo>
                    <a:pt x="539748" y="2471872"/>
                  </a:moveTo>
                  <a:lnTo>
                    <a:pt x="4857795" y="2471872"/>
                  </a:lnTo>
                  <a:lnTo>
                    <a:pt x="4906928" y="2469669"/>
                  </a:lnTo>
                  <a:lnTo>
                    <a:pt x="4954823" y="2463186"/>
                  </a:lnTo>
                  <a:lnTo>
                    <a:pt x="5001290" y="2452615"/>
                  </a:lnTo>
                  <a:lnTo>
                    <a:pt x="5046138" y="2438144"/>
                  </a:lnTo>
                  <a:lnTo>
                    <a:pt x="5089177" y="2419964"/>
                  </a:lnTo>
                  <a:lnTo>
                    <a:pt x="5130217" y="2398267"/>
                  </a:lnTo>
                  <a:lnTo>
                    <a:pt x="5169067" y="2373241"/>
                  </a:lnTo>
                  <a:lnTo>
                    <a:pt x="5205538" y="2345078"/>
                  </a:lnTo>
                  <a:lnTo>
                    <a:pt x="5239438" y="2313968"/>
                  </a:lnTo>
                  <a:lnTo>
                    <a:pt x="5270578" y="2280101"/>
                  </a:lnTo>
                  <a:lnTo>
                    <a:pt x="5298766" y="2243667"/>
                  </a:lnTo>
                  <a:lnTo>
                    <a:pt x="5323814" y="2204857"/>
                  </a:lnTo>
                  <a:lnTo>
                    <a:pt x="5345531" y="2163861"/>
                  </a:lnTo>
                  <a:lnTo>
                    <a:pt x="5363725" y="2120869"/>
                  </a:lnTo>
                  <a:lnTo>
                    <a:pt x="5378208" y="2076072"/>
                  </a:lnTo>
                  <a:lnTo>
                    <a:pt x="5388788" y="2029660"/>
                  </a:lnTo>
                  <a:lnTo>
                    <a:pt x="5395276" y="1981823"/>
                  </a:lnTo>
                  <a:lnTo>
                    <a:pt x="5397481" y="1932752"/>
                  </a:lnTo>
                  <a:lnTo>
                    <a:pt x="5397481" y="539064"/>
                  </a:lnTo>
                  <a:lnTo>
                    <a:pt x="5395276" y="489987"/>
                  </a:lnTo>
                  <a:lnTo>
                    <a:pt x="5388788" y="442147"/>
                  </a:lnTo>
                  <a:lnTo>
                    <a:pt x="5378208" y="395734"/>
                  </a:lnTo>
                  <a:lnTo>
                    <a:pt x="5363725" y="350938"/>
                  </a:lnTo>
                  <a:lnTo>
                    <a:pt x="5345531" y="307948"/>
                  </a:lnTo>
                  <a:lnTo>
                    <a:pt x="5323814" y="266956"/>
                  </a:lnTo>
                  <a:lnTo>
                    <a:pt x="5298766" y="228150"/>
                  </a:lnTo>
                  <a:lnTo>
                    <a:pt x="5270577" y="191722"/>
                  </a:lnTo>
                  <a:lnTo>
                    <a:pt x="5239438" y="157861"/>
                  </a:lnTo>
                  <a:lnTo>
                    <a:pt x="5205538" y="126757"/>
                  </a:lnTo>
                  <a:lnTo>
                    <a:pt x="5169067" y="98600"/>
                  </a:lnTo>
                  <a:lnTo>
                    <a:pt x="5130217" y="73581"/>
                  </a:lnTo>
                  <a:lnTo>
                    <a:pt x="5089177" y="51890"/>
                  </a:lnTo>
                  <a:lnTo>
                    <a:pt x="5046138" y="33716"/>
                  </a:lnTo>
                  <a:lnTo>
                    <a:pt x="5001290" y="19250"/>
                  </a:lnTo>
                  <a:lnTo>
                    <a:pt x="4954823" y="8682"/>
                  </a:lnTo>
                  <a:lnTo>
                    <a:pt x="4906928" y="2202"/>
                  </a:lnTo>
                  <a:lnTo>
                    <a:pt x="4857795" y="0"/>
                  </a:lnTo>
                  <a:lnTo>
                    <a:pt x="539748" y="0"/>
                  </a:lnTo>
                  <a:lnTo>
                    <a:pt x="490620" y="2202"/>
                  </a:lnTo>
                  <a:lnTo>
                    <a:pt x="442728" y="8682"/>
                  </a:lnTo>
                  <a:lnTo>
                    <a:pt x="396263" y="19250"/>
                  </a:lnTo>
                  <a:lnTo>
                    <a:pt x="351413" y="33716"/>
                  </a:lnTo>
                  <a:lnTo>
                    <a:pt x="308372" y="51890"/>
                  </a:lnTo>
                  <a:lnTo>
                    <a:pt x="267328" y="73581"/>
                  </a:lnTo>
                  <a:lnTo>
                    <a:pt x="228472" y="98600"/>
                  </a:lnTo>
                  <a:lnTo>
                    <a:pt x="191996" y="126757"/>
                  </a:lnTo>
                  <a:lnTo>
                    <a:pt x="158089" y="157861"/>
                  </a:lnTo>
                  <a:lnTo>
                    <a:pt x="126943" y="191722"/>
                  </a:lnTo>
                  <a:lnTo>
                    <a:pt x="98746" y="228150"/>
                  </a:lnTo>
                  <a:lnTo>
                    <a:pt x="73692" y="266956"/>
                  </a:lnTo>
                  <a:lnTo>
                    <a:pt x="51969" y="307948"/>
                  </a:lnTo>
                  <a:lnTo>
                    <a:pt x="33768" y="350938"/>
                  </a:lnTo>
                  <a:lnTo>
                    <a:pt x="19280" y="395734"/>
                  </a:lnTo>
                  <a:lnTo>
                    <a:pt x="8696" y="442147"/>
                  </a:lnTo>
                  <a:lnTo>
                    <a:pt x="2205" y="489987"/>
                  </a:lnTo>
                  <a:lnTo>
                    <a:pt x="0" y="539064"/>
                  </a:lnTo>
                  <a:lnTo>
                    <a:pt x="0" y="1932752"/>
                  </a:lnTo>
                  <a:lnTo>
                    <a:pt x="2205" y="1981823"/>
                  </a:lnTo>
                  <a:lnTo>
                    <a:pt x="8696" y="2029660"/>
                  </a:lnTo>
                  <a:lnTo>
                    <a:pt x="19280" y="2076072"/>
                  </a:lnTo>
                  <a:lnTo>
                    <a:pt x="33768" y="2120869"/>
                  </a:lnTo>
                  <a:lnTo>
                    <a:pt x="51969" y="2163861"/>
                  </a:lnTo>
                  <a:lnTo>
                    <a:pt x="73692" y="2204857"/>
                  </a:lnTo>
                  <a:lnTo>
                    <a:pt x="98747" y="2243667"/>
                  </a:lnTo>
                  <a:lnTo>
                    <a:pt x="126943" y="2280101"/>
                  </a:lnTo>
                  <a:lnTo>
                    <a:pt x="158089" y="2313968"/>
                  </a:lnTo>
                  <a:lnTo>
                    <a:pt x="191996" y="2345078"/>
                  </a:lnTo>
                  <a:lnTo>
                    <a:pt x="228473" y="2373241"/>
                  </a:lnTo>
                  <a:lnTo>
                    <a:pt x="267328" y="2398267"/>
                  </a:lnTo>
                  <a:lnTo>
                    <a:pt x="308372" y="2419964"/>
                  </a:lnTo>
                  <a:lnTo>
                    <a:pt x="351414" y="2438144"/>
                  </a:lnTo>
                  <a:lnTo>
                    <a:pt x="396263" y="2452615"/>
                  </a:lnTo>
                  <a:lnTo>
                    <a:pt x="442728" y="2463186"/>
                  </a:lnTo>
                  <a:lnTo>
                    <a:pt x="490621" y="2469669"/>
                  </a:lnTo>
                  <a:lnTo>
                    <a:pt x="539748" y="2471872"/>
                  </a:lnTo>
                  <a:close/>
                </a:path>
              </a:pathLst>
            </a:custGeom>
            <a:ln w="10201">
              <a:solidFill>
                <a:srgbClr val="C7C7C7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2">
              <a:extLst>
                <a:ext uri="{FF2B5EF4-FFF2-40B4-BE49-F238E27FC236}">
                  <a16:creationId xmlns:a16="http://schemas.microsoft.com/office/drawing/2014/main" id="{7BBA3C7E-281C-A85C-7628-570B600E12E8}"/>
                </a:ext>
              </a:extLst>
            </p:cNvPr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020797" y="4048025"/>
              <a:ext cx="948667" cy="764172"/>
            </a:xfrm>
            <a:prstGeom prst="rect">
              <a:avLst/>
            </a:prstGeom>
          </p:spPr>
        </p:pic>
      </p:grpSp>
      <p:sp>
        <p:nvSpPr>
          <p:cNvPr id="75" name="object 73">
            <a:extLst>
              <a:ext uri="{FF2B5EF4-FFF2-40B4-BE49-F238E27FC236}">
                <a16:creationId xmlns:a16="http://schemas.microsoft.com/office/drawing/2014/main" id="{AA40D28E-7774-83D1-748C-6E04CDB29469}"/>
              </a:ext>
            </a:extLst>
          </p:cNvPr>
          <p:cNvSpPr txBox="1"/>
          <p:nvPr/>
        </p:nvSpPr>
        <p:spPr>
          <a:xfrm>
            <a:off x="3679362" y="4141008"/>
            <a:ext cx="526415" cy="417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25" dirty="0">
                <a:latin typeface="Calibri"/>
                <a:cs typeface="Calibri"/>
              </a:rPr>
              <a:t>TPC</a:t>
            </a:r>
            <a:endParaRPr sz="2550">
              <a:latin typeface="Calibri"/>
              <a:cs typeface="Calibri"/>
            </a:endParaRPr>
          </a:p>
        </p:txBody>
      </p:sp>
      <p:grpSp>
        <p:nvGrpSpPr>
          <p:cNvPr id="76" name="object 74">
            <a:extLst>
              <a:ext uri="{FF2B5EF4-FFF2-40B4-BE49-F238E27FC236}">
                <a16:creationId xmlns:a16="http://schemas.microsoft.com/office/drawing/2014/main" id="{CD9E3E92-E08A-97FE-859E-35B173C3A419}"/>
              </a:ext>
            </a:extLst>
          </p:cNvPr>
          <p:cNvGrpSpPr/>
          <p:nvPr/>
        </p:nvGrpSpPr>
        <p:grpSpPr>
          <a:xfrm>
            <a:off x="1184996" y="1133697"/>
            <a:ext cx="5528945" cy="2639060"/>
            <a:chOff x="1735835" y="1133979"/>
            <a:chExt cx="5528945" cy="2639060"/>
          </a:xfrm>
        </p:grpSpPr>
        <p:pic>
          <p:nvPicPr>
            <p:cNvPr id="77" name="object 75">
              <a:extLst>
                <a:ext uri="{FF2B5EF4-FFF2-40B4-BE49-F238E27FC236}">
                  <a16:creationId xmlns:a16="http://schemas.microsoft.com/office/drawing/2014/main" id="{37AB1574-5234-456E-1250-82BEE0E7A210}"/>
                </a:ext>
              </a:extLst>
            </p:cNvPr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735835" y="1164546"/>
              <a:ext cx="5528790" cy="2608376"/>
            </a:xfrm>
            <a:prstGeom prst="rect">
              <a:avLst/>
            </a:prstGeom>
          </p:spPr>
        </p:pic>
        <p:sp>
          <p:nvSpPr>
            <p:cNvPr id="78" name="object 76">
              <a:extLst>
                <a:ext uri="{FF2B5EF4-FFF2-40B4-BE49-F238E27FC236}">
                  <a16:creationId xmlns:a16="http://schemas.microsoft.com/office/drawing/2014/main" id="{F9296B3C-A945-CA84-2871-09BA70979302}"/>
                </a:ext>
              </a:extLst>
            </p:cNvPr>
            <p:cNvSpPr/>
            <p:nvPr/>
          </p:nvSpPr>
          <p:spPr>
            <a:xfrm>
              <a:off x="1792339" y="1207340"/>
              <a:ext cx="5397500" cy="2472055"/>
            </a:xfrm>
            <a:custGeom>
              <a:avLst/>
              <a:gdLst/>
              <a:ahLst/>
              <a:cxnLst/>
              <a:rect l="l" t="t" r="r" b="b"/>
              <a:pathLst>
                <a:path w="5397500" h="2472054">
                  <a:moveTo>
                    <a:pt x="539748" y="2471980"/>
                  </a:moveTo>
                  <a:lnTo>
                    <a:pt x="4857795" y="2471980"/>
                  </a:lnTo>
                  <a:lnTo>
                    <a:pt x="4906928" y="2469776"/>
                  </a:lnTo>
                  <a:lnTo>
                    <a:pt x="4954823" y="2463292"/>
                  </a:lnTo>
                  <a:lnTo>
                    <a:pt x="5001290" y="2452719"/>
                  </a:lnTo>
                  <a:lnTo>
                    <a:pt x="5046138" y="2438246"/>
                  </a:lnTo>
                  <a:lnTo>
                    <a:pt x="5089177" y="2420063"/>
                  </a:lnTo>
                  <a:lnTo>
                    <a:pt x="5130217" y="2398362"/>
                  </a:lnTo>
                  <a:lnTo>
                    <a:pt x="5169067" y="2373333"/>
                  </a:lnTo>
                  <a:lnTo>
                    <a:pt x="5205538" y="2345166"/>
                  </a:lnTo>
                  <a:lnTo>
                    <a:pt x="5239438" y="2314051"/>
                  </a:lnTo>
                  <a:lnTo>
                    <a:pt x="5270578" y="2280178"/>
                  </a:lnTo>
                  <a:lnTo>
                    <a:pt x="5298766" y="2243739"/>
                  </a:lnTo>
                  <a:lnTo>
                    <a:pt x="5323814" y="2204923"/>
                  </a:lnTo>
                  <a:lnTo>
                    <a:pt x="5345531" y="2163921"/>
                  </a:lnTo>
                  <a:lnTo>
                    <a:pt x="5363725" y="2120923"/>
                  </a:lnTo>
                  <a:lnTo>
                    <a:pt x="5378208" y="2076119"/>
                  </a:lnTo>
                  <a:lnTo>
                    <a:pt x="5388788" y="2029701"/>
                  </a:lnTo>
                  <a:lnTo>
                    <a:pt x="5395276" y="1981857"/>
                  </a:lnTo>
                  <a:lnTo>
                    <a:pt x="5397481" y="1932779"/>
                  </a:lnTo>
                  <a:lnTo>
                    <a:pt x="5397481" y="539200"/>
                  </a:lnTo>
                  <a:lnTo>
                    <a:pt x="5395276" y="490122"/>
                  </a:lnTo>
                  <a:lnTo>
                    <a:pt x="5388788" y="442279"/>
                  </a:lnTo>
                  <a:lnTo>
                    <a:pt x="5378208" y="395860"/>
                  </a:lnTo>
                  <a:lnTo>
                    <a:pt x="5363725" y="351056"/>
                  </a:lnTo>
                  <a:lnTo>
                    <a:pt x="5345531" y="308058"/>
                  </a:lnTo>
                  <a:lnTo>
                    <a:pt x="5323814" y="267056"/>
                  </a:lnTo>
                  <a:lnTo>
                    <a:pt x="5298766" y="228240"/>
                  </a:lnTo>
                  <a:lnTo>
                    <a:pt x="5270577" y="191801"/>
                  </a:lnTo>
                  <a:lnTo>
                    <a:pt x="5239438" y="157929"/>
                  </a:lnTo>
                  <a:lnTo>
                    <a:pt x="5205538" y="126813"/>
                  </a:lnTo>
                  <a:lnTo>
                    <a:pt x="5169067" y="98646"/>
                  </a:lnTo>
                  <a:lnTo>
                    <a:pt x="5130217" y="73617"/>
                  </a:lnTo>
                  <a:lnTo>
                    <a:pt x="5089177" y="51916"/>
                  </a:lnTo>
                  <a:lnTo>
                    <a:pt x="5046138" y="33734"/>
                  </a:lnTo>
                  <a:lnTo>
                    <a:pt x="5001290" y="19260"/>
                  </a:lnTo>
                  <a:lnTo>
                    <a:pt x="4954823" y="8687"/>
                  </a:lnTo>
                  <a:lnTo>
                    <a:pt x="4906928" y="2203"/>
                  </a:lnTo>
                  <a:lnTo>
                    <a:pt x="4857795" y="0"/>
                  </a:lnTo>
                  <a:lnTo>
                    <a:pt x="539748" y="0"/>
                  </a:lnTo>
                  <a:lnTo>
                    <a:pt x="490620" y="2203"/>
                  </a:lnTo>
                  <a:lnTo>
                    <a:pt x="442728" y="8687"/>
                  </a:lnTo>
                  <a:lnTo>
                    <a:pt x="396263" y="19260"/>
                  </a:lnTo>
                  <a:lnTo>
                    <a:pt x="351413" y="33734"/>
                  </a:lnTo>
                  <a:lnTo>
                    <a:pt x="308372" y="51916"/>
                  </a:lnTo>
                  <a:lnTo>
                    <a:pt x="267328" y="73617"/>
                  </a:lnTo>
                  <a:lnTo>
                    <a:pt x="228472" y="98646"/>
                  </a:lnTo>
                  <a:lnTo>
                    <a:pt x="191996" y="126813"/>
                  </a:lnTo>
                  <a:lnTo>
                    <a:pt x="158089" y="157929"/>
                  </a:lnTo>
                  <a:lnTo>
                    <a:pt x="126943" y="191801"/>
                  </a:lnTo>
                  <a:lnTo>
                    <a:pt x="98746" y="228240"/>
                  </a:lnTo>
                  <a:lnTo>
                    <a:pt x="73692" y="267056"/>
                  </a:lnTo>
                  <a:lnTo>
                    <a:pt x="51969" y="308058"/>
                  </a:lnTo>
                  <a:lnTo>
                    <a:pt x="33768" y="351056"/>
                  </a:lnTo>
                  <a:lnTo>
                    <a:pt x="19280" y="395860"/>
                  </a:lnTo>
                  <a:lnTo>
                    <a:pt x="8696" y="442279"/>
                  </a:lnTo>
                  <a:lnTo>
                    <a:pt x="2205" y="490122"/>
                  </a:lnTo>
                  <a:lnTo>
                    <a:pt x="0" y="539200"/>
                  </a:lnTo>
                  <a:lnTo>
                    <a:pt x="0" y="1932779"/>
                  </a:lnTo>
                  <a:lnTo>
                    <a:pt x="2205" y="1981857"/>
                  </a:lnTo>
                  <a:lnTo>
                    <a:pt x="8696" y="2029701"/>
                  </a:lnTo>
                  <a:lnTo>
                    <a:pt x="19280" y="2076119"/>
                  </a:lnTo>
                  <a:lnTo>
                    <a:pt x="33768" y="2120923"/>
                  </a:lnTo>
                  <a:lnTo>
                    <a:pt x="51969" y="2163921"/>
                  </a:lnTo>
                  <a:lnTo>
                    <a:pt x="73692" y="2204923"/>
                  </a:lnTo>
                  <a:lnTo>
                    <a:pt x="98747" y="2243739"/>
                  </a:lnTo>
                  <a:lnTo>
                    <a:pt x="126943" y="2280178"/>
                  </a:lnTo>
                  <a:lnTo>
                    <a:pt x="158089" y="2314051"/>
                  </a:lnTo>
                  <a:lnTo>
                    <a:pt x="191996" y="2345166"/>
                  </a:lnTo>
                  <a:lnTo>
                    <a:pt x="228473" y="2373333"/>
                  </a:lnTo>
                  <a:lnTo>
                    <a:pt x="267328" y="2398362"/>
                  </a:lnTo>
                  <a:lnTo>
                    <a:pt x="308372" y="2420063"/>
                  </a:lnTo>
                  <a:lnTo>
                    <a:pt x="351414" y="2438246"/>
                  </a:lnTo>
                  <a:lnTo>
                    <a:pt x="396263" y="2452719"/>
                  </a:lnTo>
                  <a:lnTo>
                    <a:pt x="442728" y="2463292"/>
                  </a:lnTo>
                  <a:lnTo>
                    <a:pt x="490621" y="2469776"/>
                  </a:lnTo>
                  <a:lnTo>
                    <a:pt x="539748" y="2471980"/>
                  </a:lnTo>
                  <a:close/>
                </a:path>
              </a:pathLst>
            </a:custGeom>
            <a:ln w="10201">
              <a:solidFill>
                <a:srgbClr val="C7C7C7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7">
              <a:extLst>
                <a:ext uri="{FF2B5EF4-FFF2-40B4-BE49-F238E27FC236}">
                  <a16:creationId xmlns:a16="http://schemas.microsoft.com/office/drawing/2014/main" id="{30D539A1-9D10-E195-9CE6-7B4E04BD8B78}"/>
                </a:ext>
              </a:extLst>
            </p:cNvPr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010596" y="1133979"/>
              <a:ext cx="979269" cy="764172"/>
            </a:xfrm>
            <a:prstGeom prst="rect">
              <a:avLst/>
            </a:prstGeom>
          </p:spPr>
        </p:pic>
      </p:grpSp>
      <p:sp>
        <p:nvSpPr>
          <p:cNvPr id="80" name="object 78">
            <a:extLst>
              <a:ext uri="{FF2B5EF4-FFF2-40B4-BE49-F238E27FC236}">
                <a16:creationId xmlns:a16="http://schemas.microsoft.com/office/drawing/2014/main" id="{7B87438F-48DC-DCF2-77C7-AFD1685AFEBE}"/>
              </a:ext>
            </a:extLst>
          </p:cNvPr>
          <p:cNvSpPr txBox="1"/>
          <p:nvPr/>
        </p:nvSpPr>
        <p:spPr>
          <a:xfrm>
            <a:off x="3664673" y="1216095"/>
            <a:ext cx="555625" cy="417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25" dirty="0">
                <a:latin typeface="Calibri"/>
                <a:cs typeface="Calibri"/>
              </a:rPr>
              <a:t>TPH</a:t>
            </a:r>
            <a:endParaRPr sz="2550">
              <a:latin typeface="Calibri"/>
              <a:cs typeface="Calibri"/>
            </a:endParaRPr>
          </a:p>
        </p:txBody>
      </p:sp>
      <p:grpSp>
        <p:nvGrpSpPr>
          <p:cNvPr id="81" name="object 79">
            <a:extLst>
              <a:ext uri="{FF2B5EF4-FFF2-40B4-BE49-F238E27FC236}">
                <a16:creationId xmlns:a16="http://schemas.microsoft.com/office/drawing/2014/main" id="{7FDB998F-2FCA-07ED-59A9-CEF661D1CD14}"/>
              </a:ext>
            </a:extLst>
          </p:cNvPr>
          <p:cNvGrpSpPr/>
          <p:nvPr/>
        </p:nvGrpSpPr>
        <p:grpSpPr>
          <a:xfrm>
            <a:off x="6866798" y="1133697"/>
            <a:ext cx="4539615" cy="5542915"/>
            <a:chOff x="7417637" y="1133979"/>
            <a:chExt cx="4539615" cy="5542915"/>
          </a:xfrm>
        </p:grpSpPr>
        <p:pic>
          <p:nvPicPr>
            <p:cNvPr id="82" name="object 80">
              <a:extLst>
                <a:ext uri="{FF2B5EF4-FFF2-40B4-BE49-F238E27FC236}">
                  <a16:creationId xmlns:a16="http://schemas.microsoft.com/office/drawing/2014/main" id="{9B384DEC-29DA-3F41-6E6D-F837D32E02C2}"/>
                </a:ext>
              </a:extLst>
            </p:cNvPr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417637" y="1164521"/>
              <a:ext cx="4539320" cy="5512122"/>
            </a:xfrm>
            <a:prstGeom prst="rect">
              <a:avLst/>
            </a:prstGeom>
          </p:spPr>
        </p:pic>
        <p:sp>
          <p:nvSpPr>
            <p:cNvPr id="83" name="object 81">
              <a:extLst>
                <a:ext uri="{FF2B5EF4-FFF2-40B4-BE49-F238E27FC236}">
                  <a16:creationId xmlns:a16="http://schemas.microsoft.com/office/drawing/2014/main" id="{C4F2C746-E7AB-9505-1B15-F43963DCC96A}"/>
                </a:ext>
              </a:extLst>
            </p:cNvPr>
            <p:cNvSpPr/>
            <p:nvPr/>
          </p:nvSpPr>
          <p:spPr>
            <a:xfrm>
              <a:off x="7478977" y="1207340"/>
              <a:ext cx="4414520" cy="5391785"/>
            </a:xfrm>
            <a:custGeom>
              <a:avLst/>
              <a:gdLst/>
              <a:ahLst/>
              <a:cxnLst/>
              <a:rect l="l" t="t" r="r" b="b"/>
              <a:pathLst>
                <a:path w="4414520" h="5391784">
                  <a:moveTo>
                    <a:pt x="441487" y="5391352"/>
                  </a:moveTo>
                  <a:lnTo>
                    <a:pt x="3972976" y="5391352"/>
                  </a:lnTo>
                  <a:lnTo>
                    <a:pt x="4021088" y="5388765"/>
                  </a:lnTo>
                  <a:lnTo>
                    <a:pt x="4067697" y="5381182"/>
                  </a:lnTo>
                  <a:lnTo>
                    <a:pt x="4112535" y="5368873"/>
                  </a:lnTo>
                  <a:lnTo>
                    <a:pt x="4155333" y="5352107"/>
                  </a:lnTo>
                  <a:lnTo>
                    <a:pt x="4195821" y="5331153"/>
                  </a:lnTo>
                  <a:lnTo>
                    <a:pt x="4233730" y="5306279"/>
                  </a:lnTo>
                  <a:lnTo>
                    <a:pt x="4268791" y="5277755"/>
                  </a:lnTo>
                  <a:lnTo>
                    <a:pt x="4300735" y="5245849"/>
                  </a:lnTo>
                  <a:lnTo>
                    <a:pt x="4329293" y="5210831"/>
                  </a:lnTo>
                  <a:lnTo>
                    <a:pt x="4354196" y="5172970"/>
                  </a:lnTo>
                  <a:lnTo>
                    <a:pt x="4375175" y="5132534"/>
                  </a:lnTo>
                  <a:lnTo>
                    <a:pt x="4391960" y="5089793"/>
                  </a:lnTo>
                  <a:lnTo>
                    <a:pt x="4404283" y="5045015"/>
                  </a:lnTo>
                  <a:lnTo>
                    <a:pt x="4411873" y="4998470"/>
                  </a:lnTo>
                  <a:lnTo>
                    <a:pt x="4414464" y="4950426"/>
                  </a:lnTo>
                  <a:lnTo>
                    <a:pt x="4414463" y="440978"/>
                  </a:lnTo>
                  <a:lnTo>
                    <a:pt x="4411873" y="392922"/>
                  </a:lnTo>
                  <a:lnTo>
                    <a:pt x="4404282" y="346366"/>
                  </a:lnTo>
                  <a:lnTo>
                    <a:pt x="4391960" y="301580"/>
                  </a:lnTo>
                  <a:lnTo>
                    <a:pt x="4375175" y="258832"/>
                  </a:lnTo>
                  <a:lnTo>
                    <a:pt x="4354196" y="218391"/>
                  </a:lnTo>
                  <a:lnTo>
                    <a:pt x="4329293" y="180525"/>
                  </a:lnTo>
                  <a:lnTo>
                    <a:pt x="4300735" y="145504"/>
                  </a:lnTo>
                  <a:lnTo>
                    <a:pt x="4268791" y="113597"/>
                  </a:lnTo>
                  <a:lnTo>
                    <a:pt x="4233729" y="85072"/>
                  </a:lnTo>
                  <a:lnTo>
                    <a:pt x="4195820" y="60197"/>
                  </a:lnTo>
                  <a:lnTo>
                    <a:pt x="4155333" y="39243"/>
                  </a:lnTo>
                  <a:lnTo>
                    <a:pt x="4112535" y="22477"/>
                  </a:lnTo>
                  <a:lnTo>
                    <a:pt x="4067697" y="10169"/>
                  </a:lnTo>
                  <a:lnTo>
                    <a:pt x="4021088" y="2587"/>
                  </a:lnTo>
                  <a:lnTo>
                    <a:pt x="3972976" y="0"/>
                  </a:lnTo>
                  <a:lnTo>
                    <a:pt x="441487" y="0"/>
                  </a:lnTo>
                  <a:lnTo>
                    <a:pt x="393399" y="2587"/>
                  </a:lnTo>
                  <a:lnTo>
                    <a:pt x="346807" y="10169"/>
                  </a:lnTo>
                  <a:lnTo>
                    <a:pt x="301980" y="22477"/>
                  </a:lnTo>
                  <a:lnTo>
                    <a:pt x="259189" y="39243"/>
                  </a:lnTo>
                  <a:lnTo>
                    <a:pt x="218703" y="60197"/>
                  </a:lnTo>
                  <a:lnTo>
                    <a:pt x="180792" y="85072"/>
                  </a:lnTo>
                  <a:lnTo>
                    <a:pt x="145726" y="113597"/>
                  </a:lnTo>
                  <a:lnTo>
                    <a:pt x="113775" y="145504"/>
                  </a:lnTo>
                  <a:lnTo>
                    <a:pt x="85209" y="180525"/>
                  </a:lnTo>
                  <a:lnTo>
                    <a:pt x="60297" y="218391"/>
                  </a:lnTo>
                  <a:lnTo>
                    <a:pt x="39310" y="258832"/>
                  </a:lnTo>
                  <a:lnTo>
                    <a:pt x="22516" y="301580"/>
                  </a:lnTo>
                  <a:lnTo>
                    <a:pt x="10187" y="346366"/>
                  </a:lnTo>
                  <a:lnTo>
                    <a:pt x="2591" y="392922"/>
                  </a:lnTo>
                  <a:lnTo>
                    <a:pt x="0" y="440978"/>
                  </a:lnTo>
                  <a:lnTo>
                    <a:pt x="0" y="4950426"/>
                  </a:lnTo>
                  <a:lnTo>
                    <a:pt x="2591" y="4998470"/>
                  </a:lnTo>
                  <a:lnTo>
                    <a:pt x="10187" y="5045015"/>
                  </a:lnTo>
                  <a:lnTo>
                    <a:pt x="22516" y="5089793"/>
                  </a:lnTo>
                  <a:lnTo>
                    <a:pt x="39310" y="5132534"/>
                  </a:lnTo>
                  <a:lnTo>
                    <a:pt x="60297" y="5172970"/>
                  </a:lnTo>
                  <a:lnTo>
                    <a:pt x="85209" y="5210831"/>
                  </a:lnTo>
                  <a:lnTo>
                    <a:pt x="113775" y="5245849"/>
                  </a:lnTo>
                  <a:lnTo>
                    <a:pt x="145727" y="5277755"/>
                  </a:lnTo>
                  <a:lnTo>
                    <a:pt x="180792" y="5306279"/>
                  </a:lnTo>
                  <a:lnTo>
                    <a:pt x="218703" y="5331153"/>
                  </a:lnTo>
                  <a:lnTo>
                    <a:pt x="259189" y="5352107"/>
                  </a:lnTo>
                  <a:lnTo>
                    <a:pt x="301980" y="5368873"/>
                  </a:lnTo>
                  <a:lnTo>
                    <a:pt x="346807" y="5381182"/>
                  </a:lnTo>
                  <a:lnTo>
                    <a:pt x="393399" y="5388765"/>
                  </a:lnTo>
                  <a:lnTo>
                    <a:pt x="441487" y="5391352"/>
                  </a:lnTo>
                  <a:close/>
                </a:path>
              </a:pathLst>
            </a:custGeom>
            <a:ln w="10206">
              <a:solidFill>
                <a:srgbClr val="C7C7C7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2">
              <a:extLst>
                <a:ext uri="{FF2B5EF4-FFF2-40B4-BE49-F238E27FC236}">
                  <a16:creationId xmlns:a16="http://schemas.microsoft.com/office/drawing/2014/main" id="{2F237CC2-FE05-410A-D5B6-3F84E4F5AF5F}"/>
                </a:ext>
              </a:extLst>
            </p:cNvPr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223164" y="1133979"/>
              <a:ext cx="938466" cy="764172"/>
            </a:xfrm>
            <a:prstGeom prst="rect">
              <a:avLst/>
            </a:prstGeom>
          </p:spPr>
        </p:pic>
      </p:grpSp>
      <p:sp>
        <p:nvSpPr>
          <p:cNvPr id="85" name="object 83">
            <a:extLst>
              <a:ext uri="{FF2B5EF4-FFF2-40B4-BE49-F238E27FC236}">
                <a16:creationId xmlns:a16="http://schemas.microsoft.com/office/drawing/2014/main" id="{6F7B5F26-C2A2-A710-5897-89150A7825A6}"/>
              </a:ext>
            </a:extLst>
          </p:cNvPr>
          <p:cNvSpPr txBox="1"/>
          <p:nvPr/>
        </p:nvSpPr>
        <p:spPr>
          <a:xfrm>
            <a:off x="8887170" y="1216095"/>
            <a:ext cx="511175" cy="417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25" dirty="0">
                <a:latin typeface="Calibri"/>
                <a:cs typeface="Calibri"/>
              </a:rPr>
              <a:t>TPT</a:t>
            </a:r>
            <a:endParaRPr sz="255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723140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Code First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39E0EE84-7085-E7AE-6EEC-FE85C344F4C0}"/>
              </a:ext>
            </a:extLst>
          </p:cNvPr>
          <p:cNvSpPr txBox="1"/>
          <p:nvPr/>
        </p:nvSpPr>
        <p:spPr>
          <a:xfrm>
            <a:off x="952559" y="1278830"/>
            <a:ext cx="8603974" cy="5547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  <a:tabLst>
                <a:tab pos="240029" algn="l"/>
              </a:tabLst>
            </a:pPr>
            <a:r>
              <a:rPr lang="en-US" sz="2000" b="1" dirty="0" err="1">
                <a:latin typeface="Calibri"/>
                <a:cs typeface="Calibri"/>
              </a:rPr>
              <a:t>Chaine</a:t>
            </a:r>
            <a:r>
              <a:rPr lang="en-US" sz="2000" b="1" dirty="0">
                <a:latin typeface="Calibri"/>
                <a:cs typeface="Calibri"/>
              </a:rPr>
              <a:t> de </a:t>
            </a:r>
            <a:r>
              <a:rPr lang="en-US" sz="2000" b="1" dirty="0" err="1">
                <a:latin typeface="Calibri"/>
                <a:cs typeface="Calibri"/>
              </a:rPr>
              <a:t>connexion</a:t>
            </a:r>
            <a:endParaRPr lang="en-US" sz="20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  <a:tabLst>
                <a:tab pos="240029" algn="l"/>
              </a:tabLst>
            </a:pPr>
            <a:endParaRPr lang="en-US" sz="2800" b="1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390"/>
              </a:spcBef>
              <a:buFont typeface="Arial"/>
              <a:buChar char="•"/>
              <a:tabLst>
                <a:tab pos="240029" algn="l"/>
              </a:tabLst>
            </a:pPr>
            <a:r>
              <a:rPr lang="en-US" sz="2400" dirty="0">
                <a:latin typeface="Calibri"/>
                <a:cs typeface="Calibri"/>
              </a:rPr>
              <a:t>SQL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Server</a:t>
            </a:r>
            <a:endParaRPr lang="en-US" sz="2400" dirty="0">
              <a:latin typeface="Calibri"/>
              <a:cs typeface="Calibri"/>
            </a:endParaRPr>
          </a:p>
          <a:p>
            <a:pPr marL="301625">
              <a:lnSpc>
                <a:spcPct val="100000"/>
              </a:lnSpc>
              <a:spcBef>
                <a:spcPts val="254"/>
              </a:spcBef>
            </a:pPr>
            <a:r>
              <a:rPr lang="en-US" sz="2000" dirty="0">
                <a:solidFill>
                  <a:srgbClr val="2121AA"/>
                </a:solidFill>
                <a:latin typeface="Consolas"/>
                <a:cs typeface="Consolas"/>
              </a:rPr>
              <a:t>Data</a:t>
            </a:r>
            <a:r>
              <a:rPr lang="en-US" sz="2000" spc="-50" dirty="0">
                <a:solidFill>
                  <a:srgbClr val="2121AA"/>
                </a:solidFill>
                <a:latin typeface="Consolas"/>
                <a:cs typeface="Consolas"/>
              </a:rPr>
              <a:t> </a:t>
            </a:r>
            <a:r>
              <a:rPr lang="en-US" sz="2000" spc="-10" dirty="0">
                <a:solidFill>
                  <a:srgbClr val="2121AA"/>
                </a:solidFill>
                <a:latin typeface="Consolas"/>
                <a:cs typeface="Consolas"/>
              </a:rPr>
              <a:t>Source=DBSRV1\SQL2016</a:t>
            </a:r>
            <a:r>
              <a:rPr lang="en-US" sz="2000" spc="-10" dirty="0">
                <a:solidFill>
                  <a:srgbClr val="212187"/>
                </a:solidFill>
                <a:latin typeface="Consolas"/>
                <a:cs typeface="Consolas"/>
              </a:rPr>
              <a:t>;</a:t>
            </a:r>
          </a:p>
          <a:p>
            <a:pPr marL="301625">
              <a:lnSpc>
                <a:spcPct val="100000"/>
              </a:lnSpc>
              <a:spcBef>
                <a:spcPts val="254"/>
              </a:spcBef>
            </a:pPr>
            <a:endParaRPr lang="en-US" sz="2000" spc="-10" dirty="0">
              <a:solidFill>
                <a:srgbClr val="212187"/>
              </a:solidFill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390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Calibri"/>
                <a:cs typeface="Calibri"/>
              </a:rPr>
              <a:t>SQL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Express</a:t>
            </a:r>
            <a:endParaRPr lang="fr-FR" sz="2400" dirty="0">
              <a:latin typeface="Calibri"/>
              <a:cs typeface="Calibri"/>
            </a:endParaRPr>
          </a:p>
          <a:p>
            <a:pPr marL="301625">
              <a:lnSpc>
                <a:spcPct val="100000"/>
              </a:lnSpc>
              <a:spcBef>
                <a:spcPts val="254"/>
              </a:spcBef>
            </a:pPr>
            <a:r>
              <a:rPr lang="fr-FR" sz="2000" dirty="0">
                <a:solidFill>
                  <a:srgbClr val="2121AA"/>
                </a:solidFill>
                <a:latin typeface="Consolas"/>
                <a:cs typeface="Consolas"/>
              </a:rPr>
              <a:t>Data</a:t>
            </a:r>
            <a:r>
              <a:rPr lang="fr-FR" sz="2000" spc="-50" dirty="0">
                <a:solidFill>
                  <a:srgbClr val="2121AA"/>
                </a:solidFill>
                <a:latin typeface="Consolas"/>
                <a:cs typeface="Consolas"/>
              </a:rPr>
              <a:t> </a:t>
            </a:r>
            <a:r>
              <a:rPr lang="fr-FR" sz="2000" spc="-10" dirty="0">
                <a:solidFill>
                  <a:srgbClr val="2121AA"/>
                </a:solidFill>
                <a:latin typeface="Consolas"/>
                <a:cs typeface="Consolas"/>
              </a:rPr>
              <a:t>Source=.\SQLEXPRESS</a:t>
            </a:r>
            <a:r>
              <a:rPr lang="fr-FR" sz="2000" spc="-10" dirty="0">
                <a:solidFill>
                  <a:srgbClr val="212187"/>
                </a:solidFill>
                <a:latin typeface="Consolas"/>
                <a:cs typeface="Consolas"/>
              </a:rPr>
              <a:t>;</a:t>
            </a:r>
            <a:endParaRPr lang="fr-FR" sz="20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lang="fr-FR" sz="2000" dirty="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lang="fr-FR" sz="2400" spc="-10" dirty="0" err="1">
                <a:latin typeface="Calibri"/>
                <a:cs typeface="Calibri"/>
              </a:rPr>
              <a:t>LocalDB</a:t>
            </a:r>
            <a:endParaRPr lang="fr-FR" sz="2400" dirty="0">
              <a:latin typeface="Calibri"/>
              <a:cs typeface="Calibri"/>
            </a:endParaRPr>
          </a:p>
          <a:p>
            <a:pPr marL="301625">
              <a:lnSpc>
                <a:spcPct val="100000"/>
              </a:lnSpc>
              <a:spcBef>
                <a:spcPts val="245"/>
              </a:spcBef>
            </a:pPr>
            <a:r>
              <a:rPr lang="fr-FR" sz="2000" dirty="0">
                <a:solidFill>
                  <a:srgbClr val="2121AA"/>
                </a:solidFill>
                <a:latin typeface="Consolas"/>
                <a:cs typeface="Consolas"/>
              </a:rPr>
              <a:t>Data</a:t>
            </a:r>
            <a:r>
              <a:rPr lang="fr-FR" sz="2000" spc="-45" dirty="0">
                <a:solidFill>
                  <a:srgbClr val="2121AA"/>
                </a:solidFill>
                <a:latin typeface="Consolas"/>
                <a:cs typeface="Consolas"/>
              </a:rPr>
              <a:t> </a:t>
            </a:r>
            <a:r>
              <a:rPr lang="fr-FR" sz="2000" spc="-10" dirty="0">
                <a:solidFill>
                  <a:srgbClr val="2121AA"/>
                </a:solidFill>
                <a:latin typeface="Consolas"/>
                <a:cs typeface="Consolas"/>
              </a:rPr>
              <a:t>Source=(</a:t>
            </a:r>
            <a:r>
              <a:rPr lang="fr-FR" sz="2000" spc="-10" dirty="0" err="1">
                <a:solidFill>
                  <a:srgbClr val="2121AA"/>
                </a:solidFill>
                <a:latin typeface="Consolas"/>
                <a:cs typeface="Consolas"/>
              </a:rPr>
              <a:t>LocalDB</a:t>
            </a:r>
            <a:r>
              <a:rPr lang="fr-FR" sz="2000" spc="-10" dirty="0">
                <a:solidFill>
                  <a:srgbClr val="2121AA"/>
                </a:solidFill>
                <a:latin typeface="Consolas"/>
                <a:cs typeface="Consolas"/>
              </a:rPr>
              <a:t>)\</a:t>
            </a:r>
            <a:r>
              <a:rPr lang="fr-FR" sz="2000" spc="-10" dirty="0" err="1">
                <a:solidFill>
                  <a:srgbClr val="2121AA"/>
                </a:solidFill>
                <a:latin typeface="Consolas"/>
                <a:cs typeface="Consolas"/>
              </a:rPr>
              <a:t>mssqllocaldb</a:t>
            </a:r>
            <a:r>
              <a:rPr lang="fr-FR" sz="2000" spc="-10" dirty="0">
                <a:solidFill>
                  <a:srgbClr val="2121AA"/>
                </a:solidFill>
                <a:latin typeface="Consolas"/>
                <a:cs typeface="Consolas"/>
              </a:rPr>
              <a:t>;</a:t>
            </a:r>
            <a:endParaRPr lang="fr-FR" sz="20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845"/>
              </a:spcBef>
            </a:pPr>
            <a:endParaRPr lang="fr-FR" sz="2000" dirty="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Calibri"/>
                <a:cs typeface="Calibri"/>
              </a:rPr>
              <a:t>SQL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Azure</a:t>
            </a:r>
            <a:endParaRPr lang="fr-FR" sz="2400" dirty="0">
              <a:latin typeface="Calibri"/>
              <a:cs typeface="Calibri"/>
            </a:endParaRPr>
          </a:p>
          <a:p>
            <a:pPr marL="301625">
              <a:lnSpc>
                <a:spcPct val="100000"/>
              </a:lnSpc>
              <a:spcBef>
                <a:spcPts val="245"/>
              </a:spcBef>
            </a:pPr>
            <a:r>
              <a:rPr lang="fr-FR" sz="2000" spc="-10" dirty="0">
                <a:solidFill>
                  <a:srgbClr val="2121AA"/>
                </a:solidFill>
                <a:latin typeface="Consolas"/>
                <a:cs typeface="Consolas"/>
              </a:rPr>
              <a:t>Server=</a:t>
            </a:r>
            <a:r>
              <a:rPr lang="fr-FR" sz="2000" spc="-10" dirty="0" err="1">
                <a:solidFill>
                  <a:srgbClr val="2121AA"/>
                </a:solidFill>
                <a:latin typeface="Consolas"/>
                <a:cs typeface="Consolas"/>
              </a:rPr>
              <a:t>tcp</a:t>
            </a:r>
            <a:r>
              <a:rPr lang="fr-FR" sz="2000" spc="-10" dirty="0">
                <a:solidFill>
                  <a:srgbClr val="2121AA"/>
                </a:solidFill>
                <a:latin typeface="Consolas"/>
                <a:cs typeface="Consolas"/>
              </a:rPr>
              <a:t>:[</a:t>
            </a:r>
            <a:r>
              <a:rPr lang="fr-FR" sz="2000" spc="-10" dirty="0" err="1">
                <a:solidFill>
                  <a:srgbClr val="2121AA"/>
                </a:solidFill>
                <a:latin typeface="Consolas"/>
                <a:cs typeface="Consolas"/>
              </a:rPr>
              <a:t>serverName</a:t>
            </a:r>
            <a:r>
              <a:rPr lang="fr-FR" sz="2000" spc="-10" dirty="0">
                <a:solidFill>
                  <a:srgbClr val="2121AA"/>
                </a:solidFill>
                <a:latin typeface="Consolas"/>
                <a:cs typeface="Consolas"/>
              </a:rPr>
              <a:t>].database.windows.net;</a:t>
            </a:r>
            <a:endParaRPr lang="fr-FR" sz="2000" dirty="0">
              <a:latin typeface="Consolas"/>
              <a:cs typeface="Consolas"/>
            </a:endParaRPr>
          </a:p>
          <a:p>
            <a:pPr marL="301625">
              <a:lnSpc>
                <a:spcPct val="100000"/>
              </a:lnSpc>
              <a:spcBef>
                <a:spcPts val="254"/>
              </a:spcBef>
            </a:pPr>
            <a:endParaRPr lang="en-US" sz="2400" dirty="0">
              <a:latin typeface="Consolas"/>
              <a:cs typeface="Consolas"/>
            </a:endParaRPr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13C75F52-CAE4-200D-4EC1-64C5FBED7934}"/>
              </a:ext>
            </a:extLst>
          </p:cNvPr>
          <p:cNvSpPr txBox="1"/>
          <p:nvPr/>
        </p:nvSpPr>
        <p:spPr>
          <a:xfrm>
            <a:off x="7852194" y="1404951"/>
            <a:ext cx="3408679" cy="9353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99000"/>
              </a:lnSpc>
              <a:spcBef>
                <a:spcPts val="130"/>
              </a:spcBef>
            </a:pPr>
            <a:r>
              <a:rPr sz="2000" dirty="0">
                <a:latin typeface="Segoe UI"/>
                <a:cs typeface="Segoe UI"/>
              </a:rPr>
              <a:t>Connexion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à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l’instance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de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SQL </a:t>
            </a:r>
            <a:r>
              <a:rPr sz="2000" dirty="0">
                <a:latin typeface="Segoe UI"/>
                <a:cs typeface="Segoe UI"/>
              </a:rPr>
              <a:t>Server</a:t>
            </a:r>
            <a:r>
              <a:rPr sz="2000" spc="-3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nommée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SQL2016</a:t>
            </a:r>
            <a:r>
              <a:rPr sz="2000" spc="-8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spc="-25" dirty="0">
                <a:latin typeface="Segoe UI"/>
                <a:cs typeface="Segoe UI"/>
              </a:rPr>
              <a:t>du </a:t>
            </a:r>
            <a:r>
              <a:rPr sz="2000" dirty="0">
                <a:latin typeface="Segoe UI"/>
                <a:cs typeface="Segoe UI"/>
              </a:rPr>
              <a:t>serveur</a:t>
            </a:r>
            <a:r>
              <a:rPr sz="2000" spc="-55" dirty="0">
                <a:latin typeface="Segoe UI"/>
                <a:cs typeface="Segoe UI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Consolas"/>
                <a:cs typeface="Consolas"/>
              </a:rPr>
              <a:t>DBSRV1</a:t>
            </a:r>
            <a:endParaRPr sz="20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1940355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Code First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23CB1383-30A7-985C-6878-E67AF431001F}"/>
              </a:ext>
            </a:extLst>
          </p:cNvPr>
          <p:cNvSpPr txBox="1"/>
          <p:nvPr/>
        </p:nvSpPr>
        <p:spPr>
          <a:xfrm>
            <a:off x="450291" y="2197734"/>
            <a:ext cx="11118215" cy="3181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7894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937894" algn="l"/>
              </a:tabLst>
            </a:pPr>
            <a:r>
              <a:rPr sz="2400" dirty="0">
                <a:latin typeface="Calibri"/>
                <a:cs typeface="Calibri"/>
              </a:rPr>
              <a:t>Via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méthode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OnConfiguring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du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contexte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30"/>
              </a:spcBef>
            </a:pP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A21515"/>
                </a:solidFill>
                <a:latin typeface="Consolas"/>
                <a:cs typeface="Consolas"/>
              </a:rPr>
              <a:t>"Data</a:t>
            </a:r>
            <a:r>
              <a:rPr sz="2000" spc="-75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A21515"/>
                </a:solidFill>
                <a:latin typeface="Consolas"/>
                <a:cs typeface="Consolas"/>
              </a:rPr>
              <a:t>Source=DBSRV1\SQL2016;Initial</a:t>
            </a:r>
            <a:r>
              <a:rPr sz="2000" spc="-6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A21515"/>
                </a:solidFill>
                <a:latin typeface="Consolas"/>
                <a:cs typeface="Consolas"/>
              </a:rPr>
              <a:t>Catalog=SchoolDb;Integrated</a:t>
            </a:r>
            <a:r>
              <a:rPr sz="2000" spc="-60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A21515"/>
                </a:solidFill>
                <a:latin typeface="Consolas"/>
                <a:cs typeface="Consolas"/>
              </a:rPr>
              <a:t>Security=True;"</a:t>
            </a:r>
            <a:endParaRPr sz="20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20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2000" dirty="0">
              <a:latin typeface="Consolas"/>
              <a:cs typeface="Consolas"/>
            </a:endParaRPr>
          </a:p>
          <a:p>
            <a:pPr marL="6434455" marR="5080">
              <a:lnSpc>
                <a:spcPct val="100000"/>
              </a:lnSpc>
            </a:pPr>
            <a:r>
              <a:rPr sz="2000" dirty="0">
                <a:latin typeface="Segoe UI"/>
                <a:cs typeface="Segoe UI"/>
              </a:rPr>
              <a:t>Connexion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à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l’instance</a:t>
            </a:r>
            <a:r>
              <a:rPr sz="2000" spc="-1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de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SQL</a:t>
            </a:r>
            <a:r>
              <a:rPr sz="2000" spc="-5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Server </a:t>
            </a:r>
            <a:r>
              <a:rPr sz="2000" dirty="0">
                <a:latin typeface="Segoe UI"/>
                <a:cs typeface="Segoe UI"/>
              </a:rPr>
              <a:t>nommée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SQL2016</a:t>
            </a:r>
            <a:r>
              <a:rPr sz="2000" spc="-8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dirty="0">
                <a:latin typeface="Segoe UI"/>
                <a:cs typeface="Segoe UI"/>
              </a:rPr>
              <a:t>du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serveur </a:t>
            </a: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DBSRV1</a:t>
            </a:r>
            <a:r>
              <a:rPr sz="2000" spc="-82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spc="-25" dirty="0">
                <a:latin typeface="Segoe UI"/>
                <a:cs typeface="Segoe UI"/>
              </a:rPr>
              <a:t>qui </a:t>
            </a:r>
            <a:r>
              <a:rPr sz="2000" dirty="0">
                <a:latin typeface="Segoe UI"/>
                <a:cs typeface="Segoe UI"/>
              </a:rPr>
              <a:t>contient</a:t>
            </a:r>
            <a:r>
              <a:rPr sz="2000" spc="-4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la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base</a:t>
            </a:r>
            <a:r>
              <a:rPr sz="2000" spc="-25" dirty="0"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0000FF"/>
                </a:solidFill>
                <a:latin typeface="Consolas"/>
                <a:cs typeface="Consolas"/>
              </a:rPr>
              <a:t>SchoolDb</a:t>
            </a:r>
            <a:r>
              <a:rPr sz="2000" spc="-57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dirty="0">
                <a:latin typeface="Segoe UI"/>
                <a:cs typeface="Segoe UI"/>
              </a:rPr>
              <a:t>en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utilisant</a:t>
            </a:r>
            <a:r>
              <a:rPr sz="2000" spc="-15" dirty="0">
                <a:latin typeface="Segoe UI"/>
                <a:cs typeface="Segoe UI"/>
              </a:rPr>
              <a:t> </a:t>
            </a:r>
            <a:r>
              <a:rPr sz="2000" spc="-25" dirty="0">
                <a:latin typeface="Segoe UI"/>
                <a:cs typeface="Segoe UI"/>
              </a:rPr>
              <a:t>le </a:t>
            </a:r>
            <a:r>
              <a:rPr sz="2000" dirty="0">
                <a:latin typeface="Segoe UI"/>
                <a:cs typeface="Segoe UI"/>
              </a:rPr>
              <a:t>compte</a:t>
            </a:r>
            <a:r>
              <a:rPr sz="2000" spc="-35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Windows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pour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dirty="0">
                <a:latin typeface="Segoe UI"/>
                <a:cs typeface="Segoe UI"/>
              </a:rPr>
              <a:t>se</a:t>
            </a:r>
            <a:r>
              <a:rPr sz="2000" spc="-20" dirty="0">
                <a:latin typeface="Segoe UI"/>
                <a:cs typeface="Segoe UI"/>
              </a:rPr>
              <a:t> </a:t>
            </a:r>
            <a:r>
              <a:rPr sz="2000" spc="-10" dirty="0">
                <a:latin typeface="Segoe UI"/>
                <a:cs typeface="Segoe UI"/>
              </a:rPr>
              <a:t>connecter.</a:t>
            </a:r>
            <a:endParaRPr sz="20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1936694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Code First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AAD4771-BEEC-0744-7F4F-0F8D117241CB}"/>
              </a:ext>
            </a:extLst>
          </p:cNvPr>
          <p:cNvSpPr txBox="1"/>
          <p:nvPr/>
        </p:nvSpPr>
        <p:spPr>
          <a:xfrm>
            <a:off x="1842261" y="2151294"/>
            <a:ext cx="8419465" cy="297434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50"/>
              </a:spcBef>
              <a:buFont typeface="Arial"/>
              <a:buChar char="•"/>
              <a:tabLst>
                <a:tab pos="240665" algn="l"/>
              </a:tabLst>
            </a:pPr>
            <a:r>
              <a:rPr sz="2400" dirty="0">
                <a:latin typeface="Calibri"/>
                <a:cs typeface="Calibri"/>
              </a:rPr>
              <a:t>Pour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supprimer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698500" algn="l"/>
              </a:tabLst>
            </a:pPr>
            <a:r>
              <a:rPr sz="2000" spc="-10" dirty="0">
                <a:latin typeface="Consolas"/>
                <a:cs typeface="Consolas"/>
              </a:rPr>
              <a:t>context.Database.EnsureDeleted();</a:t>
            </a:r>
            <a:endParaRPr sz="2000" dirty="0">
              <a:latin typeface="Consolas"/>
              <a:cs typeface="Consolas"/>
            </a:endParaRPr>
          </a:p>
          <a:p>
            <a:pPr lvl="1">
              <a:lnSpc>
                <a:spcPct val="100000"/>
              </a:lnSpc>
              <a:spcBef>
                <a:spcPts val="570"/>
              </a:spcBef>
              <a:buFont typeface="Arial"/>
              <a:buChar char="•"/>
            </a:pPr>
            <a:endParaRPr sz="2000" dirty="0">
              <a:latin typeface="Consolas"/>
              <a:cs typeface="Consolas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2400" dirty="0">
                <a:latin typeface="Calibri"/>
                <a:cs typeface="Calibri"/>
              </a:rPr>
              <a:t>Pour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créer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515"/>
              </a:spcBef>
              <a:buFont typeface="Arial"/>
              <a:buChar char="•"/>
              <a:tabLst>
                <a:tab pos="698500" algn="l"/>
              </a:tabLst>
            </a:pPr>
            <a:r>
              <a:rPr sz="2000" spc="-10" dirty="0">
                <a:latin typeface="Consolas"/>
                <a:cs typeface="Consolas"/>
              </a:rPr>
              <a:t>context.Database.EnsureCreated();</a:t>
            </a:r>
            <a:endParaRPr sz="2000" dirty="0">
              <a:latin typeface="Consolas"/>
              <a:cs typeface="Consolas"/>
            </a:endParaRPr>
          </a:p>
          <a:p>
            <a:pPr lvl="1">
              <a:lnSpc>
                <a:spcPct val="100000"/>
              </a:lnSpc>
              <a:spcBef>
                <a:spcPts val="1360"/>
              </a:spcBef>
              <a:buFont typeface="Arial"/>
              <a:buChar char="•"/>
            </a:pPr>
            <a:endParaRPr sz="2000" dirty="0">
              <a:latin typeface="Consolas"/>
              <a:cs typeface="Consolas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2400" dirty="0">
                <a:latin typeface="Calibri"/>
                <a:cs typeface="Calibri"/>
              </a:rPr>
              <a:t>Il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aussi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possible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passer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migration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données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6AD4BE1-0773-B0A6-8845-EF804B0D76E4}"/>
              </a:ext>
            </a:extLst>
          </p:cNvPr>
          <p:cNvSpPr txBox="1"/>
          <p:nvPr/>
        </p:nvSpPr>
        <p:spPr>
          <a:xfrm>
            <a:off x="844826" y="1431230"/>
            <a:ext cx="4869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Utilisation de la base</a:t>
            </a:r>
          </a:p>
        </p:txBody>
      </p:sp>
    </p:spTree>
    <p:extLst>
      <p:ext uri="{BB962C8B-B14F-4D97-AF65-F5344CB8AC3E}">
        <p14:creationId xmlns:p14="http://schemas.microsoft.com/office/powerpoint/2010/main" val="7049477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Code First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23CB1383-30A7-985C-6878-E67AF431001F}"/>
              </a:ext>
            </a:extLst>
          </p:cNvPr>
          <p:cNvSpPr txBox="1"/>
          <p:nvPr/>
        </p:nvSpPr>
        <p:spPr>
          <a:xfrm>
            <a:off x="450291" y="2197734"/>
            <a:ext cx="11118215" cy="3462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lang="fr-FR" sz="2400" dirty="0">
                <a:latin typeface="Calibri"/>
                <a:cs typeface="Calibri"/>
              </a:rPr>
              <a:t>La</a:t>
            </a:r>
            <a:r>
              <a:rPr lang="fr-FR" sz="2400" spc="-7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méthode</a:t>
            </a:r>
            <a:r>
              <a:rPr lang="fr-FR" sz="2400" spc="-80" dirty="0">
                <a:latin typeface="Calibri"/>
                <a:cs typeface="Calibri"/>
              </a:rPr>
              <a:t> </a:t>
            </a:r>
            <a:r>
              <a:rPr lang="fr-FR" sz="2400" dirty="0" err="1">
                <a:latin typeface="Calibri"/>
                <a:cs typeface="Calibri"/>
              </a:rPr>
              <a:t>Add</a:t>
            </a:r>
            <a:r>
              <a:rPr lang="fr-FR" sz="2400" spc="-6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permet</a:t>
            </a:r>
            <a:r>
              <a:rPr lang="fr-FR" sz="2400" spc="-8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l’ajout</a:t>
            </a:r>
            <a:r>
              <a:rPr lang="fr-FR" sz="2400" spc="-6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alors</a:t>
            </a:r>
            <a:r>
              <a:rPr lang="fr-FR" sz="2400" spc="-8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que</a:t>
            </a:r>
            <a:r>
              <a:rPr lang="fr-FR" sz="2400" spc="-65" dirty="0">
                <a:latin typeface="Calibri"/>
                <a:cs typeface="Calibri"/>
              </a:rPr>
              <a:t> </a:t>
            </a:r>
            <a:r>
              <a:rPr lang="fr-FR" sz="2400" spc="-10" dirty="0" err="1">
                <a:latin typeface="Calibri"/>
                <a:cs typeface="Calibri"/>
              </a:rPr>
              <a:t>SaveChanges</a:t>
            </a:r>
            <a:r>
              <a:rPr lang="fr-FR" sz="2400" spc="-7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valide</a:t>
            </a:r>
            <a:r>
              <a:rPr lang="fr-FR" sz="2400" spc="-65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les 	</a:t>
            </a:r>
            <a:r>
              <a:rPr lang="fr-FR" sz="2400" spc="-10" dirty="0">
                <a:latin typeface="Calibri"/>
                <a:cs typeface="Calibri"/>
              </a:rPr>
              <a:t>changements</a:t>
            </a:r>
            <a:endParaRPr lang="fr-FR" sz="2400" dirty="0">
              <a:latin typeface="Calibri"/>
              <a:cs typeface="Calibr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AA0EA02-0044-D565-4FDC-3BC48C12AC4E}"/>
              </a:ext>
            </a:extLst>
          </p:cNvPr>
          <p:cNvSpPr txBox="1"/>
          <p:nvPr/>
        </p:nvSpPr>
        <p:spPr>
          <a:xfrm>
            <a:off x="3635829" y="3021356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classroom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Classroom()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Name =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"Salle Bill Gates"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Floor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5,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Corridor =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"Bleu"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context.Classrooms.Add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classroom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context.SaveChanges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3A76D44-CE5D-2273-104A-3EF9CBF2F157}"/>
              </a:ext>
            </a:extLst>
          </p:cNvPr>
          <p:cNvSpPr txBox="1"/>
          <p:nvPr/>
        </p:nvSpPr>
        <p:spPr>
          <a:xfrm>
            <a:off x="844826" y="1431230"/>
            <a:ext cx="4869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Utilisation de la base</a:t>
            </a:r>
          </a:p>
        </p:txBody>
      </p:sp>
    </p:spTree>
    <p:extLst>
      <p:ext uri="{BB962C8B-B14F-4D97-AF65-F5344CB8AC3E}">
        <p14:creationId xmlns:p14="http://schemas.microsoft.com/office/powerpoint/2010/main" val="4610063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Code First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23CB1383-30A7-985C-6878-E67AF431001F}"/>
              </a:ext>
            </a:extLst>
          </p:cNvPr>
          <p:cNvSpPr txBox="1"/>
          <p:nvPr/>
        </p:nvSpPr>
        <p:spPr>
          <a:xfrm>
            <a:off x="450291" y="2197734"/>
            <a:ext cx="11118215" cy="3462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lang="fr-FR" sz="2400">
                <a:latin typeface="Calibri"/>
                <a:cs typeface="Calibri"/>
              </a:rPr>
              <a:t>La</a:t>
            </a:r>
            <a:r>
              <a:rPr lang="fr-FR" sz="2400" spc="-6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méthode</a:t>
            </a:r>
            <a:r>
              <a:rPr lang="fr-FR" sz="2400" spc="-7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Update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met</a:t>
            </a:r>
            <a:r>
              <a:rPr lang="fr-FR" sz="2400" spc="-7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à</a:t>
            </a:r>
            <a:r>
              <a:rPr lang="fr-FR" sz="2400" spc="-6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jour</a:t>
            </a:r>
            <a:r>
              <a:rPr lang="fr-FR" sz="2400" spc="-6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et</a:t>
            </a:r>
            <a:r>
              <a:rPr lang="fr-FR" sz="2400" spc="-70" dirty="0">
                <a:latin typeface="Calibri"/>
                <a:cs typeface="Calibri"/>
              </a:rPr>
              <a:t> </a:t>
            </a:r>
            <a:r>
              <a:rPr lang="fr-FR" sz="2400" spc="-10" dirty="0" err="1">
                <a:latin typeface="Calibri"/>
                <a:cs typeface="Calibri"/>
              </a:rPr>
              <a:t>SaveChanges</a:t>
            </a:r>
            <a:r>
              <a:rPr lang="fr-FR" sz="2400" spc="-6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sauvegarde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en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base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avec</a:t>
            </a:r>
            <a:r>
              <a:rPr lang="fr-FR" sz="2400" spc="-60" dirty="0">
                <a:latin typeface="Calibri"/>
                <a:cs typeface="Calibri"/>
              </a:rPr>
              <a:t> </a:t>
            </a:r>
            <a:r>
              <a:rPr lang="fr-FR" sz="2400" spc="-20" dirty="0">
                <a:latin typeface="Calibri"/>
                <a:cs typeface="Calibri"/>
              </a:rPr>
              <a:t>l’ID</a:t>
            </a:r>
            <a:endParaRPr lang="fr-FR" sz="2400" dirty="0">
              <a:latin typeface="Calibri"/>
              <a:cs typeface="Calibri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3A76D44-CE5D-2273-104A-3EF9CBF2F157}"/>
              </a:ext>
            </a:extLst>
          </p:cNvPr>
          <p:cNvSpPr txBox="1"/>
          <p:nvPr/>
        </p:nvSpPr>
        <p:spPr>
          <a:xfrm>
            <a:off x="844826" y="1431230"/>
            <a:ext cx="4869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Utilisation de la base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A5EE25B-0CF6-D748-714E-556B565CAB10}"/>
              </a:ext>
            </a:extLst>
          </p:cNvPr>
          <p:cNvSpPr txBox="1"/>
          <p:nvPr/>
        </p:nvSpPr>
        <p:spPr>
          <a:xfrm>
            <a:off x="2481943" y="2848822"/>
            <a:ext cx="752203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classroom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Classroom()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ClassroomID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1,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Name =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"Salle Bill Gates"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Floor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3,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Corridor =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"Rouge"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context.Entry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(classroom).State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EntityState.Modified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context.SaveChanges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ou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context.Update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classroom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context.SaveChanges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287617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Code First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23CB1383-30A7-985C-6878-E67AF431001F}"/>
              </a:ext>
            </a:extLst>
          </p:cNvPr>
          <p:cNvSpPr txBox="1"/>
          <p:nvPr/>
        </p:nvSpPr>
        <p:spPr>
          <a:xfrm>
            <a:off x="450291" y="2197734"/>
            <a:ext cx="11118215" cy="3462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lang="fr-FR" sz="2400" dirty="0">
                <a:latin typeface="Calibri"/>
                <a:cs typeface="Calibri"/>
              </a:rPr>
              <a:t>La</a:t>
            </a:r>
            <a:r>
              <a:rPr lang="fr-FR" sz="2400" spc="-7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méthode</a:t>
            </a:r>
            <a:r>
              <a:rPr lang="fr-FR" sz="2400" spc="-85" dirty="0">
                <a:latin typeface="Calibri"/>
                <a:cs typeface="Calibri"/>
              </a:rPr>
              <a:t> </a:t>
            </a:r>
            <a:r>
              <a:rPr lang="fr-FR" sz="2400" dirty="0" err="1">
                <a:latin typeface="Calibri"/>
                <a:cs typeface="Calibri"/>
              </a:rPr>
              <a:t>Remove</a:t>
            </a:r>
            <a:r>
              <a:rPr lang="fr-FR" sz="2400" spc="-7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supprime</a:t>
            </a:r>
            <a:r>
              <a:rPr lang="fr-FR" sz="2400" spc="-6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la</a:t>
            </a:r>
            <a:r>
              <a:rPr lang="fr-FR" sz="2400" spc="-7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données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et</a:t>
            </a:r>
            <a:r>
              <a:rPr lang="fr-FR" sz="2400" spc="-95" dirty="0">
                <a:latin typeface="Calibri"/>
                <a:cs typeface="Calibri"/>
              </a:rPr>
              <a:t> </a:t>
            </a:r>
            <a:r>
              <a:rPr lang="fr-FR" sz="2400" spc="-10" dirty="0" err="1">
                <a:latin typeface="Calibri"/>
                <a:cs typeface="Calibri"/>
              </a:rPr>
              <a:t>SaveChanges</a:t>
            </a:r>
            <a:r>
              <a:rPr lang="fr-FR" sz="2400" spc="-7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sauvegarde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en </a:t>
            </a:r>
            <a:r>
              <a:rPr lang="fr-FR" sz="2400" spc="-20" dirty="0">
                <a:latin typeface="Calibri"/>
                <a:cs typeface="Calibri"/>
              </a:rPr>
              <a:t>base</a:t>
            </a:r>
            <a:endParaRPr lang="fr-FR" sz="2400" dirty="0">
              <a:latin typeface="Calibri"/>
              <a:cs typeface="Calibri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3A76D44-CE5D-2273-104A-3EF9CBF2F157}"/>
              </a:ext>
            </a:extLst>
          </p:cNvPr>
          <p:cNvSpPr txBox="1"/>
          <p:nvPr/>
        </p:nvSpPr>
        <p:spPr>
          <a:xfrm>
            <a:off x="844826" y="1431230"/>
            <a:ext cx="4869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Utilisation de la base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E46801F-6786-EAA3-36E4-96FC4EBD391C}"/>
              </a:ext>
            </a:extLst>
          </p:cNvPr>
          <p:cNvSpPr txBox="1"/>
          <p:nvPr/>
        </p:nvSpPr>
        <p:spPr>
          <a:xfrm>
            <a:off x="3439885" y="314127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classroom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Classroom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ClassroomID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1,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Name =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"Salle Bill Gates"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Floor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5,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Corridor =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"Bleu"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context.Classrooms.Remove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classroom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context.SaveChanges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835480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2. Code First</a:t>
            </a:r>
          </a:p>
        </p:txBody>
      </p:sp>
    </p:spTree>
    <p:extLst>
      <p:ext uri="{BB962C8B-B14F-4D97-AF65-F5344CB8AC3E}">
        <p14:creationId xmlns:p14="http://schemas.microsoft.com/office/powerpoint/2010/main" val="11844676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3. </a:t>
            </a:r>
            <a:r>
              <a:rPr lang="fr-FR" sz="5400" dirty="0" err="1">
                <a:solidFill>
                  <a:schemeClr val="bg1"/>
                </a:solidFill>
              </a:rPr>
              <a:t>Linq</a:t>
            </a:r>
            <a:endParaRPr lang="fr-FR" sz="5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0923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</a:t>
            </a:r>
            <a:r>
              <a:rPr lang="fr-FR" sz="3200" dirty="0" err="1"/>
              <a:t>Linq</a:t>
            </a:r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Requêtage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Deux façons possibles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40503F9-35D2-C76F-11A9-5A32E67088AC}"/>
              </a:ext>
            </a:extLst>
          </p:cNvPr>
          <p:cNvSpPr txBox="1"/>
          <p:nvPr/>
        </p:nvSpPr>
        <p:spPr>
          <a:xfrm>
            <a:off x="2764971" y="2933780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//LINQ écriture façon SQL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persons1 = 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p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context.Persons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orderby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p.Age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descending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select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p).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Take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(10);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//LINQ écriture en expression Lambda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persons2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context.Persons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.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OrderByDescending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(p =&gt;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p.Age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.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Take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(10);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470952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</a:t>
            </a:r>
            <a:r>
              <a:rPr lang="fr-FR" sz="3200" dirty="0" err="1"/>
              <a:t>Linq</a:t>
            </a:r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843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Calibri"/>
                <a:cs typeface="Calibri"/>
              </a:rPr>
              <a:t>La</a:t>
            </a:r>
            <a:r>
              <a:rPr lang="fr-FR" sz="2400" spc="-7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requête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est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effectuée</a:t>
            </a:r>
            <a:r>
              <a:rPr lang="fr-FR" sz="2400" spc="-7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si</a:t>
            </a:r>
            <a:r>
              <a:rPr lang="fr-FR" sz="2400" spc="-6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nécessaire</a:t>
            </a:r>
            <a:endParaRPr lang="fr-FR" sz="2400" dirty="0">
              <a:latin typeface="Calibri"/>
              <a:cs typeface="Calibri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0EBF501-6AB5-DF3E-8C43-7409FB99F265}"/>
              </a:ext>
            </a:extLst>
          </p:cNvPr>
          <p:cNvSpPr txBox="1"/>
          <p:nvPr/>
        </p:nvSpPr>
        <p:spPr>
          <a:xfrm>
            <a:off x="855712" y="3131395"/>
            <a:ext cx="10896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//préparation de la requête SQL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IEnumerable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&lt;Person&gt;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persons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context.Persons.Where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(p =&gt;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p.FirstName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==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"Ted"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//la requête est effectuée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(Person p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persons)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p.FirstName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","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p.LastName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12156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</a:t>
            </a:r>
            <a:r>
              <a:rPr lang="fr-FR" sz="3200" dirty="0" err="1"/>
              <a:t>Linq</a:t>
            </a:r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128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800" dirty="0">
                <a:latin typeface="Calibri"/>
                <a:cs typeface="Calibri"/>
              </a:rPr>
              <a:t>Pour</a:t>
            </a:r>
            <a:r>
              <a:rPr lang="fr-FR" sz="2800" spc="-75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matérialiser</a:t>
            </a:r>
            <a:r>
              <a:rPr lang="fr-FR" sz="2800" spc="-95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la</a:t>
            </a:r>
            <a:r>
              <a:rPr lang="fr-FR" sz="2800" spc="-85" dirty="0">
                <a:latin typeface="Calibri"/>
                <a:cs typeface="Calibri"/>
              </a:rPr>
              <a:t> </a:t>
            </a:r>
            <a:r>
              <a:rPr lang="fr-FR" sz="2800" spc="-10" dirty="0">
                <a:latin typeface="Calibri"/>
                <a:cs typeface="Calibri"/>
              </a:rPr>
              <a:t>requête</a:t>
            </a:r>
            <a:r>
              <a:rPr lang="fr-FR" sz="2800" spc="-90" dirty="0">
                <a:latin typeface="Calibri"/>
                <a:cs typeface="Calibri"/>
              </a:rPr>
              <a:t> </a:t>
            </a:r>
            <a:r>
              <a:rPr lang="fr-FR" sz="2800" spc="-10" dirty="0">
                <a:latin typeface="Calibri"/>
                <a:cs typeface="Calibri"/>
              </a:rPr>
              <a:t>directement,</a:t>
            </a:r>
            <a:r>
              <a:rPr lang="fr-FR" sz="2800" spc="-70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il</a:t>
            </a:r>
            <a:r>
              <a:rPr lang="fr-FR" sz="2800" spc="-100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faut</a:t>
            </a:r>
            <a:r>
              <a:rPr lang="fr-FR" sz="2800" spc="-80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utiliser</a:t>
            </a:r>
            <a:r>
              <a:rPr lang="fr-FR" sz="2800" spc="-70" dirty="0">
                <a:latin typeface="Calibri"/>
                <a:cs typeface="Calibri"/>
              </a:rPr>
              <a:t> </a:t>
            </a:r>
            <a:r>
              <a:rPr lang="fr-FR" sz="2800" spc="-50" dirty="0">
                <a:latin typeface="Calibri"/>
                <a:cs typeface="Calibri"/>
              </a:rPr>
              <a:t>:</a:t>
            </a:r>
            <a:endParaRPr lang="fr-FR" sz="28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7865" algn="l"/>
              </a:tabLst>
            </a:pPr>
            <a:r>
              <a:rPr lang="fr-FR" sz="2400" spc="-10" dirty="0" err="1">
                <a:latin typeface="Calibri"/>
                <a:cs typeface="Calibri"/>
              </a:rPr>
              <a:t>ToList</a:t>
            </a:r>
            <a:r>
              <a:rPr lang="fr-FR" sz="2400" spc="-10" dirty="0">
                <a:latin typeface="Calibri"/>
                <a:cs typeface="Calibri"/>
              </a:rPr>
              <a:t>()</a:t>
            </a:r>
            <a:endParaRPr lang="fr-FR" sz="24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865" algn="l"/>
              </a:tabLst>
            </a:pPr>
            <a:r>
              <a:rPr lang="fr-FR" sz="2400" spc="-10" dirty="0" err="1">
                <a:latin typeface="Calibri"/>
                <a:cs typeface="Calibri"/>
              </a:rPr>
              <a:t>ToArray</a:t>
            </a:r>
            <a:r>
              <a:rPr lang="fr-FR" sz="2400" spc="-10" dirty="0">
                <a:latin typeface="Calibri"/>
                <a:cs typeface="Calibri"/>
              </a:rPr>
              <a:t>()</a:t>
            </a:r>
            <a:endParaRPr lang="fr-FR" sz="24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7865" algn="l"/>
              </a:tabLst>
            </a:pPr>
            <a:r>
              <a:rPr lang="fr-FR" sz="2400" spc="-10" dirty="0" err="1">
                <a:latin typeface="Calibri"/>
                <a:cs typeface="Calibri"/>
              </a:rPr>
              <a:t>ToDictionary</a:t>
            </a:r>
            <a:r>
              <a:rPr lang="fr-FR" sz="2400" spc="-10" dirty="0">
                <a:latin typeface="Calibri"/>
                <a:cs typeface="Calibri"/>
              </a:rPr>
              <a:t>(…)</a:t>
            </a:r>
            <a:endParaRPr lang="fr-FR" sz="2400" dirty="0">
              <a:latin typeface="Calibri"/>
              <a:cs typeface="Calibr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3691676-7D87-51A0-9C4C-073B47436CB3}"/>
              </a:ext>
            </a:extLst>
          </p:cNvPr>
          <p:cNvSpPr txBox="1"/>
          <p:nvPr/>
        </p:nvSpPr>
        <p:spPr>
          <a:xfrm>
            <a:off x="1012370" y="4192565"/>
            <a:ext cx="106897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List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fr-FR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Person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persons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context.Persons.Where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(p =&gt;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p.FirstName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==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"Ted"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.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OrderBy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(p =&gt;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p.Age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.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ToList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58280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</a:t>
            </a:r>
            <a:r>
              <a:rPr lang="fr-FR" sz="3200" dirty="0" err="1"/>
              <a:t>Linq</a:t>
            </a:r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128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/>
          </a:p>
          <a:p>
            <a:pPr marL="240029" indent="-227329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800" dirty="0">
                <a:latin typeface="Calibri"/>
                <a:cs typeface="Calibri"/>
              </a:rPr>
              <a:t>Ou</a:t>
            </a:r>
            <a:r>
              <a:rPr lang="fr-FR" sz="2800" spc="-65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matérialiser</a:t>
            </a:r>
            <a:r>
              <a:rPr lang="fr-FR" sz="2800" spc="-75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un</a:t>
            </a:r>
            <a:r>
              <a:rPr lang="fr-FR" sz="2800" spc="-60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seul</a:t>
            </a:r>
            <a:r>
              <a:rPr lang="fr-FR" sz="2800" spc="-65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élément</a:t>
            </a:r>
            <a:r>
              <a:rPr lang="fr-FR" sz="2800" spc="-60" dirty="0">
                <a:latin typeface="Calibri"/>
                <a:cs typeface="Calibri"/>
              </a:rPr>
              <a:t> </a:t>
            </a:r>
            <a:r>
              <a:rPr lang="fr-FR" sz="2800" spc="-50" dirty="0">
                <a:latin typeface="Calibri"/>
                <a:cs typeface="Calibri"/>
              </a:rPr>
              <a:t>:</a:t>
            </a:r>
            <a:endParaRPr lang="fr-FR" sz="28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Font typeface="Arial"/>
              <a:buChar char="•"/>
              <a:tabLst>
                <a:tab pos="697865" algn="l"/>
              </a:tabLst>
            </a:pPr>
            <a:r>
              <a:rPr lang="fr-FR" sz="2400" dirty="0">
                <a:latin typeface="Calibri"/>
                <a:cs typeface="Calibri"/>
              </a:rPr>
              <a:t>First()</a:t>
            </a:r>
            <a:r>
              <a:rPr lang="fr-FR" sz="2400" spc="-7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/</a:t>
            </a:r>
            <a:r>
              <a:rPr lang="fr-FR" sz="2400" spc="-40" dirty="0">
                <a:latin typeface="Calibri"/>
                <a:cs typeface="Calibri"/>
              </a:rPr>
              <a:t> </a:t>
            </a:r>
            <a:r>
              <a:rPr lang="fr-FR" sz="2400" spc="-10" dirty="0" err="1">
                <a:latin typeface="Calibri"/>
                <a:cs typeface="Calibri"/>
              </a:rPr>
              <a:t>FirstOrDefault</a:t>
            </a:r>
            <a:r>
              <a:rPr lang="fr-FR" sz="2400" spc="-10" dirty="0">
                <a:latin typeface="Calibri"/>
                <a:cs typeface="Calibri"/>
              </a:rPr>
              <a:t>()</a:t>
            </a:r>
            <a:endParaRPr lang="fr-FR" sz="24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865" algn="l"/>
              </a:tabLst>
            </a:pPr>
            <a:r>
              <a:rPr lang="fr-FR" sz="2400" dirty="0">
                <a:latin typeface="Calibri"/>
                <a:cs typeface="Calibri"/>
              </a:rPr>
              <a:t>Single()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/</a:t>
            </a:r>
            <a:r>
              <a:rPr lang="fr-FR" sz="2400" spc="-10" dirty="0">
                <a:latin typeface="Calibri"/>
                <a:cs typeface="Calibri"/>
              </a:rPr>
              <a:t> </a:t>
            </a:r>
            <a:r>
              <a:rPr lang="fr-FR" sz="2400" spc="-10" dirty="0" err="1">
                <a:latin typeface="Calibri"/>
                <a:cs typeface="Calibri"/>
              </a:rPr>
              <a:t>SingleOrDefault</a:t>
            </a:r>
            <a:r>
              <a:rPr lang="fr-FR" sz="2400" spc="-10" dirty="0">
                <a:latin typeface="Calibri"/>
                <a:cs typeface="Calibri"/>
              </a:rPr>
              <a:t>()</a:t>
            </a:r>
            <a:endParaRPr lang="fr-FR" sz="24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7865" algn="l"/>
              </a:tabLst>
            </a:pPr>
            <a:r>
              <a:rPr lang="fr-FR" sz="2400" spc="-10" dirty="0" err="1">
                <a:latin typeface="Calibri"/>
                <a:cs typeface="Calibri"/>
              </a:rPr>
              <a:t>Find</a:t>
            </a:r>
            <a:r>
              <a:rPr lang="fr-FR" sz="2400" spc="-10" dirty="0">
                <a:latin typeface="Calibri"/>
                <a:cs typeface="Calibri"/>
              </a:rPr>
              <a:t>()</a:t>
            </a:r>
            <a:endParaRPr lang="fr-FR" sz="2400" dirty="0">
              <a:latin typeface="Calibri"/>
              <a:cs typeface="Calibri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6C963F0-75FE-C6EA-F3C8-E5995DB17B70}"/>
              </a:ext>
            </a:extLst>
          </p:cNvPr>
          <p:cNvSpPr txBox="1"/>
          <p:nvPr/>
        </p:nvSpPr>
        <p:spPr>
          <a:xfrm>
            <a:off x="1078395" y="4048595"/>
            <a:ext cx="10058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//Attention John est peut être « </a:t>
            </a:r>
            <a:r>
              <a:rPr lang="fr-FR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null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»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Person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john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context.Persons.SingleOrDefault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(p =&gt;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p.FirstName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==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"John"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&amp;&amp;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p.LastName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== </a:t>
            </a:r>
            <a:r>
              <a:rPr lang="fr-F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"Doe"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367391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</a:t>
            </a:r>
            <a:r>
              <a:rPr lang="fr-FR" sz="3200" dirty="0" err="1"/>
              <a:t>Linq</a:t>
            </a:r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886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0"/>
              </a:spcBef>
              <a:tabLst>
                <a:tab pos="241300" algn="l"/>
              </a:tabLst>
            </a:pPr>
            <a:r>
              <a:rPr lang="fr-FR" sz="2400" b="1" dirty="0" err="1">
                <a:latin typeface="Calibri"/>
                <a:cs typeface="Calibri"/>
              </a:rPr>
              <a:t>Lazy</a:t>
            </a:r>
            <a:r>
              <a:rPr lang="fr-FR" sz="2400" b="1" dirty="0">
                <a:latin typeface="Calibri"/>
                <a:cs typeface="Calibri"/>
              </a:rPr>
              <a:t> </a:t>
            </a:r>
            <a:r>
              <a:rPr lang="fr-FR" sz="2400" b="1" dirty="0" err="1">
                <a:latin typeface="Calibri"/>
                <a:cs typeface="Calibri"/>
              </a:rPr>
              <a:t>Loading</a:t>
            </a:r>
            <a:endParaRPr lang="fr-FR" sz="2400" b="1" dirty="0">
              <a:latin typeface="Calibri"/>
              <a:cs typeface="Calibri"/>
            </a:endParaRPr>
          </a:p>
          <a:p>
            <a:pPr marL="12700" marR="5080">
              <a:lnSpc>
                <a:spcPts val="3030"/>
              </a:lnSpc>
              <a:spcBef>
                <a:spcPts val="470"/>
              </a:spcBef>
              <a:tabLst>
                <a:tab pos="241300" algn="l"/>
              </a:tabLst>
            </a:pPr>
            <a:endParaRPr lang="fr-FR" sz="2000" b="1" dirty="0">
              <a:latin typeface="Calibri"/>
              <a:cs typeface="Calibri"/>
            </a:endParaRPr>
          </a:p>
          <a:p>
            <a:pPr marL="240029" marR="5080" indent="-227329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lang="fr-FR" sz="2400" dirty="0">
                <a:latin typeface="Calibri"/>
                <a:cs typeface="Calibri"/>
              </a:rPr>
              <a:t>Le</a:t>
            </a:r>
            <a:r>
              <a:rPr lang="fr-FR" sz="2400" spc="-6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«</a:t>
            </a:r>
            <a:r>
              <a:rPr lang="fr-FR" sz="2400" spc="-40" dirty="0">
                <a:latin typeface="Calibri"/>
                <a:cs typeface="Calibri"/>
              </a:rPr>
              <a:t> </a:t>
            </a:r>
            <a:r>
              <a:rPr lang="fr-FR" sz="2400" dirty="0" err="1">
                <a:latin typeface="Calibri"/>
                <a:cs typeface="Calibri"/>
              </a:rPr>
              <a:t>Lazy</a:t>
            </a:r>
            <a:r>
              <a:rPr lang="fr-FR" sz="2400" spc="-75" dirty="0">
                <a:latin typeface="Calibri"/>
                <a:cs typeface="Calibri"/>
              </a:rPr>
              <a:t> </a:t>
            </a:r>
            <a:r>
              <a:rPr lang="fr-FR" sz="2400" dirty="0" err="1">
                <a:latin typeface="Calibri"/>
                <a:cs typeface="Calibri"/>
              </a:rPr>
              <a:t>Loading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»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permet</a:t>
            </a:r>
            <a:r>
              <a:rPr lang="fr-FR" sz="2400" spc="-6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de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charger</a:t>
            </a:r>
            <a:r>
              <a:rPr lang="fr-FR" sz="2400" spc="-6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des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données</a:t>
            </a:r>
            <a:r>
              <a:rPr lang="fr-FR" sz="2400" spc="-2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en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utilisant</a:t>
            </a:r>
            <a:r>
              <a:rPr lang="fr-FR" sz="2400" spc="-40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les 	</a:t>
            </a:r>
            <a:r>
              <a:rPr lang="fr-FR" sz="2400" spc="-10" dirty="0">
                <a:latin typeface="Calibri"/>
                <a:cs typeface="Calibri"/>
              </a:rPr>
              <a:t>propriétés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de</a:t>
            </a:r>
            <a:r>
              <a:rPr lang="fr-FR" sz="2400" spc="-65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navigation</a:t>
            </a:r>
          </a:p>
          <a:p>
            <a:pPr marL="240029" marR="5080" indent="-227329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endParaRPr lang="fr-FR" sz="2400" spc="-10" dirty="0">
              <a:latin typeface="Calibri"/>
              <a:cs typeface="Calibri"/>
            </a:endParaRPr>
          </a:p>
          <a:p>
            <a:pPr marL="240029" marR="5080" indent="-227329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endParaRPr lang="fr-FR" sz="2400" spc="-10" dirty="0">
              <a:latin typeface="Calibri"/>
              <a:cs typeface="Calibri"/>
            </a:endParaRPr>
          </a:p>
          <a:p>
            <a:pPr marL="240029" marR="5080" indent="-227329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endParaRPr lang="fr-FR" sz="2400" spc="-10" dirty="0">
              <a:latin typeface="Calibri"/>
              <a:cs typeface="Calibri"/>
            </a:endParaRPr>
          </a:p>
          <a:p>
            <a:pPr marL="240029" marR="5080" indent="-227329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endParaRPr lang="fr-FR" sz="2400" spc="-10" dirty="0">
              <a:latin typeface="Calibri"/>
              <a:cs typeface="Calibri"/>
            </a:endParaRPr>
          </a:p>
          <a:p>
            <a:pPr marL="240029" marR="5080" indent="-227329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endParaRPr lang="fr-FR" sz="2400" spc="-10" dirty="0">
              <a:latin typeface="Calibri"/>
              <a:cs typeface="Calibri"/>
            </a:endParaRPr>
          </a:p>
          <a:p>
            <a:pPr marL="240029" marR="5080" indent="-227329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Pas</a:t>
            </a:r>
            <a:r>
              <a:rPr lang="fr-FR" sz="24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activé</a:t>
            </a:r>
            <a:r>
              <a:rPr lang="fr-FR" sz="24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par</a:t>
            </a:r>
            <a:r>
              <a:rPr lang="fr-FR" sz="24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défaut</a:t>
            </a:r>
            <a:r>
              <a:rPr lang="fr-FR" sz="2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dans</a:t>
            </a:r>
            <a:r>
              <a:rPr lang="fr-FR" sz="2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EF</a:t>
            </a:r>
            <a:r>
              <a:rPr lang="fr-FR" sz="2400" u="sng" spc="-11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fr-FR" sz="2400" u="sng" spc="-20" dirty="0" err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Core</a:t>
            </a:r>
            <a:endParaRPr lang="fr-FR" sz="2400" dirty="0">
              <a:latin typeface="Calibri"/>
              <a:cs typeface="Calibri"/>
            </a:endParaRPr>
          </a:p>
          <a:p>
            <a:pPr marL="240029" marR="5080" indent="-227329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endParaRPr lang="fr-FR" sz="2400" dirty="0">
              <a:latin typeface="Calibri"/>
              <a:cs typeface="Calibr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EBD9106-064C-7923-0E50-63F2FD2252F3}"/>
              </a:ext>
            </a:extLst>
          </p:cNvPr>
          <p:cNvSpPr txBox="1"/>
          <p:nvPr/>
        </p:nvSpPr>
        <p:spPr>
          <a:xfrm>
            <a:off x="821635" y="3429000"/>
            <a:ext cx="108639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Classroom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classroom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context.Classrooms.Find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(c =&gt;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c.Id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== 1);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//1ere requête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List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fr-FR" sz="1800" dirty="0" err="1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Student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students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classroom.Students.ToList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//nouvelle requête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Teacher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teacher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classroom.Teacher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fr-F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//nouvelle requête</a:t>
            </a:r>
            <a:endParaRPr lang="fr-F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08368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</a:t>
            </a:r>
            <a:r>
              <a:rPr lang="fr-FR" sz="3200" dirty="0" err="1"/>
              <a:t>Linq</a:t>
            </a:r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804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0"/>
              </a:spcBef>
              <a:tabLst>
                <a:tab pos="241300" algn="l"/>
              </a:tabLst>
            </a:pPr>
            <a:r>
              <a:rPr lang="fr-FR" sz="2400" b="1" dirty="0" err="1">
                <a:latin typeface="Calibri"/>
                <a:cs typeface="Calibri"/>
              </a:rPr>
              <a:t>Lazy</a:t>
            </a:r>
            <a:r>
              <a:rPr lang="fr-FR" sz="2400" b="1" dirty="0">
                <a:latin typeface="Calibri"/>
                <a:cs typeface="Calibri"/>
              </a:rPr>
              <a:t> </a:t>
            </a:r>
            <a:r>
              <a:rPr lang="fr-FR" sz="2400" b="1" dirty="0" err="1">
                <a:latin typeface="Calibri"/>
                <a:cs typeface="Calibri"/>
              </a:rPr>
              <a:t>Loading</a:t>
            </a:r>
            <a:endParaRPr lang="fr-FR" sz="2400" b="1" dirty="0">
              <a:latin typeface="Calibri"/>
              <a:cs typeface="Calibri"/>
            </a:endParaRPr>
          </a:p>
          <a:p>
            <a:pPr marL="12700" marR="5080">
              <a:lnSpc>
                <a:spcPts val="3030"/>
              </a:lnSpc>
              <a:spcBef>
                <a:spcPts val="470"/>
              </a:spcBef>
              <a:tabLst>
                <a:tab pos="241300" algn="l"/>
              </a:tabLst>
            </a:pPr>
            <a:endParaRPr lang="fr-FR" sz="2000" b="1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440"/>
              </a:spcBef>
              <a:buFont typeface="Arial"/>
              <a:buChar char="•"/>
              <a:tabLst>
                <a:tab pos="240665" algn="l"/>
              </a:tabLst>
            </a:pPr>
            <a:r>
              <a:rPr lang="fr-FR" sz="2400" spc="-10" dirty="0" err="1"/>
              <a:t>Microsoft.EntityFrameworkCore.Proxies</a:t>
            </a:r>
            <a:endParaRPr lang="fr-FR" sz="2400" spc="-10" dirty="0"/>
          </a:p>
          <a:p>
            <a:pPr marL="698500" lvl="1" indent="-228600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8500" algn="l"/>
              </a:tabLst>
            </a:pPr>
            <a:r>
              <a:rPr lang="fr-FR" sz="2000" spc="-10" dirty="0">
                <a:latin typeface="Calibri"/>
                <a:cs typeface="Calibri"/>
              </a:rPr>
              <a:t>Package</a:t>
            </a:r>
            <a:r>
              <a:rPr lang="fr-FR" sz="2000" spc="-30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pour</a:t>
            </a:r>
            <a:r>
              <a:rPr lang="fr-FR" sz="2000" spc="-45" dirty="0">
                <a:latin typeface="Calibri"/>
                <a:cs typeface="Calibri"/>
              </a:rPr>
              <a:t> </a:t>
            </a:r>
            <a:r>
              <a:rPr lang="fr-FR" sz="2000" dirty="0">
                <a:latin typeface="Calibri"/>
                <a:cs typeface="Calibri"/>
              </a:rPr>
              <a:t>le</a:t>
            </a:r>
            <a:r>
              <a:rPr lang="fr-FR" sz="2000" spc="-30" dirty="0">
                <a:latin typeface="Calibri"/>
                <a:cs typeface="Calibri"/>
              </a:rPr>
              <a:t> </a:t>
            </a:r>
            <a:r>
              <a:rPr lang="fr-FR" sz="2000" dirty="0" err="1">
                <a:latin typeface="Calibri"/>
                <a:cs typeface="Calibri"/>
              </a:rPr>
              <a:t>lazy</a:t>
            </a:r>
            <a:r>
              <a:rPr lang="fr-FR" sz="2000" spc="-45" dirty="0">
                <a:latin typeface="Calibri"/>
                <a:cs typeface="Calibri"/>
              </a:rPr>
              <a:t> </a:t>
            </a:r>
            <a:r>
              <a:rPr lang="fr-FR" sz="2000" spc="-10" dirty="0" err="1">
                <a:latin typeface="Calibri"/>
                <a:cs typeface="Calibri"/>
              </a:rPr>
              <a:t>loading</a:t>
            </a:r>
            <a:endParaRPr lang="fr-FR" sz="20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730"/>
              </a:spcBef>
              <a:buFont typeface="Arial"/>
              <a:buChar char="•"/>
            </a:pPr>
            <a:endParaRPr lang="fr-FR" sz="2400" dirty="0"/>
          </a:p>
          <a:p>
            <a:pPr marL="240029" marR="5080" indent="-227965">
              <a:lnSpc>
                <a:spcPts val="2590"/>
              </a:lnSpc>
              <a:buFont typeface="Arial"/>
              <a:buChar char="•"/>
              <a:tabLst>
                <a:tab pos="241300" algn="l"/>
              </a:tabLst>
            </a:pPr>
            <a:r>
              <a:rPr lang="fr-FR" sz="2200" dirty="0"/>
              <a:t>Activer</a:t>
            </a:r>
            <a:r>
              <a:rPr lang="fr-FR" sz="2200" spc="-50" dirty="0"/>
              <a:t> </a:t>
            </a:r>
            <a:r>
              <a:rPr lang="fr-FR" sz="2200" dirty="0"/>
              <a:t>le</a:t>
            </a:r>
            <a:r>
              <a:rPr lang="fr-FR" sz="2200" spc="-40" dirty="0"/>
              <a:t> </a:t>
            </a:r>
            <a:r>
              <a:rPr lang="fr-FR" sz="2200" dirty="0" err="1"/>
              <a:t>lazy</a:t>
            </a:r>
            <a:r>
              <a:rPr lang="fr-FR" sz="2200" spc="-40" dirty="0"/>
              <a:t> </a:t>
            </a:r>
            <a:r>
              <a:rPr lang="fr-FR" sz="2200" dirty="0" err="1"/>
              <a:t>loading</a:t>
            </a:r>
            <a:r>
              <a:rPr lang="fr-FR" sz="2200" spc="-50" dirty="0"/>
              <a:t> </a:t>
            </a:r>
            <a:r>
              <a:rPr lang="fr-FR" sz="2200" dirty="0"/>
              <a:t>sur</a:t>
            </a:r>
            <a:r>
              <a:rPr lang="fr-FR" sz="2200" spc="-50" dirty="0"/>
              <a:t> </a:t>
            </a:r>
            <a:r>
              <a:rPr lang="fr-FR" sz="2200" dirty="0"/>
              <a:t>le</a:t>
            </a:r>
            <a:r>
              <a:rPr lang="fr-FR" sz="2200" spc="-35" dirty="0"/>
              <a:t> </a:t>
            </a:r>
            <a:r>
              <a:rPr lang="fr-FR" sz="2200" dirty="0" err="1"/>
              <a:t>builder</a:t>
            </a:r>
            <a:r>
              <a:rPr lang="fr-FR" sz="2200" spc="-40" dirty="0"/>
              <a:t> </a:t>
            </a:r>
            <a:r>
              <a:rPr lang="fr-FR" sz="2200" dirty="0"/>
              <a:t>dans</a:t>
            </a:r>
            <a:r>
              <a:rPr lang="fr-FR" sz="2200" spc="-45" dirty="0"/>
              <a:t> </a:t>
            </a:r>
            <a:r>
              <a:rPr lang="fr-FR" sz="2200" dirty="0"/>
              <a:t>le</a:t>
            </a:r>
            <a:r>
              <a:rPr lang="fr-FR" sz="2200" spc="-35" dirty="0"/>
              <a:t> </a:t>
            </a:r>
            <a:r>
              <a:rPr lang="fr-FR" sz="2200" dirty="0" err="1"/>
              <a:t>OnConfiguring</a:t>
            </a:r>
            <a:r>
              <a:rPr lang="fr-FR" sz="2200" spc="-55" dirty="0"/>
              <a:t> </a:t>
            </a:r>
            <a:r>
              <a:rPr lang="fr-FR" sz="2200" dirty="0"/>
              <a:t>du</a:t>
            </a:r>
            <a:r>
              <a:rPr lang="fr-FR" sz="2200" spc="-30" dirty="0"/>
              <a:t> </a:t>
            </a:r>
            <a:r>
              <a:rPr lang="fr-FR" sz="2200" spc="-10" dirty="0"/>
              <a:t>contexte</a:t>
            </a:r>
            <a:r>
              <a:rPr lang="fr-FR" sz="2200" spc="-60" dirty="0"/>
              <a:t> </a:t>
            </a:r>
            <a:r>
              <a:rPr lang="fr-FR" sz="2200" spc="-25" dirty="0"/>
              <a:t>de </a:t>
            </a:r>
            <a:r>
              <a:rPr lang="fr-FR" sz="2200" dirty="0"/>
              <a:t>façon</a:t>
            </a:r>
            <a:r>
              <a:rPr lang="fr-FR" sz="2200" spc="-95" dirty="0"/>
              <a:t> </a:t>
            </a:r>
            <a:r>
              <a:rPr lang="fr-FR" sz="2200" spc="-10" dirty="0"/>
              <a:t>générale</a:t>
            </a:r>
          </a:p>
          <a:p>
            <a:pPr>
              <a:lnSpc>
                <a:spcPct val="100000"/>
              </a:lnSpc>
              <a:spcBef>
                <a:spcPts val="470"/>
              </a:spcBef>
              <a:buFont typeface="Arial"/>
              <a:buChar char="•"/>
            </a:pPr>
            <a:endParaRPr lang="fr-FR" spc="-10" dirty="0"/>
          </a:p>
          <a:p>
            <a:pPr marL="469900">
              <a:lnSpc>
                <a:spcPct val="100000"/>
              </a:lnSpc>
            </a:pPr>
            <a:r>
              <a:rPr lang="fr-FR" sz="1800" spc="-10" dirty="0" err="1">
                <a:latin typeface="Consolas"/>
                <a:cs typeface="Consolas"/>
              </a:rPr>
              <a:t>optionsBuilder.UseLazyLoadingProxies</a:t>
            </a:r>
            <a:r>
              <a:rPr lang="fr-FR" sz="1800" spc="-10" dirty="0">
                <a:latin typeface="Consolas"/>
                <a:cs typeface="Consolas"/>
              </a:rPr>
              <a:t>().</a:t>
            </a:r>
            <a:r>
              <a:rPr lang="fr-FR" sz="1800" spc="-10" dirty="0" err="1">
                <a:latin typeface="Consolas"/>
                <a:cs typeface="Consolas"/>
              </a:rPr>
              <a:t>UseSqlServer</a:t>
            </a:r>
            <a:r>
              <a:rPr lang="fr-FR" sz="1800" spc="-10" dirty="0">
                <a:latin typeface="Consolas"/>
                <a:cs typeface="Consolas"/>
              </a:rPr>
              <a:t>(...)</a:t>
            </a:r>
            <a:endParaRPr lang="fr-FR" sz="1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lang="fr-FR" sz="1800" dirty="0">
              <a:latin typeface="Consolas"/>
              <a:cs typeface="Consolas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lang="fr-FR" sz="2200" dirty="0"/>
              <a:t>On</a:t>
            </a:r>
            <a:r>
              <a:rPr lang="fr-FR" sz="2200" spc="-45" dirty="0"/>
              <a:t> </a:t>
            </a:r>
            <a:r>
              <a:rPr lang="fr-FR" sz="2200" dirty="0"/>
              <a:t>pourra</a:t>
            </a:r>
            <a:r>
              <a:rPr lang="fr-FR" sz="2200" spc="-35" dirty="0"/>
              <a:t> </a:t>
            </a:r>
            <a:r>
              <a:rPr lang="fr-FR" sz="2200" dirty="0"/>
              <a:t>désactiver</a:t>
            </a:r>
            <a:r>
              <a:rPr lang="fr-FR" sz="2200" spc="-45" dirty="0"/>
              <a:t> </a:t>
            </a:r>
            <a:r>
              <a:rPr lang="fr-FR" sz="2200" dirty="0"/>
              <a:t>le</a:t>
            </a:r>
            <a:r>
              <a:rPr lang="fr-FR" sz="2200" spc="-40" dirty="0"/>
              <a:t> </a:t>
            </a:r>
            <a:r>
              <a:rPr lang="fr-FR" sz="2200" dirty="0" err="1"/>
              <a:t>lazy</a:t>
            </a:r>
            <a:r>
              <a:rPr lang="fr-FR" sz="2200" spc="-50" dirty="0"/>
              <a:t> </a:t>
            </a:r>
            <a:r>
              <a:rPr lang="fr-FR" sz="2200" dirty="0" err="1"/>
              <a:t>loading</a:t>
            </a:r>
            <a:r>
              <a:rPr lang="fr-FR" sz="2200" spc="-35" dirty="0"/>
              <a:t> </a:t>
            </a:r>
            <a:r>
              <a:rPr lang="fr-FR" sz="2200" dirty="0"/>
              <a:t>par</a:t>
            </a:r>
            <a:r>
              <a:rPr lang="fr-FR" sz="2200" spc="-35" dirty="0"/>
              <a:t> </a:t>
            </a:r>
            <a:r>
              <a:rPr lang="fr-FR" sz="2200" spc="-10" dirty="0"/>
              <a:t>requête</a:t>
            </a: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lang="fr-FR" spc="-10" dirty="0"/>
          </a:p>
          <a:p>
            <a:pPr marL="469900">
              <a:lnSpc>
                <a:spcPct val="100000"/>
              </a:lnSpc>
            </a:pPr>
            <a:r>
              <a:rPr lang="fr-FR" sz="1800" dirty="0" err="1">
                <a:latin typeface="Consolas"/>
                <a:cs typeface="Consolas"/>
              </a:rPr>
              <a:t>monContext.ChangeTracker.LazyLoadingEnabled</a:t>
            </a:r>
            <a:r>
              <a:rPr lang="fr-FR" sz="1800" spc="-85" dirty="0">
                <a:latin typeface="Consolas"/>
                <a:cs typeface="Consolas"/>
              </a:rPr>
              <a:t> </a:t>
            </a:r>
            <a:r>
              <a:rPr lang="fr-FR" sz="1800" dirty="0">
                <a:latin typeface="Consolas"/>
                <a:cs typeface="Consolas"/>
              </a:rPr>
              <a:t>=</a:t>
            </a:r>
            <a:r>
              <a:rPr lang="fr-FR" sz="1800" spc="-90" dirty="0">
                <a:latin typeface="Consolas"/>
                <a:cs typeface="Consolas"/>
              </a:rPr>
              <a:t> </a:t>
            </a:r>
            <a:r>
              <a:rPr lang="fr-FR" sz="1800" spc="-10" dirty="0">
                <a:solidFill>
                  <a:srgbClr val="0000FF"/>
                </a:solidFill>
                <a:latin typeface="Consolas"/>
                <a:cs typeface="Consolas"/>
              </a:rPr>
              <a:t>false</a:t>
            </a:r>
            <a:r>
              <a:rPr lang="fr-FR" sz="1800" spc="-10" dirty="0">
                <a:latin typeface="Consolas"/>
                <a:cs typeface="Consolas"/>
              </a:rPr>
              <a:t>;</a:t>
            </a:r>
            <a:endParaRPr lang="fr-FR" sz="1800" dirty="0">
              <a:latin typeface="Consolas"/>
              <a:cs typeface="Consolas"/>
            </a:endParaRPr>
          </a:p>
          <a:p>
            <a:pPr marL="240029" marR="5080" indent="-227329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endParaRPr lang="fr-FR"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147066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</a:t>
            </a:r>
            <a:r>
              <a:rPr lang="fr-FR" sz="3200" dirty="0" err="1"/>
              <a:t>Linq</a:t>
            </a:r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19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0"/>
              </a:spcBef>
              <a:tabLst>
                <a:tab pos="241300" algn="l"/>
              </a:tabLst>
            </a:pPr>
            <a:r>
              <a:rPr lang="fr-FR" sz="2400" b="1" dirty="0" err="1">
                <a:latin typeface="Calibri"/>
                <a:cs typeface="Calibri"/>
              </a:rPr>
              <a:t>Include</a:t>
            </a:r>
            <a:endParaRPr lang="fr-FR" sz="2400" b="1" dirty="0">
              <a:latin typeface="Calibri"/>
              <a:cs typeface="Calibri"/>
            </a:endParaRPr>
          </a:p>
          <a:p>
            <a:pPr marL="12700" marR="5080">
              <a:lnSpc>
                <a:spcPts val="3030"/>
              </a:lnSpc>
              <a:spcBef>
                <a:spcPts val="470"/>
              </a:spcBef>
              <a:tabLst>
                <a:tab pos="241300" algn="l"/>
              </a:tabLst>
            </a:pPr>
            <a:endParaRPr lang="fr-FR" sz="2000" b="1" dirty="0">
              <a:latin typeface="Calibri"/>
              <a:cs typeface="Calibri"/>
            </a:endParaRPr>
          </a:p>
          <a:p>
            <a:pPr marL="240029" indent="-227329">
              <a:lnSpc>
                <a:spcPts val="319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fr-FR" sz="2400" dirty="0">
                <a:latin typeface="Calibri"/>
                <a:cs typeface="Calibri"/>
              </a:rPr>
              <a:t>Il</a:t>
            </a:r>
            <a:r>
              <a:rPr lang="fr-FR" sz="2400" spc="-8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est</a:t>
            </a:r>
            <a:r>
              <a:rPr lang="fr-FR" sz="2400" spc="-8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cependant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possible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spc="-25" dirty="0">
                <a:latin typeface="Calibri"/>
                <a:cs typeface="Calibri"/>
              </a:rPr>
              <a:t>d’expliciter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la</a:t>
            </a:r>
            <a:r>
              <a:rPr lang="fr-FR" sz="2400" spc="-9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jointure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avec</a:t>
            </a:r>
            <a:r>
              <a:rPr lang="fr-FR" sz="2400" spc="-7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la</a:t>
            </a:r>
            <a:r>
              <a:rPr lang="fr-FR" sz="2400" spc="-90" dirty="0">
                <a:latin typeface="Calibri"/>
                <a:cs typeface="Calibri"/>
              </a:rPr>
              <a:t> </a:t>
            </a:r>
            <a:r>
              <a:rPr lang="fr-FR" sz="2400" spc="-10" dirty="0">
                <a:latin typeface="Calibri"/>
                <a:cs typeface="Calibri"/>
              </a:rPr>
              <a:t>méthode</a:t>
            </a:r>
            <a:endParaRPr lang="fr-FR" sz="2400" dirty="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lang="fr-FR" sz="2400" dirty="0">
                <a:latin typeface="Calibri"/>
                <a:cs typeface="Calibri"/>
              </a:rPr>
              <a:t>«</a:t>
            </a:r>
            <a:r>
              <a:rPr lang="fr-FR" sz="2400" spc="-55" dirty="0">
                <a:latin typeface="Calibri"/>
                <a:cs typeface="Calibri"/>
              </a:rPr>
              <a:t> </a:t>
            </a:r>
            <a:r>
              <a:rPr lang="fr-FR" sz="2400" dirty="0" err="1">
                <a:latin typeface="Calibri"/>
                <a:cs typeface="Calibri"/>
              </a:rPr>
              <a:t>Include</a:t>
            </a:r>
            <a:r>
              <a:rPr lang="fr-FR" sz="2400" spc="-3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»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(pas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besoin</a:t>
            </a:r>
            <a:r>
              <a:rPr lang="fr-FR" sz="2400" spc="-45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du</a:t>
            </a:r>
            <a:r>
              <a:rPr lang="fr-FR" sz="2400" spc="-50" dirty="0">
                <a:latin typeface="Calibri"/>
                <a:cs typeface="Calibri"/>
              </a:rPr>
              <a:t> </a:t>
            </a:r>
            <a:r>
              <a:rPr lang="fr-FR" sz="2400" dirty="0">
                <a:latin typeface="Calibri"/>
                <a:cs typeface="Calibri"/>
              </a:rPr>
              <a:t>package</a:t>
            </a:r>
            <a:r>
              <a:rPr lang="fr-FR" sz="2400" spc="-70" dirty="0">
                <a:latin typeface="Calibri"/>
                <a:cs typeface="Calibri"/>
              </a:rPr>
              <a:t> </a:t>
            </a:r>
            <a:r>
              <a:rPr lang="fr-FR" sz="2400" spc="-10" dirty="0" err="1">
                <a:latin typeface="Calibri"/>
                <a:cs typeface="Calibri"/>
              </a:rPr>
              <a:t>proxies</a:t>
            </a:r>
            <a:r>
              <a:rPr lang="fr-FR" sz="2400" spc="-10" dirty="0">
                <a:latin typeface="Calibri"/>
                <a:cs typeface="Calibri"/>
              </a:rPr>
              <a:t>)</a:t>
            </a:r>
            <a:endParaRPr lang="fr-FR" sz="2400" dirty="0">
              <a:latin typeface="Calibri"/>
              <a:cs typeface="Calibri"/>
            </a:endParaRPr>
          </a:p>
          <a:p>
            <a:pPr marL="240029" marR="5080" indent="-227329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endParaRPr lang="fr-FR" sz="2400" dirty="0">
              <a:latin typeface="Calibri"/>
              <a:cs typeface="Calibri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3DFAE55-DEF6-AE27-A298-6449DC808113}"/>
              </a:ext>
            </a:extLst>
          </p:cNvPr>
          <p:cNvSpPr txBox="1"/>
          <p:nvPr/>
        </p:nvSpPr>
        <p:spPr>
          <a:xfrm>
            <a:off x="1164770" y="3836351"/>
            <a:ext cx="100801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chemeClr val="accent5">
                    <a:lumMod val="75000"/>
                  </a:schemeClr>
                </a:solidFill>
                <a:latin typeface="Cascadia Mono" panose="020B0609020000020004" pitchFamily="49" charset="0"/>
              </a:rPr>
              <a:t>Classroom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classroom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context.Classrooms.Include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(c =&gt;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c.Students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       .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Include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(c =&gt;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c.Teacher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       .Single(c =&gt;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c.ClassroomID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== 1);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40199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3. </a:t>
            </a:r>
            <a:r>
              <a:rPr lang="fr-FR" sz="3200" dirty="0" err="1"/>
              <a:t>Linq</a:t>
            </a:r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28262" y="1431230"/>
            <a:ext cx="2470110" cy="462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0"/>
              </a:spcBef>
              <a:tabLst>
                <a:tab pos="241300" algn="l"/>
              </a:tabLst>
            </a:pPr>
            <a:r>
              <a:rPr lang="fr-FR" sz="2400" b="1" dirty="0">
                <a:latin typeface="Calibri"/>
                <a:cs typeface="Calibri"/>
              </a:rPr>
              <a:t>Méthodes utiles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087C813-43BB-39C4-EABF-073480B7FF7B}"/>
              </a:ext>
            </a:extLst>
          </p:cNvPr>
          <p:cNvSpPr txBox="1"/>
          <p:nvPr/>
        </p:nvSpPr>
        <p:spPr>
          <a:xfrm>
            <a:off x="580913" y="2137954"/>
            <a:ext cx="535730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err="1"/>
              <a:t>Any</a:t>
            </a:r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err="1"/>
              <a:t>Average</a:t>
            </a:r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err="1"/>
              <a:t>Contains</a:t>
            </a:r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err="1"/>
              <a:t>CountBy</a:t>
            </a:r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Distinct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err="1"/>
              <a:t>Empty</a:t>
            </a:r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err="1"/>
              <a:t>Except</a:t>
            </a:r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First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err="1"/>
              <a:t>FirstOrDefault</a:t>
            </a:r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err="1"/>
              <a:t>Intersect</a:t>
            </a:r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7E7A467-3563-A86F-7D51-831529B7F923}"/>
              </a:ext>
            </a:extLst>
          </p:cNvPr>
          <p:cNvSpPr txBox="1"/>
          <p:nvPr/>
        </p:nvSpPr>
        <p:spPr>
          <a:xfrm>
            <a:off x="4568414" y="2137954"/>
            <a:ext cx="305517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Last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err="1"/>
              <a:t>LastOrDefault</a:t>
            </a:r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Max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err="1"/>
              <a:t>OfType</a:t>
            </a:r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err="1"/>
              <a:t>OrderBy</a:t>
            </a:r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err="1"/>
              <a:t>OrderByDescending</a:t>
            </a:r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err="1"/>
              <a:t>Repeat</a:t>
            </a:r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Reverse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Select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Single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25AB677-4A62-913B-61E6-22EF21426282}"/>
              </a:ext>
            </a:extLst>
          </p:cNvPr>
          <p:cNvSpPr txBox="1"/>
          <p:nvPr/>
        </p:nvSpPr>
        <p:spPr>
          <a:xfrm>
            <a:off x="8835614" y="2137954"/>
            <a:ext cx="2852256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err="1"/>
              <a:t>SingleOrDefault</a:t>
            </a:r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Skip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err="1"/>
              <a:t>SkipWhile</a:t>
            </a:r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err="1"/>
              <a:t>Sum</a:t>
            </a:r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err="1"/>
              <a:t>Take</a:t>
            </a:r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err="1"/>
              <a:t>TakeWhile</a:t>
            </a:r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err="1"/>
              <a:t>ThenBy</a:t>
            </a:r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err="1"/>
              <a:t>ThenByDescending</a:t>
            </a:r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err="1"/>
              <a:t>ToDictionary</a:t>
            </a:r>
            <a:endParaRPr lang="fr-F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/>
              <a:t>Union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err="1"/>
              <a:t>Where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6051236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3. </a:t>
            </a:r>
            <a:r>
              <a:rPr lang="fr-FR" sz="3200" dirty="0" err="1">
                <a:solidFill>
                  <a:schemeClr val="bg1"/>
                </a:solidFill>
              </a:rPr>
              <a:t>Linq</a:t>
            </a:r>
            <a:endParaRPr lang="fr-FR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8391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Drapeau de course avec un remplissage uni">
            <a:extLst>
              <a:ext uri="{FF2B5EF4-FFF2-40B4-BE49-F238E27FC236}">
                <a16:creationId xmlns:a16="http://schemas.microsoft.com/office/drawing/2014/main" id="{31EA9D4C-4724-F749-BAC8-105B32CB0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7273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1733</Words>
  <Application>Microsoft Office PowerPoint</Application>
  <PresentationFormat>Grand écran</PresentationFormat>
  <Paragraphs>414</Paragraphs>
  <Slides>37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37</vt:i4>
      </vt:variant>
    </vt:vector>
  </HeadingPairs>
  <TitlesOfParts>
    <vt:vector size="44" baseType="lpstr">
      <vt:lpstr>Arial</vt:lpstr>
      <vt:lpstr>Calibri</vt:lpstr>
      <vt:lpstr>Calibri Light</vt:lpstr>
      <vt:lpstr>Cascadia Mono</vt:lpstr>
      <vt:lpstr>Consolas</vt:lpstr>
      <vt:lpstr>Segoe UI</vt:lpstr>
      <vt:lpstr>Thème Office</vt:lpstr>
      <vt:lpstr>Entity Framework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</dc:title>
  <dc:creator>Laurent Godefroy</dc:creator>
  <cp:lastModifiedBy>Corentin ZIMMERMANN</cp:lastModifiedBy>
  <cp:revision>33</cp:revision>
  <dcterms:created xsi:type="dcterms:W3CDTF">2021-02-04T09:09:06Z</dcterms:created>
  <dcterms:modified xsi:type="dcterms:W3CDTF">2024-09-02T12:32:37Z</dcterms:modified>
</cp:coreProperties>
</file>