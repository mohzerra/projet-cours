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7" r:id="rId2"/>
    <p:sldId id="336" r:id="rId3"/>
    <p:sldId id="364" r:id="rId4"/>
    <p:sldId id="329" r:id="rId5"/>
    <p:sldId id="338" r:id="rId6"/>
    <p:sldId id="343" r:id="rId7"/>
    <p:sldId id="344" r:id="rId8"/>
    <p:sldId id="339" r:id="rId9"/>
    <p:sldId id="340" r:id="rId10"/>
    <p:sldId id="341" r:id="rId11"/>
    <p:sldId id="342" r:id="rId12"/>
    <p:sldId id="346" r:id="rId13"/>
    <p:sldId id="347" r:id="rId14"/>
    <p:sldId id="348" r:id="rId15"/>
    <p:sldId id="349" r:id="rId16"/>
    <p:sldId id="353" r:id="rId17"/>
    <p:sldId id="354" r:id="rId18"/>
    <p:sldId id="355" r:id="rId19"/>
    <p:sldId id="356" r:id="rId20"/>
    <p:sldId id="358" r:id="rId21"/>
    <p:sldId id="359" r:id="rId22"/>
    <p:sldId id="357" r:id="rId23"/>
    <p:sldId id="360" r:id="rId24"/>
    <p:sldId id="361" r:id="rId25"/>
    <p:sldId id="362" r:id="rId26"/>
    <p:sldId id="363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80" r:id="rId40"/>
    <p:sldId id="383" r:id="rId41"/>
    <p:sldId id="381" r:id="rId42"/>
    <p:sldId id="384" r:id="rId43"/>
    <p:sldId id="389" r:id="rId44"/>
    <p:sldId id="390" r:id="rId45"/>
    <p:sldId id="391" r:id="rId46"/>
    <p:sldId id="394" r:id="rId47"/>
    <p:sldId id="395" r:id="rId48"/>
    <p:sldId id="396" r:id="rId49"/>
    <p:sldId id="397" r:id="rId50"/>
    <p:sldId id="398" r:id="rId51"/>
    <p:sldId id="399" r:id="rId52"/>
    <p:sldId id="400" r:id="rId53"/>
    <p:sldId id="401" r:id="rId54"/>
    <p:sldId id="402" r:id="rId55"/>
    <p:sldId id="393" r:id="rId56"/>
    <p:sldId id="403" r:id="rId57"/>
    <p:sldId id="404" r:id="rId58"/>
    <p:sldId id="405" r:id="rId59"/>
    <p:sldId id="385" r:id="rId60"/>
    <p:sldId id="382" r:id="rId61"/>
    <p:sldId id="386" r:id="rId62"/>
    <p:sldId id="388" r:id="rId63"/>
    <p:sldId id="387" r:id="rId64"/>
    <p:sldId id="406" r:id="rId65"/>
    <p:sldId id="408" r:id="rId66"/>
    <p:sldId id="407" r:id="rId67"/>
    <p:sldId id="409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3"/>
    <p:restoredTop sz="96654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5574E-E1B9-5D46-9B15-558DC0ECE421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87AA0-4ABE-894D-996A-C6441AD8F6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655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2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est en principe possible d’utiliser directement </a:t>
            </a:r>
            <a:r>
              <a:rPr lang="fr-FR" dirty="0" err="1"/>
              <a:t>IntelliJ</a:t>
            </a:r>
            <a:r>
              <a:rPr lang="fr-FR" dirty="0"/>
              <a:t> IDEA avec le plugin Android. Cependant, toutes les fonctionnalités d’Android Studio ne sont pas présentes dans ce plugin. C’est pourquoi il est recommandé d’installer Android Studio même si </a:t>
            </a:r>
            <a:r>
              <a:rPr lang="fr-FR" dirty="0" err="1"/>
              <a:t>IntelliJ</a:t>
            </a:r>
            <a:r>
              <a:rPr lang="fr-FR" dirty="0"/>
              <a:t> IDEA est déjà installé.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568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7064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866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574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328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616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702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300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002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594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936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9789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4592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512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5144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561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071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540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814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5302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9279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0093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302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08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103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6089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608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7452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processus prend généralement au moins 5 minutes la première fois…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9478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308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453A-ACCE-4C15-CF2C-C001EE99E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AA947-CB57-6C49-1532-3BA32F230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B8C-9C53-0F01-20A1-137CBB47A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4DD1-D5EA-31C5-3E54-FB553E3A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DD706-0208-9691-2AA8-6D0B20E5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762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F337-95D4-A9A0-6BC2-1898432C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02AFB-8BBC-5B4A-9EC8-32774EE7A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63015-9D44-9AD8-6703-98E2F2F2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DBBBB-644E-64F8-1C4A-3B2AF4CE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4736B-AF24-4A59-6B25-A5457589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56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1EA2-C30B-7AE3-B05D-215581A4E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195E4-C240-FD99-B1CD-5B1B984DD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DB5F-4DB0-F664-8E31-A7A035361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05822-D898-02E1-102C-3E0A8493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8B483-5B61-94D3-EAD9-F7328D379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76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2754-EF4D-8234-CCC9-1CDB3069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44402-69D0-22F9-24DA-9BA367097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464CC-D821-9129-752F-27891AFFA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AC82B-B374-8AF9-4748-30267973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8C7D5-8303-BF0E-78A0-CB92C50C8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096CB-ABBA-0CFF-0EB3-6E23CA31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34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2F13-0B7E-B534-B3CD-A3BFC17D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6E81D-6FE1-0FA2-586F-CCBA49FE4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9194F-382D-817B-09D0-2A7E5FA35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49938-4327-F670-D1A0-39C5482BB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3E4D1-8443-67AE-9323-CEEB67736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7BEF1C-C3EC-9CAD-0A98-F2566F7F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8AC2EA-D2E1-7C13-4023-D344561A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C51EE-CCA2-6596-DC8A-B7996DA2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40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A011-0E39-173F-949E-E570E50B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44443-A67B-1155-7904-FAC52F53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7A1D8-5A03-59E1-CB29-0C4198DCE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B8797-A243-6674-B2AD-3C9910A7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92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AB79E1-D161-9E94-4F85-7603B4B44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3A7B3-680E-C53C-95A9-8D01374A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972EA-07E4-D2EC-766D-79AD8F2E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911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3EC53-4915-2003-D6D8-E8125B4BD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3FC49-1313-B177-D898-506829A11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3D206-FEBF-74B9-6528-2A7260378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6BD89-2EFE-5C86-CB0A-B9FEE94C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1C8DB-781E-A3DB-195D-0047BA16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2915E-B538-776B-75DB-A20785B8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044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184E-62D3-B9A2-CAB0-414C7D9A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DE072-4A87-4BB9-CD82-417484BE6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B68B3-CE32-DBFA-D13E-C4C174E0A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12495-4826-E1C2-2D93-87479410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58BF8-F270-B902-A6DC-7753BCAF3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D2DD0-2DE9-428C-F9CA-1E794C88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69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96DF-1AC5-9C08-0AD3-57ADE138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83815-9E6D-9BA2-AD78-76434A3A6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8A66C-8DC1-8E2E-BCE5-6A34BA0D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0AED0-091D-E9BF-5038-BEDD9E65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1D5B0-4F96-8C8C-66AD-C441984F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67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A31F4-225F-0F7C-E57E-709F75AFB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BB930-F9C4-4EEA-5D83-306953CD1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6A814-984D-9571-824C-ADE49CA39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C0764-C9CC-D47C-1A5E-607CDA90B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FA29C-B0AC-AE2E-8DD9-F72BE14F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37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D4A62-713A-C20D-1AC3-87F24D446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E70E4-3CB8-A224-FF19-4EC893927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CCA46-5316-90F9-867E-0957A6A67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47243-2D08-D643-BB81-CC14D4F5BBBA}" type="datetimeFigureOut">
              <a:rPr lang="fr-FR" smtClean="0"/>
              <a:t>20/01/2023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4B64B-0627-23B9-B4B4-B38D79A62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E4D88-BE81-939A-6FB3-C6E7BACEF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9DED-DE0C-724A-816F-3D91529F7F7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83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jetbrains.com/toolbox-app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3ANDM - Développeur d’application Android mobile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08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Installer et Configurer Android Studio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Une première application Android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0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Installer et Configurer Android Studio</a:t>
            </a:r>
          </a:p>
        </p:txBody>
      </p:sp>
    </p:spTree>
    <p:extLst>
      <p:ext uri="{BB962C8B-B14F-4D97-AF65-F5344CB8AC3E}">
        <p14:creationId xmlns:p14="http://schemas.microsoft.com/office/powerpoint/2010/main" val="58816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D2C2DB-E5D5-D48C-A832-54A920863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557" y="1641118"/>
            <a:ext cx="3991429" cy="3991429"/>
          </a:xfrm>
          <a:prstGeom prst="rect">
            <a:avLst/>
          </a:prstGeom>
        </p:spPr>
      </p:pic>
      <p:sp>
        <p:nvSpPr>
          <p:cNvPr id="8" name="ZoneTexte 2">
            <a:extLst>
              <a:ext uri="{FF2B5EF4-FFF2-40B4-BE49-F238E27FC236}">
                <a16:creationId xmlns:a16="http://schemas.microsoft.com/office/drawing/2014/main" id="{6BFF0662-9D9B-F694-70F2-E029BFCAF1BA}"/>
              </a:ext>
            </a:extLst>
          </p:cNvPr>
          <p:cNvSpPr txBox="1"/>
          <p:nvPr/>
        </p:nvSpPr>
        <p:spPr>
          <a:xfrm>
            <a:off x="844826" y="1431230"/>
            <a:ext cx="63617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Android Studio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IDE officiel pour développer des applications Android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Par Google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Basé sur </a:t>
            </a:r>
            <a:r>
              <a:rPr lang="fr-FR" sz="2400" dirty="0" err="1"/>
              <a:t>IntelliJ</a:t>
            </a:r>
            <a:r>
              <a:rPr lang="fr-FR" sz="2400" dirty="0"/>
              <a:t> IDEA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Étend les fonctionnalités de celui-ci avec des outils nécessaires pour développer des applications (SDK, émulateurs, </a:t>
            </a:r>
            <a:r>
              <a:rPr lang="fr-FR" sz="2400" dirty="0" err="1"/>
              <a:t>debuggers</a:t>
            </a:r>
            <a:r>
              <a:rPr lang="fr-FR" sz="2400" dirty="0"/>
              <a:t>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6829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hlinkClick r:id="rId2"/>
              </a:rPr>
              <a:t>https://jetbrains.com/toolbox-app</a:t>
            </a:r>
            <a:r>
              <a:rPr lang="fr-FR" sz="24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57725-9AA8-DAF1-D7FF-F2CD2179E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078" y="2189901"/>
            <a:ext cx="6515844" cy="40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17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sp>
        <p:nvSpPr>
          <p:cNvPr id="15" name="ZoneTexte 2">
            <a:extLst>
              <a:ext uri="{FF2B5EF4-FFF2-40B4-BE49-F238E27FC236}">
                <a16:creationId xmlns:a16="http://schemas.microsoft.com/office/drawing/2014/main" id="{53B22695-A0F5-BFA0-875B-DA11E6ADA91C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macOS</a:t>
            </a:r>
            <a:endParaRPr lang="fr-FR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11B6B4-6DC8-8336-BE54-EDBF9CFC8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970" y="1892895"/>
            <a:ext cx="6114060" cy="465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754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sp>
        <p:nvSpPr>
          <p:cNvPr id="15" name="ZoneTexte 2">
            <a:extLst>
              <a:ext uri="{FF2B5EF4-FFF2-40B4-BE49-F238E27FC236}">
                <a16:creationId xmlns:a16="http://schemas.microsoft.com/office/drawing/2014/main" id="{53B22695-A0F5-BFA0-875B-DA11E6ADA91C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fr-FR" sz="2400" b="1" dirty="0"/>
              <a:t>GNU/Linux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7BCFD58A-622C-5B8A-81E0-0562F0A2EB48}"/>
              </a:ext>
            </a:extLst>
          </p:cNvPr>
          <p:cNvSpPr txBox="1"/>
          <p:nvPr/>
        </p:nvSpPr>
        <p:spPr>
          <a:xfrm>
            <a:off x="844825" y="2156254"/>
            <a:ext cx="10502349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$ cd Downloads/ </a:t>
            </a:r>
          </a:p>
          <a:p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$ tar -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xf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 jetbrains-toolbox-1.27.2.13801.tar.gz</a:t>
            </a:r>
          </a:p>
          <a:p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$ chmod +x jetbrains-toolbox-1.27.2.13801/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jetbrains-toolbox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$ $_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72D7A229-607C-F947-1516-1E0D026BCC56}"/>
              </a:ext>
            </a:extLst>
          </p:cNvPr>
          <p:cNvSpPr txBox="1"/>
          <p:nvPr/>
        </p:nvSpPr>
        <p:spPr>
          <a:xfrm>
            <a:off x="844826" y="3989273"/>
            <a:ext cx="10525539" cy="83099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Possibilité d’utiliser votre gestionnaire de paquets si la version de la Toolbox n’est pas trop ancienne</a:t>
            </a:r>
          </a:p>
        </p:txBody>
      </p:sp>
    </p:spTree>
    <p:extLst>
      <p:ext uri="{BB962C8B-B14F-4D97-AF65-F5344CB8AC3E}">
        <p14:creationId xmlns:p14="http://schemas.microsoft.com/office/powerpoint/2010/main" val="378088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8427BA-9AEE-2D11-5670-52D814FF0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28" y="2289655"/>
            <a:ext cx="3909385" cy="2998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E2C33D-4660-E252-E85F-9734A5191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513" y="2286068"/>
            <a:ext cx="3909385" cy="30055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029019-33E7-3FF0-6B83-6E124CACB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898" y="2286068"/>
            <a:ext cx="3909385" cy="3005564"/>
          </a:xfrm>
          <a:prstGeom prst="rect">
            <a:avLst/>
          </a:prstGeom>
        </p:spPr>
      </p:pic>
      <p:sp>
        <p:nvSpPr>
          <p:cNvPr id="15" name="ZoneTexte 2">
            <a:extLst>
              <a:ext uri="{FF2B5EF4-FFF2-40B4-BE49-F238E27FC236}">
                <a16:creationId xmlns:a16="http://schemas.microsoft.com/office/drawing/2014/main" id="{53B22695-A0F5-BFA0-875B-DA11E6ADA91C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Windows</a:t>
            </a:r>
          </a:p>
        </p:txBody>
      </p:sp>
    </p:spTree>
    <p:extLst>
      <p:ext uri="{BB962C8B-B14F-4D97-AF65-F5344CB8AC3E}">
        <p14:creationId xmlns:p14="http://schemas.microsoft.com/office/powerpoint/2010/main" val="415392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sp>
        <p:nvSpPr>
          <p:cNvPr id="15" name="ZoneTexte 2">
            <a:extLst>
              <a:ext uri="{FF2B5EF4-FFF2-40B4-BE49-F238E27FC236}">
                <a16:creationId xmlns:a16="http://schemas.microsoft.com/office/drawing/2014/main" id="{53B22695-A0F5-BFA0-875B-DA11E6ADA91C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Windows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D88A7-0637-A209-94BD-6C231C678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813" y="2258641"/>
            <a:ext cx="4798374" cy="357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4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sp>
        <p:nvSpPr>
          <p:cNvPr id="15" name="ZoneTexte 2">
            <a:extLst>
              <a:ext uri="{FF2B5EF4-FFF2-40B4-BE49-F238E27FC236}">
                <a16:creationId xmlns:a16="http://schemas.microsoft.com/office/drawing/2014/main" id="{53B22695-A0F5-BFA0-875B-DA11E6ADA91C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Tous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B9A02-CCAF-BDD8-403E-6B9C8313A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180" y="2047274"/>
            <a:ext cx="2852061" cy="4368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AFDBEC-8F77-FDD1-402E-D93481004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112" y="2047274"/>
            <a:ext cx="2852061" cy="43688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F36557-2F63-C3D0-FFC3-1AEBA2DAC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854" y="2047274"/>
            <a:ext cx="2852062" cy="436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9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9FFC0-C7F5-BA13-3646-164458C2C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200" y="2712241"/>
            <a:ext cx="2525599" cy="3868782"/>
          </a:xfrm>
          <a:prstGeom prst="rect">
            <a:avLst/>
          </a:prstGeom>
        </p:spPr>
      </p:pic>
      <p:sp>
        <p:nvSpPr>
          <p:cNvPr id="8" name="ZoneTexte 2">
            <a:extLst>
              <a:ext uri="{FF2B5EF4-FFF2-40B4-BE49-F238E27FC236}">
                <a16:creationId xmlns:a16="http://schemas.microsoft.com/office/drawing/2014/main" id="{5881DF0F-0E2B-3AB5-7492-4EAF422110DC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/>
              <a:t>Optionnel</a:t>
            </a:r>
            <a:r>
              <a:rPr lang="fr-FR" sz="2400" dirty="0"/>
              <a:t> : s’identifier dans la Toolbox via le site de </a:t>
            </a:r>
            <a:r>
              <a:rPr lang="fr-FR" sz="2400" dirty="0" err="1"/>
              <a:t>JetBrains</a:t>
            </a:r>
            <a:r>
              <a:rPr lang="fr-FR" sz="2400" dirty="0"/>
              <a:t> pour bénéficier d’autres licences disponibles.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Cependant, Android Studio est gratuit et n’en nécessite pas.</a:t>
            </a:r>
          </a:p>
        </p:txBody>
      </p:sp>
    </p:spTree>
    <p:extLst>
      <p:ext uri="{BB962C8B-B14F-4D97-AF65-F5344CB8AC3E}">
        <p14:creationId xmlns:p14="http://schemas.microsoft.com/office/powerpoint/2010/main" val="2276422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BEE5D8-BA38-D8CC-307B-51743401C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2240913"/>
            <a:ext cx="5562600" cy="800100"/>
          </a:xfrm>
          <a:prstGeom prst="rect">
            <a:avLst/>
          </a:prstGeom>
        </p:spPr>
      </p:pic>
      <p:sp>
        <p:nvSpPr>
          <p:cNvPr id="5" name="ZoneTexte 2">
            <a:extLst>
              <a:ext uri="{FF2B5EF4-FFF2-40B4-BE49-F238E27FC236}">
                <a16:creationId xmlns:a16="http://schemas.microsoft.com/office/drawing/2014/main" id="{57FC68E7-B57F-7662-7E51-2F71B1B40CF5}"/>
              </a:ext>
            </a:extLst>
          </p:cNvPr>
          <p:cNvSpPr txBox="1"/>
          <p:nvPr/>
        </p:nvSpPr>
        <p:spPr>
          <a:xfrm>
            <a:off x="844826" y="3302534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Version actuelle : </a:t>
            </a:r>
            <a:r>
              <a:rPr lang="fr-FR" sz="2400" i="1" dirty="0"/>
              <a:t>Electric </a:t>
            </a:r>
            <a:r>
              <a:rPr lang="fr-FR" sz="2400" i="1" dirty="0" err="1"/>
              <a:t>Eel</a:t>
            </a:r>
            <a:endParaRPr lang="fr-FR" sz="2400" i="1" dirty="0"/>
          </a:p>
        </p:txBody>
      </p:sp>
    </p:spTree>
    <p:extLst>
      <p:ext uri="{BB962C8B-B14F-4D97-AF65-F5344CB8AC3E}">
        <p14:creationId xmlns:p14="http://schemas.microsoft.com/office/powerpoint/2010/main" val="922194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00D8C-770B-45ED-8FD4-CDA559FD9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415" y="2115644"/>
            <a:ext cx="5409170" cy="13834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C403B6-C2E0-D7E2-AA76-450AC674F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4511853"/>
            <a:ext cx="5448300" cy="1409700"/>
          </a:xfrm>
          <a:prstGeom prst="rect">
            <a:avLst/>
          </a:prstGeom>
        </p:spPr>
      </p:pic>
      <p:sp>
        <p:nvSpPr>
          <p:cNvPr id="4" name="ZoneTexte 2">
            <a:extLst>
              <a:ext uri="{FF2B5EF4-FFF2-40B4-BE49-F238E27FC236}">
                <a16:creationId xmlns:a16="http://schemas.microsoft.com/office/drawing/2014/main" id="{F91BA50D-CEFD-EDD3-C47A-4FE2E1DBCF16}"/>
              </a:ext>
            </a:extLst>
          </p:cNvPr>
          <p:cNvSpPr txBox="1"/>
          <p:nvPr/>
        </p:nvSpPr>
        <p:spPr>
          <a:xfrm>
            <a:off x="828261" y="3774641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Une fois installé, cliquer dessus pour le démarrer :</a:t>
            </a:r>
            <a:endParaRPr lang="fr-FR" sz="2400" i="1" dirty="0"/>
          </a:p>
        </p:txBody>
      </p:sp>
    </p:spTree>
    <p:extLst>
      <p:ext uri="{BB962C8B-B14F-4D97-AF65-F5344CB8AC3E}">
        <p14:creationId xmlns:p14="http://schemas.microsoft.com/office/powerpoint/2010/main" val="3181044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EC2BE-52DA-11BF-FD34-EDFBE8664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076450"/>
            <a:ext cx="53340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43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DF034E-07AF-42FA-0AC2-DDF9B046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98968"/>
            <a:ext cx="7772400" cy="505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32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817C3-6303-14BE-725B-35B5C4387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00952"/>
            <a:ext cx="7772400" cy="59594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81FF2B-9A2F-F045-F75B-6CADC6C17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946" y="2310923"/>
            <a:ext cx="5894107" cy="345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01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188B84-2B40-B38A-A64B-EAC1181DA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898541"/>
            <a:ext cx="7772400" cy="59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14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C2695-FE23-EBBB-EF74-ED273CF5D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898541"/>
            <a:ext cx="7772400" cy="59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11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AA7E5-A2AC-92B4-D4A6-19A105CA5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353" y="2265576"/>
            <a:ext cx="5513294" cy="4227298"/>
          </a:xfrm>
          <a:prstGeom prst="rect">
            <a:avLst/>
          </a:prstGeom>
        </p:spPr>
      </p:pic>
      <p:sp>
        <p:nvSpPr>
          <p:cNvPr id="5" name="ZoneTexte 2">
            <a:extLst>
              <a:ext uri="{FF2B5EF4-FFF2-40B4-BE49-F238E27FC236}">
                <a16:creationId xmlns:a16="http://schemas.microsoft.com/office/drawing/2014/main" id="{298FF0AE-D10B-C9E7-9E5D-125332A1D6A8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Tout comme </a:t>
            </a:r>
            <a:r>
              <a:rPr lang="fr-FR" sz="2400" dirty="0" err="1"/>
              <a:t>IntelliJ</a:t>
            </a:r>
            <a:r>
              <a:rPr lang="fr-FR" sz="2400" dirty="0"/>
              <a:t> IDEA, Android Studio embarque son propre JDK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Laisser la valeur par défaut si l’on souhaite utiliser</a:t>
            </a:r>
          </a:p>
        </p:txBody>
      </p:sp>
    </p:spTree>
    <p:extLst>
      <p:ext uri="{BB962C8B-B14F-4D97-AF65-F5344CB8AC3E}">
        <p14:creationId xmlns:p14="http://schemas.microsoft.com/office/powerpoint/2010/main" val="3658585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55D7E-5222-C6D0-80DE-9CFD91667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898541"/>
            <a:ext cx="7772400" cy="59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27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298FF0AE-D10B-C9E7-9E5D-125332A1D6A8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Laisser les 3 cases cochées par défaut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211273-FC42-7E48-85D4-83B43AE23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560" y="1961350"/>
            <a:ext cx="5910069" cy="453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50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26A41-7D15-295F-C22E-694950185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44218"/>
            <a:ext cx="7772400" cy="59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96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03324-EE46-C07D-0990-30D6DFB2B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44218"/>
            <a:ext cx="7772400" cy="59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15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5BCF09-D42A-87F3-8B54-32D64FF3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898541"/>
            <a:ext cx="7772400" cy="59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9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Installer et Configurer Android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3377F5-80F2-12B6-668B-9ABB8610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898541"/>
            <a:ext cx="7772400" cy="59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34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Installer et Configurer Android Studio</a:t>
            </a:r>
          </a:p>
        </p:txBody>
      </p:sp>
    </p:spTree>
    <p:extLst>
      <p:ext uri="{BB962C8B-B14F-4D97-AF65-F5344CB8AC3E}">
        <p14:creationId xmlns:p14="http://schemas.microsoft.com/office/powerpoint/2010/main" val="1894775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Une première application Android</a:t>
            </a:r>
          </a:p>
        </p:txBody>
      </p:sp>
    </p:spTree>
    <p:extLst>
      <p:ext uri="{BB962C8B-B14F-4D97-AF65-F5344CB8AC3E}">
        <p14:creationId xmlns:p14="http://schemas.microsoft.com/office/powerpoint/2010/main" val="331395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858DD-706A-A4DB-9D9D-9A5E3480B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623" y="1137617"/>
            <a:ext cx="6920753" cy="572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63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FFBD1-235A-F81F-96FD-5FEAB9FFD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43483"/>
            <a:ext cx="7772400" cy="571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35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E2245B-E2C4-3E9C-2909-3046AE1EA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43483"/>
            <a:ext cx="7772400" cy="571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03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E2406-414F-0A56-A7DC-C7FA77F5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870" y="944218"/>
            <a:ext cx="8570259" cy="596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50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ECE752-FF48-F05C-2D68-CFA6A0F7B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43483"/>
            <a:ext cx="7772400" cy="571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18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779DC-8BE1-8794-389F-BE083E345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209" y="1431230"/>
            <a:ext cx="6437920" cy="4733365"/>
          </a:xfrm>
          <a:prstGeom prst="rect">
            <a:avLst/>
          </a:prstGeom>
        </p:spPr>
      </p:pic>
      <p:sp>
        <p:nvSpPr>
          <p:cNvPr id="6" name="ZoneTexte 2">
            <a:extLst>
              <a:ext uri="{FF2B5EF4-FFF2-40B4-BE49-F238E27FC236}">
                <a16:creationId xmlns:a16="http://schemas.microsoft.com/office/drawing/2014/main" id="{F67DEE46-2B7E-D4CC-B7C8-8C9588EA4B33}"/>
              </a:ext>
            </a:extLst>
          </p:cNvPr>
          <p:cNvSpPr txBox="1"/>
          <p:nvPr/>
        </p:nvSpPr>
        <p:spPr>
          <a:xfrm>
            <a:off x="844827" y="1431230"/>
            <a:ext cx="45205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Le SDK Android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Un SDK s’installe automatiquement si c’est la première fois que l’on crée une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 SDK (</a:t>
            </a:r>
            <a:r>
              <a:rPr lang="fr-FR" sz="2400" i="1" dirty="0"/>
              <a:t>Software </a:t>
            </a:r>
            <a:r>
              <a:rPr lang="fr-FR" sz="2400" i="1" dirty="0" err="1"/>
              <a:t>Development</a:t>
            </a:r>
            <a:r>
              <a:rPr lang="fr-FR" sz="2400" i="1" dirty="0"/>
              <a:t> Kit</a:t>
            </a:r>
            <a:r>
              <a:rPr lang="fr-FR" sz="2400" dirty="0"/>
              <a:t>) Android est une collection de librairies et d’outils essentiels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Il permet entre autres de communiquer avec l’OS Android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521310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5639D-2AD9-A1CF-B1D5-AB8B63F49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43483"/>
            <a:ext cx="7772400" cy="571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03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6180B1-D7FE-CFE2-7359-B95E117A2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26" y="2056500"/>
            <a:ext cx="6400801" cy="4640135"/>
          </a:xfrm>
          <a:prstGeom prst="rect">
            <a:avLst/>
          </a:prstGeom>
        </p:spPr>
      </p:pic>
      <p:sp>
        <p:nvSpPr>
          <p:cNvPr id="6" name="ZoneTexte 2">
            <a:extLst>
              <a:ext uri="{FF2B5EF4-FFF2-40B4-BE49-F238E27FC236}">
                <a16:creationId xmlns:a16="http://schemas.microsoft.com/office/drawing/2014/main" id="{4AE90A60-5051-462C-D00E-1BADFB9C767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Laisser à l’IDE le temps de charger et configurer le projet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5954A3-705A-2BC8-258C-F40AF24B2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479" y="2867039"/>
            <a:ext cx="4405876" cy="9433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7067C0-357E-B6CE-1101-AEEAC3007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3479" y="4599596"/>
            <a:ext cx="4405876" cy="73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08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35130-053B-8228-8267-32B8EF0F7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68094"/>
            <a:ext cx="7772400" cy="522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49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48970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Par défaut, l’arborescence de fichiers sur la gauche ne reflète pas la structure des dossiers présente sur le disque.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Il est souhaitable de ne pas avoir affaire à ces groupes virtuels. Cliquer sur la liste déroulante du haut et sélectionner </a:t>
            </a:r>
            <a:r>
              <a:rPr lang="en-US" sz="2400" dirty="0"/>
              <a:t>“Project”</a:t>
            </a:r>
            <a:r>
              <a:rPr lang="fr-FR" sz="2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308592-E3B3-7836-3D0F-60F390856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1" y="1431230"/>
            <a:ext cx="3446928" cy="2188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C9A1D8-D3F9-FF6C-3142-91CCD0B6E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1" y="3711716"/>
            <a:ext cx="3446928" cy="290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03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“Project tool window”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B6388-2DB7-DD22-90E9-0A11840B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57" y="1892895"/>
            <a:ext cx="7133276" cy="480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49E0B8-F071-43BD-3A2B-B5FA8B37DF96}"/>
              </a:ext>
            </a:extLst>
          </p:cNvPr>
          <p:cNvSpPr/>
          <p:nvPr/>
        </p:nvSpPr>
        <p:spPr>
          <a:xfrm>
            <a:off x="2662517" y="2291564"/>
            <a:ext cx="1855695" cy="408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4382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“Editor”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B6388-2DB7-DD22-90E9-0A11840B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57" y="1892895"/>
            <a:ext cx="7133276" cy="480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49E0B8-F071-43BD-3A2B-B5FA8B37DF96}"/>
              </a:ext>
            </a:extLst>
          </p:cNvPr>
          <p:cNvSpPr/>
          <p:nvPr/>
        </p:nvSpPr>
        <p:spPr>
          <a:xfrm flipH="1">
            <a:off x="4518212" y="2291564"/>
            <a:ext cx="4908176" cy="40823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603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“Navigation bar”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B6388-2DB7-DD22-90E9-0A11840B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57" y="1892895"/>
            <a:ext cx="7133276" cy="480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49E0B8-F071-43BD-3A2B-B5FA8B37DF96}"/>
              </a:ext>
            </a:extLst>
          </p:cNvPr>
          <p:cNvSpPr/>
          <p:nvPr/>
        </p:nvSpPr>
        <p:spPr>
          <a:xfrm flipV="1">
            <a:off x="2675964" y="2138079"/>
            <a:ext cx="1842245" cy="136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0343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“Toolbar”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B6388-2DB7-DD22-90E9-0A11840B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57" y="1892895"/>
            <a:ext cx="7133276" cy="480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49E0B8-F071-43BD-3A2B-B5FA8B37DF96}"/>
              </a:ext>
            </a:extLst>
          </p:cNvPr>
          <p:cNvSpPr/>
          <p:nvPr/>
        </p:nvSpPr>
        <p:spPr>
          <a:xfrm flipH="1" flipV="1">
            <a:off x="4518210" y="2138081"/>
            <a:ext cx="5015753" cy="1534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9990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“Status bar”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B6388-2DB7-DD22-90E9-0A11840B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957" y="1892895"/>
            <a:ext cx="7133276" cy="480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49E0B8-F071-43BD-3A2B-B5FA8B37DF96}"/>
              </a:ext>
            </a:extLst>
          </p:cNvPr>
          <p:cNvSpPr/>
          <p:nvPr/>
        </p:nvSpPr>
        <p:spPr>
          <a:xfrm flipH="1" flipV="1">
            <a:off x="2620537" y="6416132"/>
            <a:ext cx="6935728" cy="163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183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(physique)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Appuyer sur </a:t>
            </a:r>
            <a:r>
              <a:rPr lang="en-US" sz="2400" dirty="0"/>
              <a:t>“Build number”</a:t>
            </a:r>
            <a:r>
              <a:rPr lang="fr-FR" sz="2400" dirty="0"/>
              <a:t> 5 fois de suite pour activer le mode développeur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DD76BC-A086-92B4-F7E3-81098AA2C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757" y="2369562"/>
            <a:ext cx="1952201" cy="42297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CE3D4F-7120-E4B4-BE5A-A1BA10AFE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919" y="2369562"/>
            <a:ext cx="1952201" cy="42297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7365A5-990F-57D1-9E73-617A62BC6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081" y="2369562"/>
            <a:ext cx="1952201" cy="422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70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(physique)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Brancher ensuite l’appareil et permettre à l’ordinateur d’interagir avec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73E89-57B3-5A5D-0500-5B348DD6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849" y="2396456"/>
            <a:ext cx="1952202" cy="422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92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(physique)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L’appareil apparaît dans la </a:t>
            </a:r>
            <a:r>
              <a:rPr lang="fr-FR" sz="2400" i="1" dirty="0" err="1"/>
              <a:t>toolbar</a:t>
            </a:r>
            <a:endParaRPr lang="fr-FR" sz="24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8AB685-1503-119E-78E0-82F14E181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3429000"/>
            <a:ext cx="3733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75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(virtuel)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069DA-31BB-940D-732A-0727A1008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689" y="1982199"/>
            <a:ext cx="6827812" cy="487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870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(virtuel)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D56F0-A3EE-63D8-7B04-E09D30553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689" y="1982199"/>
            <a:ext cx="6827812" cy="487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078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(virtuel)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20FC7E-2F96-6007-3EC3-D8B880070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50" y="3060106"/>
            <a:ext cx="54737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0695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(virtuel)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FEC78-E769-BD2F-3759-5DAEA0565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824" y="1949567"/>
            <a:ext cx="6900352" cy="49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24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(virtuel)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CA677C-4E14-1DEC-2350-FC6C94725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85" y="1988995"/>
            <a:ext cx="6749829" cy="47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779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(virtuel)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F29BFB-670D-4D96-4C41-6D790E2C4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85" y="1962509"/>
            <a:ext cx="6749829" cy="48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875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(virtuel)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45232-630C-9FFC-EA2F-87D97323E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768006"/>
            <a:ext cx="62484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851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Ajouter un appareil Android (virtuel)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L’appareil apparaît dans la </a:t>
            </a:r>
            <a:r>
              <a:rPr lang="fr-FR" sz="2400" i="1" dirty="0" err="1"/>
              <a:t>toolbar</a:t>
            </a:r>
            <a:endParaRPr lang="fr-FR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CBC62-EDAD-653F-EE3F-408A434FA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0" y="3630707"/>
            <a:ext cx="59944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217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Choisir l’appareil sur lequel exécuter l’application</a:t>
            </a:r>
          </a:p>
          <a:p>
            <a:r>
              <a:rPr lang="fr-FR" sz="2400" dirty="0"/>
              <a:t>Physiques et virtuel confondus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11CF1-2536-AD89-29A4-1CCFF4DB6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0" y="2477380"/>
            <a:ext cx="62230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346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Exécuter l’application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CE865-81BB-9EBE-7D9E-99E90671C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50" y="3194050"/>
            <a:ext cx="62611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346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Exécuter l’application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B4CCA-B3C0-5A64-5E72-97B978846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876" y="1166623"/>
            <a:ext cx="4041800" cy="5422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58B6F7-51B5-F875-8E74-377B261B0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26" y="2098980"/>
            <a:ext cx="6287665" cy="449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729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Exécuter l’application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DDF33-FC6E-4CCE-CD0D-4A9E68D3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342" y="1256141"/>
            <a:ext cx="3002561" cy="5236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264AB-723A-55E3-7FE5-C0702E20B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67984"/>
            <a:ext cx="6287665" cy="449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345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Arrêter l’application</a:t>
            </a:r>
          </a:p>
          <a:p>
            <a:r>
              <a:rPr lang="fr-FR" sz="2400" dirty="0"/>
              <a:t>Ceci ne désinstalle pas l’application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0011B-EF2B-FCB0-5585-924623F9F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842" y="2262227"/>
            <a:ext cx="6221506" cy="448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364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98AAE-15B0-044F-C570-565F39AB9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049" y="3736133"/>
            <a:ext cx="4077784" cy="859641"/>
          </a:xfrm>
          <a:prstGeom prst="rect">
            <a:avLst/>
          </a:prstGeom>
        </p:spPr>
      </p:pic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Afficher un aperçu de l’interface utilisateur (UI) actuelle</a:t>
            </a:r>
          </a:p>
          <a:p>
            <a:r>
              <a:rPr lang="fr-FR" sz="2400" dirty="0"/>
              <a:t>Ouvrir le fichier </a:t>
            </a:r>
            <a:r>
              <a:rPr lang="fr-FR" sz="2400" dirty="0" err="1"/>
              <a:t>MainActivity.kt</a:t>
            </a:r>
            <a:r>
              <a:rPr lang="fr-FR" sz="2400" dirty="0"/>
              <a:t> et cliquer sur </a:t>
            </a:r>
            <a:r>
              <a:rPr lang="en-US" sz="2400" dirty="0"/>
              <a:t>“Split” </a:t>
            </a:r>
            <a:r>
              <a:rPr lang="fr-FR" sz="2400" dirty="0"/>
              <a:t>en haut à droite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404E75-8EF3-7178-E315-A7C0358FF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420" y="2442826"/>
            <a:ext cx="3228415" cy="378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898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Afficher un aperçu de l’interface utilisateur (UI) actuelle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543A69-DC3A-7AA0-A757-2CDC5B78F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541" y="2113002"/>
            <a:ext cx="5204918" cy="437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833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Afficher un aperçu de l’interface utilisateur (UI) actuelle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D73A9E-FE1B-95AF-1D9D-64EB8E11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541" y="2192937"/>
            <a:ext cx="5204918" cy="429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496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7" y="1431230"/>
            <a:ext cx="5834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Fonctionnement de l’aperçu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27A73-C7D6-7C31-E56E-C2A73DDCB925}"/>
              </a:ext>
            </a:extLst>
          </p:cNvPr>
          <p:cNvSpPr txBox="1"/>
          <p:nvPr/>
        </p:nvSpPr>
        <p:spPr>
          <a:xfrm>
            <a:off x="838200" y="2413337"/>
            <a:ext cx="42244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8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@Preview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(showBackground = </a:t>
            </a:r>
            <a:r>
              <a:rPr lang="en-US" b="1" noProof="1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8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noProof="1">
                <a:solidFill>
                  <a:srgbClr val="8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DefaultPreview() {</a:t>
            </a:r>
            <a:b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MyApplicationTheme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Greeting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1" noProof="1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"Android"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250A3-7985-FBE2-B7D6-E7DE55BCF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775" y="1431230"/>
            <a:ext cx="3937000" cy="472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391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Fonctionnement de l’aperçu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27A73-C7D6-7C31-E56E-C2A73DDCB925}"/>
              </a:ext>
            </a:extLst>
          </p:cNvPr>
          <p:cNvSpPr txBox="1"/>
          <p:nvPr/>
        </p:nvSpPr>
        <p:spPr>
          <a:xfrm>
            <a:off x="838200" y="2413337"/>
            <a:ext cx="42244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8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@Preview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(showBackground = </a:t>
            </a:r>
            <a:r>
              <a:rPr lang="en-US" b="1" noProof="1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8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@Composable</a:t>
            </a:r>
            <a:br>
              <a:rPr lang="en-US" noProof="1">
                <a:solidFill>
                  <a:srgbClr val="8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DefaultPreview() {</a:t>
            </a:r>
            <a:b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MyApplicationTheme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    </a:t>
            </a:r>
            <a:r>
              <a:rPr lang="en-US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Greeting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1" noProof="1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1" noProof="1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world</a:t>
            </a:r>
            <a:r>
              <a:rPr lang="en-US" b="1" noProof="1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E58A30-D175-1B76-BF6B-FFB559C20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775" y="1431230"/>
            <a:ext cx="3937000" cy="485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4628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7" y="1431230"/>
            <a:ext cx="55559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Exécuter l’application à nouveau</a:t>
            </a:r>
          </a:p>
          <a:p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 texte affiché reste </a:t>
            </a:r>
            <a:r>
              <a:rPr lang="en-US" sz="2400" dirty="0"/>
              <a:t>“Hello Android!”</a:t>
            </a:r>
            <a:r>
              <a:rPr lang="fr-FR" sz="2400" dirty="0"/>
              <a:t> car seul le texte de l’aperçu a été changé</a:t>
            </a:r>
            <a:r>
              <a:rPr lang="en-US" sz="2400" dirty="0"/>
              <a:t> </a:t>
            </a:r>
            <a:endParaRPr lang="fr-FR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5651F9-ECC3-BD7B-A1A5-A92BAADAB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836" y="1583613"/>
            <a:ext cx="2402693" cy="478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416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Une première application Android</a:t>
            </a: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D00FED29-B39F-FEA3-B0B3-A222509827FA}"/>
              </a:ext>
            </a:extLst>
          </p:cNvPr>
          <p:cNvSpPr txBox="1"/>
          <p:nvPr/>
        </p:nvSpPr>
        <p:spPr>
          <a:xfrm>
            <a:off x="844827" y="1431230"/>
            <a:ext cx="5555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Changer le texte sur l’application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A7C47-3B14-0494-DB86-C4CE41ADADAE}"/>
              </a:ext>
            </a:extLst>
          </p:cNvPr>
          <p:cNvSpPr txBox="1"/>
          <p:nvPr/>
        </p:nvSpPr>
        <p:spPr>
          <a:xfrm>
            <a:off x="844827" y="2125613"/>
            <a:ext cx="78285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noProof="1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MainActivity : ComponentActivity() {</a:t>
            </a:r>
          </a:p>
          <a:p>
            <a:b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FR" b="1" noProof="1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override fun 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onCreate(savedInstanceState: Bundle?) {</a:t>
            </a:r>
            <a:b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FR" b="1" noProof="1">
                <a:solidFill>
                  <a:srgbClr val="000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super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.onCreate(savedInstanceState)</a:t>
            </a:r>
            <a:b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FR" i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setContent </a:t>
            </a: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fr-FR" i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MyApplicationTheme </a:t>
            </a: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FR" noProof="1">
                <a:solidFill>
                  <a:srgbClr val="00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Surface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fr-FR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modifier = 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Modifier.</a:t>
            </a:r>
            <a:r>
              <a:rPr lang="fr-FR" i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fillMaxSize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(),</a:t>
            </a:r>
            <a:b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fr-FR" noProof="1">
                <a:solidFill>
                  <a:srgbClr val="4A86E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 = 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MaterialTheme.</a:t>
            </a:r>
            <a:r>
              <a:rPr lang="fr-FR" b="1" noProof="1">
                <a:solidFill>
                  <a:srgbClr val="660E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colors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fr-FR" b="1" noProof="1">
                <a:solidFill>
                  <a:srgbClr val="660E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background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) </a:t>
            </a: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fr-FR" i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Greeting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b="1" noProof="1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FR" b="1" noProof="1">
                <a:solidFill>
                  <a:srgbClr val="008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world</a:t>
            </a:r>
            <a:r>
              <a:rPr lang="fr-FR" b="1" noProof="1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  <a:b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  <a:b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328DA-3B71-39DA-0CB4-4F9236EBA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353" y="736146"/>
            <a:ext cx="2968747" cy="591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25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Une première application Android</a:t>
            </a:r>
          </a:p>
        </p:txBody>
      </p:sp>
    </p:spTree>
    <p:extLst>
      <p:ext uri="{BB962C8B-B14F-4D97-AF65-F5344CB8AC3E}">
        <p14:creationId xmlns:p14="http://schemas.microsoft.com/office/powerpoint/2010/main" val="28875705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68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1146</Words>
  <Application>Microsoft Macintosh PowerPoint</Application>
  <PresentationFormat>Widescreen</PresentationFormat>
  <Paragraphs>183</Paragraphs>
  <Slides>67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Calibri</vt:lpstr>
      <vt:lpstr>Calibri Light</vt:lpstr>
      <vt:lpstr>Consolas</vt:lpstr>
      <vt:lpstr>Office Theme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Alexandre Gressier</dc:creator>
  <cp:lastModifiedBy>Alexandre Gressier</cp:lastModifiedBy>
  <cp:revision>1</cp:revision>
  <dcterms:created xsi:type="dcterms:W3CDTF">2023-01-20T15:34:14Z</dcterms:created>
  <dcterms:modified xsi:type="dcterms:W3CDTF">2023-01-20T15:36:10Z</dcterms:modified>
</cp:coreProperties>
</file>