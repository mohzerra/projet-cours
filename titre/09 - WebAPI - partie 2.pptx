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67" r:id="rId4"/>
    <p:sldId id="25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25" r:id="rId28"/>
    <p:sldId id="262" r:id="rId29"/>
    <p:sldId id="268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28" r:id="rId38"/>
    <p:sldId id="263" r:id="rId39"/>
    <p:sldId id="269" r:id="rId40"/>
    <p:sldId id="358" r:id="rId41"/>
    <p:sldId id="359" r:id="rId42"/>
    <p:sldId id="360" r:id="rId43"/>
    <p:sldId id="361" r:id="rId44"/>
    <p:sldId id="362" r:id="rId45"/>
    <p:sldId id="363" r:id="rId46"/>
    <p:sldId id="364" r:id="rId47"/>
    <p:sldId id="365" r:id="rId48"/>
    <p:sldId id="366" r:id="rId49"/>
    <p:sldId id="367" r:id="rId50"/>
    <p:sldId id="368" r:id="rId51"/>
    <p:sldId id="369" r:id="rId52"/>
    <p:sldId id="370" r:id="rId53"/>
    <p:sldId id="371" r:id="rId54"/>
    <p:sldId id="372" r:id="rId55"/>
    <p:sldId id="373" r:id="rId56"/>
    <p:sldId id="374" r:id="rId57"/>
    <p:sldId id="375" r:id="rId58"/>
    <p:sldId id="327" r:id="rId59"/>
    <p:sldId id="264" r:id="rId60"/>
    <p:sldId id="270" r:id="rId61"/>
    <p:sldId id="383" r:id="rId62"/>
    <p:sldId id="384" r:id="rId63"/>
    <p:sldId id="385" r:id="rId64"/>
    <p:sldId id="386" r:id="rId65"/>
    <p:sldId id="387" r:id="rId66"/>
    <p:sldId id="388" r:id="rId67"/>
    <p:sldId id="389" r:id="rId68"/>
    <p:sldId id="390" r:id="rId69"/>
    <p:sldId id="326" r:id="rId70"/>
    <p:sldId id="272" r:id="rId7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4626"/>
  </p:normalViewPr>
  <p:slideViewPr>
    <p:cSldViewPr snapToGrid="0" snapToObjects="1">
      <p:cViewPr varScale="1">
        <p:scale>
          <a:sx n="94" d="100"/>
          <a:sy n="94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44D0C-1CB1-E645-87B8-5887239B9ECD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A1237-63C0-2149-90AD-33FFCF7C8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</a:t>
            </a:r>
            <a:r>
              <a:rPr lang="fr-FR"/>
              <a:t>: Corentin Zimmermann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732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4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75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40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04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94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51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7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1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2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13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43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mysite.lan/IT/Cloud/Message/220" TargetMode="External"/><Relationship Id="rId2" Type="http://schemas.openxmlformats.org/officeDocument/2006/relationships/hyperlink" Target="http://mysite.lan/myservice.svc?forum=IT&amp;topic=Cloud&amp;messageid=220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myapi.lan/clients/5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etstore.swagger.io/v2/swagger.yaml" TargetMode="External"/><Relationship Id="rId2" Type="http://schemas.openxmlformats.org/officeDocument/2006/relationships/hyperlink" Target="https://petstore.swagger.io/v2/swagger.json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etstore.swagger.io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bar.html" TargetMode="External"/><Relationship Id="rId2" Type="http://schemas.openxmlformats.org/officeDocument/2006/relationships/hyperlink" Target="https://example.com/foo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example.com/foo.html" TargetMode="External"/><Relationship Id="rId5" Type="http://schemas.openxmlformats.org/officeDocument/2006/relationships/hyperlink" Target="https://www.example.com/foo.html" TargetMode="External"/><Relationship Id="rId4" Type="http://schemas.openxmlformats.org/officeDocument/2006/relationships/hyperlink" Target="https://example.net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WebAPI</a:t>
            </a:r>
            <a:r>
              <a:rPr lang="fr-FR" dirty="0">
                <a:solidFill>
                  <a:schemeClr val="bg1"/>
                </a:solidFill>
              </a:rPr>
              <a:t> - partie 2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3ASP - C# / ASP.NET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6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2851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Routes et </a:t>
            </a:r>
            <a:r>
              <a:rPr lang="fr-FR" sz="3600" dirty="0" err="1">
                <a:solidFill>
                  <a:schemeClr val="bg1"/>
                </a:solidFill>
              </a:rPr>
              <a:t>OpenAPI</a:t>
            </a:r>
            <a:endParaRPr lang="fr-FR" sz="3600" dirty="0">
              <a:solidFill>
                <a:schemeClr val="bg1"/>
              </a:solidFill>
            </a:endParaRP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CORS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Hébergement du service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Les clients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 dirty="0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2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1. Routes et </a:t>
            </a:r>
            <a:r>
              <a:rPr lang="fr-FR" sz="5400" dirty="0" err="1">
                <a:solidFill>
                  <a:schemeClr val="bg1"/>
                </a:solidFill>
              </a:rPr>
              <a:t>OpenAPI</a:t>
            </a:r>
            <a:endParaRPr lang="fr-FR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69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Routes et </a:t>
            </a:r>
            <a:r>
              <a:rPr lang="fr-FR" sz="3200" dirty="0" err="1"/>
              <a:t>OpenAPI</a:t>
            </a:r>
            <a:endParaRPr lang="fr-FR" sz="3200" dirty="0"/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594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routes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définissent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l’architecture</a:t>
            </a:r>
            <a:r>
              <a:rPr lang="fr-FR" sz="2000" spc="-7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8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l’api</a:t>
            </a:r>
            <a:r>
              <a:rPr lang="fr-FR" sz="2000" spc="-8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(contrôleur,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action,</a:t>
            </a:r>
            <a:r>
              <a:rPr lang="fr-FR" sz="2000" spc="-7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paramètres)</a:t>
            </a:r>
            <a:endParaRPr lang="fr-FR" sz="2000" dirty="0">
              <a:latin typeface="Segoe UI"/>
              <a:cs typeface="Segoe UI"/>
            </a:endParaRPr>
          </a:p>
          <a:p>
            <a:pPr marL="694055" marR="5080" lvl="1" indent="-224790">
              <a:lnSpc>
                <a:spcPct val="221500"/>
              </a:lnSpc>
              <a:spcBef>
                <a:spcPts val="15"/>
              </a:spcBef>
              <a:buChar char="•"/>
              <a:tabLst>
                <a:tab pos="694055" algn="l"/>
                <a:tab pos="698500" algn="l"/>
              </a:tabLst>
            </a:pPr>
            <a:r>
              <a:rPr lang="fr-FR" sz="2000" dirty="0">
                <a:solidFill>
                  <a:srgbClr val="391778"/>
                </a:solidFill>
                <a:latin typeface="Arial"/>
                <a:cs typeface="Arial"/>
              </a:rPr>
              <a:t>	</a:t>
            </a: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URLs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plus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lisibles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pour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l’humain </a:t>
            </a:r>
            <a:r>
              <a:rPr lang="fr-FR"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http://mysite.lan/myservice.svc?forum=IT&amp;topic=Cloud&amp;messageid=220</a:t>
            </a:r>
            <a:r>
              <a:rPr lang="fr-FR" sz="2000" spc="-10" dirty="0">
                <a:solidFill>
                  <a:srgbClr val="0462C1"/>
                </a:solidFill>
                <a:latin typeface="Segoe UI"/>
                <a:cs typeface="Segoe UI"/>
              </a:rPr>
              <a:t> </a:t>
            </a:r>
            <a:r>
              <a:rPr lang="fr-FR"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http://mysite.lan/IT/Cloud/Message/220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respect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règles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l’architecture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REST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6" name="Flèche : virage 5">
            <a:extLst>
              <a:ext uri="{FF2B5EF4-FFF2-40B4-BE49-F238E27FC236}">
                <a16:creationId xmlns:a16="http://schemas.microsoft.com/office/drawing/2014/main" id="{E1EA25A8-FFE8-816F-ED3E-543F61AF1650}"/>
              </a:ext>
            </a:extLst>
          </p:cNvPr>
          <p:cNvSpPr/>
          <p:nvPr/>
        </p:nvSpPr>
        <p:spPr>
          <a:xfrm rot="10800000">
            <a:off x="6558279" y="4318000"/>
            <a:ext cx="701040" cy="50800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8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Routes et </a:t>
            </a:r>
            <a:r>
              <a:rPr lang="fr-FR" sz="3200" dirty="0" err="1"/>
              <a:t>OpenAPI</a:t>
            </a:r>
            <a:endParaRPr lang="fr-FR" sz="3200" dirty="0"/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25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>
                <a:latin typeface="Segoe UI"/>
                <a:cs typeface="Segoe UI"/>
              </a:rPr>
              <a:t>Services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défaut,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Web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Api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expose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routes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fonction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contrôleurs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DEF5441-E391-690B-DCB5-788E3EF7085C}"/>
              </a:ext>
            </a:extLst>
          </p:cNvPr>
          <p:cNvSpPr txBox="1"/>
          <p:nvPr/>
        </p:nvSpPr>
        <p:spPr>
          <a:xfrm>
            <a:off x="805543" y="3183802"/>
            <a:ext cx="108857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Configure(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IApplicationBuilder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app,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IWebHostEnvironment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env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app.UseRouting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Ajoute le middleware de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routing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ajouter les middlewares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UseAuthentication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et 					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UseAuthorization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içi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si besoin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app.UseEndpoints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endpoints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=&gt;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endpoints.MapControllers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Map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les routes avec les contrôleurs API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1406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Routes et </a:t>
            </a:r>
            <a:r>
              <a:rPr lang="fr-FR" sz="3200" dirty="0" err="1"/>
              <a:t>OpenAPI</a:t>
            </a:r>
            <a:endParaRPr lang="fr-FR" sz="3200" dirty="0"/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5557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Routes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routes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établies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avec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noms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contrôleurs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2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En</a:t>
            </a:r>
            <a:r>
              <a:rPr lang="fr-FR" sz="1600" spc="-4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supprimant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le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suffixe</a:t>
            </a:r>
            <a:r>
              <a:rPr lang="fr-FR" sz="1600" spc="-4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«</a:t>
            </a:r>
            <a:r>
              <a:rPr lang="fr-FR" sz="1600" spc="-1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Controller</a:t>
            </a:r>
            <a:r>
              <a:rPr lang="fr-FR" sz="1600" spc="-15" dirty="0">
                <a:latin typeface="Segoe UI"/>
                <a:cs typeface="Segoe UI"/>
              </a:rPr>
              <a:t> </a:t>
            </a:r>
            <a:r>
              <a:rPr lang="fr-FR" sz="1600" spc="-50" dirty="0">
                <a:latin typeface="Segoe UI"/>
                <a:cs typeface="Segoe UI"/>
              </a:rPr>
              <a:t>»</a:t>
            </a:r>
            <a:endParaRPr lang="fr-FR" sz="16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1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On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trouve</a:t>
            </a:r>
            <a:r>
              <a:rPr lang="fr-FR" sz="1600" spc="-1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parfois</a:t>
            </a:r>
            <a:r>
              <a:rPr lang="fr-FR" sz="1600" spc="-2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«</a:t>
            </a:r>
            <a:r>
              <a:rPr lang="fr-FR" sz="1600" spc="-2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/api</a:t>
            </a:r>
            <a:r>
              <a:rPr lang="fr-FR" sz="1600" spc="-2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»</a:t>
            </a:r>
            <a:r>
              <a:rPr lang="fr-FR" sz="1600" spc="-2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avant</a:t>
            </a:r>
            <a:r>
              <a:rPr lang="fr-FR" sz="1600" spc="-4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le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spc="-25" dirty="0">
                <a:latin typeface="Segoe UI"/>
                <a:cs typeface="Segoe UI"/>
              </a:rPr>
              <a:t>nom</a:t>
            </a:r>
          </a:p>
          <a:p>
            <a:pPr marL="1155700" lvl="2" indent="-228600">
              <a:lnSpc>
                <a:spcPct val="100000"/>
              </a:lnSpc>
              <a:spcBef>
                <a:spcPts val="31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endParaRPr lang="fr-FR" sz="1600" spc="-25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1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endParaRPr lang="fr-FR" sz="1600" spc="-25" dirty="0">
              <a:latin typeface="Segoe UI"/>
              <a:cs typeface="Segoe UI"/>
            </a:endParaRPr>
          </a:p>
          <a:p>
            <a:pPr marL="241300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«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HTTP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verbs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»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1600" spc="-10" dirty="0">
                <a:latin typeface="Segoe UI"/>
                <a:cs typeface="Segoe UI"/>
              </a:rPr>
              <a:t>GET/POST/PUT/DELETE…</a:t>
            </a: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1600" spc="-1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1600" spc="-10" dirty="0">
              <a:latin typeface="Segoe UI"/>
              <a:cs typeface="Segoe UI"/>
            </a:endParaRPr>
          </a:p>
          <a:p>
            <a:pPr marL="241300" indent="-228600">
              <a:lnSpc>
                <a:spcPct val="100000"/>
              </a:lnSpc>
              <a:spcBef>
                <a:spcPts val="500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templates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paramètres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attendus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1600" i="1" dirty="0" err="1">
                <a:latin typeface="Segoe UI"/>
                <a:cs typeface="Segoe UI"/>
              </a:rPr>
              <a:t>countryId</a:t>
            </a:r>
            <a:r>
              <a:rPr lang="fr-FR" sz="1600" i="1" dirty="0">
                <a:latin typeface="Segoe UI"/>
                <a:cs typeface="Segoe UI"/>
              </a:rPr>
              <a:t>,</a:t>
            </a:r>
            <a:r>
              <a:rPr lang="fr-FR" sz="1600" i="1" spc="-45" dirty="0">
                <a:latin typeface="Segoe UI"/>
                <a:cs typeface="Segoe UI"/>
              </a:rPr>
              <a:t> </a:t>
            </a:r>
            <a:r>
              <a:rPr lang="fr-FR" sz="1600" i="1" spc="-10" dirty="0" err="1">
                <a:latin typeface="Segoe UI"/>
                <a:cs typeface="Segoe UI"/>
              </a:rPr>
              <a:t>clientId</a:t>
            </a:r>
            <a:r>
              <a:rPr lang="fr-FR" sz="1600" i="1" spc="-10" dirty="0">
                <a:latin typeface="Segoe UI"/>
                <a:cs typeface="Segoe UI"/>
              </a:rPr>
              <a:t>…</a:t>
            </a:r>
            <a:endParaRPr lang="fr-FR" sz="16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16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1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endParaRPr lang="fr-FR" sz="16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4" name="object 6">
            <a:extLst>
              <a:ext uri="{FF2B5EF4-FFF2-40B4-BE49-F238E27FC236}">
                <a16:creationId xmlns:a16="http://schemas.microsoft.com/office/drawing/2014/main" id="{21483754-BD83-91C6-DE06-6D6A0BC4C2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8931" y="1857755"/>
            <a:ext cx="2314955" cy="1571244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3122A552-B7AD-4290-DE3F-F00632575FD7}"/>
              </a:ext>
            </a:extLst>
          </p:cNvPr>
          <p:cNvSpPr txBox="1"/>
          <p:nvPr/>
        </p:nvSpPr>
        <p:spPr>
          <a:xfrm>
            <a:off x="8037703" y="4020057"/>
            <a:ext cx="28054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exemple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: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http://myapi.lan/clients/5</a:t>
            </a:r>
            <a:r>
              <a:rPr sz="1800" spc="-1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http://myapi.lan/api/clients/5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6842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Routes et </a:t>
            </a:r>
            <a:r>
              <a:rPr lang="fr-FR" sz="3200" dirty="0" err="1"/>
              <a:t>OpenAPI</a:t>
            </a:r>
            <a:endParaRPr lang="fr-FR" sz="3200" dirty="0"/>
          </a:p>
          <a:p>
            <a:endParaRPr lang="fr-FR" sz="3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7E556B5-3665-416A-25C2-A4E5A07CBDEA}"/>
              </a:ext>
            </a:extLst>
          </p:cNvPr>
          <p:cNvSpPr txBox="1"/>
          <p:nvPr/>
        </p:nvSpPr>
        <p:spPr>
          <a:xfrm>
            <a:off x="680720" y="1442730"/>
            <a:ext cx="1093216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fr-FR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Route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"[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controller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]"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)] 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[</a:t>
            </a:r>
            <a:r>
              <a:rPr lang="fr-FR" sz="16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controller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] permet d’utiliser le nom du contrôleur comme route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ApiController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CountriesController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ControllerBase</a:t>
            </a:r>
            <a:endParaRPr lang="fr-FR" sz="1600" dirty="0">
              <a:solidFill>
                <a:schemeClr val="accent5">
                  <a:lumMod val="7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HttpGet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 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Indique la méthode utilisée (ici HTTP GET)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ActionResult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IEnumerable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Country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GetCountries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 {…}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HttpGet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"{id}"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ActionResult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Country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GetCountry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id) {…}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HttpPost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ActionResult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Country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PostCountry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(Country country) {…}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HttpPut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"{id}"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)] 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{id} permet d’indiquer une partie de la route publique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IActionResult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PutCountry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id, Country country){…}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HttpDelete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"{id}"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ActionResult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Country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DeleteCountry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id) {…}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90896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Routes et </a:t>
            </a:r>
            <a:r>
              <a:rPr lang="fr-FR" sz="3200" dirty="0" err="1"/>
              <a:t>OpenAPI</a:t>
            </a:r>
            <a:endParaRPr lang="fr-FR" sz="3200" dirty="0"/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964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Routes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l’attribut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[</a:t>
            </a:r>
            <a:r>
              <a:rPr lang="fr-FR" sz="2400" spc="-10" dirty="0">
                <a:solidFill>
                  <a:srgbClr val="2B91AE"/>
                </a:solidFill>
                <a:latin typeface="Segoe UI"/>
                <a:cs typeface="Segoe UI"/>
              </a:rPr>
              <a:t>Route</a:t>
            </a:r>
            <a:r>
              <a:rPr lang="fr-FR" sz="2400" spc="-10" dirty="0">
                <a:latin typeface="Segoe UI"/>
                <a:cs typeface="Segoe UI"/>
              </a:rPr>
              <a:t>()]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notre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propre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route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0F9A84A-B33E-6342-F09A-726D34E7FCEB}"/>
              </a:ext>
            </a:extLst>
          </p:cNvPr>
          <p:cNvSpPr txBox="1"/>
          <p:nvPr/>
        </p:nvSpPr>
        <p:spPr>
          <a:xfrm>
            <a:off x="1762760" y="3152001"/>
            <a:ext cx="86664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TeachersController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: Controller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valide http://school.lan/Prof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valide http://school.lan/Prof/List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ne valide pas http://school.lan/Teachers [Route("Prof")]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[Route(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"Prof/List"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()]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Task&lt;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ActionResult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&lt;Teacher&gt;&gt;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GetTeachers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{…}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352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Routes et </a:t>
            </a:r>
            <a:r>
              <a:rPr lang="fr-FR" sz="3200" dirty="0" err="1"/>
              <a:t>OpenAPI</a:t>
            </a:r>
            <a:endParaRPr lang="fr-FR" sz="3200" dirty="0"/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964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Routes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l’attribut</a:t>
            </a:r>
            <a:r>
              <a:rPr lang="fr-FR" sz="2400" u="sng" spc="-3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directement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sur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le</a:t>
            </a:r>
            <a:r>
              <a:rPr lang="fr-FR"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contrôleur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8615EF1-EACE-45BA-BA40-53C54CCE9754}"/>
              </a:ext>
            </a:extLst>
          </p:cNvPr>
          <p:cNvSpPr txBox="1"/>
          <p:nvPr/>
        </p:nvSpPr>
        <p:spPr>
          <a:xfrm>
            <a:off x="1840395" y="3011160"/>
            <a:ext cx="8534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[Route(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"Prof"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TeachersController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: Controller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valide http://school.lan/Prof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valide http://school.lan/Prof/List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ne valide pas http://school.lan/Teachers [Route()]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[Route(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"List"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()]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Task&lt;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ActionResult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&lt;Teacher&gt;&gt;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GetTeachers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{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7875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Routes et </a:t>
            </a:r>
            <a:r>
              <a:rPr lang="fr-FR" sz="3200" dirty="0" err="1"/>
              <a:t>OpenAPI</a:t>
            </a:r>
            <a:endParaRPr lang="fr-FR" sz="3200" dirty="0"/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5739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Swagger</a:t>
            </a:r>
            <a:endParaRPr lang="fr-FR" sz="2400" b="1" dirty="0"/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 err="1">
                <a:latin typeface="Segoe UI"/>
                <a:cs typeface="Segoe UI"/>
              </a:rPr>
              <a:t>Swagger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API</a:t>
            </a:r>
          </a:p>
          <a:p>
            <a:pPr marL="697229" lvl="1" indent="-227329"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000" dirty="0">
                <a:latin typeface="Segoe UI"/>
                <a:cs typeface="Segoe UI"/>
              </a:rPr>
              <a:t>Crée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2011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Objectif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: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créer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représentation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d’un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service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REST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spc="-10" dirty="0">
                <a:latin typeface="Segoe UI"/>
                <a:cs typeface="Segoe UI"/>
              </a:rPr>
              <a:t>Voir</a:t>
            </a:r>
            <a:r>
              <a:rPr lang="fr-FR" sz="1800" spc="-6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les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schémas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spc="-10" dirty="0">
                <a:latin typeface="Segoe UI"/>
                <a:cs typeface="Segoe UI"/>
              </a:rPr>
              <a:t>Voir</a:t>
            </a:r>
            <a:r>
              <a:rPr lang="fr-FR" sz="1800" spc="-7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toutes</a:t>
            </a:r>
            <a:r>
              <a:rPr lang="fr-FR" sz="1800" spc="-7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les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routes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spc="-10" dirty="0">
                <a:latin typeface="Segoe UI"/>
                <a:cs typeface="Segoe UI"/>
              </a:rPr>
              <a:t>Voir</a:t>
            </a:r>
            <a:r>
              <a:rPr lang="fr-FR" sz="1800" spc="-5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les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types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données</a:t>
            </a: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C’est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annuaire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du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service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web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(un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peu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comme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WSDL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SOAP)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Disponible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JSON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YAML</a:t>
            </a:r>
            <a:endParaRPr lang="fr-FR" sz="2000" dirty="0">
              <a:latin typeface="Segoe UI"/>
              <a:cs typeface="Segoe UI"/>
            </a:endParaRPr>
          </a:p>
          <a:p>
            <a:pPr marL="697230" marR="3437890" indent="-395605">
              <a:lnSpc>
                <a:spcPct val="112599"/>
              </a:lnSpc>
              <a:spcBef>
                <a:spcPts val="2415"/>
              </a:spcBef>
            </a:pPr>
            <a:r>
              <a:rPr lang="fr-FR" sz="2000" dirty="0">
                <a:latin typeface="Segoe UI"/>
                <a:cs typeface="Segoe UI"/>
              </a:rPr>
              <a:t>Exemple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du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petstore</a:t>
            </a:r>
            <a:r>
              <a:rPr lang="fr-FR" sz="2000" spc="-50" dirty="0">
                <a:latin typeface="Segoe UI"/>
                <a:cs typeface="Segoe UI"/>
              </a:rPr>
              <a:t> : </a:t>
            </a:r>
            <a:r>
              <a:rPr lang="fr-FR"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https://petstore.swagger.io/v2/swagger.json</a:t>
            </a:r>
            <a:r>
              <a:rPr lang="fr-FR" sz="1800" spc="-10" dirty="0">
                <a:solidFill>
                  <a:srgbClr val="0462C1"/>
                </a:solidFill>
                <a:latin typeface="Segoe UI"/>
                <a:cs typeface="Segoe UI"/>
              </a:rPr>
              <a:t> </a:t>
            </a:r>
            <a:r>
              <a:rPr lang="fr-FR"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https://petstore.swagger.io/v2/swagger.yaml</a:t>
            </a: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16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1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endParaRPr lang="fr-FR" sz="16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FF6BA3B6-C56C-E4FB-CFF6-095704CD252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62443" y="1254252"/>
            <a:ext cx="3972304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13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Routes et </a:t>
            </a:r>
            <a:r>
              <a:rPr lang="fr-FR" sz="3200" dirty="0" err="1"/>
              <a:t>OpenAPI</a:t>
            </a:r>
            <a:endParaRPr lang="fr-FR" sz="3200" dirty="0"/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475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Swagger</a:t>
            </a:r>
            <a:endParaRPr lang="fr-FR" sz="2400" b="1" dirty="0"/>
          </a:p>
          <a:p>
            <a:endParaRPr lang="fr-FR" sz="2400" dirty="0"/>
          </a:p>
          <a:p>
            <a:pPr marL="240029" indent="-227329">
              <a:lnSpc>
                <a:spcPts val="2735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 err="1">
                <a:latin typeface="Segoe UI"/>
                <a:cs typeface="Segoe UI"/>
              </a:rPr>
              <a:t>Swagger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API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fournit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outil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simplifier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l’affichage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tester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actions du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service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web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: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b="1" dirty="0" err="1">
                <a:latin typeface="Segoe UI"/>
                <a:cs typeface="Segoe UI"/>
              </a:rPr>
              <a:t>Swagger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b="1" spc="-25" dirty="0">
                <a:latin typeface="Segoe UI"/>
                <a:cs typeface="Segoe UI"/>
              </a:rPr>
              <a:t>UI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16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1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endParaRPr lang="fr-FR" sz="16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3978CCE-258E-28A4-A48C-6170BE29B5A1}"/>
              </a:ext>
            </a:extLst>
          </p:cNvPr>
          <p:cNvSpPr txBox="1"/>
          <p:nvPr/>
        </p:nvSpPr>
        <p:spPr>
          <a:xfrm>
            <a:off x="1385061" y="3425662"/>
            <a:ext cx="3738245" cy="20701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sz="2400" b="1" dirty="0">
                <a:latin typeface="Segoe UI"/>
                <a:cs typeface="Segoe UI"/>
              </a:rPr>
              <a:t>Swagger</a:t>
            </a:r>
            <a:r>
              <a:rPr sz="2400" b="1" spc="-4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UI</a:t>
            </a:r>
            <a:r>
              <a:rPr sz="2400" b="1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affiche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:</a:t>
            </a:r>
            <a:endParaRPr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8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Segoe UI"/>
                <a:cs typeface="Segoe UI"/>
              </a:rPr>
              <a:t>Les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routes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par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contrôleur</a:t>
            </a:r>
            <a:endParaRPr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Segoe UI"/>
                <a:cs typeface="Segoe UI"/>
              </a:rPr>
              <a:t>Les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modèles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données</a:t>
            </a:r>
            <a:endParaRPr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Segoe UI"/>
                <a:cs typeface="Segoe UI"/>
              </a:rPr>
              <a:t>Le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détail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chaque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action</a:t>
            </a:r>
            <a:endParaRPr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4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sz="1800" dirty="0">
                <a:latin typeface="Segoe UI"/>
                <a:cs typeface="Segoe UI"/>
              </a:rPr>
              <a:t>les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paramètres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demandés</a:t>
            </a:r>
            <a:endParaRPr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sz="1800" dirty="0">
                <a:latin typeface="Segoe UI"/>
                <a:cs typeface="Segoe UI"/>
              </a:rPr>
              <a:t>Le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retour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données</a:t>
            </a:r>
            <a:endParaRPr sz="1800" dirty="0">
              <a:latin typeface="Segoe UI"/>
              <a:cs typeface="Segoe U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91D11B4-F56C-4524-BC3C-4F9E79D24B50}"/>
              </a:ext>
            </a:extLst>
          </p:cNvPr>
          <p:cNvSpPr txBox="1"/>
          <p:nvPr/>
        </p:nvSpPr>
        <p:spPr>
          <a:xfrm>
            <a:off x="7381113" y="3569958"/>
            <a:ext cx="3148330" cy="7874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000" dirty="0">
                <a:latin typeface="Segoe UI"/>
                <a:cs typeface="Segoe UI"/>
              </a:rPr>
              <a:t>Exemple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du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petstore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:</a:t>
            </a:r>
            <a:endParaRPr sz="2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https://petstore.swagger.io/</a:t>
            </a:r>
            <a:endParaRPr sz="20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01306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849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OpenAPI</a:t>
            </a:r>
            <a:endParaRPr lang="fr-FR" sz="2400" b="1" dirty="0"/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2015,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l’</a:t>
            </a:r>
            <a:r>
              <a:rPr lang="fr-FR" sz="2400" dirty="0" err="1">
                <a:latin typeface="Segoe UI"/>
                <a:cs typeface="Segoe UI"/>
              </a:rPr>
              <a:t>OpenAPI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Initiative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née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Crée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SmartBear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Software,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Linux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Fondation,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Microsoft,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IBM,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Google…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635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Swagger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API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»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standardisé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devient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Open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API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Specification</a:t>
            </a:r>
            <a:r>
              <a:rPr lang="fr-FR" sz="2400" spc="1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»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250BFC63-B110-5DD9-0466-588791187B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9554" y="4748888"/>
            <a:ext cx="4873570" cy="132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17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5121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Packages pour </a:t>
            </a:r>
            <a:r>
              <a:rPr lang="fr-FR" sz="2400" b="1" dirty="0" err="1"/>
              <a:t>Swagger</a:t>
            </a:r>
            <a:endParaRPr lang="fr-FR" sz="2400" b="1" dirty="0"/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Installation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10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packages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NuGet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99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 err="1">
                <a:latin typeface="Segoe UI"/>
                <a:cs typeface="Segoe UI"/>
              </a:rPr>
              <a:t>Swashbuckle.AspNetCore.SwaggerGen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1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Générateur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du</a:t>
            </a:r>
            <a:r>
              <a:rPr lang="fr-FR" sz="1600" spc="-6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document</a:t>
            </a:r>
            <a:r>
              <a:rPr lang="fr-FR" sz="1600" spc="-40" dirty="0">
                <a:latin typeface="Segoe UI"/>
                <a:cs typeface="Segoe UI"/>
              </a:rPr>
              <a:t> </a:t>
            </a:r>
            <a:r>
              <a:rPr lang="fr-FR" sz="1600" dirty="0" err="1">
                <a:latin typeface="Segoe UI"/>
                <a:cs typeface="Segoe UI"/>
              </a:rPr>
              <a:t>Swagger</a:t>
            </a:r>
            <a:r>
              <a:rPr lang="fr-FR" sz="1600" spc="-2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se</a:t>
            </a:r>
            <a:r>
              <a:rPr lang="fr-FR" sz="1600" spc="-5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basant</a:t>
            </a:r>
            <a:r>
              <a:rPr lang="fr-FR" sz="1600" spc="-5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sur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les</a:t>
            </a:r>
            <a:r>
              <a:rPr lang="fr-FR" sz="1600" spc="-4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routes,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les</a:t>
            </a:r>
            <a:r>
              <a:rPr lang="fr-FR" sz="1600" spc="-5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contrôleurs</a:t>
            </a:r>
            <a:r>
              <a:rPr lang="fr-FR" sz="1600" spc="-1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et</a:t>
            </a:r>
            <a:r>
              <a:rPr lang="fr-FR" sz="1600" spc="-5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les</a:t>
            </a:r>
            <a:r>
              <a:rPr lang="fr-FR" sz="1600" spc="-55" dirty="0">
                <a:latin typeface="Segoe UI"/>
                <a:cs typeface="Segoe UI"/>
              </a:rPr>
              <a:t> </a:t>
            </a:r>
            <a:r>
              <a:rPr lang="fr-FR" sz="1600" spc="-10" dirty="0">
                <a:latin typeface="Segoe UI"/>
                <a:cs typeface="Segoe UI"/>
              </a:rPr>
              <a:t>modèles</a:t>
            </a:r>
            <a:endParaRPr lang="fr-FR" sz="16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855"/>
              </a:spcBef>
              <a:buFont typeface="Arial"/>
              <a:buChar char="•"/>
            </a:pPr>
            <a:endParaRPr lang="fr-FR" sz="16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 err="1">
                <a:latin typeface="Segoe UI"/>
                <a:cs typeface="Segoe UI"/>
              </a:rPr>
              <a:t>Swashbuckle.AspNetCore.Swagger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2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Middleware</a:t>
            </a:r>
            <a:r>
              <a:rPr lang="fr-FR" sz="1600" spc="-2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permettant</a:t>
            </a:r>
            <a:r>
              <a:rPr lang="fr-FR" sz="1600" spc="-55" dirty="0">
                <a:latin typeface="Segoe UI"/>
                <a:cs typeface="Segoe UI"/>
              </a:rPr>
              <a:t> </a:t>
            </a:r>
            <a:r>
              <a:rPr lang="fr-FR" sz="1600" spc="-10" dirty="0">
                <a:latin typeface="Segoe UI"/>
                <a:cs typeface="Segoe UI"/>
              </a:rPr>
              <a:t>d’accéder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au</a:t>
            </a:r>
            <a:r>
              <a:rPr lang="fr-FR" sz="1600" spc="-5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document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 err="1">
                <a:latin typeface="Segoe UI"/>
                <a:cs typeface="Segoe UI"/>
              </a:rPr>
              <a:t>Swagger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en</a:t>
            </a:r>
            <a:r>
              <a:rPr lang="fr-FR" sz="1600" spc="-5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définissant</a:t>
            </a:r>
            <a:r>
              <a:rPr lang="fr-FR" sz="1600" spc="-6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un</a:t>
            </a:r>
            <a:r>
              <a:rPr lang="fr-FR" sz="1600" spc="-45" dirty="0">
                <a:latin typeface="Segoe UI"/>
                <a:cs typeface="Segoe UI"/>
              </a:rPr>
              <a:t> </a:t>
            </a:r>
            <a:r>
              <a:rPr lang="fr-FR" sz="1600" spc="-10" dirty="0" err="1">
                <a:latin typeface="Segoe UI"/>
                <a:cs typeface="Segoe UI"/>
              </a:rPr>
              <a:t>endpoint</a:t>
            </a:r>
            <a:endParaRPr lang="fr-FR" sz="16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855"/>
              </a:spcBef>
              <a:buFont typeface="Arial"/>
              <a:buChar char="•"/>
            </a:pPr>
            <a:endParaRPr lang="fr-FR" sz="16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 err="1">
                <a:latin typeface="Segoe UI"/>
                <a:cs typeface="Segoe UI"/>
              </a:rPr>
              <a:t>Swashbuckle.AspNetCore.SwaggerUI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4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Solution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embarquée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spc="-10" dirty="0" err="1">
                <a:latin typeface="Segoe UI"/>
                <a:cs typeface="Segoe UI"/>
              </a:rPr>
              <a:t>SwaggerUI</a:t>
            </a:r>
            <a:endParaRPr lang="fr-FR" sz="1800" dirty="0">
              <a:latin typeface="Segoe UI"/>
              <a:cs typeface="Segoe UI"/>
            </a:endParaRPr>
          </a:p>
          <a:p>
            <a:pPr marL="1155700" marR="146685" lvl="2" indent="-228600">
              <a:lnSpc>
                <a:spcPts val="1939"/>
              </a:lnSpc>
              <a:spcBef>
                <a:spcPts val="53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spc="-10" dirty="0">
                <a:latin typeface="Segoe UI"/>
                <a:cs typeface="Segoe UI"/>
              </a:rPr>
              <a:t>Interprète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document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 err="1">
                <a:latin typeface="Segoe UI"/>
                <a:cs typeface="Segoe UI"/>
              </a:rPr>
              <a:t>Swagger</a:t>
            </a:r>
            <a:r>
              <a:rPr lang="fr-FR" sz="1800" spc="-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pour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afficher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toutes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les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routes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et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les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données échangées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54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Permet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5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tester</a:t>
            </a:r>
            <a:r>
              <a:rPr lang="fr-FR" sz="1800" spc="-6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les</a:t>
            </a:r>
            <a:r>
              <a:rPr lang="fr-FR" sz="1800" spc="-5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actions</a:t>
            </a:r>
            <a:endParaRPr lang="fr-FR" sz="18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03519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498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Configuration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Ajout</a:t>
            </a:r>
            <a:r>
              <a:rPr lang="fr-FR" sz="2400" spc="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du service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spc="-10" dirty="0" err="1">
                <a:latin typeface="Segoe UI"/>
                <a:cs typeface="Segoe UI"/>
              </a:rPr>
              <a:t>Swagger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75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1841500">
              <a:lnSpc>
                <a:spcPct val="100000"/>
              </a:lnSpc>
            </a:pPr>
            <a:r>
              <a:rPr lang="fr-FR" sz="1800" spc="170" dirty="0" err="1">
                <a:latin typeface="Trebuchet MS"/>
                <a:cs typeface="Trebuchet MS"/>
              </a:rPr>
              <a:t>builder.Services.AddSwaggerGen</a:t>
            </a:r>
            <a:r>
              <a:rPr lang="fr-FR" sz="1800" spc="170" dirty="0">
                <a:latin typeface="Trebuchet MS"/>
                <a:cs typeface="Trebuchet MS"/>
              </a:rPr>
              <a:t>();</a:t>
            </a:r>
            <a:endParaRPr lang="fr-FR"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fr-FR"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lang="fr-FR" sz="1800" dirty="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Ajout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middlewares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pipeline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lang="fr-FR" sz="2400" dirty="0">
              <a:latin typeface="Segoe UI"/>
              <a:cs typeface="Segoe UI"/>
            </a:endParaRPr>
          </a:p>
          <a:p>
            <a:pPr marL="1841500">
              <a:lnSpc>
                <a:spcPct val="100000"/>
              </a:lnSpc>
            </a:pPr>
            <a:r>
              <a:rPr lang="fr-FR" sz="1800" spc="145" dirty="0" err="1">
                <a:latin typeface="Trebuchet MS"/>
                <a:cs typeface="Trebuchet MS"/>
              </a:rPr>
              <a:t>app.UseSwagger</a:t>
            </a:r>
            <a:r>
              <a:rPr lang="fr-FR" sz="1800" spc="145" dirty="0">
                <a:latin typeface="Trebuchet MS"/>
                <a:cs typeface="Trebuchet MS"/>
              </a:rPr>
              <a:t>();</a:t>
            </a:r>
            <a:endParaRPr lang="fr-FR" sz="1800" dirty="0">
              <a:latin typeface="Trebuchet MS"/>
              <a:cs typeface="Trebuchet MS"/>
            </a:endParaRPr>
          </a:p>
          <a:p>
            <a:pPr marL="1841500">
              <a:lnSpc>
                <a:spcPct val="100000"/>
              </a:lnSpc>
              <a:spcBef>
                <a:spcPts val="795"/>
              </a:spcBef>
            </a:pPr>
            <a:r>
              <a:rPr lang="fr-FR" sz="1800" spc="150" dirty="0" err="1">
                <a:latin typeface="Trebuchet MS"/>
                <a:cs typeface="Trebuchet MS"/>
              </a:rPr>
              <a:t>app.UseSwaggerUI</a:t>
            </a:r>
            <a:r>
              <a:rPr lang="fr-FR" sz="1800" spc="150" dirty="0">
                <a:latin typeface="Trebuchet MS"/>
                <a:cs typeface="Trebuchet MS"/>
              </a:rPr>
              <a:t>();</a:t>
            </a:r>
            <a:endParaRPr lang="fr-FR" sz="1800" dirty="0">
              <a:latin typeface="Trebuchet MS"/>
              <a:cs typeface="Trebuchet M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998310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916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Configuration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41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configuration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minimale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télécharger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fichier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JSON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documentation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du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service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d’utiliser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l’interface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10" dirty="0" err="1">
                <a:latin typeface="Segoe UI"/>
                <a:cs typeface="Segoe UI"/>
              </a:rPr>
              <a:t>SwaggerUI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964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marR="5080" indent="-227329">
              <a:lnSpc>
                <a:spcPts val="2590"/>
              </a:lnSpc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configuration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plus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exhaustive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documentation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cependant 	</a:t>
            </a:r>
            <a:r>
              <a:rPr lang="fr-FR" sz="2400" dirty="0">
                <a:latin typeface="Segoe UI"/>
                <a:cs typeface="Segoe UI"/>
              </a:rPr>
              <a:t>possible,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utilisant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informations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du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service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web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documentation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XML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attributs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sur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modèles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attributs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sur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contrôleurs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281778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BEB291E-C064-D089-6C2D-68EBD1AB3BF8}"/>
              </a:ext>
            </a:extLst>
          </p:cNvPr>
          <p:cNvSpPr txBox="1"/>
          <p:nvPr/>
        </p:nvSpPr>
        <p:spPr>
          <a:xfrm>
            <a:off x="431800" y="1678583"/>
            <a:ext cx="11328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builder.Services.AddSwaggerGen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(c =&gt;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c.SwaggerDoc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"v1"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OpenApiInfo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Version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"v1"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Title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My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Simple API"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Description =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"A simple test API"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TermsOfService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Uri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"https://contoso.com/terms"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License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OpenApiLicence</a:t>
            </a:r>
            <a:endParaRPr lang="fr-FR" sz="1800" dirty="0">
              <a:solidFill>
                <a:schemeClr val="accent5">
                  <a:lumMod val="7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{ Name =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"Use under MIT"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Url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Uri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"https://contoso.com/license"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},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Contact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OpenApiContact</a:t>
            </a:r>
            <a:endParaRPr lang="fr-FR" sz="1800" dirty="0">
              <a:solidFill>
                <a:schemeClr val="accent5">
                  <a:lumMod val="7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{ Name =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"John Doe"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Url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Uri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"https://contoso.com/</a:t>
            </a:r>
            <a:r>
              <a:rPr lang="en-US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jdoe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1617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67BFDA1-E165-27FF-9377-5D9D7E2F04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832" y="2219452"/>
            <a:ext cx="8022335" cy="400354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E881972-D11A-D251-97E8-A466DDBE6638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Interface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700848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881972-D11A-D251-97E8-A466DDBE6638}"/>
              </a:ext>
            </a:extLst>
          </p:cNvPr>
          <p:cNvSpPr txBox="1"/>
          <p:nvPr/>
        </p:nvSpPr>
        <p:spPr>
          <a:xfrm>
            <a:off x="844826" y="12788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Comentaires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7989726-096E-C69D-F8F6-C24ECD38B92F}"/>
              </a:ext>
            </a:extLst>
          </p:cNvPr>
          <p:cNvSpPr txBox="1"/>
          <p:nvPr/>
        </p:nvSpPr>
        <p:spPr>
          <a:xfrm>
            <a:off x="1547621" y="1814829"/>
            <a:ext cx="8791575" cy="4799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Segoe UI"/>
                <a:cs typeface="Segoe UI"/>
              </a:rPr>
              <a:t>Ajouter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de</a:t>
            </a:r>
            <a:r>
              <a:rPr sz="2400" spc="-6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la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documentation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en</a:t>
            </a:r>
            <a:r>
              <a:rPr sz="2400" spc="-6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utilisant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les</a:t>
            </a:r>
            <a:r>
              <a:rPr sz="2400" spc="-6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commentaires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spc="-25" dirty="0">
                <a:latin typeface="Segoe UI"/>
                <a:cs typeface="Segoe UI"/>
              </a:rPr>
              <a:t>XML</a:t>
            </a:r>
            <a:endParaRPr sz="2400" dirty="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2360"/>
              </a:spcBef>
            </a:pP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Calibri"/>
                <a:cs typeface="Calibri"/>
              </a:rPr>
              <a:t>&lt;summary&gt;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Creates</a:t>
            </a:r>
            <a:r>
              <a:rPr sz="1600" spc="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6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TodoItem.</a:t>
            </a:r>
            <a:r>
              <a:rPr sz="1600" spc="-10" dirty="0">
                <a:solidFill>
                  <a:srgbClr val="800000"/>
                </a:solidFill>
                <a:latin typeface="Calibri"/>
                <a:cs typeface="Calibri"/>
              </a:rPr>
              <a:t>&lt;/summary&gt;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Calibri"/>
                <a:cs typeface="Calibri"/>
              </a:rPr>
              <a:t>&lt;remarks&gt;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spc="-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Sample</a:t>
            </a:r>
            <a:r>
              <a:rPr sz="16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request: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05"/>
              </a:spcBef>
            </a:pPr>
            <a:r>
              <a:rPr sz="1600" spc="-25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10"/>
              </a:spcBef>
              <a:tabLst>
                <a:tab pos="933450" algn="l"/>
              </a:tabLst>
            </a:pPr>
            <a:r>
              <a:rPr sz="1600" spc="-25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	POST</a:t>
            </a:r>
            <a:r>
              <a:rPr sz="1600" spc="-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08000"/>
                </a:solidFill>
                <a:latin typeface="Calibri"/>
                <a:cs typeface="Calibri"/>
              </a:rPr>
              <a:t>/Todo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10"/>
              </a:spcBef>
              <a:tabLst>
                <a:tab pos="933450" algn="l"/>
              </a:tabLst>
            </a:pPr>
            <a:r>
              <a:rPr sz="1600" spc="-25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	</a:t>
            </a:r>
            <a:r>
              <a:rPr sz="1600" spc="-50" dirty="0">
                <a:solidFill>
                  <a:srgbClr val="008000"/>
                </a:solidFill>
                <a:latin typeface="Calibri"/>
                <a:cs typeface="Calibri"/>
              </a:rPr>
              <a:t>{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05"/>
              </a:spcBef>
              <a:tabLst>
                <a:tab pos="1117600" algn="l"/>
              </a:tabLst>
            </a:pPr>
            <a:r>
              <a:rPr sz="1600" spc="-25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	"id":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08000"/>
                </a:solidFill>
                <a:latin typeface="Calibri"/>
                <a:cs typeface="Calibri"/>
              </a:rPr>
              <a:t>1,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10"/>
              </a:spcBef>
              <a:tabLst>
                <a:tab pos="1117600" algn="l"/>
              </a:tabLst>
            </a:pPr>
            <a:r>
              <a:rPr sz="1600" spc="-25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	"name":</a:t>
            </a:r>
            <a:r>
              <a:rPr sz="16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"Item1",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10"/>
              </a:spcBef>
              <a:tabLst>
                <a:tab pos="1117600" algn="l"/>
              </a:tabLst>
            </a:pPr>
            <a:r>
              <a:rPr sz="1600" spc="-25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"isComplete":</a:t>
            </a:r>
            <a:r>
              <a:rPr sz="16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08000"/>
                </a:solidFill>
                <a:latin typeface="Calibri"/>
                <a:cs typeface="Calibri"/>
              </a:rPr>
              <a:t>true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05"/>
              </a:spcBef>
              <a:tabLst>
                <a:tab pos="933450" algn="l"/>
              </a:tabLst>
            </a:pPr>
            <a:r>
              <a:rPr sz="1600" spc="-25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	</a:t>
            </a:r>
            <a:r>
              <a:rPr sz="1600" spc="-50" dirty="0">
                <a:solidFill>
                  <a:srgbClr val="008000"/>
                </a:solidFill>
                <a:latin typeface="Calibri"/>
                <a:cs typeface="Calibri"/>
              </a:rPr>
              <a:t>}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10"/>
              </a:spcBef>
            </a:pPr>
            <a:r>
              <a:rPr sz="1600" spc="-25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Calibri"/>
                <a:cs typeface="Calibri"/>
              </a:rPr>
              <a:t>&lt;/remarks&gt;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spc="-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800000"/>
                </a:solidFill>
                <a:latin typeface="Calibri"/>
                <a:cs typeface="Calibri"/>
              </a:rPr>
              <a:t>&lt;param</a:t>
            </a:r>
            <a:r>
              <a:rPr sz="1600" spc="-3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name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=</a:t>
            </a:r>
            <a:r>
              <a:rPr sz="1600" spc="-10" dirty="0">
                <a:solidFill>
                  <a:srgbClr val="A21515"/>
                </a:solidFill>
                <a:latin typeface="Calibri"/>
                <a:cs typeface="Calibri"/>
              </a:rPr>
              <a:t>"item"</a:t>
            </a:r>
            <a:r>
              <a:rPr sz="1600" spc="-10" dirty="0">
                <a:solidFill>
                  <a:srgbClr val="800000"/>
                </a:solidFill>
                <a:latin typeface="Calibri"/>
                <a:cs typeface="Calibri"/>
              </a:rPr>
              <a:t>&gt;&lt;/param&gt;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spc="-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Calibri"/>
                <a:cs typeface="Calibri"/>
              </a:rPr>
              <a:t>&lt;returns&gt;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6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newly</a:t>
            </a:r>
            <a:r>
              <a:rPr sz="16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created</a:t>
            </a:r>
            <a:r>
              <a:rPr sz="16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TodoItem</a:t>
            </a:r>
            <a:r>
              <a:rPr sz="1600" spc="-10" dirty="0">
                <a:solidFill>
                  <a:srgbClr val="800000"/>
                </a:solidFill>
                <a:latin typeface="Calibri"/>
                <a:cs typeface="Calibri"/>
              </a:rPr>
              <a:t>&lt;/returns&gt;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spc="-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800000"/>
                </a:solidFill>
                <a:latin typeface="Calibri"/>
                <a:cs typeface="Calibri"/>
              </a:rPr>
              <a:t>&lt;response</a:t>
            </a:r>
            <a:r>
              <a:rPr sz="1600" spc="-1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code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=</a:t>
            </a:r>
            <a:r>
              <a:rPr sz="1600" spc="-10" dirty="0">
                <a:solidFill>
                  <a:srgbClr val="A21515"/>
                </a:solidFill>
                <a:latin typeface="Calibri"/>
                <a:cs typeface="Calibri"/>
              </a:rPr>
              <a:t>"201"</a:t>
            </a:r>
            <a:r>
              <a:rPr sz="1600" spc="-10" dirty="0">
                <a:solidFill>
                  <a:srgbClr val="800000"/>
                </a:solidFill>
                <a:latin typeface="Calibri"/>
                <a:cs typeface="Calibri"/>
              </a:rPr>
              <a:t>&gt;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Returns</a:t>
            </a:r>
            <a:r>
              <a:rPr sz="16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newly</a:t>
            </a:r>
            <a:r>
              <a:rPr sz="16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created</a:t>
            </a:r>
            <a:r>
              <a:rPr sz="16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item</a:t>
            </a:r>
            <a:r>
              <a:rPr sz="1600" spc="-10" dirty="0">
                <a:solidFill>
                  <a:srgbClr val="800000"/>
                </a:solidFill>
                <a:latin typeface="Calibri"/>
                <a:cs typeface="Calibri"/>
              </a:rPr>
              <a:t>&lt;/response&gt;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///</a:t>
            </a:r>
            <a:r>
              <a:rPr sz="1600" spc="-6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800000"/>
                </a:solidFill>
                <a:latin typeface="Calibri"/>
                <a:cs typeface="Calibri"/>
              </a:rPr>
              <a:t>&lt;response</a:t>
            </a:r>
            <a:r>
              <a:rPr sz="1600" spc="-2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code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=</a:t>
            </a:r>
            <a:r>
              <a:rPr sz="1600" dirty="0">
                <a:solidFill>
                  <a:srgbClr val="A21515"/>
                </a:solidFill>
                <a:latin typeface="Calibri"/>
                <a:cs typeface="Calibri"/>
              </a:rPr>
              <a:t>"400"</a:t>
            </a:r>
            <a:r>
              <a:rPr sz="1600" dirty="0">
                <a:solidFill>
                  <a:srgbClr val="800000"/>
                </a:solidFill>
                <a:latin typeface="Calibri"/>
                <a:cs typeface="Calibri"/>
              </a:rPr>
              <a:t>&gt;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If the</a:t>
            </a:r>
            <a:r>
              <a:rPr sz="1600" spc="-6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item</a:t>
            </a:r>
            <a:r>
              <a:rPr sz="1600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8000"/>
                </a:solidFill>
                <a:latin typeface="Calibri"/>
                <a:cs typeface="Calibri"/>
              </a:rPr>
              <a:t>is</a:t>
            </a:r>
            <a:r>
              <a:rPr sz="1600" spc="-6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alibri"/>
                <a:cs typeface="Calibri"/>
              </a:rPr>
              <a:t>null</a:t>
            </a:r>
            <a:r>
              <a:rPr sz="1600" spc="-10" dirty="0">
                <a:solidFill>
                  <a:srgbClr val="800000"/>
                </a:solidFill>
                <a:latin typeface="Calibri"/>
                <a:cs typeface="Calibri"/>
              </a:rPr>
              <a:t>&lt;/response</a:t>
            </a: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1631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881972-D11A-D251-97E8-A466DDBE6638}"/>
              </a:ext>
            </a:extLst>
          </p:cNvPr>
          <p:cNvSpPr txBox="1"/>
          <p:nvPr/>
        </p:nvSpPr>
        <p:spPr>
          <a:xfrm>
            <a:off x="844826" y="12788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Comentaires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7989726-096E-C69D-F8F6-C24ECD38B92F}"/>
              </a:ext>
            </a:extLst>
          </p:cNvPr>
          <p:cNvSpPr txBox="1"/>
          <p:nvPr/>
        </p:nvSpPr>
        <p:spPr>
          <a:xfrm>
            <a:off x="1547621" y="1814829"/>
            <a:ext cx="9252459" cy="3439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activant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génération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documentation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.</a:t>
            </a:r>
            <a:r>
              <a:rPr lang="fr-FR" sz="2400" spc="-10" dirty="0" err="1">
                <a:latin typeface="Segoe UI"/>
                <a:cs typeface="Segoe UI"/>
              </a:rPr>
              <a:t>csproj</a:t>
            </a: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obtient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fichier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xml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documentation</a:t>
            </a:r>
            <a:r>
              <a:rPr lang="fr-FR" sz="2400" spc="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côté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fichiers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dll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66F49AC-6998-1591-7D5A-F00A14C6AD3F}"/>
              </a:ext>
            </a:extLst>
          </p:cNvPr>
          <p:cNvSpPr txBox="1"/>
          <p:nvPr/>
        </p:nvSpPr>
        <p:spPr>
          <a:xfrm>
            <a:off x="1617089" y="2645826"/>
            <a:ext cx="91135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PropertyGroup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	&lt;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GenerateDocumentationFile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true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GenerateDocumentationFile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	&lt;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NoWarn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$(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NoWarn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);1591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NoWarn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PropertyGroup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9375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881972-D11A-D251-97E8-A466DDBE6638}"/>
              </a:ext>
            </a:extLst>
          </p:cNvPr>
          <p:cNvSpPr txBox="1"/>
          <p:nvPr/>
        </p:nvSpPr>
        <p:spPr>
          <a:xfrm>
            <a:off x="844826" y="12788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Comentaires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7989726-096E-C69D-F8F6-C24ECD38B92F}"/>
              </a:ext>
            </a:extLst>
          </p:cNvPr>
          <p:cNvSpPr txBox="1"/>
          <p:nvPr/>
        </p:nvSpPr>
        <p:spPr>
          <a:xfrm>
            <a:off x="1547621" y="1814829"/>
            <a:ext cx="9252459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fichier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documentation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xml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spc="-10" dirty="0" err="1">
                <a:latin typeface="Segoe UI"/>
                <a:cs typeface="Segoe UI"/>
              </a:rPr>
              <a:t>Swagger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067BA8-A502-875C-BCDC-2E04645898A3}"/>
              </a:ext>
            </a:extLst>
          </p:cNvPr>
          <p:cNvSpPr txBox="1"/>
          <p:nvPr/>
        </p:nvSpPr>
        <p:spPr>
          <a:xfrm>
            <a:off x="1020417" y="2960816"/>
            <a:ext cx="101511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builder.Services.AddSwaggerGen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(c =&gt;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c.SwaggerDoc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"v1"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OpenApiInfo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//....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indiquer le chemin du fichier de documentation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xmlFile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Assembly.GetExecutingAssembly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().Name}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.xml"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xmlPath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Path.Combine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AppContext.BaseDirectory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xmlFile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c.IncludeXmlComments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xmlPath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0888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881972-D11A-D251-97E8-A466DDBE6638}"/>
              </a:ext>
            </a:extLst>
          </p:cNvPr>
          <p:cNvSpPr txBox="1"/>
          <p:nvPr/>
        </p:nvSpPr>
        <p:spPr>
          <a:xfrm>
            <a:off x="844826" y="12788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Attributs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7989726-096E-C69D-F8F6-C24ECD38B92F}"/>
              </a:ext>
            </a:extLst>
          </p:cNvPr>
          <p:cNvSpPr txBox="1"/>
          <p:nvPr/>
        </p:nvSpPr>
        <p:spPr>
          <a:xfrm>
            <a:off x="1547621" y="1814829"/>
            <a:ext cx="9252459" cy="15286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attributs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permettent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d’ajouter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informations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exemple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avec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attributs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modèles</a:t>
            </a:r>
            <a:r>
              <a:rPr lang="fr-FR" sz="2400" spc="-50" dirty="0">
                <a:latin typeface="Segoe UI"/>
                <a:cs typeface="Segoe UI"/>
              </a:rPr>
              <a:t> :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59EBB6B1-4C9A-BA34-6F99-80A2508470C5}"/>
              </a:ext>
            </a:extLst>
          </p:cNvPr>
          <p:cNvSpPr txBox="1"/>
          <p:nvPr/>
        </p:nvSpPr>
        <p:spPr>
          <a:xfrm>
            <a:off x="3711575" y="3427674"/>
            <a:ext cx="4768850" cy="27933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spc="200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600" spc="459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600" spc="250" dirty="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sz="1600" spc="49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600" spc="65" dirty="0">
                <a:solidFill>
                  <a:srgbClr val="257E99"/>
                </a:solidFill>
                <a:latin typeface="Trebuchet MS"/>
                <a:cs typeface="Trebuchet MS"/>
              </a:rPr>
              <a:t>TodoItem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spc="295" dirty="0">
                <a:latin typeface="Trebuchet MS"/>
                <a:cs typeface="Trebuchet MS"/>
              </a:rPr>
              <a:t>{</a:t>
            </a:r>
            <a:endParaRPr sz="16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600" spc="200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600" spc="459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600" spc="180" dirty="0">
                <a:solidFill>
                  <a:srgbClr val="0000FF"/>
                </a:solidFill>
                <a:latin typeface="Trebuchet MS"/>
                <a:cs typeface="Trebuchet MS"/>
              </a:rPr>
              <a:t>long</a:t>
            </a:r>
            <a:r>
              <a:rPr sz="1600" spc="47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600" spc="265" dirty="0">
                <a:latin typeface="Trebuchet MS"/>
                <a:cs typeface="Trebuchet MS"/>
              </a:rPr>
              <a:t>Id</a:t>
            </a:r>
            <a:r>
              <a:rPr sz="1600" spc="465" dirty="0">
                <a:latin typeface="Trebuchet MS"/>
                <a:cs typeface="Trebuchet MS"/>
              </a:rPr>
              <a:t> </a:t>
            </a:r>
            <a:r>
              <a:rPr sz="1600" spc="345" dirty="0">
                <a:latin typeface="Trebuchet MS"/>
                <a:cs typeface="Trebuchet MS"/>
              </a:rPr>
              <a:t>{</a:t>
            </a:r>
            <a:r>
              <a:rPr sz="1600" spc="459" dirty="0">
                <a:latin typeface="Trebuchet MS"/>
                <a:cs typeface="Trebuchet MS"/>
              </a:rPr>
              <a:t> </a:t>
            </a:r>
            <a:r>
              <a:rPr sz="1600" spc="204" dirty="0">
                <a:solidFill>
                  <a:srgbClr val="0000FF"/>
                </a:solidFill>
                <a:latin typeface="Trebuchet MS"/>
                <a:cs typeface="Trebuchet MS"/>
              </a:rPr>
              <a:t>get</a:t>
            </a:r>
            <a:r>
              <a:rPr sz="1600" spc="204" dirty="0">
                <a:latin typeface="Trebuchet MS"/>
                <a:cs typeface="Trebuchet MS"/>
              </a:rPr>
              <a:t>;</a:t>
            </a:r>
            <a:r>
              <a:rPr sz="1600" spc="465" dirty="0">
                <a:latin typeface="Trebuchet MS"/>
                <a:cs typeface="Trebuchet MS"/>
              </a:rPr>
              <a:t> </a:t>
            </a:r>
            <a:r>
              <a:rPr sz="1600" spc="245" dirty="0">
                <a:solidFill>
                  <a:srgbClr val="0000FF"/>
                </a:solidFill>
                <a:latin typeface="Trebuchet MS"/>
                <a:cs typeface="Trebuchet MS"/>
              </a:rPr>
              <a:t>set</a:t>
            </a:r>
            <a:r>
              <a:rPr sz="1600" spc="245" dirty="0">
                <a:latin typeface="Trebuchet MS"/>
                <a:cs typeface="Trebuchet MS"/>
              </a:rPr>
              <a:t>;</a:t>
            </a:r>
            <a:r>
              <a:rPr sz="1600" spc="470" dirty="0">
                <a:latin typeface="Trebuchet MS"/>
                <a:cs typeface="Trebuchet MS"/>
              </a:rPr>
              <a:t> </a:t>
            </a:r>
            <a:r>
              <a:rPr sz="1600" spc="295" dirty="0">
                <a:latin typeface="Trebuchet MS"/>
                <a:cs typeface="Trebuchet MS"/>
              </a:rPr>
              <a:t>}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1600" spc="160" dirty="0">
                <a:latin typeface="Trebuchet MS"/>
                <a:cs typeface="Trebuchet MS"/>
              </a:rPr>
              <a:t>[</a:t>
            </a:r>
            <a:r>
              <a:rPr sz="1600" spc="160" dirty="0">
                <a:solidFill>
                  <a:srgbClr val="257E99"/>
                </a:solidFill>
                <a:latin typeface="Trebuchet MS"/>
                <a:cs typeface="Trebuchet MS"/>
              </a:rPr>
              <a:t>Required</a:t>
            </a:r>
            <a:r>
              <a:rPr sz="1600" spc="160" dirty="0">
                <a:latin typeface="Trebuchet MS"/>
                <a:cs typeface="Trebuchet MS"/>
              </a:rPr>
              <a:t>]</a:t>
            </a:r>
            <a:endParaRPr sz="16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310"/>
              </a:spcBef>
            </a:pPr>
            <a:r>
              <a:rPr sz="1600" spc="200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600" spc="46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600" spc="254" dirty="0">
                <a:solidFill>
                  <a:srgbClr val="0000FF"/>
                </a:solidFill>
                <a:latin typeface="Trebuchet MS"/>
                <a:cs typeface="Trebuchet MS"/>
              </a:rPr>
              <a:t>string</a:t>
            </a:r>
            <a:r>
              <a:rPr sz="1600" spc="48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600" spc="105" dirty="0">
                <a:latin typeface="Trebuchet MS"/>
                <a:cs typeface="Trebuchet MS"/>
              </a:rPr>
              <a:t>Item</a:t>
            </a:r>
            <a:r>
              <a:rPr sz="1600" spc="465" dirty="0">
                <a:latin typeface="Trebuchet MS"/>
                <a:cs typeface="Trebuchet MS"/>
              </a:rPr>
              <a:t> </a:t>
            </a:r>
            <a:r>
              <a:rPr sz="1600" spc="345" dirty="0">
                <a:latin typeface="Trebuchet MS"/>
                <a:cs typeface="Trebuchet MS"/>
              </a:rPr>
              <a:t>{</a:t>
            </a:r>
            <a:r>
              <a:rPr sz="1600" spc="465" dirty="0">
                <a:latin typeface="Trebuchet MS"/>
                <a:cs typeface="Trebuchet MS"/>
              </a:rPr>
              <a:t> </a:t>
            </a:r>
            <a:r>
              <a:rPr sz="1600" spc="204" dirty="0">
                <a:solidFill>
                  <a:srgbClr val="0000FF"/>
                </a:solidFill>
                <a:latin typeface="Trebuchet MS"/>
                <a:cs typeface="Trebuchet MS"/>
              </a:rPr>
              <a:t>get</a:t>
            </a:r>
            <a:r>
              <a:rPr sz="1600" spc="204" dirty="0">
                <a:latin typeface="Trebuchet MS"/>
                <a:cs typeface="Trebuchet MS"/>
              </a:rPr>
              <a:t>;</a:t>
            </a:r>
            <a:r>
              <a:rPr sz="1600" spc="490" dirty="0">
                <a:latin typeface="Trebuchet MS"/>
                <a:cs typeface="Trebuchet MS"/>
              </a:rPr>
              <a:t> </a:t>
            </a:r>
            <a:r>
              <a:rPr sz="1600" spc="240" dirty="0">
                <a:solidFill>
                  <a:srgbClr val="0000FF"/>
                </a:solidFill>
                <a:latin typeface="Trebuchet MS"/>
                <a:cs typeface="Trebuchet MS"/>
              </a:rPr>
              <a:t>set</a:t>
            </a:r>
            <a:r>
              <a:rPr sz="1600" spc="240" dirty="0">
                <a:latin typeface="Trebuchet MS"/>
                <a:cs typeface="Trebuchet MS"/>
              </a:rPr>
              <a:t>;</a:t>
            </a:r>
            <a:r>
              <a:rPr sz="1600" spc="470" dirty="0">
                <a:latin typeface="Trebuchet MS"/>
                <a:cs typeface="Trebuchet MS"/>
              </a:rPr>
              <a:t> </a:t>
            </a:r>
            <a:r>
              <a:rPr sz="1600" spc="295" dirty="0">
                <a:latin typeface="Trebuchet MS"/>
                <a:cs typeface="Trebuchet MS"/>
              </a:rPr>
              <a:t>}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1600" spc="204" dirty="0">
                <a:latin typeface="Trebuchet MS"/>
                <a:cs typeface="Trebuchet MS"/>
              </a:rPr>
              <a:t>[</a:t>
            </a:r>
            <a:r>
              <a:rPr sz="1600" spc="204" dirty="0">
                <a:solidFill>
                  <a:srgbClr val="257E99"/>
                </a:solidFill>
                <a:latin typeface="Trebuchet MS"/>
                <a:cs typeface="Trebuchet MS"/>
              </a:rPr>
              <a:t>DefaultValue</a:t>
            </a:r>
            <a:r>
              <a:rPr sz="1600" spc="204" dirty="0">
                <a:latin typeface="Trebuchet MS"/>
                <a:cs typeface="Trebuchet MS"/>
              </a:rPr>
              <a:t>(</a:t>
            </a:r>
            <a:r>
              <a:rPr sz="1600" spc="204" dirty="0">
                <a:solidFill>
                  <a:srgbClr val="0000FF"/>
                </a:solidFill>
                <a:latin typeface="Trebuchet MS"/>
                <a:cs typeface="Trebuchet MS"/>
              </a:rPr>
              <a:t>false</a:t>
            </a:r>
            <a:r>
              <a:rPr sz="1600" spc="204" dirty="0">
                <a:latin typeface="Trebuchet MS"/>
                <a:cs typeface="Trebuchet MS"/>
              </a:rPr>
              <a:t>)]</a:t>
            </a:r>
            <a:endParaRPr sz="16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310"/>
              </a:spcBef>
            </a:pPr>
            <a:r>
              <a:rPr sz="1600" spc="200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600" spc="46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600" spc="160" dirty="0">
                <a:solidFill>
                  <a:srgbClr val="0000FF"/>
                </a:solidFill>
                <a:latin typeface="Trebuchet MS"/>
                <a:cs typeface="Trebuchet MS"/>
              </a:rPr>
              <a:t>bool</a:t>
            </a:r>
            <a:r>
              <a:rPr sz="1600" spc="48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600" spc="130" dirty="0">
                <a:latin typeface="Trebuchet MS"/>
                <a:cs typeface="Trebuchet MS"/>
              </a:rPr>
              <a:t>IsComplete</a:t>
            </a:r>
            <a:r>
              <a:rPr sz="1600" spc="475" dirty="0">
                <a:latin typeface="Trebuchet MS"/>
                <a:cs typeface="Trebuchet MS"/>
              </a:rPr>
              <a:t> </a:t>
            </a:r>
            <a:r>
              <a:rPr sz="1600" spc="345" dirty="0">
                <a:latin typeface="Trebuchet MS"/>
                <a:cs typeface="Trebuchet MS"/>
              </a:rPr>
              <a:t>{</a:t>
            </a:r>
            <a:r>
              <a:rPr sz="1600" spc="480" dirty="0">
                <a:latin typeface="Trebuchet MS"/>
                <a:cs typeface="Trebuchet MS"/>
              </a:rPr>
              <a:t> </a:t>
            </a:r>
            <a:r>
              <a:rPr sz="1600" spc="204" dirty="0">
                <a:solidFill>
                  <a:srgbClr val="0000FF"/>
                </a:solidFill>
                <a:latin typeface="Trebuchet MS"/>
                <a:cs typeface="Trebuchet MS"/>
              </a:rPr>
              <a:t>get</a:t>
            </a:r>
            <a:r>
              <a:rPr sz="1600" spc="204" dirty="0">
                <a:latin typeface="Trebuchet MS"/>
                <a:cs typeface="Trebuchet MS"/>
              </a:rPr>
              <a:t>;</a:t>
            </a:r>
            <a:r>
              <a:rPr sz="1600" spc="465" dirty="0">
                <a:latin typeface="Trebuchet MS"/>
                <a:cs typeface="Trebuchet MS"/>
              </a:rPr>
              <a:t> </a:t>
            </a:r>
            <a:r>
              <a:rPr sz="1600" spc="240" dirty="0">
                <a:solidFill>
                  <a:srgbClr val="0000FF"/>
                </a:solidFill>
                <a:latin typeface="Trebuchet MS"/>
                <a:cs typeface="Trebuchet MS"/>
              </a:rPr>
              <a:t>set</a:t>
            </a:r>
            <a:r>
              <a:rPr sz="1600" spc="240" dirty="0">
                <a:latin typeface="Trebuchet MS"/>
                <a:cs typeface="Trebuchet MS"/>
              </a:rPr>
              <a:t>;</a:t>
            </a:r>
            <a:r>
              <a:rPr sz="1600" spc="470" dirty="0">
                <a:latin typeface="Trebuchet MS"/>
                <a:cs typeface="Trebuchet MS"/>
              </a:rPr>
              <a:t> </a:t>
            </a:r>
            <a:r>
              <a:rPr sz="1600" spc="295" dirty="0">
                <a:latin typeface="Trebuchet MS"/>
                <a:cs typeface="Trebuchet MS"/>
              </a:rPr>
              <a:t>}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spc="295" dirty="0">
                <a:latin typeface="Trebuchet MS"/>
                <a:cs typeface="Trebuchet MS"/>
              </a:rPr>
              <a:t>}</a:t>
            </a:r>
            <a:endParaRPr sz="16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96258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881972-D11A-D251-97E8-A466DDBE6638}"/>
              </a:ext>
            </a:extLst>
          </p:cNvPr>
          <p:cNvSpPr txBox="1"/>
          <p:nvPr/>
        </p:nvSpPr>
        <p:spPr>
          <a:xfrm>
            <a:off x="844826" y="12788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Attributs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7989726-096E-C69D-F8F6-C24ECD38B92F}"/>
              </a:ext>
            </a:extLst>
          </p:cNvPr>
          <p:cNvSpPr txBox="1"/>
          <p:nvPr/>
        </p:nvSpPr>
        <p:spPr>
          <a:xfrm>
            <a:off x="1547621" y="1814829"/>
            <a:ext cx="9252459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attributs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sur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contrôleurs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90DF1CDA-503B-5551-BE14-3DC2160355B2}"/>
              </a:ext>
            </a:extLst>
          </p:cNvPr>
          <p:cNvSpPr txBox="1"/>
          <p:nvPr/>
        </p:nvSpPr>
        <p:spPr>
          <a:xfrm>
            <a:off x="3227450" y="3023782"/>
            <a:ext cx="5892800" cy="2510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870710">
              <a:lnSpc>
                <a:spcPct val="113100"/>
              </a:lnSpc>
              <a:spcBef>
                <a:spcPts val="105"/>
              </a:spcBef>
            </a:pPr>
            <a:r>
              <a:rPr sz="1800" spc="220" dirty="0">
                <a:latin typeface="Trebuchet MS"/>
                <a:cs typeface="Trebuchet MS"/>
              </a:rPr>
              <a:t>[</a:t>
            </a:r>
            <a:r>
              <a:rPr sz="1800" spc="220" dirty="0">
                <a:solidFill>
                  <a:srgbClr val="257E99"/>
                </a:solidFill>
                <a:latin typeface="Trebuchet MS"/>
                <a:cs typeface="Trebuchet MS"/>
              </a:rPr>
              <a:t>Produces</a:t>
            </a:r>
            <a:r>
              <a:rPr sz="1800" spc="220" dirty="0">
                <a:latin typeface="Trebuchet MS"/>
                <a:cs typeface="Trebuchet MS"/>
              </a:rPr>
              <a:t>(</a:t>
            </a:r>
            <a:r>
              <a:rPr sz="1800" spc="220" dirty="0">
                <a:solidFill>
                  <a:srgbClr val="A21515"/>
                </a:solidFill>
                <a:latin typeface="Trebuchet MS"/>
                <a:cs typeface="Trebuchet MS"/>
              </a:rPr>
              <a:t>"application/json"</a:t>
            </a:r>
            <a:r>
              <a:rPr sz="1800" spc="220" dirty="0">
                <a:latin typeface="Trebuchet MS"/>
                <a:cs typeface="Trebuchet MS"/>
              </a:rPr>
              <a:t>)] </a:t>
            </a:r>
            <a:r>
              <a:rPr sz="1800" spc="245" dirty="0">
                <a:latin typeface="Trebuchet MS"/>
                <a:cs typeface="Trebuchet MS"/>
              </a:rPr>
              <a:t>[</a:t>
            </a:r>
            <a:r>
              <a:rPr sz="1800" spc="245" dirty="0">
                <a:solidFill>
                  <a:srgbClr val="257E99"/>
                </a:solidFill>
                <a:latin typeface="Trebuchet MS"/>
                <a:cs typeface="Trebuchet MS"/>
              </a:rPr>
              <a:t>Route</a:t>
            </a:r>
            <a:r>
              <a:rPr sz="1800" spc="245" dirty="0">
                <a:latin typeface="Trebuchet MS"/>
                <a:cs typeface="Trebuchet MS"/>
              </a:rPr>
              <a:t>(</a:t>
            </a:r>
            <a:r>
              <a:rPr sz="1800" spc="245" dirty="0">
                <a:solidFill>
                  <a:srgbClr val="A21515"/>
                </a:solidFill>
                <a:latin typeface="Trebuchet MS"/>
                <a:cs typeface="Trebuchet MS"/>
              </a:rPr>
              <a:t>"api/[controller]"</a:t>
            </a:r>
            <a:r>
              <a:rPr sz="1800" spc="245" dirty="0">
                <a:latin typeface="Trebuchet MS"/>
                <a:cs typeface="Trebuchet MS"/>
              </a:rPr>
              <a:t>)] </a:t>
            </a:r>
            <a:r>
              <a:rPr sz="1800" spc="229" dirty="0">
                <a:latin typeface="Trebuchet MS"/>
                <a:cs typeface="Trebuchet MS"/>
              </a:rPr>
              <a:t>[</a:t>
            </a:r>
            <a:r>
              <a:rPr sz="1800" spc="229" dirty="0">
                <a:solidFill>
                  <a:srgbClr val="257E99"/>
                </a:solidFill>
                <a:latin typeface="Trebuchet MS"/>
                <a:cs typeface="Trebuchet MS"/>
              </a:rPr>
              <a:t>ApiController</a:t>
            </a:r>
            <a:r>
              <a:rPr sz="1800" spc="229" dirty="0">
                <a:latin typeface="Trebuchet MS"/>
                <a:cs typeface="Trebuchet MS"/>
              </a:rPr>
              <a:t>]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  <a:tabLst>
                <a:tab pos="946785" algn="l"/>
                <a:tab pos="1745614" algn="l"/>
                <a:tab pos="3745229" algn="l"/>
                <a:tab pos="4011929" algn="l"/>
              </a:tabLst>
            </a:pPr>
            <a:r>
              <a:rPr sz="1800" spc="220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60" dirty="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65" dirty="0">
                <a:solidFill>
                  <a:srgbClr val="257E99"/>
                </a:solidFill>
                <a:latin typeface="Trebuchet MS"/>
                <a:cs typeface="Trebuchet MS"/>
              </a:rPr>
              <a:t>TodoController</a:t>
            </a:r>
            <a:r>
              <a:rPr sz="1800" dirty="0">
                <a:solidFill>
                  <a:srgbClr val="257E99"/>
                </a:solidFill>
                <a:latin typeface="Trebuchet MS"/>
                <a:cs typeface="Trebuchet MS"/>
              </a:rPr>
              <a:t>	</a:t>
            </a:r>
            <a:r>
              <a:rPr sz="1800" spc="340" dirty="0">
                <a:latin typeface="Trebuchet MS"/>
                <a:cs typeface="Trebuchet MS"/>
              </a:rPr>
              <a:t>: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190" dirty="0">
                <a:solidFill>
                  <a:srgbClr val="257E99"/>
                </a:solidFill>
                <a:latin typeface="Trebuchet MS"/>
                <a:cs typeface="Trebuchet MS"/>
              </a:rPr>
              <a:t>ControllerBase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280"/>
              </a:spcBef>
              <a:tabLst>
                <a:tab pos="1536700" algn="l"/>
                <a:tab pos="2736215" algn="l"/>
                <a:tab pos="4336415" algn="l"/>
              </a:tabLst>
            </a:pPr>
            <a:r>
              <a:rPr sz="1800" spc="210" dirty="0">
                <a:solidFill>
                  <a:srgbClr val="0000FF"/>
                </a:solidFill>
                <a:latin typeface="Trebuchet MS"/>
                <a:cs typeface="Trebuchet MS"/>
              </a:rPr>
              <a:t>private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60" dirty="0">
                <a:solidFill>
                  <a:srgbClr val="0000FF"/>
                </a:solidFill>
                <a:latin typeface="Trebuchet MS"/>
                <a:cs typeface="Trebuchet MS"/>
              </a:rPr>
              <a:t>readonly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95" dirty="0">
                <a:solidFill>
                  <a:srgbClr val="257E99"/>
                </a:solidFill>
                <a:latin typeface="Trebuchet MS"/>
                <a:cs typeface="Trebuchet MS"/>
              </a:rPr>
              <a:t>TodoContext</a:t>
            </a:r>
            <a:r>
              <a:rPr sz="1800" dirty="0">
                <a:solidFill>
                  <a:srgbClr val="257E99"/>
                </a:solidFill>
                <a:latin typeface="Trebuchet MS"/>
                <a:cs typeface="Trebuchet MS"/>
              </a:rPr>
              <a:t>	</a:t>
            </a:r>
            <a:r>
              <a:rPr sz="1800" spc="180" dirty="0">
                <a:latin typeface="Trebuchet MS"/>
                <a:cs typeface="Trebuchet MS"/>
              </a:rPr>
              <a:t>context;</a:t>
            </a:r>
            <a:endParaRPr sz="18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</a:pPr>
            <a:r>
              <a:rPr sz="1800" spc="365" dirty="0">
                <a:latin typeface="Trebuchet MS"/>
                <a:cs typeface="Trebuchet MS"/>
              </a:rPr>
              <a:t>....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384370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881972-D11A-D251-97E8-A466DDBE6638}"/>
              </a:ext>
            </a:extLst>
          </p:cNvPr>
          <p:cNvSpPr txBox="1"/>
          <p:nvPr/>
        </p:nvSpPr>
        <p:spPr>
          <a:xfrm>
            <a:off x="844826" y="12788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Attributs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7989726-096E-C69D-F8F6-C24ECD38B92F}"/>
              </a:ext>
            </a:extLst>
          </p:cNvPr>
          <p:cNvSpPr txBox="1"/>
          <p:nvPr/>
        </p:nvSpPr>
        <p:spPr>
          <a:xfrm>
            <a:off x="1547621" y="1814829"/>
            <a:ext cx="9252459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attributs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sur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actions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6F473E8-5B9D-7114-7F26-59862AD18B1B}"/>
              </a:ext>
            </a:extLst>
          </p:cNvPr>
          <p:cNvSpPr txBox="1"/>
          <p:nvPr/>
        </p:nvSpPr>
        <p:spPr>
          <a:xfrm>
            <a:off x="1723669" y="2709199"/>
            <a:ext cx="89003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ActionResult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Teacher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GetTeachers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{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HttpPost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ProducesResponseType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(201)]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ProducesResponseType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(400)]</a:t>
            </a: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IActionResult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TodoItem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Create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TodoItem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item)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context.Items.Add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(item);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CreateAtRoute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GetTodo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id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}, item);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096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A0E7094-4026-2C8F-F335-503C648CD28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291951"/>
            <a:ext cx="7162800" cy="50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349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2F1B6C43-2C34-C03D-6FBB-0F2062448E3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6980" y="1556966"/>
            <a:ext cx="717804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54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1. Routes et OpenAPI</a:t>
            </a:r>
          </a:p>
          <a:p>
            <a:endParaRPr lang="fr-FR" sz="3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881972-D11A-D251-97E8-A466DDBE6638}"/>
              </a:ext>
            </a:extLst>
          </p:cNvPr>
          <p:cNvSpPr txBox="1"/>
          <p:nvPr/>
        </p:nvSpPr>
        <p:spPr>
          <a:xfrm>
            <a:off x="844826" y="12788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Générateurs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7989726-096E-C69D-F8F6-C24ECD38B92F}"/>
              </a:ext>
            </a:extLst>
          </p:cNvPr>
          <p:cNvSpPr txBox="1"/>
          <p:nvPr/>
        </p:nvSpPr>
        <p:spPr>
          <a:xfrm>
            <a:off x="1547621" y="2115621"/>
            <a:ext cx="9252459" cy="32547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outils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génération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code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permettent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créer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proxy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client </a:t>
            </a:r>
            <a:r>
              <a:rPr lang="fr-FR" sz="2400" dirty="0">
                <a:latin typeface="Segoe UI"/>
                <a:cs typeface="Segoe UI"/>
              </a:rPr>
              <a:t>directement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partir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fichiers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spc="-10" dirty="0" err="1">
                <a:latin typeface="Segoe UI"/>
                <a:cs typeface="Segoe UI"/>
              </a:rPr>
              <a:t>OpenAPI</a:t>
            </a:r>
            <a:endParaRPr lang="fr-FR" sz="2400" spc="-10" dirty="0">
              <a:latin typeface="Segoe UI"/>
              <a:cs typeface="Segoe UI"/>
            </a:endParaRPr>
          </a:p>
          <a:p>
            <a:pPr marL="240029" marR="508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42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Quelques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exemples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.NET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 err="1">
                <a:latin typeface="Segoe UI"/>
                <a:cs typeface="Segoe UI"/>
              </a:rPr>
              <a:t>NSwag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 err="1">
                <a:latin typeface="Segoe UI"/>
                <a:cs typeface="Segoe UI"/>
              </a:rPr>
              <a:t>AutoRest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 err="1">
                <a:latin typeface="Segoe UI"/>
                <a:cs typeface="Segoe UI"/>
              </a:rPr>
              <a:t>Swagger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 err="1">
                <a:latin typeface="Segoe UI"/>
                <a:cs typeface="Segoe UI"/>
              </a:rPr>
              <a:t>Codegen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50" dirty="0">
                <a:latin typeface="Segoe UI"/>
                <a:cs typeface="Segoe UI"/>
              </a:rPr>
              <a:t>…</a:t>
            </a:r>
            <a:endParaRPr lang="fr-FR" sz="2000" dirty="0">
              <a:latin typeface="Segoe UI"/>
              <a:cs typeface="Segoe UI"/>
            </a:endParaRPr>
          </a:p>
          <a:p>
            <a:pPr marL="240029" marR="508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6AC62341-8CA9-B2EF-E29B-8BCC2BF9C05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6047" y="4247078"/>
            <a:ext cx="1121973" cy="111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2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1. Routes et </a:t>
            </a:r>
            <a:r>
              <a:rPr lang="fr-FR" sz="3200" dirty="0" err="1">
                <a:solidFill>
                  <a:schemeClr val="bg1"/>
                </a:solidFill>
              </a:rPr>
              <a:t>OpenAPI</a:t>
            </a:r>
            <a:endParaRPr lang="fr-F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02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CORS</a:t>
            </a:r>
          </a:p>
        </p:txBody>
      </p:sp>
    </p:spTree>
    <p:extLst>
      <p:ext uri="{BB962C8B-B14F-4D97-AF65-F5344CB8AC3E}">
        <p14:creationId xmlns:p14="http://schemas.microsoft.com/office/powerpoint/2010/main" val="227131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550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Origine d’une requête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Cas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fréquent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web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site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web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35" dirty="0">
                <a:latin typeface="Segoe UI"/>
                <a:cs typeface="Segoe UI"/>
              </a:rPr>
              <a:t>(ASP.NET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-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serveur)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requête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autre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site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web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(ASP.NET)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site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web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(JavaScript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-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navigateur)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requête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autre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site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web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(ASP.NET)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site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web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40" dirty="0">
                <a:latin typeface="Segoe UI"/>
                <a:cs typeface="Segoe UI"/>
              </a:rPr>
              <a:t>(ASP.NET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-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serveur)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requête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Api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site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web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(JavaScript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-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navigateur)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requête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Api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Api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requête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Api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00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problème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souvent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lié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20" dirty="0">
                <a:latin typeface="Segoe UI"/>
                <a:cs typeface="Segoe UI"/>
              </a:rPr>
              <a:t> l’origine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10" dirty="0">
                <a:latin typeface="Segoe UI"/>
                <a:cs typeface="Segoe UI"/>
              </a:rPr>
              <a:t> requête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Domaine</a:t>
            </a:r>
            <a:r>
              <a:rPr lang="fr-FR" sz="2000" spc="-10" dirty="0">
                <a:latin typeface="Segoe UI"/>
                <a:cs typeface="Segoe UI"/>
              </a:rPr>
              <a:t> différent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Sous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domaine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Schéma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différent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Port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différent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12561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580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Origine d’une requête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Ces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deux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URL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ont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même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origine</a:t>
            </a:r>
            <a:r>
              <a:rPr lang="fr-FR" sz="2400" spc="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https://example.com/foo.html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https://example.com/bar.html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630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Ces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URL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origines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différentes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deux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précédentes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URL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  <a:tab pos="3094355" algn="l"/>
              </a:tabLst>
            </a:pPr>
            <a:r>
              <a:rPr lang="fr-FR"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https://example.net</a:t>
            </a:r>
            <a:r>
              <a:rPr lang="fr-FR" sz="2000" dirty="0">
                <a:solidFill>
                  <a:srgbClr val="0462C1"/>
                </a:solidFill>
                <a:latin typeface="Segoe UI"/>
                <a:cs typeface="Segoe UI"/>
              </a:rPr>
              <a:t>	</a:t>
            </a:r>
            <a:r>
              <a:rPr lang="fr-FR" sz="2000" dirty="0">
                <a:solidFill>
                  <a:srgbClr val="FF0000"/>
                </a:solidFill>
                <a:latin typeface="Segoe UI"/>
                <a:cs typeface="Segoe UI"/>
              </a:rPr>
              <a:t>Domaine</a:t>
            </a:r>
            <a:r>
              <a:rPr lang="fr-FR" sz="2000" spc="-2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fr-FR" sz="2000" spc="-10" dirty="0">
                <a:solidFill>
                  <a:srgbClr val="FF0000"/>
                </a:solidFill>
                <a:latin typeface="Segoe UI"/>
                <a:cs typeface="Segoe UI"/>
              </a:rPr>
              <a:t>différent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  <a:tab pos="4784725" algn="l"/>
              </a:tabLst>
            </a:pPr>
            <a:r>
              <a:rPr lang="fr-FR"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https://www.example.com/foo.html</a:t>
            </a:r>
            <a:r>
              <a:rPr lang="fr-FR" sz="2000" dirty="0">
                <a:solidFill>
                  <a:srgbClr val="0462C1"/>
                </a:solidFill>
                <a:latin typeface="Segoe UI"/>
                <a:cs typeface="Segoe UI"/>
              </a:rPr>
              <a:t>	</a:t>
            </a:r>
            <a:r>
              <a:rPr lang="fr-FR" sz="2000" dirty="0">
                <a:solidFill>
                  <a:srgbClr val="FF0000"/>
                </a:solidFill>
                <a:latin typeface="Segoe UI"/>
                <a:cs typeface="Segoe UI"/>
              </a:rPr>
              <a:t>Autre</a:t>
            </a:r>
            <a:r>
              <a:rPr lang="fr-FR" sz="2000" spc="-1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fr-FR" sz="2000" spc="-10" dirty="0">
                <a:solidFill>
                  <a:srgbClr val="FF0000"/>
                </a:solidFill>
                <a:latin typeface="Segoe UI"/>
                <a:cs typeface="Segoe UI"/>
              </a:rPr>
              <a:t>sous-domaine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  <a:tab pos="4081779" algn="l"/>
              </a:tabLst>
            </a:pPr>
            <a:r>
              <a:rPr lang="fr-FR"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http://example.com/foo.html</a:t>
            </a:r>
            <a:r>
              <a:rPr lang="fr-FR" sz="2000" dirty="0">
                <a:solidFill>
                  <a:srgbClr val="0462C1"/>
                </a:solidFill>
                <a:latin typeface="Segoe UI"/>
                <a:cs typeface="Segoe UI"/>
              </a:rPr>
              <a:t>	</a:t>
            </a:r>
            <a:r>
              <a:rPr lang="fr-FR" sz="2000" dirty="0">
                <a:solidFill>
                  <a:srgbClr val="FF0000"/>
                </a:solidFill>
                <a:latin typeface="Segoe UI"/>
                <a:cs typeface="Segoe UI"/>
              </a:rPr>
              <a:t>Schéma</a:t>
            </a:r>
            <a:r>
              <a:rPr lang="fr-FR" sz="2000" spc="-4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fr-FR" sz="2000" spc="-10" dirty="0">
                <a:solidFill>
                  <a:srgbClr val="FF0000"/>
                </a:solidFill>
                <a:latin typeface="Segoe UI"/>
                <a:cs typeface="Segoe UI"/>
              </a:rPr>
              <a:t>différent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  <a:tab pos="4792345" algn="l"/>
              </a:tabLst>
            </a:pPr>
            <a:r>
              <a:rPr lang="fr-FR"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</a:rPr>
              <a:t>https://example.com:9000/foo.html</a:t>
            </a:r>
            <a:r>
              <a:rPr lang="fr-FR" sz="2000" dirty="0">
                <a:solidFill>
                  <a:srgbClr val="0462C1"/>
                </a:solidFill>
                <a:latin typeface="Segoe UI"/>
                <a:cs typeface="Segoe UI"/>
              </a:rPr>
              <a:t>	</a:t>
            </a:r>
            <a:r>
              <a:rPr lang="fr-FR" sz="2000" dirty="0">
                <a:solidFill>
                  <a:srgbClr val="FF0000"/>
                </a:solidFill>
                <a:latin typeface="Segoe UI"/>
                <a:cs typeface="Segoe UI"/>
              </a:rPr>
              <a:t>Autre</a:t>
            </a:r>
            <a:r>
              <a:rPr lang="fr-FR" sz="2000" spc="-7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fr-FR" sz="2000" spc="-20" dirty="0">
                <a:solidFill>
                  <a:srgbClr val="FF0000"/>
                </a:solidFill>
                <a:latin typeface="Segoe UI"/>
                <a:cs typeface="Segoe UI"/>
              </a:rPr>
              <a:t>port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70401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49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défaut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requêtes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ayant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origine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différente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bloquées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marR="5080" indent="-227329">
              <a:lnSpc>
                <a:spcPts val="2590"/>
              </a:lnSpc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CORS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(</a:t>
            </a:r>
            <a:r>
              <a:rPr lang="fr-FR" sz="2400" b="1" dirty="0">
                <a:latin typeface="Segoe UI"/>
                <a:cs typeface="Segoe UI"/>
              </a:rPr>
              <a:t>C</a:t>
            </a:r>
            <a:r>
              <a:rPr lang="fr-FR" sz="2400" dirty="0">
                <a:latin typeface="Segoe UI"/>
                <a:cs typeface="Segoe UI"/>
              </a:rPr>
              <a:t>ross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O</a:t>
            </a:r>
            <a:r>
              <a:rPr lang="fr-FR" sz="2400" dirty="0">
                <a:latin typeface="Segoe UI"/>
                <a:cs typeface="Segoe UI"/>
              </a:rPr>
              <a:t>rigin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R</a:t>
            </a:r>
            <a:r>
              <a:rPr lang="fr-FR" sz="2400" dirty="0">
                <a:latin typeface="Segoe UI"/>
                <a:cs typeface="Segoe UI"/>
              </a:rPr>
              <a:t>esource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S</a:t>
            </a:r>
            <a:r>
              <a:rPr lang="fr-FR" sz="2400" dirty="0">
                <a:latin typeface="Segoe UI"/>
                <a:cs typeface="Segoe UI"/>
              </a:rPr>
              <a:t>haring)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standard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permettant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de 	</a:t>
            </a:r>
            <a:r>
              <a:rPr lang="fr-FR" sz="2400" dirty="0">
                <a:latin typeface="Segoe UI"/>
                <a:cs typeface="Segoe UI"/>
              </a:rPr>
              <a:t>passer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outre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cette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sécurité</a:t>
            </a:r>
            <a:endParaRPr lang="fr-FR" sz="2400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8F02C83-3374-0022-D13F-AD192A8FF85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9549" y="3848746"/>
            <a:ext cx="1876044" cy="137922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20AB4468-CD8E-AD77-FDC7-07AF0838E04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3001" y="3914278"/>
            <a:ext cx="1348633" cy="1379220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E3E9163D-5FC8-11D8-6CE6-1868EC479CF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1470" y="4869700"/>
            <a:ext cx="1607693" cy="192150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E15C31D1-DFAF-C34E-A285-B964DAF518B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11598" y="5658877"/>
            <a:ext cx="1657096" cy="239534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A521924C-D67A-EB0C-AC54-6B2D424AAD2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67909" y="3825252"/>
            <a:ext cx="848360" cy="228219"/>
          </a:xfrm>
          <a:prstGeom prst="rect">
            <a:avLst/>
          </a:prstGeom>
        </p:spPr>
      </p:pic>
      <p:grpSp>
        <p:nvGrpSpPr>
          <p:cNvPr id="9" name="object 8">
            <a:extLst>
              <a:ext uri="{FF2B5EF4-FFF2-40B4-BE49-F238E27FC236}">
                <a16:creationId xmlns:a16="http://schemas.microsoft.com/office/drawing/2014/main" id="{0485475E-15FE-3675-0FC2-6D06D040DA8B}"/>
              </a:ext>
            </a:extLst>
          </p:cNvPr>
          <p:cNvGrpSpPr/>
          <p:nvPr/>
        </p:nvGrpSpPr>
        <p:grpSpPr>
          <a:xfrm>
            <a:off x="4389120" y="3641483"/>
            <a:ext cx="3877310" cy="750570"/>
            <a:chOff x="4422647" y="3883152"/>
            <a:chExt cx="3877310" cy="750570"/>
          </a:xfrm>
        </p:grpSpPr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90B71257-FCAC-974B-3680-6A0162569B1D}"/>
                </a:ext>
              </a:extLst>
            </p:cNvPr>
            <p:cNvSpPr/>
            <p:nvPr/>
          </p:nvSpPr>
          <p:spPr>
            <a:xfrm>
              <a:off x="4422647" y="4461891"/>
              <a:ext cx="3877310" cy="171450"/>
            </a:xfrm>
            <a:custGeom>
              <a:avLst/>
              <a:gdLst/>
              <a:ahLst/>
              <a:cxnLst/>
              <a:rect l="l" t="t" r="r" b="b"/>
              <a:pathLst>
                <a:path w="3877309" h="171450">
                  <a:moveTo>
                    <a:pt x="3705479" y="0"/>
                  </a:moveTo>
                  <a:lnTo>
                    <a:pt x="3705479" y="171449"/>
                  </a:lnTo>
                  <a:lnTo>
                    <a:pt x="3819779" y="114299"/>
                  </a:lnTo>
                  <a:lnTo>
                    <a:pt x="3734054" y="114299"/>
                  </a:lnTo>
                  <a:lnTo>
                    <a:pt x="3734054" y="57149"/>
                  </a:lnTo>
                  <a:lnTo>
                    <a:pt x="3819779" y="57149"/>
                  </a:lnTo>
                  <a:lnTo>
                    <a:pt x="3705479" y="0"/>
                  </a:lnTo>
                  <a:close/>
                </a:path>
                <a:path w="3877309" h="171450">
                  <a:moveTo>
                    <a:pt x="3705479" y="57149"/>
                  </a:moveTo>
                  <a:lnTo>
                    <a:pt x="0" y="57149"/>
                  </a:lnTo>
                  <a:lnTo>
                    <a:pt x="0" y="114299"/>
                  </a:lnTo>
                  <a:lnTo>
                    <a:pt x="3705479" y="114299"/>
                  </a:lnTo>
                  <a:lnTo>
                    <a:pt x="3705479" y="57149"/>
                  </a:lnTo>
                  <a:close/>
                </a:path>
                <a:path w="3877309" h="171450">
                  <a:moveTo>
                    <a:pt x="3819779" y="57149"/>
                  </a:moveTo>
                  <a:lnTo>
                    <a:pt x="3734054" y="57149"/>
                  </a:lnTo>
                  <a:lnTo>
                    <a:pt x="3734054" y="114299"/>
                  </a:lnTo>
                  <a:lnTo>
                    <a:pt x="3819779" y="114299"/>
                  </a:lnTo>
                  <a:lnTo>
                    <a:pt x="3876929" y="85724"/>
                  </a:lnTo>
                  <a:lnTo>
                    <a:pt x="3819779" y="57149"/>
                  </a:lnTo>
                  <a:close/>
                </a:path>
              </a:pathLst>
            </a:custGeom>
            <a:solidFill>
              <a:srgbClr val="D73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A00529D6-80C9-ECE4-05AC-DF76CE978733}"/>
                </a:ext>
              </a:extLst>
            </p:cNvPr>
            <p:cNvSpPr/>
            <p:nvPr/>
          </p:nvSpPr>
          <p:spPr>
            <a:xfrm>
              <a:off x="4645151" y="3883152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6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6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F8A00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fr-FR" sz="2400" b="1" dirty="0"/>
                <a:t>1</a:t>
              </a:r>
              <a:endParaRPr sz="2400" b="1" dirty="0"/>
            </a:p>
          </p:txBody>
        </p:sp>
      </p:grpSp>
      <p:grpSp>
        <p:nvGrpSpPr>
          <p:cNvPr id="12" name="object 11">
            <a:extLst>
              <a:ext uri="{FF2B5EF4-FFF2-40B4-BE49-F238E27FC236}">
                <a16:creationId xmlns:a16="http://schemas.microsoft.com/office/drawing/2014/main" id="{C94C0554-6978-17D1-C0A1-130255CCBA98}"/>
              </a:ext>
            </a:extLst>
          </p:cNvPr>
          <p:cNvGrpSpPr/>
          <p:nvPr/>
        </p:nvGrpSpPr>
        <p:grpSpPr>
          <a:xfrm>
            <a:off x="3403092" y="4518290"/>
            <a:ext cx="5638039" cy="1621790"/>
            <a:chOff x="3436619" y="4759959"/>
            <a:chExt cx="5638039" cy="1621790"/>
          </a:xfrm>
        </p:grpSpPr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DC7A8FF4-0A6D-2A8B-97E6-C86EFCAF3F0F}"/>
                </a:ext>
              </a:extLst>
            </p:cNvPr>
            <p:cNvSpPr/>
            <p:nvPr/>
          </p:nvSpPr>
          <p:spPr>
            <a:xfrm>
              <a:off x="4422648" y="4759959"/>
              <a:ext cx="4652010" cy="1621790"/>
            </a:xfrm>
            <a:custGeom>
              <a:avLst/>
              <a:gdLst/>
              <a:ahLst/>
              <a:cxnLst/>
              <a:rect l="l" t="t" r="r" b="b"/>
              <a:pathLst>
                <a:path w="4652009" h="1621789">
                  <a:moveTo>
                    <a:pt x="3751199" y="76835"/>
                  </a:moveTo>
                  <a:lnTo>
                    <a:pt x="171615" y="57188"/>
                  </a:lnTo>
                  <a:lnTo>
                    <a:pt x="171615" y="57023"/>
                  </a:lnTo>
                  <a:lnTo>
                    <a:pt x="171958" y="0"/>
                  </a:lnTo>
                  <a:lnTo>
                    <a:pt x="0" y="84836"/>
                  </a:lnTo>
                  <a:lnTo>
                    <a:pt x="170942" y="171450"/>
                  </a:lnTo>
                  <a:lnTo>
                    <a:pt x="171272" y="114338"/>
                  </a:lnTo>
                  <a:lnTo>
                    <a:pt x="3750818" y="133985"/>
                  </a:lnTo>
                  <a:lnTo>
                    <a:pt x="3751199" y="76835"/>
                  </a:lnTo>
                  <a:close/>
                </a:path>
                <a:path w="4652009" h="1621789">
                  <a:moveTo>
                    <a:pt x="4651629" y="946658"/>
                  </a:moveTo>
                  <a:lnTo>
                    <a:pt x="4637341" y="918083"/>
                  </a:lnTo>
                  <a:lnTo>
                    <a:pt x="4565904" y="775208"/>
                  </a:lnTo>
                  <a:lnTo>
                    <a:pt x="4480179" y="946658"/>
                  </a:lnTo>
                  <a:lnTo>
                    <a:pt x="4537329" y="946658"/>
                  </a:lnTo>
                  <a:lnTo>
                    <a:pt x="4537329" y="1621345"/>
                  </a:lnTo>
                  <a:lnTo>
                    <a:pt x="4594479" y="1621345"/>
                  </a:lnTo>
                  <a:lnTo>
                    <a:pt x="4594479" y="946658"/>
                  </a:lnTo>
                  <a:lnTo>
                    <a:pt x="4651629" y="946658"/>
                  </a:lnTo>
                  <a:close/>
                </a:path>
              </a:pathLst>
            </a:custGeom>
            <a:solidFill>
              <a:srgbClr val="D73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BCCC2D2D-B384-022C-449B-0EC69C1A16DD}"/>
                </a:ext>
              </a:extLst>
            </p:cNvPr>
            <p:cNvSpPr/>
            <p:nvPr/>
          </p:nvSpPr>
          <p:spPr>
            <a:xfrm>
              <a:off x="3436619" y="5469635"/>
              <a:ext cx="5537835" cy="911860"/>
            </a:xfrm>
            <a:custGeom>
              <a:avLst/>
              <a:gdLst/>
              <a:ahLst/>
              <a:cxnLst/>
              <a:rect l="l" t="t" r="r" b="b"/>
              <a:pathLst>
                <a:path w="5537834" h="911860">
                  <a:moveTo>
                    <a:pt x="15239" y="0"/>
                  </a:moveTo>
                  <a:lnTo>
                    <a:pt x="15239" y="911669"/>
                  </a:lnTo>
                </a:path>
                <a:path w="5537834" h="911860">
                  <a:moveTo>
                    <a:pt x="0" y="882395"/>
                  </a:moveTo>
                  <a:lnTo>
                    <a:pt x="5537454" y="882395"/>
                  </a:lnTo>
                </a:path>
              </a:pathLst>
            </a:custGeom>
            <a:ln w="57150">
              <a:solidFill>
                <a:srgbClr val="D63A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0">
            <a:extLst>
              <a:ext uri="{FF2B5EF4-FFF2-40B4-BE49-F238E27FC236}">
                <a16:creationId xmlns:a16="http://schemas.microsoft.com/office/drawing/2014/main" id="{E6BC1422-4EF8-A318-3146-5BEF390F6FE1}"/>
              </a:ext>
            </a:extLst>
          </p:cNvPr>
          <p:cNvSpPr/>
          <p:nvPr/>
        </p:nvSpPr>
        <p:spPr>
          <a:xfrm>
            <a:off x="4679824" y="4725809"/>
            <a:ext cx="539750" cy="539750"/>
          </a:xfrm>
          <a:custGeom>
            <a:avLst/>
            <a:gdLst/>
            <a:ahLst/>
            <a:cxnLst/>
            <a:rect l="l" t="t" r="r" b="b"/>
            <a:pathLst>
              <a:path w="539750" h="539750">
                <a:moveTo>
                  <a:pt x="269748" y="0"/>
                </a:moveTo>
                <a:lnTo>
                  <a:pt x="221262" y="4346"/>
                </a:lnTo>
                <a:lnTo>
                  <a:pt x="175626" y="16876"/>
                </a:lnTo>
                <a:lnTo>
                  <a:pt x="133604" y="36830"/>
                </a:lnTo>
                <a:lnTo>
                  <a:pt x="95955" y="63443"/>
                </a:lnTo>
                <a:lnTo>
                  <a:pt x="63443" y="95955"/>
                </a:lnTo>
                <a:lnTo>
                  <a:pt x="36830" y="133604"/>
                </a:lnTo>
                <a:lnTo>
                  <a:pt x="16876" y="175626"/>
                </a:lnTo>
                <a:lnTo>
                  <a:pt x="4346" y="221262"/>
                </a:lnTo>
                <a:lnTo>
                  <a:pt x="0" y="269748"/>
                </a:lnTo>
                <a:lnTo>
                  <a:pt x="4346" y="318233"/>
                </a:lnTo>
                <a:lnTo>
                  <a:pt x="16876" y="363869"/>
                </a:lnTo>
                <a:lnTo>
                  <a:pt x="36829" y="405891"/>
                </a:lnTo>
                <a:lnTo>
                  <a:pt x="63443" y="443540"/>
                </a:lnTo>
                <a:lnTo>
                  <a:pt x="95955" y="476052"/>
                </a:lnTo>
                <a:lnTo>
                  <a:pt x="133603" y="502665"/>
                </a:lnTo>
                <a:lnTo>
                  <a:pt x="175626" y="522619"/>
                </a:lnTo>
                <a:lnTo>
                  <a:pt x="221262" y="535149"/>
                </a:lnTo>
                <a:lnTo>
                  <a:pt x="269748" y="539496"/>
                </a:lnTo>
                <a:lnTo>
                  <a:pt x="318233" y="535149"/>
                </a:lnTo>
                <a:lnTo>
                  <a:pt x="363869" y="522619"/>
                </a:lnTo>
                <a:lnTo>
                  <a:pt x="405891" y="502666"/>
                </a:lnTo>
                <a:lnTo>
                  <a:pt x="443540" y="476052"/>
                </a:lnTo>
                <a:lnTo>
                  <a:pt x="476052" y="443540"/>
                </a:lnTo>
                <a:lnTo>
                  <a:pt x="502665" y="405892"/>
                </a:lnTo>
                <a:lnTo>
                  <a:pt x="522619" y="363869"/>
                </a:lnTo>
                <a:lnTo>
                  <a:pt x="535149" y="318233"/>
                </a:lnTo>
                <a:lnTo>
                  <a:pt x="539496" y="269748"/>
                </a:lnTo>
                <a:lnTo>
                  <a:pt x="535149" y="221262"/>
                </a:lnTo>
                <a:lnTo>
                  <a:pt x="522619" y="175626"/>
                </a:lnTo>
                <a:lnTo>
                  <a:pt x="502666" y="133604"/>
                </a:lnTo>
                <a:lnTo>
                  <a:pt x="476052" y="95955"/>
                </a:lnTo>
                <a:lnTo>
                  <a:pt x="443540" y="63443"/>
                </a:lnTo>
                <a:lnTo>
                  <a:pt x="405892" y="36830"/>
                </a:lnTo>
                <a:lnTo>
                  <a:pt x="363869" y="16876"/>
                </a:lnTo>
                <a:lnTo>
                  <a:pt x="318233" y="4346"/>
                </a:lnTo>
                <a:lnTo>
                  <a:pt x="269748" y="0"/>
                </a:lnTo>
                <a:close/>
              </a:path>
            </a:pathLst>
          </a:custGeom>
          <a:solidFill>
            <a:srgbClr val="FF8A00"/>
          </a:solidFill>
        </p:spPr>
        <p:txBody>
          <a:bodyPr wrap="square" lIns="0" tIns="0" rIns="0" bIns="0" rtlCol="0" anchor="ctr"/>
          <a:lstStyle/>
          <a:p>
            <a:pPr algn="ctr"/>
            <a:r>
              <a:rPr lang="fr-FR" sz="2400" b="1" dirty="0"/>
              <a:t>2</a:t>
            </a:r>
            <a:endParaRPr sz="2400" b="1" dirty="0"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256CA8D7-7D70-E275-5581-5EE0FBA8F4D3}"/>
              </a:ext>
            </a:extLst>
          </p:cNvPr>
          <p:cNvSpPr/>
          <p:nvPr/>
        </p:nvSpPr>
        <p:spPr>
          <a:xfrm>
            <a:off x="4681682" y="5449276"/>
            <a:ext cx="539750" cy="539750"/>
          </a:xfrm>
          <a:custGeom>
            <a:avLst/>
            <a:gdLst/>
            <a:ahLst/>
            <a:cxnLst/>
            <a:rect l="l" t="t" r="r" b="b"/>
            <a:pathLst>
              <a:path w="539750" h="539750">
                <a:moveTo>
                  <a:pt x="269748" y="0"/>
                </a:moveTo>
                <a:lnTo>
                  <a:pt x="221262" y="4346"/>
                </a:lnTo>
                <a:lnTo>
                  <a:pt x="175626" y="16876"/>
                </a:lnTo>
                <a:lnTo>
                  <a:pt x="133604" y="36830"/>
                </a:lnTo>
                <a:lnTo>
                  <a:pt x="95955" y="63443"/>
                </a:lnTo>
                <a:lnTo>
                  <a:pt x="63443" y="95955"/>
                </a:lnTo>
                <a:lnTo>
                  <a:pt x="36830" y="133604"/>
                </a:lnTo>
                <a:lnTo>
                  <a:pt x="16876" y="175626"/>
                </a:lnTo>
                <a:lnTo>
                  <a:pt x="4346" y="221262"/>
                </a:lnTo>
                <a:lnTo>
                  <a:pt x="0" y="269748"/>
                </a:lnTo>
                <a:lnTo>
                  <a:pt x="4346" y="318233"/>
                </a:lnTo>
                <a:lnTo>
                  <a:pt x="16876" y="363869"/>
                </a:lnTo>
                <a:lnTo>
                  <a:pt x="36829" y="405891"/>
                </a:lnTo>
                <a:lnTo>
                  <a:pt x="63443" y="443540"/>
                </a:lnTo>
                <a:lnTo>
                  <a:pt x="95955" y="476052"/>
                </a:lnTo>
                <a:lnTo>
                  <a:pt x="133603" y="502665"/>
                </a:lnTo>
                <a:lnTo>
                  <a:pt x="175626" y="522619"/>
                </a:lnTo>
                <a:lnTo>
                  <a:pt x="221262" y="535149"/>
                </a:lnTo>
                <a:lnTo>
                  <a:pt x="269748" y="539496"/>
                </a:lnTo>
                <a:lnTo>
                  <a:pt x="318233" y="535149"/>
                </a:lnTo>
                <a:lnTo>
                  <a:pt x="363869" y="522619"/>
                </a:lnTo>
                <a:lnTo>
                  <a:pt x="405891" y="502666"/>
                </a:lnTo>
                <a:lnTo>
                  <a:pt x="443540" y="476052"/>
                </a:lnTo>
                <a:lnTo>
                  <a:pt x="476052" y="443540"/>
                </a:lnTo>
                <a:lnTo>
                  <a:pt x="502665" y="405892"/>
                </a:lnTo>
                <a:lnTo>
                  <a:pt x="522619" y="363869"/>
                </a:lnTo>
                <a:lnTo>
                  <a:pt x="535149" y="318233"/>
                </a:lnTo>
                <a:lnTo>
                  <a:pt x="539496" y="269748"/>
                </a:lnTo>
                <a:lnTo>
                  <a:pt x="535149" y="221262"/>
                </a:lnTo>
                <a:lnTo>
                  <a:pt x="522619" y="175626"/>
                </a:lnTo>
                <a:lnTo>
                  <a:pt x="502666" y="133604"/>
                </a:lnTo>
                <a:lnTo>
                  <a:pt x="476052" y="95955"/>
                </a:lnTo>
                <a:lnTo>
                  <a:pt x="443540" y="63443"/>
                </a:lnTo>
                <a:lnTo>
                  <a:pt x="405892" y="36830"/>
                </a:lnTo>
                <a:lnTo>
                  <a:pt x="363869" y="16876"/>
                </a:lnTo>
                <a:lnTo>
                  <a:pt x="318233" y="4346"/>
                </a:lnTo>
                <a:lnTo>
                  <a:pt x="269748" y="0"/>
                </a:lnTo>
                <a:close/>
              </a:path>
            </a:pathLst>
          </a:custGeom>
          <a:solidFill>
            <a:srgbClr val="FF8A00"/>
          </a:solidFill>
        </p:spPr>
        <p:txBody>
          <a:bodyPr wrap="square" lIns="0" tIns="0" rIns="0" bIns="0" rtlCol="0" anchor="ctr"/>
          <a:lstStyle/>
          <a:p>
            <a:pPr algn="ctr"/>
            <a:r>
              <a:rPr lang="fr-FR" sz="2400" b="1" dirty="0"/>
              <a:t>3</a:t>
            </a: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3541089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241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Package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package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NuGet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Cors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1400" dirty="0">
              <a:latin typeface="Segoe UI"/>
              <a:cs typeface="Segoe UI"/>
            </a:endParaRPr>
          </a:p>
          <a:p>
            <a:pPr marL="1800225">
              <a:lnSpc>
                <a:spcPct val="100000"/>
              </a:lnSpc>
              <a:spcBef>
                <a:spcPts val="5"/>
              </a:spcBef>
            </a:pPr>
            <a:r>
              <a:rPr lang="fr-FR" sz="2400" spc="-10" dirty="0">
                <a:latin typeface="Consolas"/>
                <a:cs typeface="Consolas"/>
              </a:rPr>
              <a:t>Install-</a:t>
            </a:r>
            <a:r>
              <a:rPr lang="fr-FR" sz="2400" dirty="0">
                <a:latin typeface="Consolas"/>
                <a:cs typeface="Consolas"/>
              </a:rPr>
              <a:t>Package </a:t>
            </a:r>
            <a:r>
              <a:rPr lang="fr-FR" sz="2400" spc="-10" dirty="0" err="1">
                <a:solidFill>
                  <a:srgbClr val="212121"/>
                </a:solidFill>
                <a:latin typeface="Consolas"/>
                <a:cs typeface="Consolas"/>
              </a:rPr>
              <a:t>Microsoft.AspNetCore.Cors</a:t>
            </a:r>
            <a:endParaRPr lang="fr-FR" sz="2400" dirty="0">
              <a:latin typeface="Consolas"/>
              <a:cs typeface="Consola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D57D01-E968-A48F-FB0A-9848159AF38C}"/>
              </a:ext>
            </a:extLst>
          </p:cNvPr>
          <p:cNvSpPr txBox="1"/>
          <p:nvPr/>
        </p:nvSpPr>
        <p:spPr>
          <a:xfrm>
            <a:off x="821635" y="3541050"/>
            <a:ext cx="8575028" cy="2482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Deux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solutions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d’implémentation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middleware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4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Avec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la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i="1" dirty="0" err="1">
                <a:latin typeface="Segoe UI"/>
                <a:cs typeface="Segoe UI"/>
              </a:rPr>
              <a:t>policy</a:t>
            </a:r>
            <a:r>
              <a:rPr lang="fr-FR" sz="1800" i="1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par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défaut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ou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une</a:t>
            </a:r>
            <a:r>
              <a:rPr lang="fr-FR" sz="1800" spc="-60" dirty="0">
                <a:latin typeface="Segoe UI"/>
                <a:cs typeface="Segoe UI"/>
              </a:rPr>
              <a:t> </a:t>
            </a:r>
            <a:r>
              <a:rPr lang="fr-FR" sz="1800" i="1" dirty="0" err="1">
                <a:latin typeface="Segoe UI"/>
                <a:cs typeface="Segoe UI"/>
              </a:rPr>
              <a:t>policy</a:t>
            </a:r>
            <a:r>
              <a:rPr lang="fr-FR" sz="1800" i="1" spc="-2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spécifique</a:t>
            </a:r>
            <a:endParaRPr lang="fr-FR" sz="18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310"/>
              </a:spcBef>
              <a:buClr>
                <a:srgbClr val="391778"/>
              </a:buClr>
              <a:buFont typeface="Arial"/>
              <a:buChar char="•"/>
            </a:pP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attribut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Utilisable</a:t>
            </a:r>
            <a:r>
              <a:rPr lang="fr-FR" sz="1800" spc="-1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sur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un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contrôleur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ou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sur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une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action</a:t>
            </a:r>
            <a:endParaRPr lang="fr-FR" sz="1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34606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Enregistrement</a:t>
            </a:r>
          </a:p>
          <a:p>
            <a:endParaRPr lang="fr-FR" sz="2400" dirty="0"/>
          </a:p>
          <a:p>
            <a:pPr marL="236220" indent="-17526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SzPct val="89583"/>
              <a:buFont typeface="Arial"/>
              <a:buChar char="•"/>
              <a:tabLst>
                <a:tab pos="236220" algn="l"/>
              </a:tabLst>
            </a:pP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Startup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enregistre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configure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service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CORS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322F50C-6172-6DAB-673D-683A88D91509}"/>
              </a:ext>
            </a:extLst>
          </p:cNvPr>
          <p:cNvSpPr txBox="1"/>
          <p:nvPr/>
        </p:nvSpPr>
        <p:spPr>
          <a:xfrm>
            <a:off x="2018362" y="2875002"/>
            <a:ext cx="817846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ConfigureServices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IServiceCollection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services)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//...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services.AddCors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(s =&gt;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s.AddDefaultPolicy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p.WithOrigins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"http://www.contoso.com"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p.WithMethods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"OPTIONS"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"GET"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"POST"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"PUT"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p.AllowAnyHeader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19932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Policy</a:t>
            </a:r>
          </a:p>
          <a:p>
            <a:endParaRPr lang="fr-FR" sz="2400" dirty="0"/>
          </a:p>
          <a:p>
            <a:pPr marL="236220" indent="-17526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SzPct val="89583"/>
              <a:buFont typeface="Arial"/>
              <a:buChar char="•"/>
              <a:tabLst>
                <a:tab pos="236220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sa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propre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policy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»</a:t>
            </a:r>
            <a:endParaRPr lang="fr-FR" sz="24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6E24EC5-3C99-47C7-46C6-0E3C1CC413D2}"/>
              </a:ext>
            </a:extLst>
          </p:cNvPr>
          <p:cNvSpPr txBox="1"/>
          <p:nvPr/>
        </p:nvSpPr>
        <p:spPr>
          <a:xfrm>
            <a:off x="1356625" y="2827453"/>
            <a:ext cx="95019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ConfigureServices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IServiceCollection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services)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//...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services.AddCors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(s =&gt;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s.AddPolicy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myCustomPolicy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p =&gt;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p.WithOrigins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"http://admin.contoso.com"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p.WithMethods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"OPTIONS"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"GET"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"POST"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"PUT"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"DELETE"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p.AllowAnyHeader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p.AllowCredentials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62063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7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Middleware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SzPct val="89583"/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ensuite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policy</a:t>
            </a:r>
            <a:r>
              <a:rPr lang="fr-FR" sz="2400" dirty="0">
                <a:latin typeface="Segoe UI"/>
                <a:cs typeface="Segoe UI"/>
              </a:rPr>
              <a:t> par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défaut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»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middlewares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60"/>
              </a:spcBef>
            </a:pP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60"/>
              </a:spcBef>
            </a:pP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60"/>
              </a:spcBef>
            </a:pPr>
            <a:endParaRPr lang="fr-FR" sz="1800" dirty="0">
              <a:latin typeface="Consolas"/>
              <a:cs typeface="Consolas"/>
            </a:endParaRPr>
          </a:p>
          <a:p>
            <a:pPr marL="523240" lvl="1" indent="-457200">
              <a:lnSpc>
                <a:spcPct val="100000"/>
              </a:lnSpc>
              <a:buClr>
                <a:srgbClr val="391778"/>
              </a:buClr>
              <a:buSzPct val="89583"/>
              <a:buFont typeface="Arial"/>
              <a:buChar char="•"/>
              <a:tabLst>
                <a:tab pos="523240" algn="l"/>
              </a:tabLst>
            </a:pPr>
            <a:r>
              <a:rPr lang="fr-FR" sz="2400" dirty="0">
                <a:latin typeface="Segoe UI"/>
                <a:cs typeface="Segoe UI"/>
              </a:rPr>
              <a:t>…ou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avec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custom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policy</a:t>
            </a:r>
            <a:r>
              <a:rPr lang="fr-FR" sz="2400" dirty="0">
                <a:latin typeface="Segoe UI"/>
                <a:cs typeface="Segoe UI"/>
              </a:rPr>
              <a:t> »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EBFC7EC-95A2-1368-0F5F-0C0741EC8441}"/>
              </a:ext>
            </a:extLst>
          </p:cNvPr>
          <p:cNvSpPr txBox="1"/>
          <p:nvPr/>
        </p:nvSpPr>
        <p:spPr>
          <a:xfrm>
            <a:off x="2896667" y="2796988"/>
            <a:ext cx="64218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Configure(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IApplicationBuilder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app)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//...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app.UseCors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//...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F39A2F-E210-3475-F5CA-EE0E45002EEF}"/>
              </a:ext>
            </a:extLst>
          </p:cNvPr>
          <p:cNvSpPr txBox="1"/>
          <p:nvPr/>
        </p:nvSpPr>
        <p:spPr>
          <a:xfrm>
            <a:off x="2896667" y="5667986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app.UseCors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myCustomPolicy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7039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Middleware</a:t>
            </a:r>
          </a:p>
          <a:p>
            <a:endParaRPr lang="fr-FR" sz="2400" dirty="0"/>
          </a:p>
          <a:p>
            <a:pPr marL="187960" indent="-17526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SzPct val="89583"/>
              <a:buFont typeface="Arial"/>
              <a:buChar char="•"/>
              <a:tabLst>
                <a:tab pos="187960" algn="l"/>
              </a:tabLst>
            </a:pPr>
            <a:r>
              <a:rPr lang="fr-FR" sz="2400" spc="-40" dirty="0">
                <a:latin typeface="Calibri"/>
                <a:cs typeface="Calibri"/>
              </a:rPr>
              <a:t>L’attribut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EnableCors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permet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d’activer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Cors</a:t>
            </a:r>
            <a:endParaRPr lang="fr-FR" sz="2400" dirty="0">
              <a:latin typeface="Calibri"/>
              <a:cs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33B8528-8957-1A8F-AE60-40BAAF041517}"/>
              </a:ext>
            </a:extLst>
          </p:cNvPr>
          <p:cNvSpPr txBox="1"/>
          <p:nvPr/>
        </p:nvSpPr>
        <p:spPr>
          <a:xfrm>
            <a:off x="1122467" y="2956439"/>
            <a:ext cx="102478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EnableCors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]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s’applique sur tout le contrôleur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PersonController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//...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EnableCors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()]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s’applique uniquement sur la méthode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HttpPost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GetPeople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{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EnableCors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myCustomPolicy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)]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avec une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policy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spécifique [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HttpPost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]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GetPerson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id) {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//...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16051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CORS</a:t>
            </a:r>
          </a:p>
        </p:txBody>
      </p:sp>
    </p:spTree>
    <p:extLst>
      <p:ext uri="{BB962C8B-B14F-4D97-AF65-F5344CB8AC3E}">
        <p14:creationId xmlns:p14="http://schemas.microsoft.com/office/powerpoint/2010/main" val="11844676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3. Hébergement du service</a:t>
            </a:r>
          </a:p>
        </p:txBody>
      </p:sp>
    </p:spTree>
    <p:extLst>
      <p:ext uri="{BB962C8B-B14F-4D97-AF65-F5344CB8AC3E}">
        <p14:creationId xmlns:p14="http://schemas.microsoft.com/office/powerpoint/2010/main" val="29640923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403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Publication : Prérequis</a:t>
            </a:r>
          </a:p>
          <a:p>
            <a:endParaRPr lang="fr-FR" sz="2400" dirty="0"/>
          </a:p>
          <a:p>
            <a:pPr marL="240029" indent="-227329">
              <a:lnSpc>
                <a:spcPts val="2735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publier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application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nécessaire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connaitre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quelques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r>
              <a:rPr lang="fr-FR" sz="2400" dirty="0">
                <a:latin typeface="Segoe UI"/>
                <a:cs typeface="Segoe UI"/>
              </a:rPr>
              <a:t>éléments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importants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sur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machine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d’hébergement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A-t-elle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déjà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.NET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Core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?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Quelle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version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.NET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Core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?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Quel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l’OS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utilisé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?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32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bits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64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bits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?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Comment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sera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exécuté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l’application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?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Est-</a:t>
            </a:r>
            <a:r>
              <a:rPr lang="fr-FR" sz="2000" dirty="0">
                <a:latin typeface="Segoe UI"/>
                <a:cs typeface="Segoe UI"/>
              </a:rPr>
              <a:t>ce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cloud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?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On-</a:t>
            </a:r>
            <a:r>
              <a:rPr lang="fr-FR" sz="2000" dirty="0" err="1">
                <a:latin typeface="Segoe UI"/>
                <a:cs typeface="Segoe UI"/>
              </a:rPr>
              <a:t>premise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?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8470952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867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Publication : Prérequis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Quelle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version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.NET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Core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?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Pour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production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peut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viser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framework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LTS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(Long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35" dirty="0" err="1">
                <a:latin typeface="Segoe UI"/>
                <a:cs typeface="Segoe UI"/>
              </a:rPr>
              <a:t>Term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Support)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Ex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: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.NET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 err="1">
                <a:latin typeface="Segoe UI"/>
                <a:cs typeface="Segoe UI"/>
              </a:rPr>
              <a:t>Core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3.1</a:t>
            </a:r>
            <a:r>
              <a:rPr lang="fr-FR" sz="1800" spc="-1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ou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.NET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spc="-50" dirty="0">
                <a:latin typeface="Segoe UI"/>
                <a:cs typeface="Segoe UI"/>
              </a:rPr>
              <a:t>6</a:t>
            </a:r>
            <a:endParaRPr lang="fr-FR" sz="18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320"/>
              </a:spcBef>
              <a:buClr>
                <a:srgbClr val="391778"/>
              </a:buClr>
              <a:buFont typeface="Arial"/>
              <a:buChar char="•"/>
            </a:pPr>
            <a:endParaRPr lang="fr-FR" sz="18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machine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a-t-</a:t>
            </a:r>
            <a:r>
              <a:rPr lang="fr-FR" sz="2400" dirty="0">
                <a:latin typeface="Segoe UI"/>
                <a:cs typeface="Segoe UI"/>
              </a:rPr>
              <a:t>elle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déjà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.NET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Core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?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9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Oui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je</a:t>
            </a:r>
            <a:r>
              <a:rPr lang="fr-FR" sz="20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vais</a:t>
            </a:r>
            <a:r>
              <a:rPr lang="fr-FR" sz="20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l’installer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avant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déploiement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4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Mode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déploiement</a:t>
            </a:r>
            <a:r>
              <a:rPr lang="fr-FR" sz="1800" spc="1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: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b="1" spc="-10" dirty="0">
                <a:latin typeface="Segoe UI"/>
                <a:cs typeface="Segoe UI"/>
              </a:rPr>
              <a:t>Framework-</a:t>
            </a:r>
            <a:r>
              <a:rPr lang="fr-FR" sz="1800" b="1" spc="-10" dirty="0" err="1">
                <a:latin typeface="Segoe UI"/>
                <a:cs typeface="Segoe UI"/>
              </a:rPr>
              <a:t>dependent</a:t>
            </a: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Non</a:t>
            </a:r>
            <a:r>
              <a:rPr lang="fr-FR" sz="2000" dirty="0">
                <a:latin typeface="Segoe UI"/>
                <a:cs typeface="Segoe UI"/>
              </a:rPr>
              <a:t>,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cas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on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peut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déployer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celui-</a:t>
            </a:r>
            <a:r>
              <a:rPr lang="fr-FR" sz="2000" dirty="0">
                <a:latin typeface="Segoe UI"/>
                <a:cs typeface="Segoe UI"/>
              </a:rPr>
              <a:t>ci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l’application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Mode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1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déploiement</a:t>
            </a:r>
            <a:r>
              <a:rPr lang="fr-FR" sz="1800" spc="1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: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b="1" spc="-20" dirty="0">
                <a:latin typeface="Segoe UI"/>
                <a:cs typeface="Segoe UI"/>
              </a:rPr>
              <a:t>Self-</a:t>
            </a:r>
            <a:r>
              <a:rPr lang="fr-FR" sz="1800" b="1" spc="-10" dirty="0" err="1">
                <a:latin typeface="Segoe UI"/>
                <a:cs typeface="Segoe UI"/>
              </a:rPr>
              <a:t>contained</a:t>
            </a:r>
            <a:endParaRPr lang="fr-FR" sz="18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E8DDC42-60C4-3901-CBA8-E9352F2D7C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186" y="3936494"/>
            <a:ext cx="4572000" cy="76200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158AE96-5F44-762F-4ABC-4C3EE2F75A6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80121" y="1731263"/>
            <a:ext cx="1190244" cy="119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18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5350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Publication : Prérequis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81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Quel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l’OS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utilisé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?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32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bits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ou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64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bits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?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ARM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?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9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Il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faut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effet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choisir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runtime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plus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adapté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(ex</a:t>
            </a:r>
            <a:r>
              <a:rPr lang="fr-FR" sz="1800" spc="-1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:</a:t>
            </a:r>
            <a:r>
              <a:rPr lang="fr-FR" sz="1800" spc="-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Linux-</a:t>
            </a:r>
            <a:r>
              <a:rPr lang="fr-FR" sz="1800" dirty="0">
                <a:latin typeface="Segoe UI"/>
                <a:cs typeface="Segoe UI"/>
              </a:rPr>
              <a:t>x64,</a:t>
            </a:r>
            <a:r>
              <a:rPr lang="fr-FR" sz="1800" spc="-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Win-</a:t>
            </a:r>
            <a:r>
              <a:rPr lang="fr-FR" sz="1800" spc="-20" dirty="0">
                <a:latin typeface="Segoe UI"/>
                <a:cs typeface="Segoe UI"/>
              </a:rPr>
              <a:t>x64)</a:t>
            </a:r>
            <a:endParaRPr lang="fr-FR" sz="18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155"/>
              </a:spcBef>
              <a:buClr>
                <a:srgbClr val="391778"/>
              </a:buClr>
              <a:buFont typeface="Arial"/>
              <a:buChar char="•"/>
            </a:pPr>
            <a:endParaRPr lang="fr-FR" sz="1800" dirty="0">
              <a:latin typeface="Segoe UI"/>
              <a:cs typeface="Segoe UI"/>
            </a:endParaRPr>
          </a:p>
          <a:p>
            <a:pPr marL="698500" marR="5080" lvl="1" indent="-229235">
              <a:lnSpc>
                <a:spcPts val="216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cas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d’un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déploiement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mode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u="sng" spc="-10" dirty="0" err="1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framework-</a:t>
            </a:r>
            <a:r>
              <a:rPr lang="fr-FR" sz="2000" u="sng" dirty="0" err="1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dependant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il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possible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de </a:t>
            </a:r>
            <a:r>
              <a:rPr lang="fr-FR" sz="2000" dirty="0">
                <a:latin typeface="Segoe UI"/>
                <a:cs typeface="Segoe UI"/>
              </a:rPr>
              <a:t>choisir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runtime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«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b="1" dirty="0">
                <a:latin typeface="Segoe UI"/>
                <a:cs typeface="Segoe UI"/>
              </a:rPr>
              <a:t>portable</a:t>
            </a:r>
            <a:r>
              <a:rPr lang="fr-FR" sz="2000" b="1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»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qui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s’adaptera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chaque</a:t>
            </a:r>
            <a:r>
              <a:rPr lang="fr-FR" sz="2000" spc="-10" dirty="0">
                <a:latin typeface="Segoe UI"/>
                <a:cs typeface="Segoe UI"/>
              </a:rPr>
              <a:t> machine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Comment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sera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exécutée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l’application?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serveur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web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(IIS, Nginx,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Apache…)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 service</a:t>
            </a:r>
            <a:r>
              <a:rPr lang="fr-FR" sz="2000" spc="1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Windows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6CC4BBDD-3207-F4C6-9AA8-88675B66C02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1820" y="1431230"/>
            <a:ext cx="659931" cy="915484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E2028BCA-3B4B-7E58-5914-0516093877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26116" y="1804701"/>
            <a:ext cx="879541" cy="95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94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5080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Publication : Prérequis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>
                <a:latin typeface="Segoe UI"/>
                <a:cs typeface="Segoe UI"/>
              </a:rPr>
              <a:t>Est-</a:t>
            </a:r>
            <a:r>
              <a:rPr lang="fr-FR" sz="2400" dirty="0">
                <a:latin typeface="Segoe UI"/>
                <a:cs typeface="Segoe UI"/>
              </a:rPr>
              <a:t>ce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cloud ?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On-</a:t>
            </a:r>
            <a:r>
              <a:rPr lang="fr-FR" sz="2400" dirty="0" err="1">
                <a:latin typeface="Segoe UI"/>
                <a:cs typeface="Segoe UI"/>
              </a:rPr>
              <a:t>premise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?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ts val="228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Plusieurs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possibilités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existent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mais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sont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pas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forcément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toutes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disponibles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dans</a:t>
            </a:r>
            <a:endParaRPr lang="fr-FR" sz="2000" dirty="0">
              <a:latin typeface="Segoe UI"/>
              <a:cs typeface="Segoe UI"/>
            </a:endParaRPr>
          </a:p>
          <a:p>
            <a:pPr marL="698500">
              <a:lnSpc>
                <a:spcPts val="2280"/>
              </a:lnSpc>
            </a:pP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entreprise</a:t>
            </a:r>
            <a:endParaRPr lang="fr-FR" sz="20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Publication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dans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un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dossier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la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machine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ou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partagé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sur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réseau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Par</a:t>
            </a:r>
            <a:r>
              <a:rPr lang="fr-FR" sz="1800" spc="-85" dirty="0">
                <a:latin typeface="Segoe UI"/>
                <a:cs typeface="Segoe UI"/>
              </a:rPr>
              <a:t> </a:t>
            </a:r>
            <a:r>
              <a:rPr lang="fr-FR" sz="1800" spc="-25" dirty="0">
                <a:latin typeface="Segoe UI"/>
                <a:cs typeface="Segoe UI"/>
              </a:rPr>
              <a:t>FTP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Avec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un</a:t>
            </a:r>
            <a:r>
              <a:rPr lang="fr-FR" sz="1800" spc="-7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package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déploiement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Directement</a:t>
            </a:r>
            <a:r>
              <a:rPr lang="fr-FR" sz="1800" spc="-6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dans</a:t>
            </a:r>
            <a:r>
              <a:rPr lang="fr-FR" sz="1800" spc="-80" dirty="0">
                <a:latin typeface="Segoe UI"/>
                <a:cs typeface="Segoe UI"/>
              </a:rPr>
              <a:t> </a:t>
            </a:r>
            <a:r>
              <a:rPr lang="fr-FR" sz="1800" spc="-25" dirty="0">
                <a:latin typeface="Segoe UI"/>
                <a:cs typeface="Segoe UI"/>
              </a:rPr>
              <a:t>IIS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En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utilisant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un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container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7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A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travers</a:t>
            </a:r>
            <a:r>
              <a:rPr lang="fr-FR" sz="1800" spc="-1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une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Machine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Virtuelle</a:t>
            </a:r>
            <a:r>
              <a:rPr lang="fr-FR" sz="1800" spc="-10" dirty="0">
                <a:latin typeface="Segoe UI"/>
                <a:cs typeface="Segoe UI"/>
              </a:rPr>
              <a:t> Azure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Dans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un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App</a:t>
            </a:r>
            <a:r>
              <a:rPr lang="fr-FR" sz="1800" spc="-10" dirty="0">
                <a:latin typeface="Segoe UI"/>
                <a:cs typeface="Segoe UI"/>
              </a:rPr>
              <a:t> Service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Avec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Azure</a:t>
            </a:r>
            <a:r>
              <a:rPr lang="fr-FR" sz="1800" spc="-6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Container</a:t>
            </a:r>
            <a:r>
              <a:rPr lang="fr-FR" sz="1800" spc="-7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Instances</a:t>
            </a:r>
            <a:endParaRPr lang="fr-FR" sz="18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1182F69-9ED0-C368-0239-BA00DF825B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0527" y="5426770"/>
            <a:ext cx="3265932" cy="62744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F22EC73-ABF3-8FEE-3CCC-FDCBEB53061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0118" y="3591263"/>
            <a:ext cx="3157728" cy="16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68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71070"/>
            <a:ext cx="10525539" cy="412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Publication (Visual Studio)</a:t>
            </a:r>
          </a:p>
          <a:p>
            <a:endParaRPr lang="fr-FR" sz="2400" dirty="0"/>
          </a:p>
          <a:p>
            <a:pPr marL="240029" indent="-227329">
              <a:lnSpc>
                <a:spcPts val="2735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Visual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Studio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bouton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publier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»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d’accéder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menu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de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r>
              <a:rPr lang="fr-FR" sz="2400" spc="-10" dirty="0">
                <a:latin typeface="Segoe UI"/>
                <a:cs typeface="Segoe UI"/>
              </a:rPr>
              <a:t>publication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Segoe UI"/>
                <a:cs typeface="Segoe UI"/>
              </a:rPr>
              <a:t>Puis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d’ajouter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profil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publication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760A5A84-A033-5821-687D-7B82348C49D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0395" y="2714735"/>
            <a:ext cx="3970921" cy="1700854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72DD7243-09EB-3023-BFC7-7BB9C7F230D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71300" y="5258147"/>
            <a:ext cx="6076188" cy="132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7309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71070"/>
            <a:ext cx="10525539" cy="1559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Publication (Visual Studio)</a:t>
            </a:r>
          </a:p>
          <a:p>
            <a:endParaRPr lang="fr-FR" sz="2400" b="1" dirty="0"/>
          </a:p>
          <a:p>
            <a:endParaRPr lang="fr-FR" sz="2400" dirty="0"/>
          </a:p>
          <a:p>
            <a:pPr marL="240029" indent="-227329">
              <a:lnSpc>
                <a:spcPts val="2735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D34605A0-505E-242F-B0CB-669366B564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8916" y="1925578"/>
            <a:ext cx="6434168" cy="450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896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71070"/>
            <a:ext cx="10525539" cy="1559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Publication (Visual Studio)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Paramètres de publication :</a:t>
            </a:r>
          </a:p>
          <a:p>
            <a:pPr marL="240029" indent="-227329">
              <a:lnSpc>
                <a:spcPts val="2735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2D89F4B3-81D2-85DE-8D7D-08F1FE8904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863" y="3276600"/>
            <a:ext cx="2900172" cy="2552700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67281034-3416-699B-16B3-096AF4B9D5D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2920" y="4209288"/>
            <a:ext cx="1148588" cy="836168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1DC6FF8B-D360-683D-B565-6D8EB275C72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96355" y="2189932"/>
            <a:ext cx="5649467" cy="441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7788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71070"/>
            <a:ext cx="10525539" cy="535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Publication (Visual Studio Code)</a:t>
            </a:r>
          </a:p>
          <a:p>
            <a:endParaRPr lang="fr-FR" sz="2400" dirty="0"/>
          </a:p>
          <a:p>
            <a:pPr marL="240029" indent="-227329">
              <a:lnSpc>
                <a:spcPts val="2735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fonction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extensions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installées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Code,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clic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droit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sur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un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r>
              <a:rPr lang="fr-FR" sz="2400" dirty="0">
                <a:latin typeface="Segoe UI"/>
                <a:cs typeface="Segoe UI"/>
              </a:rPr>
              <a:t>fichier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du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projet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permettre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l’accès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menu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publication</a:t>
            </a: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r>
              <a:rPr lang="fr-FR" dirty="0">
                <a:latin typeface="Segoe UI"/>
                <a:cs typeface="Segoe UI"/>
              </a:rPr>
              <a:t>*</a:t>
            </a:r>
            <a:r>
              <a:rPr lang="fr-FR" spc="-30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Ici</a:t>
            </a:r>
            <a:r>
              <a:rPr lang="fr-FR" spc="-30" dirty="0">
                <a:latin typeface="Segoe UI"/>
                <a:cs typeface="Segoe UI"/>
              </a:rPr>
              <a:t> </a:t>
            </a:r>
            <a:r>
              <a:rPr lang="fr-FR" spc="-20" dirty="0">
                <a:latin typeface="Segoe UI"/>
                <a:cs typeface="Segoe UI"/>
              </a:rPr>
              <a:t>l’extension</a:t>
            </a:r>
            <a:r>
              <a:rPr lang="fr-FR" spc="-30" dirty="0">
                <a:latin typeface="Segoe UI"/>
                <a:cs typeface="Segoe UI"/>
              </a:rPr>
              <a:t> </a:t>
            </a:r>
            <a:r>
              <a:rPr lang="fr-FR" b="1" dirty="0">
                <a:latin typeface="Segoe UI"/>
                <a:cs typeface="Segoe UI"/>
              </a:rPr>
              <a:t>Azure</a:t>
            </a:r>
            <a:r>
              <a:rPr lang="fr-FR" b="1" spc="-50" dirty="0">
                <a:latin typeface="Segoe UI"/>
                <a:cs typeface="Segoe UI"/>
              </a:rPr>
              <a:t> </a:t>
            </a:r>
            <a:r>
              <a:rPr lang="fr-FR" b="1" spc="-35" dirty="0">
                <a:latin typeface="Segoe UI"/>
                <a:cs typeface="Segoe UI"/>
              </a:rPr>
              <a:t>Tools </a:t>
            </a:r>
            <a:r>
              <a:rPr lang="fr-FR" dirty="0">
                <a:latin typeface="Segoe UI"/>
                <a:cs typeface="Segoe UI"/>
              </a:rPr>
              <a:t>a</a:t>
            </a:r>
            <a:r>
              <a:rPr lang="fr-FR" spc="-35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été</a:t>
            </a:r>
            <a:r>
              <a:rPr lang="fr-FR" spc="-35" dirty="0">
                <a:latin typeface="Segoe UI"/>
                <a:cs typeface="Segoe UI"/>
              </a:rPr>
              <a:t> </a:t>
            </a:r>
            <a:r>
              <a:rPr lang="fr-FR" spc="-10" dirty="0">
                <a:latin typeface="Segoe UI"/>
                <a:cs typeface="Segoe UI"/>
              </a:rPr>
              <a:t>ajouté</a:t>
            </a:r>
            <a:endParaRPr lang="fr-FR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ts val="2735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0777F0E0-2447-556C-1E4A-5B60C60116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9684" y="3026664"/>
            <a:ext cx="3532632" cy="216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358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71070"/>
            <a:ext cx="10525539" cy="5670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Publication (Command line)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ligne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commande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dotnet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»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.NET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Core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publier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z="2400" spc="-10" dirty="0">
              <a:latin typeface="Segoe UI"/>
              <a:cs typeface="Segoe UI"/>
            </a:endParaRPr>
          </a:p>
          <a:p>
            <a:pPr marL="241300">
              <a:lnSpc>
                <a:spcPts val="2735"/>
              </a:lnSpc>
            </a:pPr>
            <a:endParaRPr lang="fr-FR" spc="-1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800" dirty="0">
                <a:latin typeface="Consolas"/>
                <a:cs typeface="Consolas"/>
              </a:rPr>
              <a:t>	Ex</a:t>
            </a:r>
            <a:r>
              <a:rPr lang="en-US" sz="1800" spc="-20" dirty="0">
                <a:latin typeface="Consolas"/>
                <a:cs typeface="Consolas"/>
              </a:rPr>
              <a:t> </a:t>
            </a:r>
            <a:r>
              <a:rPr lang="en-US" sz="1800" dirty="0">
                <a:latin typeface="Consolas"/>
                <a:cs typeface="Consolas"/>
              </a:rPr>
              <a:t>:</a:t>
            </a:r>
            <a:r>
              <a:rPr lang="en-US" sz="1800" spc="-10" dirty="0">
                <a:latin typeface="Consolas"/>
                <a:cs typeface="Consolas"/>
              </a:rPr>
              <a:t> “</a:t>
            </a:r>
            <a:r>
              <a:rPr lang="en-US" sz="1800" dirty="0">
                <a:latin typeface="Consolas"/>
                <a:cs typeface="Consolas"/>
              </a:rPr>
              <a:t>dotnet</a:t>
            </a:r>
            <a:r>
              <a:rPr lang="en-US" sz="1800" spc="-20" dirty="0">
                <a:latin typeface="Consolas"/>
                <a:cs typeface="Consolas"/>
              </a:rPr>
              <a:t> </a:t>
            </a:r>
            <a:r>
              <a:rPr lang="en-US" sz="1800" dirty="0">
                <a:latin typeface="Consolas"/>
                <a:cs typeface="Consolas"/>
              </a:rPr>
              <a:t>publish</a:t>
            </a:r>
            <a:r>
              <a:rPr lang="en-US" sz="1800" spc="-5" dirty="0">
                <a:latin typeface="Consolas"/>
                <a:cs typeface="Consolas"/>
              </a:rPr>
              <a:t> </a:t>
            </a:r>
            <a:r>
              <a:rPr lang="en-US" sz="1800" dirty="0" err="1">
                <a:latin typeface="Consolas"/>
                <a:cs typeface="Consolas"/>
              </a:rPr>
              <a:t>SchoolWeb</a:t>
            </a:r>
            <a:r>
              <a:rPr lang="en-US" sz="1800" spc="-15" dirty="0">
                <a:latin typeface="Consolas"/>
                <a:cs typeface="Consolas"/>
              </a:rPr>
              <a:t> </a:t>
            </a:r>
            <a:r>
              <a:rPr lang="en-US" sz="1800" dirty="0">
                <a:latin typeface="Consolas"/>
                <a:cs typeface="Consolas"/>
              </a:rPr>
              <a:t>-c</a:t>
            </a:r>
            <a:r>
              <a:rPr lang="en-US" sz="1800" spc="-25" dirty="0">
                <a:latin typeface="Consolas"/>
                <a:cs typeface="Consolas"/>
              </a:rPr>
              <a:t> </a:t>
            </a:r>
            <a:r>
              <a:rPr lang="en-US" sz="1800" dirty="0">
                <a:latin typeface="Consolas"/>
                <a:cs typeface="Consolas"/>
              </a:rPr>
              <a:t>Release</a:t>
            </a:r>
            <a:r>
              <a:rPr lang="en-US" sz="1800" spc="-10" dirty="0">
                <a:latin typeface="Consolas"/>
                <a:cs typeface="Consolas"/>
              </a:rPr>
              <a:t> </a:t>
            </a:r>
            <a:r>
              <a:rPr lang="en-US" sz="1800" dirty="0">
                <a:latin typeface="Consolas"/>
                <a:cs typeface="Consolas"/>
              </a:rPr>
              <a:t>-a</a:t>
            </a:r>
            <a:r>
              <a:rPr lang="en-US" sz="1800" spc="-30" dirty="0">
                <a:latin typeface="Consolas"/>
                <a:cs typeface="Consolas"/>
              </a:rPr>
              <a:t> </a:t>
            </a:r>
            <a:r>
              <a:rPr lang="en-US" sz="1800" spc="-10" dirty="0">
                <a:latin typeface="Consolas"/>
                <a:cs typeface="Consolas"/>
              </a:rPr>
              <a:t>win-</a:t>
            </a:r>
            <a:r>
              <a:rPr lang="en-US" sz="1800" dirty="0">
                <a:latin typeface="Consolas"/>
                <a:cs typeface="Consolas"/>
              </a:rPr>
              <a:t>x64</a:t>
            </a:r>
            <a:r>
              <a:rPr lang="en-US" sz="1800" spc="-15" dirty="0">
                <a:latin typeface="Consolas"/>
                <a:cs typeface="Consolas"/>
              </a:rPr>
              <a:t> </a:t>
            </a:r>
            <a:r>
              <a:rPr lang="en-US" sz="1800" dirty="0">
                <a:latin typeface="Consolas"/>
                <a:cs typeface="Consolas"/>
              </a:rPr>
              <a:t>-f</a:t>
            </a:r>
            <a:r>
              <a:rPr lang="en-US" sz="1800" spc="-25" dirty="0">
                <a:latin typeface="Consolas"/>
                <a:cs typeface="Consolas"/>
              </a:rPr>
              <a:t> </a:t>
            </a:r>
            <a:r>
              <a:rPr lang="en-US" sz="1800" spc="-10" dirty="0">
                <a:latin typeface="Consolas"/>
                <a:cs typeface="Consolas"/>
              </a:rPr>
              <a:t>netcoreapp3.1”</a:t>
            </a:r>
            <a:endParaRPr lang="en-US" sz="1800" dirty="0">
              <a:latin typeface="Consolas"/>
              <a:cs typeface="Consolas"/>
            </a:endParaRPr>
          </a:p>
          <a:p>
            <a:pPr marL="241300">
              <a:lnSpc>
                <a:spcPts val="2735"/>
              </a:lnSpc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ts val="2735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56B3FB2-0E7A-5B7C-BF07-5419DA4D459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3294" y="2710655"/>
            <a:ext cx="6725411" cy="299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834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22942"/>
            <a:ext cx="10525539" cy="334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Serveur Web : HTTP.sys</a:t>
            </a:r>
          </a:p>
          <a:p>
            <a:endParaRPr lang="fr-FR" sz="16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spc="-40" dirty="0">
                <a:latin typeface="Segoe UI"/>
                <a:cs typeface="Segoe UI"/>
              </a:rPr>
              <a:t>HTTP.sys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serveur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web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conçu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.NET </a:t>
            </a:r>
            <a:r>
              <a:rPr lang="fr-FR" sz="2400" spc="-20" dirty="0" err="1">
                <a:latin typeface="Segoe UI"/>
                <a:cs typeface="Segoe UI"/>
              </a:rPr>
              <a:t>Core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Alternative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 err="1">
                <a:latin typeface="Segoe UI"/>
                <a:cs typeface="Segoe UI"/>
              </a:rPr>
              <a:t>Kestrel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Open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Source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b="1" dirty="0">
                <a:latin typeface="Segoe UI"/>
                <a:cs typeface="Segoe UI"/>
              </a:rPr>
              <a:t>Windows</a:t>
            </a:r>
            <a:r>
              <a:rPr lang="fr-FR" sz="2000" b="1" spc="-35" dirty="0">
                <a:latin typeface="Segoe UI"/>
                <a:cs typeface="Segoe UI"/>
              </a:rPr>
              <a:t> </a:t>
            </a:r>
            <a:r>
              <a:rPr lang="fr-FR" sz="2000" b="1" spc="-10" dirty="0">
                <a:latin typeface="Segoe UI"/>
                <a:cs typeface="Segoe UI"/>
              </a:rPr>
              <a:t>uniquement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Compatible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l’</a:t>
            </a:r>
            <a:r>
              <a:rPr lang="fr-FR" sz="20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authentification</a:t>
            </a:r>
            <a:r>
              <a:rPr lang="fr-FR" sz="20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0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Windows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Ne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fonctionne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IIS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IIS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Express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(contrairement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 err="1">
                <a:latin typeface="Segoe UI"/>
                <a:cs typeface="Segoe UI"/>
              </a:rPr>
              <a:t>Kestrel</a:t>
            </a:r>
            <a:r>
              <a:rPr lang="fr-FR" sz="2000" spc="-10" dirty="0">
                <a:latin typeface="Segoe UI"/>
                <a:cs typeface="Segoe UI"/>
              </a:rPr>
              <a:t>)</a:t>
            </a: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ts val="2735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E8A824E-B27A-DBC2-0B57-AB8B40EAF5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0089" y="4433316"/>
            <a:ext cx="5102366" cy="998219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D9D98D03-6AD6-1E87-E28A-B6E22471F4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0031" y="5615695"/>
            <a:ext cx="5102424" cy="99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599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22942"/>
            <a:ext cx="10525539" cy="1449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Serveur Web : HTTP.sys</a:t>
            </a:r>
          </a:p>
          <a:p>
            <a:endParaRPr lang="fr-FR" sz="16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Utiliser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40" dirty="0">
                <a:latin typeface="Segoe UI"/>
                <a:cs typeface="Segoe UI"/>
              </a:rPr>
              <a:t>HTTP.sys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l’application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défaut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ts val="2735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541A50A-11CA-0175-04AF-4A9648EE6F9E}"/>
              </a:ext>
            </a:extLst>
          </p:cNvPr>
          <p:cNvSpPr txBox="1"/>
          <p:nvPr/>
        </p:nvSpPr>
        <p:spPr>
          <a:xfrm>
            <a:off x="2030393" y="2772057"/>
            <a:ext cx="815440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IHostBuilder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CreateHostBuilder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 =&gt;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Host.CreateDefaultBuilder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(args)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.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ConfigureWebHostDefaults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webBuilder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=&gt;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webBuilder.UseHttpSys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(options =&gt;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options.AllowSynchronousIO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options.Authentication.Schemes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AuthenticationSchemes.None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options.Authentication.AllowAnonymous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options.MaxConnections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options.MaxRequestBodySize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30000000;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options.UrlPrefixes.Add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"http://localhost:5005"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webBuilder.UseStartup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&lt;Startup&gt;();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});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95083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22942"/>
            <a:ext cx="10525539" cy="2180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Serveur Web : HTTP.sys</a:t>
            </a:r>
          </a:p>
          <a:p>
            <a:endParaRPr lang="fr-FR" sz="1600" dirty="0"/>
          </a:p>
          <a:p>
            <a:pPr marL="240029" indent="-227329">
              <a:lnSpc>
                <a:spcPct val="100000"/>
              </a:lnSpc>
              <a:spcBef>
                <a:spcPts val="41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40" dirty="0">
                <a:latin typeface="Segoe UI"/>
                <a:cs typeface="Segoe UI"/>
              </a:rPr>
              <a:t>HTTP.sys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Visual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Studio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choisissant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nom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du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projet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au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moment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du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lancement</a:t>
            </a:r>
            <a:endParaRPr lang="fr-FR" sz="20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spcBef>
                <a:spcPts val="260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fichier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configuration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sélectionnant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mode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Projet</a:t>
            </a: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ts val="2735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5FEF7871-0317-7598-741A-D82956C323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7660" y="4685038"/>
            <a:ext cx="5698731" cy="1896236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B7FF258B-ED9F-8EF1-9CB0-6E51C21C3CC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6830" y="3278848"/>
            <a:ext cx="5210556" cy="1210055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E89B27F6-95D4-565E-3406-5C9E582EC1F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5272" y="3234050"/>
            <a:ext cx="2801112" cy="1295399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85CD7F3C-DB92-11D4-FBA9-1AB2CE79010F}"/>
              </a:ext>
            </a:extLst>
          </p:cNvPr>
          <p:cNvSpPr txBox="1"/>
          <p:nvPr/>
        </p:nvSpPr>
        <p:spPr>
          <a:xfrm>
            <a:off x="1457325" y="4919425"/>
            <a:ext cx="2651125" cy="1231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800"/>
              </a:lnSpc>
              <a:spcBef>
                <a:spcPts val="100"/>
              </a:spcBef>
            </a:pPr>
            <a:r>
              <a:rPr sz="2000" dirty="0">
                <a:latin typeface="Segoe UI"/>
                <a:cs typeface="Segoe UI"/>
              </a:rPr>
              <a:t>Un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boite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dialogue </a:t>
            </a:r>
            <a:r>
              <a:rPr sz="2000" spc="-20" dirty="0">
                <a:latin typeface="Segoe UI"/>
                <a:cs typeface="Segoe UI"/>
              </a:rPr>
              <a:t>s’ouvre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alors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quand l’application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fonctionne</a:t>
            </a:r>
            <a:endParaRPr sz="20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11149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22942"/>
            <a:ext cx="10525539" cy="334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Serveur Web : </a:t>
            </a:r>
            <a:r>
              <a:rPr lang="fr-FR" sz="2400" b="1" dirty="0" err="1"/>
              <a:t>Kestrel</a:t>
            </a:r>
            <a:endParaRPr lang="fr-FR" sz="2400" b="1" dirty="0"/>
          </a:p>
          <a:p>
            <a:endParaRPr lang="fr-FR" sz="16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 err="1">
                <a:latin typeface="Segoe UI"/>
                <a:cs typeface="Segoe UI"/>
              </a:rPr>
              <a:t>Kestrel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serveur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web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conçu</a:t>
            </a:r>
            <a:r>
              <a:rPr lang="fr-FR" sz="2400" spc="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.NET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spc="-20" dirty="0" err="1">
                <a:latin typeface="Segoe UI"/>
                <a:cs typeface="Segoe UI"/>
              </a:rPr>
              <a:t>Core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Extrêmement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b="1" spc="-10" dirty="0">
                <a:latin typeface="Segoe UI"/>
                <a:cs typeface="Segoe UI"/>
              </a:rPr>
              <a:t>performant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b="1" spc="-10" dirty="0">
                <a:latin typeface="Segoe UI"/>
                <a:cs typeface="Segoe UI"/>
              </a:rPr>
              <a:t>Multi-</a:t>
            </a:r>
            <a:r>
              <a:rPr lang="fr-FR" sz="2000" b="1" dirty="0">
                <a:latin typeface="Segoe UI"/>
                <a:cs typeface="Segoe UI"/>
              </a:rPr>
              <a:t>plateforme</a:t>
            </a:r>
            <a:r>
              <a:rPr lang="fr-FR" sz="2000" b="1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(Windows,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Linux,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X)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Open-source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Pas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totalement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serveur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web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(manque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fonctionnalités)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Couplage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recommandé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IIS,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NGINX,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APACHE…</a:t>
            </a: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ts val="2735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C635CB93-D17F-22AD-14F7-2BE171D1FB9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1781" y="4251108"/>
            <a:ext cx="5771337" cy="1114006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1910F3DC-D0B9-78A8-1F4B-880F7D7885A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48141" y="5430647"/>
            <a:ext cx="8794977" cy="11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9268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22942"/>
            <a:ext cx="10525539" cy="1474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Serveur Web : </a:t>
            </a:r>
            <a:r>
              <a:rPr lang="fr-FR" sz="2400" b="1" dirty="0" err="1"/>
              <a:t>Kestrel</a:t>
            </a:r>
            <a:endParaRPr lang="fr-FR" sz="2400" b="1" dirty="0"/>
          </a:p>
          <a:p>
            <a:endParaRPr lang="fr-FR" sz="16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u="sng" dirty="0" err="1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Kestrel</a:t>
            </a:r>
            <a:r>
              <a:rPr lang="fr-FR" sz="2400" u="sng" spc="-7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est</a:t>
            </a:r>
            <a:r>
              <a:rPr lang="fr-FR" sz="2400" u="sng" spc="-7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utilisé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par</a:t>
            </a:r>
            <a:r>
              <a:rPr lang="fr-FR"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défaut</a:t>
            </a:r>
            <a:r>
              <a:rPr lang="fr-FR" sz="2400" u="sng" spc="-6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projets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55" dirty="0">
                <a:latin typeface="Segoe UI"/>
                <a:cs typeface="Segoe UI"/>
              </a:rPr>
              <a:t>ASP.NET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20" dirty="0" err="1">
                <a:latin typeface="Segoe UI"/>
                <a:cs typeface="Segoe UI"/>
              </a:rPr>
              <a:t>Core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Il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toujours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possible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configurer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Kestrel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via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méthode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i="1" spc="-10" dirty="0" err="1">
                <a:latin typeface="Segoe UI"/>
                <a:cs typeface="Segoe UI"/>
              </a:rPr>
              <a:t>UseKestrel</a:t>
            </a:r>
            <a:endParaRPr lang="fr-FR" sz="2400" dirty="0">
              <a:latin typeface="Segoe UI"/>
              <a:cs typeface="Segoe U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DE417E2-9B7C-4F9D-12CA-B90835F641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1472" y="3176429"/>
            <a:ext cx="8449056" cy="322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780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22942"/>
            <a:ext cx="10525539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Kestrel</a:t>
            </a:r>
            <a:r>
              <a:rPr lang="fr-FR" sz="2400" b="1" dirty="0"/>
              <a:t> – Reverse Proxy</a:t>
            </a:r>
          </a:p>
          <a:p>
            <a:endParaRPr lang="fr-FR" sz="16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conseillé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d’utiliser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reverse</a:t>
            </a:r>
            <a:r>
              <a:rPr lang="fr-FR" sz="2400" i="1" spc="-40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proxy</a:t>
            </a:r>
            <a:r>
              <a:rPr lang="fr-FR" sz="2400" i="1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cela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effet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limiter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l’accès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Kestrel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et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donc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l’exposition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l’application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s’intègre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très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bien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infrastructure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existante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d’ajouter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couche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configuration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supplémentaire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 err="1">
                <a:latin typeface="Segoe UI"/>
                <a:cs typeface="Segoe UI"/>
              </a:rPr>
              <a:t>Load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Balancing,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cache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sortie,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point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terminaison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 err="1">
                <a:latin typeface="Segoe UI"/>
                <a:cs typeface="Segoe UI"/>
              </a:rPr>
              <a:t>ssl</a:t>
            </a:r>
            <a:r>
              <a:rPr lang="fr-FR" sz="1800" dirty="0">
                <a:latin typeface="Segoe UI"/>
                <a:cs typeface="Segoe UI"/>
              </a:rPr>
              <a:t>,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firewall</a:t>
            </a:r>
            <a:endParaRPr lang="fr-FR" sz="1800" dirty="0">
              <a:latin typeface="Segoe UI"/>
              <a:cs typeface="Segoe UI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E7F19502-004F-A70C-D3BB-FCC7D7A365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084" y="4486655"/>
            <a:ext cx="8796499" cy="112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6917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34974"/>
            <a:ext cx="10525539" cy="4301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IIS</a:t>
            </a:r>
          </a:p>
          <a:p>
            <a:endParaRPr lang="fr-FR" sz="16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qu’une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application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55" dirty="0">
                <a:latin typeface="Segoe UI"/>
                <a:cs typeface="Segoe UI"/>
              </a:rPr>
              <a:t>ASP.NET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Core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soit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exécutée</a:t>
            </a:r>
            <a:r>
              <a:rPr lang="fr-FR" sz="2400" spc="-10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IIS: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20" dirty="0">
              <a:latin typeface="Segoe UI"/>
              <a:cs typeface="Segoe UI"/>
            </a:endParaRPr>
          </a:p>
          <a:p>
            <a:pPr marL="697229" lvl="1" indent="-227329"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000" dirty="0">
                <a:latin typeface="Segoe UI"/>
                <a:cs typeface="Segoe UI"/>
              </a:rPr>
              <a:t>Il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faut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ajouter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b="1" dirty="0">
                <a:latin typeface="Segoe UI"/>
                <a:cs typeface="Segoe UI"/>
              </a:rPr>
              <a:t>Windows</a:t>
            </a:r>
            <a:r>
              <a:rPr lang="fr-FR" sz="2000" b="1" spc="-25" dirty="0">
                <a:latin typeface="Segoe UI"/>
                <a:cs typeface="Segoe UI"/>
              </a:rPr>
              <a:t> </a:t>
            </a:r>
            <a:r>
              <a:rPr lang="fr-FR" sz="2000" b="1" dirty="0" err="1">
                <a:latin typeface="Segoe UI"/>
                <a:cs typeface="Segoe UI"/>
              </a:rPr>
              <a:t>Hosting</a:t>
            </a:r>
            <a:r>
              <a:rPr lang="fr-FR" sz="2000" b="1" spc="-40" dirty="0">
                <a:latin typeface="Segoe UI"/>
                <a:cs typeface="Segoe UI"/>
              </a:rPr>
              <a:t> </a:t>
            </a:r>
            <a:r>
              <a:rPr lang="fr-FR" sz="2000" b="1" spc="-10" dirty="0">
                <a:latin typeface="Segoe UI"/>
                <a:cs typeface="Segoe UI"/>
              </a:rPr>
              <a:t>Bundle</a:t>
            </a:r>
          </a:p>
          <a:p>
            <a:pPr marL="1154429" lvl="2" indent="-227329"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dirty="0">
                <a:latin typeface="Segoe UI"/>
                <a:cs typeface="Segoe UI"/>
              </a:rPr>
              <a:t>Le</a:t>
            </a:r>
            <a:r>
              <a:rPr lang="fr-FR" spc="-5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bundle</a:t>
            </a:r>
            <a:r>
              <a:rPr lang="fr-FR" spc="-15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contient</a:t>
            </a:r>
            <a:r>
              <a:rPr lang="fr-FR" spc="-15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un</a:t>
            </a:r>
            <a:r>
              <a:rPr lang="fr-FR" spc="-30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runtime</a:t>
            </a:r>
            <a:r>
              <a:rPr lang="fr-FR" spc="-10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de</a:t>
            </a:r>
            <a:r>
              <a:rPr lang="fr-FR" spc="-20" dirty="0">
                <a:latin typeface="Segoe UI"/>
                <a:cs typeface="Segoe UI"/>
              </a:rPr>
              <a:t> </a:t>
            </a:r>
            <a:r>
              <a:rPr lang="fr-FR" dirty="0">
                <a:latin typeface="Segoe UI"/>
                <a:cs typeface="Segoe UI"/>
              </a:rPr>
              <a:t>.NET</a:t>
            </a:r>
            <a:r>
              <a:rPr lang="fr-FR" spc="-5" dirty="0">
                <a:latin typeface="Segoe UI"/>
                <a:cs typeface="Segoe UI"/>
              </a:rPr>
              <a:t> </a:t>
            </a:r>
            <a:r>
              <a:rPr lang="fr-FR" spc="-20" dirty="0" err="1">
                <a:latin typeface="Segoe UI"/>
                <a:cs typeface="Segoe UI"/>
              </a:rPr>
              <a:t>Core</a:t>
            </a:r>
            <a:endParaRPr lang="fr-FR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520"/>
              </a:spcBef>
              <a:buClr>
                <a:srgbClr val="391778"/>
              </a:buClr>
              <a:buFont typeface="Arial"/>
              <a:buChar char="•"/>
            </a:pP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Créer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site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IIS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Configurer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les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chemins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et</a:t>
            </a:r>
            <a:r>
              <a:rPr lang="fr-FR" sz="1800" spc="-1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les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ports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exposés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Passer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.NET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CLR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version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à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«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no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dirty="0" err="1">
                <a:latin typeface="Segoe UI"/>
                <a:cs typeface="Segoe UI"/>
              </a:rPr>
              <a:t>managed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code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»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dans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l’application</a:t>
            </a:r>
            <a:r>
              <a:rPr lang="fr-FR" sz="1800" spc="5" dirty="0">
                <a:latin typeface="Segoe UI"/>
                <a:cs typeface="Segoe UI"/>
              </a:rPr>
              <a:t> </a:t>
            </a:r>
            <a:r>
              <a:rPr lang="fr-FR" sz="1800" spc="-20" dirty="0">
                <a:latin typeface="Segoe UI"/>
                <a:cs typeface="Segoe UI"/>
              </a:rPr>
              <a:t>Pool</a:t>
            </a:r>
            <a:endParaRPr lang="fr-FR" sz="18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300"/>
              </a:spcBef>
              <a:buClr>
                <a:srgbClr val="391778"/>
              </a:buClr>
              <a:buFont typeface="Arial"/>
              <a:buChar char="•"/>
            </a:pP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Déployer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l’application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0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En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choisissant</a:t>
            </a:r>
            <a:r>
              <a:rPr lang="fr-FR" sz="1800" spc="-6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Windows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(x86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ou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x64)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ou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Portable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comme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option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publication</a:t>
            </a:r>
            <a:endParaRPr lang="fr-FR" sz="1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718880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22942"/>
            <a:ext cx="10525539" cy="4673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IIS</a:t>
            </a:r>
          </a:p>
          <a:p>
            <a:endParaRPr lang="fr-FR" sz="16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IIS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d’héberger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application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spc="-45" dirty="0">
                <a:latin typeface="Segoe UI"/>
                <a:cs typeface="Segoe UI"/>
              </a:rPr>
              <a:t>ASP.NET</a:t>
            </a:r>
            <a:r>
              <a:rPr lang="fr-FR" sz="2400" spc="5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Core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2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façons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In-</a:t>
            </a:r>
            <a:r>
              <a:rPr lang="fr-FR" sz="2000" dirty="0">
                <a:latin typeface="Segoe UI"/>
                <a:cs typeface="Segoe UI"/>
              </a:rPr>
              <a:t>Process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i="1" dirty="0">
                <a:latin typeface="Segoe UI"/>
                <a:cs typeface="Segoe UI"/>
              </a:rPr>
              <a:t>(par</a:t>
            </a:r>
            <a:r>
              <a:rPr lang="fr-FR" sz="2000" i="1" spc="-45" dirty="0">
                <a:latin typeface="Segoe UI"/>
                <a:cs typeface="Segoe UI"/>
              </a:rPr>
              <a:t> </a:t>
            </a:r>
            <a:r>
              <a:rPr lang="fr-FR" sz="2000" i="1" spc="-10" dirty="0">
                <a:latin typeface="Segoe UI"/>
                <a:cs typeface="Segoe UI"/>
              </a:rPr>
              <a:t>défaut)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Le</a:t>
            </a:r>
            <a:r>
              <a:rPr lang="fr-FR" sz="1800" spc="-6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processus</a:t>
            </a:r>
            <a:r>
              <a:rPr lang="fr-FR" sz="1800" spc="-80" dirty="0">
                <a:latin typeface="Segoe UI"/>
                <a:cs typeface="Segoe UI"/>
              </a:rPr>
              <a:t> </a:t>
            </a:r>
            <a:r>
              <a:rPr lang="fr-FR" sz="1800" spc="-40" dirty="0">
                <a:latin typeface="Segoe UI"/>
                <a:cs typeface="Segoe UI"/>
              </a:rPr>
              <a:t>W3WP.exe</a:t>
            </a:r>
            <a:r>
              <a:rPr lang="fr-FR" sz="1800" spc="-5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embarque</a:t>
            </a:r>
            <a:r>
              <a:rPr lang="fr-FR" sz="1800" spc="-60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l’application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et</a:t>
            </a:r>
            <a:r>
              <a:rPr lang="fr-FR" sz="1800" spc="-5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l’exécute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Utilise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module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spc="-10" dirty="0" err="1">
                <a:latin typeface="Segoe UI"/>
                <a:cs typeface="Segoe UI"/>
              </a:rPr>
              <a:t>IISHttpServer</a:t>
            </a:r>
            <a:endParaRPr lang="fr-FR" sz="1800" spc="-1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endParaRPr lang="fr-FR" spc="-1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endParaRPr lang="fr-FR" sz="1800" spc="-1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endParaRPr lang="fr-FR" spc="-1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endParaRPr lang="fr-FR" sz="1800" spc="-10" dirty="0">
              <a:latin typeface="Segoe UI"/>
              <a:cs typeface="Segoe UI"/>
            </a:endParaRPr>
          </a:p>
          <a:p>
            <a:pPr marL="241300" indent="-228600">
              <a:lnSpc>
                <a:spcPct val="100000"/>
              </a:lnSpc>
              <a:spcBef>
                <a:spcPts val="41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000" spc="-10" dirty="0">
                <a:latin typeface="Segoe UI"/>
                <a:cs typeface="Segoe UI"/>
              </a:rPr>
              <a:t>Out-</a:t>
            </a:r>
            <a:r>
              <a:rPr lang="fr-FR" sz="2000" spc="-20" dirty="0">
                <a:latin typeface="Segoe UI"/>
                <a:cs typeface="Segoe UI"/>
              </a:rPr>
              <a:t>of-</a:t>
            </a:r>
            <a:r>
              <a:rPr lang="fr-FR" sz="2000" spc="-10" dirty="0">
                <a:latin typeface="Segoe UI"/>
                <a:cs typeface="Segoe UI"/>
              </a:rPr>
              <a:t>Process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8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1800" spc="-30" dirty="0">
                <a:latin typeface="Segoe UI"/>
                <a:cs typeface="Segoe UI"/>
              </a:rPr>
              <a:t>L’exécution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l’application</a:t>
            </a:r>
            <a:r>
              <a:rPr lang="fr-FR" sz="1800" spc="1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ne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se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fait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pas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dans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W3WP.exe</a:t>
            </a: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1800" dirty="0">
                <a:latin typeface="Segoe UI"/>
                <a:cs typeface="Segoe UI"/>
              </a:rPr>
              <a:t>Utilise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module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spc="-10" dirty="0" err="1">
                <a:latin typeface="Segoe UI"/>
                <a:cs typeface="Segoe UI"/>
              </a:rPr>
              <a:t>Kestrel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endParaRPr lang="fr-FR" sz="1800" dirty="0">
              <a:latin typeface="Segoe UI"/>
              <a:cs typeface="Segoe UI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E85554EC-206E-8A7C-4365-994063A031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1832" y="3596639"/>
            <a:ext cx="6134100" cy="111404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6DF98D11-41E7-9CA2-6B6B-AC21BCDD3D7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1832" y="5545093"/>
            <a:ext cx="6134100" cy="101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431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22942"/>
            <a:ext cx="10525539" cy="3978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IIS</a:t>
            </a:r>
          </a:p>
          <a:p>
            <a:endParaRPr lang="fr-FR" sz="16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Calibri"/>
                <a:cs typeface="Calibri"/>
              </a:rPr>
              <a:t>On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peut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le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mode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d’exécution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dans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IIS</a:t>
            </a: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Calibri"/>
                <a:cs typeface="Calibri"/>
              </a:rPr>
              <a:t>Depuis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le</a:t>
            </a:r>
            <a:r>
              <a:rPr lang="fr-FR" sz="2000" spc="-1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nœud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b="1" spc="-10" dirty="0" err="1">
                <a:latin typeface="Calibri"/>
                <a:cs typeface="Calibri"/>
              </a:rPr>
              <a:t>AspNetCoreHostingModel</a:t>
            </a:r>
            <a:r>
              <a:rPr lang="fr-FR" sz="2000" b="1" spc="-4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du</a:t>
            </a:r>
            <a:r>
              <a:rPr lang="fr-FR" sz="2000" spc="-1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fichier</a:t>
            </a:r>
            <a:r>
              <a:rPr lang="fr-FR" sz="2000" spc="-10" dirty="0">
                <a:latin typeface="Calibri"/>
                <a:cs typeface="Calibri"/>
              </a:rPr>
              <a:t> .</a:t>
            </a:r>
            <a:r>
              <a:rPr lang="fr-FR" sz="2000" spc="-10" dirty="0" err="1">
                <a:latin typeface="Calibri"/>
                <a:cs typeface="Calibri"/>
              </a:rPr>
              <a:t>csproj</a:t>
            </a:r>
            <a:endParaRPr lang="fr-FR"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10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</a:pPr>
            <a:r>
              <a:rPr lang="fr-FR" sz="1800" spc="-10" dirty="0">
                <a:solidFill>
                  <a:srgbClr val="0000FF"/>
                </a:solidFill>
                <a:latin typeface="Calibri"/>
                <a:cs typeface="Calibri"/>
              </a:rPr>
              <a:t>&lt;</a:t>
            </a:r>
            <a:r>
              <a:rPr lang="fr-FR" sz="1800" spc="-10" dirty="0" err="1">
                <a:solidFill>
                  <a:srgbClr val="0000FF"/>
                </a:solidFill>
                <a:latin typeface="Calibri"/>
                <a:cs typeface="Calibri"/>
              </a:rPr>
              <a:t>AspNetCoreHostingModel</a:t>
            </a:r>
            <a:r>
              <a:rPr lang="fr-FR" sz="1800" spc="-10" dirty="0">
                <a:solidFill>
                  <a:srgbClr val="0000FF"/>
                </a:solidFill>
                <a:latin typeface="Calibri"/>
                <a:cs typeface="Calibri"/>
              </a:rPr>
              <a:t>&gt;</a:t>
            </a:r>
            <a:r>
              <a:rPr lang="fr-FR" sz="1800" b="1" i="1" spc="-10" dirty="0" err="1">
                <a:latin typeface="Calibri"/>
                <a:cs typeface="Calibri"/>
              </a:rPr>
              <a:t>OutOfProcess</a:t>
            </a:r>
            <a:r>
              <a:rPr lang="fr-FR" sz="1800" spc="-10" dirty="0">
                <a:solidFill>
                  <a:srgbClr val="0000FF"/>
                </a:solidFill>
                <a:latin typeface="Calibri"/>
                <a:cs typeface="Calibri"/>
              </a:rPr>
              <a:t>&lt;/</a:t>
            </a:r>
            <a:r>
              <a:rPr lang="fr-FR" sz="1800" spc="-10" dirty="0" err="1">
                <a:solidFill>
                  <a:srgbClr val="0000FF"/>
                </a:solidFill>
                <a:latin typeface="Calibri"/>
                <a:cs typeface="Calibri"/>
              </a:rPr>
              <a:t>AspNetCoreHostingModel</a:t>
            </a:r>
            <a:r>
              <a:rPr lang="fr-FR" sz="1800" spc="-10" dirty="0">
                <a:solidFill>
                  <a:srgbClr val="0000FF"/>
                </a:solidFill>
                <a:latin typeface="Calibri"/>
                <a:cs typeface="Calibri"/>
              </a:rPr>
              <a:t>&gt;</a:t>
            </a:r>
            <a:endParaRPr lang="fr-FR" sz="1800" dirty="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795"/>
              </a:spcBef>
            </a:pPr>
            <a:r>
              <a:rPr lang="fr-FR" sz="1800" spc="-10" dirty="0">
                <a:solidFill>
                  <a:srgbClr val="0000FF"/>
                </a:solidFill>
                <a:latin typeface="Calibri"/>
                <a:cs typeface="Calibri"/>
              </a:rPr>
              <a:t>&lt;</a:t>
            </a:r>
            <a:r>
              <a:rPr lang="fr-FR" sz="1800" spc="-10" dirty="0" err="1">
                <a:solidFill>
                  <a:srgbClr val="0000FF"/>
                </a:solidFill>
                <a:latin typeface="Calibri"/>
                <a:cs typeface="Calibri"/>
              </a:rPr>
              <a:t>AspNetCoreHostingModel</a:t>
            </a:r>
            <a:r>
              <a:rPr lang="fr-FR" sz="1800" spc="-10" dirty="0">
                <a:solidFill>
                  <a:srgbClr val="0000FF"/>
                </a:solidFill>
                <a:latin typeface="Calibri"/>
                <a:cs typeface="Calibri"/>
              </a:rPr>
              <a:t>&gt;</a:t>
            </a:r>
            <a:r>
              <a:rPr lang="fr-FR" sz="1800" b="1" i="1" spc="-10" dirty="0" err="1">
                <a:latin typeface="Calibri"/>
                <a:cs typeface="Calibri"/>
              </a:rPr>
              <a:t>InProcess</a:t>
            </a:r>
            <a:r>
              <a:rPr lang="fr-FR" sz="1800" spc="-10" dirty="0">
                <a:solidFill>
                  <a:srgbClr val="0000FF"/>
                </a:solidFill>
                <a:latin typeface="Calibri"/>
                <a:cs typeface="Calibri"/>
              </a:rPr>
              <a:t>&lt;/</a:t>
            </a:r>
            <a:r>
              <a:rPr lang="fr-FR" sz="1800" spc="-10" dirty="0" err="1">
                <a:solidFill>
                  <a:srgbClr val="0000FF"/>
                </a:solidFill>
                <a:latin typeface="Calibri"/>
                <a:cs typeface="Calibri"/>
              </a:rPr>
              <a:t>AspNetCoreHostingModel</a:t>
            </a:r>
            <a:r>
              <a:rPr lang="fr-FR" sz="1800" spc="-10" dirty="0">
                <a:solidFill>
                  <a:srgbClr val="0000FF"/>
                </a:solidFill>
                <a:latin typeface="Calibri"/>
                <a:cs typeface="Calibri"/>
              </a:rPr>
              <a:t>&gt;</a:t>
            </a:r>
            <a:endParaRPr lang="fr-FR"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lang="fr-FR" sz="1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Calibri"/>
                <a:cs typeface="Calibri"/>
              </a:rPr>
              <a:t>Dans</a:t>
            </a:r>
            <a:r>
              <a:rPr lang="fr-FR" sz="2000" spc="-6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les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propriétés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du</a:t>
            </a:r>
            <a:r>
              <a:rPr lang="fr-FR" sz="2000" spc="-5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projet</a:t>
            </a:r>
            <a:r>
              <a:rPr lang="fr-FR" sz="2000" spc="-5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dans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Visual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Studio</a:t>
            </a:r>
            <a:endParaRPr lang="fr-FR" sz="20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endParaRPr lang="fr-FR" sz="1800" dirty="0">
              <a:latin typeface="Segoe UI"/>
              <a:cs typeface="Segoe UI"/>
            </a:endParaRP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B08F6CCB-C9A3-BF21-998F-CA7A10CB79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7022" y="5300954"/>
            <a:ext cx="3457955" cy="88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7797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Hébergement du service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22942"/>
            <a:ext cx="10525539" cy="3175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Linux</a:t>
            </a:r>
          </a:p>
          <a:p>
            <a:endParaRPr lang="fr-FR" sz="16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Sous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Linux,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nécessaire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d’utiliser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reverse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proxy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server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Pour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communiquer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10" dirty="0" err="1">
                <a:latin typeface="Segoe UI"/>
                <a:cs typeface="Segoe UI"/>
              </a:rPr>
              <a:t>Kestrel</a:t>
            </a:r>
            <a:endParaRPr lang="fr-FR" sz="2000" spc="-10" dirty="0">
              <a:latin typeface="Segoe UI"/>
              <a:cs typeface="Segoe UI"/>
            </a:endParaRPr>
          </a:p>
          <a:p>
            <a:pPr marL="241300" indent="-228600"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dirty="0">
              <a:latin typeface="Segoe UI"/>
              <a:cs typeface="Segoe UI"/>
            </a:endParaRPr>
          </a:p>
          <a:p>
            <a:pPr marL="241300" indent="-228600"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Exemple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configuration</a:t>
            </a:r>
          </a:p>
          <a:p>
            <a:pPr marL="12700">
              <a:spcBef>
                <a:spcPts val="270"/>
              </a:spcBef>
              <a:buClr>
                <a:srgbClr val="391778"/>
              </a:buClr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	avec le</a:t>
            </a:r>
            <a:r>
              <a:rPr lang="fr-FR" sz="2000" spc="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serveur </a:t>
            </a:r>
            <a:r>
              <a:rPr lang="fr-FR" sz="2000" spc="-10" dirty="0">
                <a:latin typeface="Segoe UI"/>
                <a:cs typeface="Segoe UI"/>
              </a:rPr>
              <a:t>NGINX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endParaRPr lang="fr-FR" sz="1800" dirty="0">
              <a:latin typeface="Segoe UI"/>
              <a:cs typeface="Segoe UI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C50197A-2BB3-FE96-0AAE-E566CA58D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067" y="2855922"/>
            <a:ext cx="5800107" cy="363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610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3. Hébergement du service</a:t>
            </a:r>
          </a:p>
        </p:txBody>
      </p:sp>
    </p:spTree>
    <p:extLst>
      <p:ext uri="{BB962C8B-B14F-4D97-AF65-F5344CB8AC3E}">
        <p14:creationId xmlns:p14="http://schemas.microsoft.com/office/powerpoint/2010/main" val="26928391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4. Les clients</a:t>
            </a:r>
          </a:p>
        </p:txBody>
      </p:sp>
    </p:spTree>
    <p:extLst>
      <p:ext uri="{BB962C8B-B14F-4D97-AF65-F5344CB8AC3E}">
        <p14:creationId xmlns:p14="http://schemas.microsoft.com/office/powerpoint/2010/main" val="16968071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clients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21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721360" marR="39370" indent="-305435">
              <a:lnSpc>
                <a:spcPts val="2590"/>
              </a:lnSpc>
              <a:spcBef>
                <a:spcPts val="425"/>
              </a:spcBef>
            </a:pPr>
            <a:r>
              <a:rPr lang="fr-FR" sz="2400" i="1" spc="-10" dirty="0">
                <a:latin typeface="Segoe UI"/>
                <a:cs typeface="Segoe UI"/>
              </a:rPr>
              <a:t>Au-</a:t>
            </a:r>
            <a:r>
              <a:rPr lang="fr-FR" sz="2400" i="1" dirty="0">
                <a:latin typeface="Segoe UI"/>
                <a:cs typeface="Segoe UI"/>
              </a:rPr>
              <a:t>delà</a:t>
            </a:r>
            <a:r>
              <a:rPr lang="fr-FR" sz="2400" i="1" spc="-50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des</a:t>
            </a:r>
            <a:r>
              <a:rPr lang="fr-FR" sz="2400" i="1" spc="-55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outils</a:t>
            </a:r>
            <a:r>
              <a:rPr lang="fr-FR" sz="2400" i="1" spc="-55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de</a:t>
            </a:r>
            <a:r>
              <a:rPr lang="fr-FR" sz="2400" i="1" spc="-55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tests</a:t>
            </a:r>
            <a:r>
              <a:rPr lang="fr-FR" sz="2400" i="1" spc="-55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comme</a:t>
            </a:r>
            <a:r>
              <a:rPr lang="fr-FR" sz="2400" i="1" spc="-50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Postman</a:t>
            </a:r>
            <a:r>
              <a:rPr lang="fr-FR" sz="2400" i="1" spc="-55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ou</a:t>
            </a:r>
            <a:r>
              <a:rPr lang="fr-FR" sz="2400" i="1" spc="-35" dirty="0">
                <a:latin typeface="Segoe UI"/>
                <a:cs typeface="Segoe UI"/>
              </a:rPr>
              <a:t> </a:t>
            </a:r>
            <a:r>
              <a:rPr lang="fr-FR" sz="2400" i="1" dirty="0" err="1">
                <a:latin typeface="Segoe UI"/>
                <a:cs typeface="Segoe UI"/>
              </a:rPr>
              <a:t>Insomnia</a:t>
            </a:r>
            <a:r>
              <a:rPr lang="fr-FR" sz="2400" i="1" dirty="0">
                <a:latin typeface="Segoe UI"/>
                <a:cs typeface="Segoe UI"/>
              </a:rPr>
              <a:t>,</a:t>
            </a:r>
            <a:r>
              <a:rPr lang="fr-FR" sz="2400" i="1" spc="-40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nous</a:t>
            </a:r>
            <a:r>
              <a:rPr lang="fr-FR" sz="2400" i="1" spc="-45" dirty="0">
                <a:latin typeface="Segoe UI"/>
                <a:cs typeface="Segoe UI"/>
              </a:rPr>
              <a:t> </a:t>
            </a:r>
            <a:r>
              <a:rPr lang="fr-FR" sz="2400" i="1" spc="-10" dirty="0">
                <a:latin typeface="Segoe UI"/>
                <a:cs typeface="Segoe UI"/>
              </a:rPr>
              <a:t>allons </a:t>
            </a:r>
            <a:r>
              <a:rPr lang="fr-FR" sz="2400" i="1" dirty="0">
                <a:latin typeface="Segoe UI"/>
                <a:cs typeface="Segoe UI"/>
              </a:rPr>
              <a:t>maintenant</a:t>
            </a:r>
            <a:r>
              <a:rPr lang="fr-FR" sz="2400" i="1" spc="-30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utiliser</a:t>
            </a:r>
            <a:r>
              <a:rPr lang="fr-FR" sz="2400" i="1" spc="-60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des</a:t>
            </a:r>
            <a:r>
              <a:rPr lang="fr-FR" sz="2400" i="1" spc="-40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application</a:t>
            </a:r>
            <a:r>
              <a:rPr lang="fr-FR" sz="2400" i="1" spc="-30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clientes</a:t>
            </a:r>
            <a:r>
              <a:rPr lang="fr-FR" sz="2400" i="1" spc="-40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en</a:t>
            </a:r>
            <a:r>
              <a:rPr lang="fr-FR" sz="2400" i="1" spc="-45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.NET</a:t>
            </a:r>
            <a:r>
              <a:rPr lang="fr-FR" sz="2400" i="1" spc="-45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et</a:t>
            </a:r>
            <a:r>
              <a:rPr lang="fr-FR" sz="2400" i="1" spc="-55" dirty="0">
                <a:latin typeface="Segoe UI"/>
                <a:cs typeface="Segoe UI"/>
              </a:rPr>
              <a:t> </a:t>
            </a:r>
            <a:r>
              <a:rPr lang="fr-FR" sz="2400" i="1" spc="-10" dirty="0">
                <a:latin typeface="Segoe UI"/>
                <a:cs typeface="Segoe UI"/>
              </a:rPr>
              <a:t>JavaScript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applications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peuvent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diverses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variés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33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1600" dirty="0">
                <a:latin typeface="Segoe UI"/>
                <a:cs typeface="Segoe UI"/>
              </a:rPr>
              <a:t>Mobile</a:t>
            </a:r>
            <a:r>
              <a:rPr lang="fr-FR" sz="1600" spc="-8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(Android,</a:t>
            </a:r>
            <a:r>
              <a:rPr lang="fr-FR" sz="1600" spc="-75" dirty="0">
                <a:latin typeface="Segoe UI"/>
                <a:cs typeface="Segoe UI"/>
              </a:rPr>
              <a:t> </a:t>
            </a:r>
            <a:r>
              <a:rPr lang="fr-FR" sz="1600" spc="-20" dirty="0">
                <a:latin typeface="Segoe UI"/>
                <a:cs typeface="Segoe UI"/>
              </a:rPr>
              <a:t>iOS)</a:t>
            </a:r>
            <a:endParaRPr lang="fr-FR" sz="16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1600" dirty="0">
                <a:latin typeface="Segoe UI"/>
                <a:cs typeface="Segoe UI"/>
              </a:rPr>
              <a:t>Applications</a:t>
            </a:r>
            <a:r>
              <a:rPr lang="fr-FR" sz="1600" spc="-7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lourdes</a:t>
            </a:r>
            <a:r>
              <a:rPr lang="fr-FR" sz="1600" spc="-65" dirty="0">
                <a:latin typeface="Segoe UI"/>
                <a:cs typeface="Segoe UI"/>
              </a:rPr>
              <a:t> </a:t>
            </a:r>
            <a:r>
              <a:rPr lang="fr-FR" sz="1600" spc="-10" dirty="0">
                <a:latin typeface="Segoe UI"/>
                <a:cs typeface="Segoe UI"/>
              </a:rPr>
              <a:t>(WPF/</a:t>
            </a:r>
            <a:r>
              <a:rPr lang="fr-FR" sz="1600" spc="-10" dirty="0" err="1">
                <a:latin typeface="Segoe UI"/>
                <a:cs typeface="Segoe UI"/>
              </a:rPr>
              <a:t>WinUI</a:t>
            </a:r>
            <a:r>
              <a:rPr lang="fr-FR" sz="1600" spc="-10" dirty="0">
                <a:latin typeface="Segoe UI"/>
                <a:cs typeface="Segoe UI"/>
              </a:rPr>
              <a:t>…),</a:t>
            </a:r>
            <a:endParaRPr lang="fr-FR" sz="16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30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1600" spc="-30" dirty="0">
                <a:latin typeface="Segoe UI"/>
                <a:cs typeface="Segoe UI"/>
              </a:rPr>
              <a:t>SPA</a:t>
            </a:r>
            <a:r>
              <a:rPr lang="fr-FR" sz="1600" spc="-80" dirty="0">
                <a:latin typeface="Segoe UI"/>
                <a:cs typeface="Segoe UI"/>
              </a:rPr>
              <a:t> </a:t>
            </a:r>
            <a:r>
              <a:rPr lang="fr-FR" sz="1600" spc="-10" dirty="0">
                <a:latin typeface="Segoe UI"/>
                <a:cs typeface="Segoe UI"/>
              </a:rPr>
              <a:t>(</a:t>
            </a:r>
            <a:r>
              <a:rPr lang="fr-FR" sz="1600" spc="-10" dirty="0" err="1">
                <a:latin typeface="Segoe UI"/>
                <a:cs typeface="Segoe UI"/>
              </a:rPr>
              <a:t>Angular</a:t>
            </a:r>
            <a:r>
              <a:rPr lang="fr-FR" sz="1600" spc="-10" dirty="0">
                <a:latin typeface="Segoe UI"/>
                <a:cs typeface="Segoe UI"/>
              </a:rPr>
              <a:t>,</a:t>
            </a:r>
            <a:r>
              <a:rPr lang="fr-FR" sz="1600" spc="-80" dirty="0">
                <a:latin typeface="Segoe UI"/>
                <a:cs typeface="Segoe UI"/>
              </a:rPr>
              <a:t> </a:t>
            </a:r>
            <a:r>
              <a:rPr lang="fr-FR" sz="1600" spc="-10" dirty="0" err="1">
                <a:latin typeface="Segoe UI"/>
                <a:cs typeface="Segoe UI"/>
              </a:rPr>
              <a:t>Reactjs</a:t>
            </a:r>
            <a:r>
              <a:rPr lang="fr-FR" sz="1600" spc="-10" dirty="0">
                <a:latin typeface="Segoe UI"/>
                <a:cs typeface="Segoe UI"/>
              </a:rPr>
              <a:t>…)</a:t>
            </a:r>
            <a:endParaRPr lang="fr-FR" sz="16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31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1600" spc="-50" dirty="0">
                <a:latin typeface="Segoe UI"/>
                <a:cs typeface="Segoe UI"/>
              </a:rPr>
              <a:t>…</a:t>
            </a:r>
            <a:endParaRPr lang="fr-FR" sz="16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120"/>
              </a:spcBef>
              <a:buClr>
                <a:srgbClr val="391778"/>
              </a:buClr>
              <a:buFont typeface="Arial"/>
              <a:buChar char="•"/>
            </a:pPr>
            <a:endParaRPr lang="fr-FR" sz="1600" dirty="0">
              <a:latin typeface="Segoe UI"/>
              <a:cs typeface="Segoe UI"/>
            </a:endParaRPr>
          </a:p>
          <a:p>
            <a:pPr marL="240029" marR="5080" indent="-227329">
              <a:lnSpc>
                <a:spcPts val="2590"/>
              </a:lnSpc>
              <a:spcBef>
                <a:spcPts val="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Ces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applications clients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effectuent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requêtes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vers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service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plus 	</a:t>
            </a:r>
            <a:r>
              <a:rPr lang="fr-FR" sz="2400" dirty="0">
                <a:latin typeface="Segoe UI"/>
                <a:cs typeface="Segoe UI"/>
              </a:rPr>
              <a:t>souvent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asynchrone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5546701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clients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932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>
                <a:latin typeface="Segoe UI"/>
                <a:cs typeface="Segoe UI"/>
              </a:rPr>
              <a:t>Client : </a:t>
            </a:r>
            <a:r>
              <a:rPr lang="fr-FR" sz="2400" b="1" dirty="0" err="1">
                <a:latin typeface="Segoe UI"/>
                <a:cs typeface="Segoe UI"/>
              </a:rPr>
              <a:t>HttpClient</a:t>
            </a:r>
            <a:endParaRPr lang="fr-FR" sz="2400" b="1" dirty="0">
              <a:latin typeface="Segoe UI"/>
              <a:cs typeface="Segoe UI"/>
            </a:endParaRP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marR="508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Calibri"/>
                <a:cs typeface="Calibri"/>
              </a:rPr>
              <a:t>Pour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consommer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des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ressources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via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protocole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45" dirty="0">
                <a:latin typeface="Calibri"/>
                <a:cs typeface="Calibri"/>
              </a:rPr>
              <a:t>HTTP,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on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utilise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classe 	</a:t>
            </a:r>
            <a:r>
              <a:rPr lang="fr-FR" sz="2400" spc="-10" dirty="0" err="1">
                <a:latin typeface="Calibri"/>
                <a:cs typeface="Calibri"/>
              </a:rPr>
              <a:t>System.Net.Http.</a:t>
            </a:r>
            <a:r>
              <a:rPr lang="fr-FR" sz="2400" b="1" spc="-10" dirty="0" err="1">
                <a:latin typeface="Calibri"/>
                <a:cs typeface="Calibri"/>
              </a:rPr>
              <a:t>HttpClient</a:t>
            </a: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45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Calibri"/>
                <a:cs typeface="Calibri"/>
              </a:rPr>
              <a:t>Ces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4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méthodes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principales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sont</a:t>
            </a:r>
            <a:r>
              <a:rPr lang="fr-FR" sz="2400" spc="-50" dirty="0">
                <a:latin typeface="Calibri"/>
                <a:cs typeface="Calibri"/>
              </a:rPr>
              <a:t> :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9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b="1" spc="-10" dirty="0" err="1">
                <a:latin typeface="Calibri"/>
                <a:cs typeface="Calibri"/>
              </a:rPr>
              <a:t>GetAsync</a:t>
            </a:r>
            <a:r>
              <a:rPr lang="fr-FR" sz="2400" b="1" spc="-10" dirty="0">
                <a:latin typeface="Calibri"/>
                <a:cs typeface="Calibri"/>
              </a:rPr>
              <a:t>()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4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b="1" spc="-10" dirty="0" err="1">
                <a:latin typeface="Calibri"/>
                <a:cs typeface="Calibri"/>
              </a:rPr>
              <a:t>PostAsync</a:t>
            </a:r>
            <a:r>
              <a:rPr lang="fr-FR" sz="2400" b="1" spc="-10" dirty="0">
                <a:latin typeface="Calibri"/>
                <a:cs typeface="Calibri"/>
              </a:rPr>
              <a:t>()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b="1" spc="-10" dirty="0" err="1">
                <a:latin typeface="Calibri"/>
                <a:cs typeface="Calibri"/>
              </a:rPr>
              <a:t>PutAsync</a:t>
            </a:r>
            <a:r>
              <a:rPr lang="fr-FR" sz="2400" b="1" spc="-10" dirty="0">
                <a:latin typeface="Calibri"/>
                <a:cs typeface="Calibri"/>
              </a:rPr>
              <a:t>()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b="1" spc="-10" dirty="0" err="1">
                <a:latin typeface="Calibri"/>
                <a:cs typeface="Calibri"/>
              </a:rPr>
              <a:t>DeleteAsync</a:t>
            </a:r>
            <a:r>
              <a:rPr lang="fr-FR" sz="2400" b="1" spc="-10" dirty="0">
                <a:latin typeface="Calibri"/>
                <a:cs typeface="Calibri"/>
              </a:rPr>
              <a:t>()</a:t>
            </a:r>
            <a:endParaRPr lang="fr-FR"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7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Calibri"/>
                <a:cs typeface="Calibri"/>
              </a:rPr>
              <a:t>Ces</a:t>
            </a:r>
            <a:r>
              <a:rPr lang="fr-FR" sz="2400" spc="-7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méthodes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sont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toutes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asynchrones</a:t>
            </a:r>
            <a:endParaRPr lang="fr-FR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44442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clients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 err="1">
                <a:latin typeface="Segoe UI"/>
                <a:cs typeface="Segoe UI"/>
              </a:rPr>
              <a:t>HttpClient</a:t>
            </a:r>
            <a:r>
              <a:rPr lang="fr-FR" sz="2400" b="1" dirty="0">
                <a:latin typeface="Segoe UI"/>
                <a:cs typeface="Segoe UI"/>
              </a:rPr>
              <a:t> GET</a:t>
            </a: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53D679C-ACAE-9401-4D23-579217ECEEF3}"/>
              </a:ext>
            </a:extLst>
          </p:cNvPr>
          <p:cNvSpPr txBox="1"/>
          <p:nvPr/>
        </p:nvSpPr>
        <p:spPr>
          <a:xfrm>
            <a:off x="538477" y="2097791"/>
            <a:ext cx="111382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GetStudents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client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HttpClient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client.BaseAddress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Uri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"http://localhost:80"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client.DefaultRequestHeaders.Accept.Clear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client.DefaultRequestHeaders.Accept.Add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MediaTypeWithQualityHeaderValue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"application/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json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HttpResponseMessage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6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client.GetAsync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"/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students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response.IsSuccessStatusCode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content =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response.Content.ReadAsStringAsync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List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JsonConvert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.DeserializeObject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List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&gt;&gt;(content);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5812601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clients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 err="1">
                <a:latin typeface="Segoe UI"/>
                <a:cs typeface="Segoe UI"/>
              </a:rPr>
              <a:t>HttpClient</a:t>
            </a:r>
            <a:r>
              <a:rPr lang="fr-FR" sz="2400" b="1" dirty="0">
                <a:latin typeface="Segoe UI"/>
                <a:cs typeface="Segoe UI"/>
              </a:rPr>
              <a:t> POST</a:t>
            </a: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242D73D-E50D-A3B6-94EB-0AF28E6437AD}"/>
              </a:ext>
            </a:extLst>
          </p:cNvPr>
          <p:cNvSpPr txBox="1"/>
          <p:nvPr/>
        </p:nvSpPr>
        <p:spPr>
          <a:xfrm>
            <a:off x="1254815" y="2214780"/>
            <a:ext cx="1011555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PostStudent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client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HttpClient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client.BaseAddress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Uri(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"http://localhost:80"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client.DefaultRequestHeaders.Accept.Clear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client.DefaultRequestHeaders.Accept.Add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MediaTypeWithQualityHeaderValue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"application/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json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HttpResponseMessage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client.PostAsync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Students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response.IsSuccessStatusCode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content =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response.Content.ReadAsStringAsync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JsonConvert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.DeserializeObject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&gt;(content);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4607735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clients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 err="1">
                <a:latin typeface="Segoe UI"/>
                <a:cs typeface="Segoe UI"/>
              </a:rPr>
              <a:t>HttpClient</a:t>
            </a:r>
            <a:r>
              <a:rPr lang="fr-FR" sz="2400" b="1" dirty="0">
                <a:latin typeface="Segoe UI"/>
                <a:cs typeface="Segoe UI"/>
              </a:rPr>
              <a:t> PUT</a:t>
            </a: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273BF3D-A7D3-BC8C-29D5-B7DBCBA89A1B}"/>
              </a:ext>
            </a:extLst>
          </p:cNvPr>
          <p:cNvSpPr txBox="1"/>
          <p:nvPr/>
        </p:nvSpPr>
        <p:spPr>
          <a:xfrm>
            <a:off x="363955" y="2326662"/>
            <a:ext cx="1167965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Task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PutStudent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client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HttpClient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client.BaseAddress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Uri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"http://localhost:80"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client.DefaultRequestHeaders.Accept.Clear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client.DefaultRequestHeaders.Accept.Add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MediaTypeWithQualityHeaderValue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"application/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json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HttpResponseMessage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client.PutAsync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Students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/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{student.id}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response.IsSuccessStatusCode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Console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"contenu modifié"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3381735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clients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 err="1">
                <a:latin typeface="Segoe UI"/>
                <a:cs typeface="Segoe UI"/>
              </a:rPr>
              <a:t>HttpClient</a:t>
            </a:r>
            <a:r>
              <a:rPr lang="fr-FR" sz="2400" b="1" dirty="0">
                <a:latin typeface="Segoe UI"/>
                <a:cs typeface="Segoe UI"/>
              </a:rPr>
              <a:t> DELETE</a:t>
            </a: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67FCED4-81A7-1807-544C-A8E36040B4AF}"/>
              </a:ext>
            </a:extLst>
          </p:cNvPr>
          <p:cNvSpPr txBox="1"/>
          <p:nvPr/>
        </p:nvSpPr>
        <p:spPr>
          <a:xfrm>
            <a:off x="592620" y="2241708"/>
            <a:ext cx="1102995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DeleteStudent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client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HttpClient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client.BaseAddress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Uri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"http://localhost:80"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client.DefaultRequestHeaders.Accept.Clear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client.DefaultRequestHeaders.Accept.Add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MediaTypeWithQualityHeaderValue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"application/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json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HttpResponseMessage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client.DeleteAsync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Students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/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{student.id}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response.IsSuccessStatusCode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content =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response.Content.ReadAsStringAsync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JsonConvert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.DeserializeObject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Student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&gt;(content);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3712441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clients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5457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>
                <a:latin typeface="Segoe UI"/>
                <a:cs typeface="Segoe UI"/>
              </a:rPr>
              <a:t>Client JavaScript : </a:t>
            </a:r>
            <a:r>
              <a:rPr lang="fr-FR" sz="2400" b="1" dirty="0" err="1">
                <a:latin typeface="Segoe UI"/>
                <a:cs typeface="Segoe UI"/>
              </a:rPr>
              <a:t>Fetch</a:t>
            </a:r>
            <a:endParaRPr lang="fr-FR" sz="2400" b="1" dirty="0">
              <a:latin typeface="Segoe UI"/>
              <a:cs typeface="Segoe UI"/>
            </a:endParaRPr>
          </a:p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endParaRPr lang="fr-FR" sz="2400" b="1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consommer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ressources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via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protocole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HTTP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JavaScript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05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Plusieurs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solutions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8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 err="1">
                <a:latin typeface="Segoe UI"/>
                <a:cs typeface="Segoe UI"/>
              </a:rPr>
              <a:t>XMLHttpRequest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«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Good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Old</a:t>
            </a:r>
            <a:r>
              <a:rPr lang="fr-FR" sz="1800" spc="-1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solution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spc="-50" dirty="0">
                <a:latin typeface="Segoe UI"/>
                <a:cs typeface="Segoe UI"/>
              </a:rPr>
              <a:t>»</a:t>
            </a: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bibliothèque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externe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comme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jQuery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Utile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si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déjà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utilisée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ailleurs</a:t>
            </a:r>
            <a:r>
              <a:rPr lang="fr-FR" sz="1800" spc="-1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dans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client</a:t>
            </a: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 err="1">
                <a:latin typeface="Segoe UI"/>
                <a:cs typeface="Segoe UI"/>
              </a:rPr>
              <a:t>Fetch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0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La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méthode</a:t>
            </a:r>
            <a:r>
              <a:rPr lang="fr-FR" sz="1800" spc="-1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native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75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Supporté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par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tous</a:t>
            </a:r>
            <a:r>
              <a:rPr lang="fr-FR" sz="1800" spc="-6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les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navigateurs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(sauf</a:t>
            </a:r>
            <a:r>
              <a:rPr lang="fr-FR" sz="1800" spc="-55" dirty="0">
                <a:latin typeface="Segoe UI"/>
                <a:cs typeface="Segoe UI"/>
              </a:rPr>
              <a:t> </a:t>
            </a:r>
            <a:r>
              <a:rPr lang="fr-FR" sz="1800" spc="-25" dirty="0">
                <a:latin typeface="Segoe UI"/>
                <a:cs typeface="Segoe UI"/>
              </a:rPr>
              <a:t>IE)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lr>
                <a:srgbClr val="391778"/>
              </a:buClr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Encore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peu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utilisé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car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souvent</a:t>
            </a:r>
            <a:r>
              <a:rPr lang="fr-FR" sz="1800" spc="-6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méconnu</a:t>
            </a:r>
            <a:endParaRPr lang="fr-FR" sz="1800" dirty="0">
              <a:latin typeface="Segoe UI"/>
              <a:cs typeface="Segoe UI"/>
            </a:endParaRPr>
          </a:p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endParaRPr lang="fr-FR" sz="2400" b="1" dirty="0">
              <a:latin typeface="Segoe UI"/>
              <a:cs typeface="Segoe UI"/>
            </a:endParaRPr>
          </a:p>
          <a:p>
            <a:pPr marL="240029" marR="471170" indent="-227329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83834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clients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77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>
                <a:latin typeface="Segoe UI"/>
                <a:cs typeface="Segoe UI"/>
              </a:rPr>
              <a:t>Client JavaScript : </a:t>
            </a:r>
            <a:r>
              <a:rPr lang="fr-FR" sz="2400" b="1" dirty="0" err="1">
                <a:latin typeface="Segoe UI"/>
                <a:cs typeface="Segoe UI"/>
              </a:rPr>
              <a:t>Fetch</a:t>
            </a:r>
            <a:endParaRPr lang="fr-FR" sz="2400" b="1" dirty="0">
              <a:latin typeface="Segoe UI"/>
              <a:cs typeface="Segoe UI"/>
            </a:endParaRPr>
          </a:p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endParaRPr lang="fr-FR" sz="2400" b="1" dirty="0">
              <a:latin typeface="Segoe UI"/>
              <a:cs typeface="Segoe UI"/>
            </a:endParaRPr>
          </a:p>
          <a:p>
            <a:pPr marL="187960" indent="-17526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SzPct val="89583"/>
              <a:buFont typeface="Arial"/>
              <a:buChar char="•"/>
              <a:tabLst>
                <a:tab pos="187960" algn="l"/>
              </a:tabLst>
            </a:pPr>
            <a:r>
              <a:rPr lang="fr-FR" sz="2400" dirty="0">
                <a:latin typeface="Segoe UI"/>
                <a:cs typeface="Segoe UI"/>
              </a:rPr>
              <a:t>Création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requête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avec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l’url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entêtes,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puis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utilisation de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b="1" spc="-10" dirty="0" err="1">
                <a:latin typeface="Segoe UI"/>
                <a:cs typeface="Segoe UI"/>
              </a:rPr>
              <a:t>fetch</a:t>
            </a:r>
            <a:endParaRPr lang="fr-FR" sz="2400" dirty="0">
              <a:latin typeface="Segoe UI"/>
              <a:cs typeface="Segoe UI"/>
            </a:endParaRPr>
          </a:p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BCCC110-C1B9-FDAC-F99C-DC14970103E8}"/>
              </a:ext>
            </a:extLst>
          </p:cNvPr>
          <p:cNvSpPr txBox="1"/>
          <p:nvPr/>
        </p:nvSpPr>
        <p:spPr>
          <a:xfrm>
            <a:off x="1879932" y="3303129"/>
            <a:ext cx="902067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myRequest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service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 +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"Burger"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myHeaders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Headers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myHeaders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append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"Content-Type"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 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"application/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 charset=utf-8"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myInit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 =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method: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"GET"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headers: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 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myHeaders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credentials: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"include"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264327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clients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1422342" y="1328213"/>
            <a:ext cx="10525539" cy="1195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r>
              <a:rPr lang="fr-FR" sz="2400" b="1" dirty="0">
                <a:latin typeface="Segoe UI"/>
                <a:cs typeface="Segoe UI"/>
              </a:rPr>
              <a:t>Client JavaScript : </a:t>
            </a:r>
            <a:r>
              <a:rPr lang="fr-FR" sz="2400" b="1" dirty="0" err="1">
                <a:latin typeface="Segoe UI"/>
                <a:cs typeface="Segoe UI"/>
              </a:rPr>
              <a:t>Fetch</a:t>
            </a:r>
            <a:endParaRPr lang="fr-FR" sz="2400" b="1" dirty="0">
              <a:latin typeface="Segoe UI"/>
              <a:cs typeface="Segoe UI"/>
            </a:endParaRPr>
          </a:p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endParaRPr lang="fr-FR" sz="2400" b="1" dirty="0">
              <a:latin typeface="Segoe UI"/>
              <a:cs typeface="Segoe UI"/>
            </a:endParaRPr>
          </a:p>
          <a:p>
            <a:pPr marL="12700" marR="471170">
              <a:lnSpc>
                <a:spcPts val="2590"/>
              </a:lnSpc>
              <a:spcBef>
                <a:spcPts val="425"/>
              </a:spcBef>
              <a:buClr>
                <a:srgbClr val="391778"/>
              </a:buClr>
              <a:tabLst>
                <a:tab pos="241300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746AB39-BD24-9C99-3168-2DCC170C87DF}"/>
              </a:ext>
            </a:extLst>
          </p:cNvPr>
          <p:cNvSpPr txBox="1"/>
          <p:nvPr/>
        </p:nvSpPr>
        <p:spPr>
          <a:xfrm>
            <a:off x="2217319" y="2523412"/>
            <a:ext cx="77573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fetch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myRequest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myInit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.</a:t>
            </a:r>
            <a:r>
              <a:rPr lang="fr-FR" b="1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response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fr-FR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response</a:t>
            </a:r>
            <a:r>
              <a:rPr lang="fr-FR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())</a:t>
            </a:r>
          </a:p>
          <a:p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.</a:t>
            </a:r>
            <a:r>
              <a:rPr lang="fr-FR" b="1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fr-FR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let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</a:t>
            </a:r>
            <a:r>
              <a:rPr lang="fr-FR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querySelector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"#burgers </a:t>
            </a:r>
            <a:r>
              <a:rPr lang="fr-FR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fr-FR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fr-FR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let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fr-FR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fr-FR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&lt; 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fr-FR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length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fr-FR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++) {</a:t>
            </a:r>
          </a:p>
          <a:p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fr-FR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let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</a:t>
            </a:r>
            <a:r>
              <a:rPr lang="fr-FR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createElement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"li"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fr-FR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let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textnode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</a:t>
            </a:r>
            <a:r>
              <a:rPr lang="fr-FR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createTextNode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fr-FR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].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fr-FR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appendChild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textnode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fr-FR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appendChild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})</a:t>
            </a:r>
          </a:p>
          <a:p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.</a:t>
            </a:r>
            <a:r>
              <a:rPr lang="fr-FR" b="1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fr-FR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log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</a:t>
            </a:r>
            <a:r>
              <a:rPr lang="fr-FR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3321124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4. Les clients</a:t>
            </a:r>
          </a:p>
        </p:txBody>
      </p:sp>
    </p:spTree>
    <p:extLst>
      <p:ext uri="{BB962C8B-B14F-4D97-AF65-F5344CB8AC3E}">
        <p14:creationId xmlns:p14="http://schemas.microsoft.com/office/powerpoint/2010/main" val="14979913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273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3940</Words>
  <Application>Microsoft Office PowerPoint</Application>
  <PresentationFormat>Grand écran</PresentationFormat>
  <Paragraphs>757</Paragraphs>
  <Slides>70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70</vt:i4>
      </vt:variant>
    </vt:vector>
  </HeadingPairs>
  <TitlesOfParts>
    <vt:vector size="78" baseType="lpstr">
      <vt:lpstr>Arial</vt:lpstr>
      <vt:lpstr>Calibri</vt:lpstr>
      <vt:lpstr>Calibri Light</vt:lpstr>
      <vt:lpstr>Cascadia Mono</vt:lpstr>
      <vt:lpstr>Consolas</vt:lpstr>
      <vt:lpstr>Segoe UI</vt:lpstr>
      <vt:lpstr>Trebuchet MS</vt:lpstr>
      <vt:lpstr>Thème Office</vt:lpstr>
      <vt:lpstr>WebAPI - partie 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</dc:title>
  <dc:creator>Laurent Godefroy</dc:creator>
  <cp:lastModifiedBy>Corentin ZIMMERMANN</cp:lastModifiedBy>
  <cp:revision>53</cp:revision>
  <dcterms:created xsi:type="dcterms:W3CDTF">2021-02-04T09:09:06Z</dcterms:created>
  <dcterms:modified xsi:type="dcterms:W3CDTF">2024-08-28T14:57:01Z</dcterms:modified>
</cp:coreProperties>
</file>