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10" r:id="rId2"/>
    <p:sldId id="411" r:id="rId3"/>
    <p:sldId id="412" r:id="rId4"/>
    <p:sldId id="413" r:id="rId5"/>
    <p:sldId id="414" r:id="rId6"/>
    <p:sldId id="335" r:id="rId7"/>
    <p:sldId id="517" r:id="rId8"/>
    <p:sldId id="515" r:id="rId9"/>
    <p:sldId id="516" r:id="rId10"/>
    <p:sldId id="519" r:id="rId11"/>
    <p:sldId id="520" r:id="rId12"/>
    <p:sldId id="521" r:id="rId13"/>
    <p:sldId id="523" r:id="rId14"/>
    <p:sldId id="522" r:id="rId15"/>
    <p:sldId id="518" r:id="rId16"/>
    <p:sldId id="524" r:id="rId17"/>
    <p:sldId id="540" r:id="rId18"/>
    <p:sldId id="525" r:id="rId19"/>
    <p:sldId id="537" r:id="rId20"/>
    <p:sldId id="538" r:id="rId21"/>
    <p:sldId id="539" r:id="rId22"/>
    <p:sldId id="545" r:id="rId23"/>
    <p:sldId id="541" r:id="rId24"/>
    <p:sldId id="542" r:id="rId25"/>
    <p:sldId id="526" r:id="rId26"/>
    <p:sldId id="527" r:id="rId27"/>
    <p:sldId id="529" r:id="rId28"/>
    <p:sldId id="530" r:id="rId29"/>
    <p:sldId id="531" r:id="rId30"/>
    <p:sldId id="532" r:id="rId31"/>
    <p:sldId id="533" r:id="rId32"/>
    <p:sldId id="534" r:id="rId33"/>
    <p:sldId id="535" r:id="rId34"/>
    <p:sldId id="536" r:id="rId35"/>
    <p:sldId id="543" r:id="rId36"/>
    <p:sldId id="544" r:id="rId37"/>
    <p:sldId id="546" r:id="rId38"/>
    <p:sldId id="547" r:id="rId39"/>
    <p:sldId id="548" r:id="rId40"/>
    <p:sldId id="549" r:id="rId41"/>
    <p:sldId id="550" r:id="rId42"/>
    <p:sldId id="551" r:id="rId43"/>
    <p:sldId id="552" r:id="rId44"/>
    <p:sldId id="553" r:id="rId45"/>
    <p:sldId id="415" r:id="rId46"/>
    <p:sldId id="561" r:id="rId47"/>
    <p:sldId id="554" r:id="rId48"/>
    <p:sldId id="555" r:id="rId49"/>
    <p:sldId id="557" r:id="rId50"/>
    <p:sldId id="556" r:id="rId51"/>
    <p:sldId id="558" r:id="rId52"/>
    <p:sldId id="559" r:id="rId53"/>
    <p:sldId id="560" r:id="rId54"/>
    <p:sldId id="562" r:id="rId55"/>
    <p:sldId id="563" r:id="rId56"/>
    <p:sldId id="564" r:id="rId57"/>
    <p:sldId id="565" r:id="rId58"/>
    <p:sldId id="566" r:id="rId59"/>
    <p:sldId id="567" r:id="rId60"/>
    <p:sldId id="56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C5390-6638-514E-8F03-6035F5C2832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09F33-87A9-DB40-B55A-82663338E9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49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89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835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4875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095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533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733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262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599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230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200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331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print</a:t>
            </a:r>
            <a:r>
              <a:rPr lang="fr-FR" dirty="0"/>
              <a:t> est identique à </a:t>
            </a:r>
            <a:r>
              <a:rPr lang="fr-FR" dirty="0" err="1"/>
              <a:t>println</a:t>
            </a:r>
            <a:r>
              <a:rPr lang="fr-FR" dirty="0"/>
              <a:t> excepté qu’il n’y pas de retour à la ligne à la fin (\n)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996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221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408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255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707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175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433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228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35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712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782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2692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140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1382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6821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100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329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51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9749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8048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954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5364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9297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9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2617-C492-CDF5-077B-AB94D9765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55C45-9166-27F5-35D1-7FC57B491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704A-354C-9299-D93C-C8CF591B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A4E31-F901-8F6B-84BA-3E32507EC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E7841-6818-7512-59B7-91CA493D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88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3BEE-930D-7083-1BC4-27D7D359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25B2-26F7-432E-0A9B-25AB4931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23648-2EC4-3292-0CDF-662E86D9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AD98C-5733-6333-2CD8-4735040E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B1FE-A649-E9CC-0C71-84D4DB8C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45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4E2E-F6DC-6153-0D92-E400D405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B1F5D-6E3F-8903-7371-FEDAA8AF7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7FFE3-5B86-34DC-DD15-6969B67E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36B35-DCBA-52E8-41CA-E6DBD95A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82B40-C313-6FA9-DA66-8E192326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11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F02D-028B-65DD-260C-8CA7F377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DD96-FE27-E551-D9B3-7B47D509E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BB181-5E53-E927-807C-B0067FF0D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42FF0-B4D0-726F-BF01-3A6BF6BE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3AE38-31DE-BC64-5498-29E681CE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40253-88FB-A2B5-45BC-83F31FE9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28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CA5F-140E-79EA-18ED-196BA034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8AE90-042C-C825-A0BE-5BE687B40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ACF71-F08B-DD9D-1C35-A5D6BB128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281B71-BB79-3BD3-6401-2202AA590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836-5397-B6E5-2D19-E61ECD8CE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C5905-DA05-4791-5E78-06BAD410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BD995-DE73-5E95-E085-CA837A05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643D7-2E1C-BDA8-77EF-0FC4FA23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3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D5B5-1DD3-EAE3-DA25-84BDE087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925D4-8085-C2A9-A842-D2E979EE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399BD-54A6-85D4-DF08-5E62C0E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12E71-1ED0-0E5D-401B-4E26DBFD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10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90327-0F82-715B-8459-8EDCAC28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9436E-2F27-7B50-DA15-70ADFFF7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DA7F1-C189-1F8B-50ED-98D93204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95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9538A-2A16-C1AE-F14B-0E93B98B0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6790-C1F7-FA30-83A9-F26106DA6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CB439-A79B-6222-A647-2E684845F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43041-1ED8-7D87-BC1A-F921EE94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BD81F-B004-4D08-E20B-7302104B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98E42-BDEB-BC98-FD27-CF8A2853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820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A776-B47C-12DD-E5D8-8AAA6BD6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30DC8-5BA0-709A-552E-BBC19007A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DAA05-9239-7501-DE9B-7AEDCD3A2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59606-50A1-DF84-700C-6BE8B28A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9F7D5-8E76-3F6C-3CED-57D0F62D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B8DE9-FA65-3497-EE5F-99D7419B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97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B6E5-077B-C9DB-25DA-3E75B8AB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E591F-71D7-6A24-F26C-DE2CFDB52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C3E97-8F99-0414-F044-962ABF0B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54379-FEC9-84F0-01E0-85BC784C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E020-3AB1-420C-04E8-4846101B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95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E97B0-A83A-A2DE-48B0-F43F644AC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FE592-648D-8F43-DC4E-C253DC961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CE9A6-F6FE-4F21-0CEC-180D2421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CA518-88AF-8DFB-2709-C6414D56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A794E-8C3F-1BBD-43CF-8BC40008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22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7C860-5CE7-C162-EACE-E168EA92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91BB0-8057-B175-7B5F-3CB7C6189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14CD2-3499-06D8-1071-0AF5C08DD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91A6E-5278-854D-BFB1-9CD573EB1F6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1EDDC-62A5-5D00-5CD9-E149E5B70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58A43-3131-7BCC-D398-9BA316F0A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46229-254C-984A-8046-9C7D84945B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5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lay.kotlinlang.org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2 – Kotlin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3ANDM – Développeur d’application Android mobile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9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7939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Bases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Fonctions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Types personnalisés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1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Bases</a:t>
            </a:r>
          </a:p>
        </p:txBody>
      </p:sp>
    </p:spTree>
    <p:extLst>
      <p:ext uri="{BB962C8B-B14F-4D97-AF65-F5344CB8AC3E}">
        <p14:creationId xmlns:p14="http://schemas.microsoft.com/office/powerpoint/2010/main" val="285222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Kotlin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Langage créé par </a:t>
            </a:r>
            <a:r>
              <a:rPr lang="fr-FR" sz="2400" dirty="0" err="1"/>
              <a:t>JetBrains</a:t>
            </a:r>
            <a:r>
              <a:rPr lang="fr-FR" sz="2400" dirty="0"/>
              <a:t> suite aux différentes limitations rencontrées avec le langage Java qu’ils utilisent pour leurs </a:t>
            </a:r>
            <a:r>
              <a:rPr lang="fr-FR" sz="2400" dirty="0" err="1"/>
              <a:t>IDEs</a:t>
            </a:r>
            <a:r>
              <a:rPr lang="fr-FR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Projet démarré en 2011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1.0 en 2016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Langage désigné par Google comme officiel pour le développement Android en 2017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6DACD-17F6-3A67-F5FA-5F3FB259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853" y="2228850"/>
            <a:ext cx="2400299" cy="240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6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Kotlin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Typage statique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100% interopérable avec Java (ce qui inclut les librairies)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Fichiers : .kt, .</a:t>
            </a:r>
            <a:r>
              <a:rPr lang="fr-FR" sz="2400" dirty="0" err="1"/>
              <a:t>kts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Multi-paradigme</a:t>
            </a:r>
            <a:r>
              <a:rPr lang="fr-FR" sz="2400" dirty="0"/>
              <a:t> : impératif, fonctionnel, déclaratif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Multi-</a:t>
            </a:r>
            <a:r>
              <a:rPr lang="fr-FR" sz="2400" dirty="0" err="1"/>
              <a:t>platforme</a:t>
            </a:r>
            <a:r>
              <a:rPr lang="fr-FR" sz="2400" dirty="0"/>
              <a:t> : JVM, natif, Android, iOS, web (via JavaScript)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Dans la suite, nous allons présenter les principales différences avec les autres langages sans pour autant réapprendre les bases de la programmation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6DACD-17F6-3A67-F5FA-5F3FB259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853" y="2228850"/>
            <a:ext cx="2400299" cy="240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Kotlin Playground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hlinkClick r:id="rId2"/>
              </a:rPr>
              <a:t>https://play.kotlinlang.org</a:t>
            </a:r>
            <a:endParaRPr lang="fr-FR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B5563-761D-D3A7-E92D-6399E3CA7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291" y="2904529"/>
            <a:ext cx="6247417" cy="358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79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Un premier programme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55B14-66D0-5960-6D17-03CA318820F6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072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Fonctionnement et compilation JVM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CDE5398-C834-FAFE-E0F5-497C9F6D4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9907"/>
            <a:ext cx="9982200" cy="340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2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Définir une variable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6173167-F169-BF00-0DC9-10FA39BBE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620" y="2147571"/>
            <a:ext cx="7350760" cy="364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0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55B14-66D0-5960-6D17-03CA318820F6}"/>
              </a:ext>
            </a:extLst>
          </p:cNvPr>
          <p:cNvSpPr txBox="1"/>
          <p:nvPr/>
        </p:nvSpPr>
        <p:spPr>
          <a:xfrm>
            <a:off x="3048000" y="29673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playerLevel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Int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b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playerLevel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Kotlin permet d’omettre l’annotation de type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/>
              <a:t> après les deux 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type est toujours présent mais déduit par le compilateur grâce à au type de l’expression sur la droite.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C’est ce qu’on appelle l’</a:t>
            </a:r>
            <a:r>
              <a:rPr lang="fr-FR" sz="2400" i="1" dirty="0"/>
              <a:t>inférence de type</a:t>
            </a:r>
            <a:r>
              <a:rPr lang="fr-FR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55B14-66D0-5960-6D17-03CA318820F6}"/>
              </a:ext>
            </a:extLst>
          </p:cNvPr>
          <p:cNvSpPr txBox="1"/>
          <p:nvPr/>
        </p:nvSpPr>
        <p:spPr>
          <a:xfrm>
            <a:off x="3362960" y="394944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println(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playerLevel 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b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println(playerLevel)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103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Types les plus communs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3368059-2F5E-3150-C4E8-275142E6E0A2}"/>
              </a:ext>
            </a:extLst>
          </p:cNvPr>
          <p:cNvGraphicFramePr>
            <a:graphicFrameLocks noGrp="1"/>
          </p:cNvGraphicFramePr>
          <p:nvPr/>
        </p:nvGraphicFramePr>
        <p:xfrm>
          <a:off x="844826" y="1989666"/>
          <a:ext cx="10412454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4214">
                  <a:extLst>
                    <a:ext uri="{9D8B030D-6E8A-4147-A177-3AD203B41FA5}">
                      <a16:colId xmlns:a16="http://schemas.microsoft.com/office/drawing/2014/main" val="58143457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63402054"/>
                    </a:ext>
                  </a:extLst>
                </a:gridCol>
                <a:gridCol w="5222240">
                  <a:extLst>
                    <a:ext uri="{9D8B030D-6E8A-4147-A177-3AD203B41FA5}">
                      <a16:colId xmlns:a16="http://schemas.microsoft.com/office/drawing/2014/main" val="3998205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Exemples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17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Texte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"Hello"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59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 seul caractère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'X'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54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 vraie ou fausse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78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entiers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7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décimaux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2.718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96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List&lt;</a:t>
                      </a:r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Collection d’éléments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listOf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(1, 2, 3)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5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Set&lt;</a:t>
                      </a:r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Collection d’éléments uniques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setOf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('A', 'B', 'C')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Map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&lt;K, 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Collection de paires clé-valeur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mapOf</a:t>
                      </a:r>
                      <a:r>
                        <a:rPr lang="fr-FR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("m" to 5.99, "xl" to 7.99, "large" to 10.99)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39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58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fr-FR" sz="2400" b="1" dirty="0"/>
              <a:t> VS </a:t>
            </a:r>
            <a:r>
              <a:rPr lang="fr-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</a:p>
        </p:txBody>
      </p:sp>
      <p:pic>
        <p:nvPicPr>
          <p:cNvPr id="5" name="Picture 4" descr="Graphical user interface, text, application, chat or text message, email&#10;&#10;Description automatically generated">
            <a:extLst>
              <a:ext uri="{FF2B5EF4-FFF2-40B4-BE49-F238E27FC236}">
                <a16:creationId xmlns:a16="http://schemas.microsoft.com/office/drawing/2014/main" id="{E486AD62-7EBE-FD43-4AD0-B938FA82D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79907"/>
            <a:ext cx="7772400" cy="306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2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fr-FR" sz="2400" b="1" dirty="0"/>
              <a:t> VS </a:t>
            </a:r>
            <a:r>
              <a:rPr lang="fr-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774B0E7-7F47-C737-09C1-10673CD61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369747"/>
            <a:ext cx="7772400" cy="35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93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Conditionnels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B2728-37BF-EFB9-F7ED-4ECDE22CF685}"/>
              </a:ext>
            </a:extLst>
          </p:cNvPr>
          <p:cNvSpPr txBox="1"/>
          <p:nvPr/>
        </p:nvSpPr>
        <p:spPr>
          <a:xfrm>
            <a:off x="844826" y="1892895"/>
            <a:ext cx="95605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hero announces her presence to the world."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playerLevel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hasBefriendedBarbarians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b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playerLevel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 outside."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if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playerLevel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&lt;=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hasBefriendedBarbarians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"Convince the barbarians to call off their invasion."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}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"Save the town from the barbarian invasions."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"There are no quests right now."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playerLevel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+=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b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4756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Conditionnels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 bloc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fr-FR" sz="2400" dirty="0"/>
              <a:t> peut toujours remplacer un block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if-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FR" sz="2400" dirty="0"/>
              <a:t> (et inversement)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Pas de mot-clé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fr-FR" sz="2400" dirty="0"/>
              <a:t> en Kotlin (ni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fr-FR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B2728-37BF-EFB9-F7ED-4ECDE22CF685}"/>
              </a:ext>
            </a:extLst>
          </p:cNvPr>
          <p:cNvSpPr txBox="1"/>
          <p:nvPr/>
        </p:nvSpPr>
        <p:spPr>
          <a:xfrm>
            <a:off x="838200" y="2858095"/>
            <a:ext cx="95605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"gnome"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"dwarf"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"Keepers of the Mines"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"gnome"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"Tinkerers of the Underground"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"orc"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"human"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"Free People of the Rolling Hills"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"Shadow Cabal of the Unseen Realm"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Unknown race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14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Conditionnels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E8DF0-CF6B-3BBA-AABB-884BFF23FFA0}"/>
              </a:ext>
            </a:extLst>
          </p:cNvPr>
          <p:cNvSpPr txBox="1"/>
          <p:nvPr/>
        </p:nvSpPr>
        <p:spPr>
          <a:xfrm>
            <a:off x="838200" y="2207187"/>
            <a:ext cx="7691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print(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"x is in the range"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validNumbers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-&gt; print(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"x is valid"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!in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print(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"x is outside the range"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print(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"none of the above"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1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Conditionnels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En Kotlin, les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if-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FR" sz="2400" dirty="0"/>
              <a:t> sont des expressions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Cela signifie que ce bloc renvoie une valeur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Par conséquent, Kotlin ne possède pas d’opérateur ternaire puisque son intérêt dans les autres langages est de faire office d’expression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Si un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fr-FR" sz="2400" dirty="0"/>
              <a:t> ne contient pas de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FR" sz="2400" dirty="0"/>
              <a:t>, la valeur renvoyée est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si cette branche est empruntée (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FR" sz="2400" dirty="0"/>
              <a:t> dans d’autres langages)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46455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Boucles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105AE-34A2-6A2D-6CE0-72BFABA09526}"/>
              </a:ext>
            </a:extLst>
          </p:cNvPr>
          <p:cNvSpPr txBox="1"/>
          <p:nvPr/>
        </p:nvSpPr>
        <p:spPr>
          <a:xfrm>
            <a:off x="844826" y="219524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 &gt;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x--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retrieveData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(y !=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(item: Int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85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Boucles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105AE-34A2-6A2D-6CE0-72BFABA09526}"/>
              </a:ext>
            </a:extLst>
          </p:cNvPr>
          <p:cNvSpPr txBox="1"/>
          <p:nvPr/>
        </p:nvSpPr>
        <p:spPr>
          <a:xfrm>
            <a:off x="844826" y="219524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95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Boucles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105AE-34A2-6A2D-6CE0-72BFABA09526}"/>
              </a:ext>
            </a:extLst>
          </p:cNvPr>
          <p:cNvSpPr txBox="1"/>
          <p:nvPr/>
        </p:nvSpPr>
        <p:spPr>
          <a:xfrm>
            <a:off x="844826" y="21952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((index,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array.withIndex())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println(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element at </a:t>
            </a:r>
            <a:r>
              <a:rPr lang="en-US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is </a:t>
            </a:r>
            <a:r>
              <a:rPr lang="en-US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6663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Bases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Interpolation de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105AE-34A2-6A2D-6CE0-72BFABA09526}"/>
              </a:ext>
            </a:extLst>
          </p:cNvPr>
          <p:cNvSpPr txBox="1"/>
          <p:nvPr/>
        </p:nvSpPr>
        <p:spPr>
          <a:xfrm>
            <a:off x="844826" y="2195241"/>
            <a:ext cx="7943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person.name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${roll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60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Bases</a:t>
            </a:r>
          </a:p>
        </p:txBody>
      </p:sp>
    </p:spTree>
    <p:extLst>
      <p:ext uri="{BB962C8B-B14F-4D97-AF65-F5344CB8AC3E}">
        <p14:creationId xmlns:p14="http://schemas.microsoft.com/office/powerpoint/2010/main" val="1046529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Fonctions</a:t>
            </a:r>
          </a:p>
        </p:txBody>
      </p:sp>
    </p:spTree>
    <p:extLst>
      <p:ext uri="{BB962C8B-B14F-4D97-AF65-F5344CB8AC3E}">
        <p14:creationId xmlns:p14="http://schemas.microsoft.com/office/powerpoint/2010/main" val="4209582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Fonctions</a:t>
            </a:r>
            <a:endParaRPr lang="fr-FR" sz="2400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5803A21-7FE6-067C-7018-8272252E2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166220"/>
            <a:ext cx="7772400" cy="405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1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Valeurs par défaut de paramètres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obtainQuest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playerLevel: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playerClass: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hasBefriendedBarbarians: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hasAngeredBarbarians: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b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2268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avec une seule expression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obtainQuest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playerLevel: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playerClass: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"paladin"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hasBefriendedBarbarians: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hasAngeredBarbarians: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b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when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(playerLevel)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 outside."</a:t>
            </a:r>
            <a:b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"There are no quests right now."</a:t>
            </a:r>
            <a:b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1094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avec une seule expression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obtainQuest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playerLevel: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playerClass: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"paladin"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hasBefriendedBarbarians: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hasAngeredBarbarians: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b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(playerLevel)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 outside."</a:t>
            </a:r>
            <a:b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"There are no quests right now."</a:t>
            </a:r>
            <a:b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84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ne renvoyant rien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readBountyBoard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hero approaches the bounty board. It reads:"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obtainQuest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playerLevel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39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ne renvoyant rien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readBountyBoard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(): Unit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hero approaches the bounty board. It reads:"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obtainQuest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playerLevel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17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ne renvoyant rien</a:t>
            </a:r>
          </a:p>
          <a:p>
            <a:endParaRPr lang="fr-FR" sz="2400" b="1" dirty="0"/>
          </a:p>
          <a:p>
            <a:r>
              <a:rPr lang="fr-FR" sz="2400" dirty="0"/>
              <a:t>Pourquoi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et pas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FR" sz="2400" dirty="0"/>
              <a:t>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Indiquer que la fonction ne renvoie rien n’est pas exact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Elle renvoie implicitement une valeur de type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(ou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FR" sz="2400" dirty="0"/>
              <a:t> dans d’autres langages)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Si la fonction ne renvoyait réellement rien, il serait impossible de poursuivre l’exécution car il n’y aurai aucune notification du retour de la fonction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est un type qui ne peut prendre qu’une unique valeur: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(à titre comparatif,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sz="2400" dirty="0"/>
              <a:t> est un type qui peut prendre deux valeurs)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FR" sz="2400" dirty="0"/>
              <a:t> fonctionne aussi de la même manière dans les autres langages, cependant le terme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 a été préféré en Kotlin</a:t>
            </a:r>
          </a:p>
        </p:txBody>
      </p:sp>
    </p:spTree>
    <p:extLst>
      <p:ext uri="{BB962C8B-B14F-4D97-AF65-F5344CB8AC3E}">
        <p14:creationId xmlns:p14="http://schemas.microsoft.com/office/powerpoint/2010/main" val="624613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Arguments nommés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forgeItem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quantity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material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"iron"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"sword"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encrustWithJewels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false,</a:t>
            </a:r>
            <a:b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00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Arguments nommés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forgeItem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"iron"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"sword"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encrustWithJewels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false,</a:t>
            </a:r>
            <a:b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86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Noms spéciaux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142758"/>
            <a:ext cx="8681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`My Function`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World"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`fun`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"fun"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`fun`()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fun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`Users should be signed out when they click logout`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Test something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244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de plus haut niveau : lambdas</a:t>
            </a:r>
          </a:p>
          <a:p>
            <a:r>
              <a:rPr lang="fr-FR" sz="2400" dirty="0"/>
              <a:t>Considérons la fonction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fold</a:t>
            </a:r>
            <a:r>
              <a:rPr lang="fr-FR" sz="2400" dirty="0"/>
              <a:t> avec les paramètres suivants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564448"/>
            <a:ext cx="8681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initial: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combine: (acc: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nextElement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b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accumulator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initial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this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accumulator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combine(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accumulator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accumulator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685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de plus haut niveau : lambdas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Les lambdas sont des blocs de code délimités par des accolades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Quand un lambda a des paramètres, ils sont écrits en premier suivi de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841447"/>
            <a:ext cx="8681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items.fold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{ acc: Int,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Int -&gt;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"acc =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 = acc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"result =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La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dernière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expression d'un lambda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est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valeur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de retour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95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de plus haut niveau : lambdas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Les types de paramètres dans une lambda sont facultatifs s'ils peuvent être inférés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841447"/>
            <a:ext cx="982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joinedToString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items.fold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"Elements:"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acc,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acc +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40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 de plus haut niveau : lambdas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Les références de fonction peuvent également être utilisées pour les appels de fonction d'ordre supérieur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841447"/>
            <a:ext cx="982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product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items.fold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::times)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06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Alias de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2B84-6573-5071-A14A-3F55A3BFC5BB}"/>
              </a:ext>
            </a:extLst>
          </p:cNvPr>
          <p:cNvSpPr txBox="1"/>
          <p:nvPr/>
        </p:nvSpPr>
        <p:spPr>
          <a:xfrm>
            <a:off x="838200" y="2379907"/>
            <a:ext cx="9829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typealias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Percentage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typealias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Predicate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 = (</a:t>
            </a:r>
            <a:r>
              <a:rPr lang="en-US" dirty="0">
                <a:solidFill>
                  <a:srgbClr val="007E8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typealias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ClickHandler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(Button,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ClickEvent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45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Scope </a:t>
            </a:r>
            <a:r>
              <a:rPr lang="fr-FR" sz="2400" b="1" i="1" dirty="0" err="1"/>
              <a:t>functions</a:t>
            </a:r>
            <a:endParaRPr lang="fr-FR" sz="2400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53052-6372-A2EF-47E9-31BFCA32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80920"/>
            <a:ext cx="76200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00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Scope </a:t>
            </a:r>
            <a:r>
              <a:rPr lang="fr-FR" sz="2400" b="1" i="1" dirty="0" err="1"/>
              <a:t>functions</a:t>
            </a:r>
            <a:endParaRPr lang="fr-FR" sz="24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6760-A1CF-0F02-7E30-C802A4B86AF5}"/>
              </a:ext>
            </a:extLst>
          </p:cNvPr>
          <p:cNvSpPr txBox="1"/>
          <p:nvPr/>
        </p:nvSpPr>
        <p:spPr>
          <a:xfrm>
            <a:off x="838200" y="237990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numberList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mutableListOf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numberList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.also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"Populating the list"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.apply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add(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2.71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add(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add(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1.0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.also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"Sorting the list"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.sort()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78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Fonctions</a:t>
            </a: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1050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Scope </a:t>
            </a:r>
            <a:r>
              <a:rPr lang="fr-FR" sz="2400" b="1" i="1" dirty="0" err="1"/>
              <a:t>functions</a:t>
            </a:r>
            <a:endParaRPr lang="fr-FR" sz="24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6760-A1CF-0F02-7E30-C802A4B86AF5}"/>
              </a:ext>
            </a:extLst>
          </p:cNvPr>
          <p:cNvSpPr txBox="1"/>
          <p:nvPr/>
        </p:nvSpPr>
        <p:spPr>
          <a:xfrm>
            <a:off x="838200" y="2379907"/>
            <a:ext cx="78384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Random.nextInt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evenOrNull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.takeIf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it %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oddOrNull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.takeUnless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it %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"even: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evenOrNull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odd: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oddOrNull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42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Fonctions</a:t>
            </a:r>
          </a:p>
        </p:txBody>
      </p:sp>
    </p:spTree>
    <p:extLst>
      <p:ext uri="{BB962C8B-B14F-4D97-AF65-F5344CB8AC3E}">
        <p14:creationId xmlns:p14="http://schemas.microsoft.com/office/powerpoint/2010/main" val="1300373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Types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25942260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BCA3A-741E-DA7E-A9C0-C93C0DAC7F2E}"/>
              </a:ext>
            </a:extLst>
          </p:cNvPr>
          <p:cNvSpPr txBox="1"/>
          <p:nvPr/>
        </p:nvSpPr>
        <p:spPr>
          <a:xfrm>
            <a:off x="844826" y="217670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(name: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PersonAl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constructor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(name: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Empty()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Person(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"Alice"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bob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Person(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"Bob"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0634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BCA3A-741E-DA7E-A9C0-C93C0DAC7F2E}"/>
              </a:ext>
            </a:extLst>
          </p:cNvPr>
          <p:cNvSpPr txBox="1"/>
          <p:nvPr/>
        </p:nvSpPr>
        <p:spPr>
          <a:xfrm>
            <a:off x="844826" y="217670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Address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"Holmes, Sherlock"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"Baker"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city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"London"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? 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b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zip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"123456"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18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Objets singletons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fr-FR" sz="2400" dirty="0"/>
              <a:t> permet de définir une classe qui est instanciée automatiquement et implicitement une unique fois (équivalent de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FR" sz="2400" dirty="0"/>
              <a:t> dans d’autres langages)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Pas d’appel au constructeur avec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, donc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BCA3A-741E-DA7E-A9C0-C93C0DAC7F2E}"/>
              </a:ext>
            </a:extLst>
          </p:cNvPr>
          <p:cNvSpPr txBox="1"/>
          <p:nvPr/>
        </p:nvSpPr>
        <p:spPr>
          <a:xfrm>
            <a:off x="838200" y="328771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object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6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Data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227383"/>
            <a:ext cx="78841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 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Person(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"John Doe"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"Name: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Age: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"Name: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Age: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484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Data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227383"/>
            <a:ext cx="788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name</a:t>
            </a:r>
            <a:r>
              <a:rPr lang="en-US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String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age</a:t>
            </a:r>
            <a:r>
              <a:rPr lang="en-US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Int </a:t>
            </a:r>
            <a:r>
              <a:rPr lang="en-US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85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Data classes</a:t>
            </a:r>
          </a:p>
          <a:p>
            <a:endParaRPr lang="fr-FR" sz="2400" b="1" i="1" dirty="0"/>
          </a:p>
          <a:p>
            <a:r>
              <a:rPr lang="fr-FR" sz="2400" dirty="0"/>
              <a:t>Le compilateur Kotlin dérive automatiquement les membres suivants selon les propriétés déclarées dans le constructeur principal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Une paire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equals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FR" sz="2400" dirty="0"/>
              <a:t>/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hashCode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, permettant de comparer deux objets par les valeurs de leurs propriétés (plutôt que leur valeur de référence mémoire)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 avec le format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User(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=John,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=42)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componentN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, ou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fr-FR" sz="2400" dirty="0"/>
              <a:t> = le nombre de propriétés, permettant de déstructurer les propriétés en variables (lors de leurs définitions)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copy()</a:t>
            </a:r>
            <a:r>
              <a:rPr lang="fr-FR" sz="2400" dirty="0"/>
              <a:t>, pour effectuer des copies en "profondeur" des objets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55733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Héritage</a:t>
            </a:r>
          </a:p>
          <a:p>
            <a:r>
              <a:rPr lang="fr-FR" sz="2400" dirty="0"/>
              <a:t>Kotlin nécessite des modificateurs explicites pour les membres surchargés et les surcharges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933905"/>
            <a:ext cx="788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 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 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draw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/*...*/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/*...*/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Shape()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 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draw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/*...*/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455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Types abstraits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44826" y="2379907"/>
            <a:ext cx="78841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abstract 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Animal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abstract 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makeSound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Animal(),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"Rex"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 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makeSound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/*...*/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3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Getters &amp; Setters explicites</a:t>
            </a:r>
          </a:p>
          <a:p>
            <a:r>
              <a:rPr lang="fr-FR" sz="2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r>
              <a:rPr lang="fr-FR" sz="2400" i="1" dirty="0"/>
              <a:t> est une variable spéciale (au même titre que </a:t>
            </a:r>
            <a:r>
              <a:rPr lang="fr-FR" sz="2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fr-FR" sz="2400" i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564449"/>
            <a:ext cx="7884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PersonAlt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(name: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name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=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(value)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field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value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8849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Getters &amp; Setters </a:t>
            </a:r>
            <a:r>
              <a:rPr lang="fr-FR" sz="2400" b="1" dirty="0"/>
              <a:t>explicites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379907"/>
            <a:ext cx="10043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var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&gt;? 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b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HashMap()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?: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AssertionError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"Set to null by another thread"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8631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Extensions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379907"/>
            <a:ext cx="100431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 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Shape()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"Shape"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"Rectangle"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printClassName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printClassName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(Rectangle())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7110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Extensions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379907"/>
            <a:ext cx="10043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printFunctionType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"Class method"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printFunctionType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"Extension function #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Example().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printFunctionType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05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err="1"/>
              <a:t>Sealed</a:t>
            </a:r>
            <a:r>
              <a:rPr lang="fr-FR" sz="2400" b="1" i="1" dirty="0"/>
              <a:t> classes</a:t>
            </a:r>
          </a:p>
          <a:p>
            <a:r>
              <a:rPr lang="fr-FR" sz="2400" dirty="0"/>
              <a:t>Classes dont tous les sous-types sont connus au moment de la compilation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38200" y="2552627"/>
            <a:ext cx="10043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sealed interface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sealed class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IOError</a:t>
            </a: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FileReadError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File):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DatabaseError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source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DataSource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object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RuntimeError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77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Types personnalisés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err="1"/>
              <a:t>Sealed</a:t>
            </a:r>
            <a:r>
              <a:rPr lang="fr-FR" sz="2400" b="1" i="1" dirty="0"/>
              <a:t> classes</a:t>
            </a:r>
          </a:p>
          <a:p>
            <a:r>
              <a:rPr lang="fr-FR" sz="2400" dirty="0"/>
              <a:t>Une clause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FR" sz="2400" dirty="0"/>
              <a:t> n’est pas nécessaire car tous les sous-types sont pris en charge (le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fr-FR" sz="2400" dirty="0"/>
              <a:t> est alors dit </a:t>
            </a:r>
            <a:r>
              <a:rPr lang="fr-FR" sz="2400" i="1" dirty="0"/>
              <a:t>exhaustif</a:t>
            </a:r>
            <a:r>
              <a:rPr lang="fr-FR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6DCB2-D4C8-B3E6-93DE-F8DD18127D07}"/>
              </a:ext>
            </a:extLst>
          </p:cNvPr>
          <p:cNvSpPr txBox="1"/>
          <p:nvPr/>
        </p:nvSpPr>
        <p:spPr>
          <a:xfrm>
            <a:off x="844826" y="3033719"/>
            <a:ext cx="10927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(e: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(e)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FileReadError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{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"Error while reading file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DatabaseError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{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"Error while reading from database 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source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RuntimeError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  {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"Runtime error"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527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Types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25683259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81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2828</Words>
  <Application>Microsoft Macintosh PowerPoint</Application>
  <PresentationFormat>Widescreen</PresentationFormat>
  <Paragraphs>285</Paragraphs>
  <Slides>60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Calibri Light</vt:lpstr>
      <vt:lpstr>Consolas</vt:lpstr>
      <vt:lpstr>Office Theme</vt:lpstr>
      <vt:lpstr>2 – Kotlin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– Kotlin</dc:title>
  <dc:creator>Alexandre Gressier</dc:creator>
  <cp:lastModifiedBy>Alexandre Gressier</cp:lastModifiedBy>
  <cp:revision>1</cp:revision>
  <dcterms:created xsi:type="dcterms:W3CDTF">2023-01-23T07:08:01Z</dcterms:created>
  <dcterms:modified xsi:type="dcterms:W3CDTF">2023-01-23T07:09:30Z</dcterms:modified>
</cp:coreProperties>
</file>