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433" r:id="rId2"/>
    <p:sldId id="434" r:id="rId3"/>
    <p:sldId id="465" r:id="rId4"/>
    <p:sldId id="466" r:id="rId5"/>
    <p:sldId id="467" r:id="rId6"/>
    <p:sldId id="468" r:id="rId7"/>
    <p:sldId id="435" r:id="rId8"/>
    <p:sldId id="469" r:id="rId9"/>
    <p:sldId id="569" r:id="rId10"/>
    <p:sldId id="570" r:id="rId11"/>
    <p:sldId id="585" r:id="rId12"/>
    <p:sldId id="572" r:id="rId13"/>
    <p:sldId id="573" r:id="rId14"/>
    <p:sldId id="574" r:id="rId15"/>
    <p:sldId id="575" r:id="rId16"/>
    <p:sldId id="576" r:id="rId17"/>
    <p:sldId id="577" r:id="rId18"/>
    <p:sldId id="578" r:id="rId19"/>
    <p:sldId id="579" r:id="rId20"/>
    <p:sldId id="580" r:id="rId21"/>
    <p:sldId id="581" r:id="rId22"/>
    <p:sldId id="582" r:id="rId23"/>
    <p:sldId id="583" r:id="rId24"/>
    <p:sldId id="584" r:id="rId25"/>
    <p:sldId id="571" r:id="rId26"/>
    <p:sldId id="436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26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27"/>
    <p:restoredTop sz="96327"/>
  </p:normalViewPr>
  <p:slideViewPr>
    <p:cSldViewPr snapToGrid="0">
      <p:cViewPr varScale="1">
        <p:scale>
          <a:sx n="92" d="100"/>
          <a:sy n="92" d="100"/>
        </p:scale>
        <p:origin x="176" y="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7EF890-F87E-D544-9095-B455DA0C3C10}" type="datetimeFigureOut">
              <a:rPr lang="fr-FR" smtClean="0"/>
              <a:t>03/03/2023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37B152-5E67-594A-BB69-310258F243E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8405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© SUPINFO</a:t>
            </a:r>
          </a:p>
          <a:p>
            <a:r>
              <a:rPr lang="fr-FR" dirty="0"/>
              <a:t>Auteur : Alexandre Gressier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08045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41541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53216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55784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81319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60432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57238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82572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35952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86111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1034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28119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9635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15684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68576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42617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4207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70775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85481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5643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02971-99C6-D8AB-1385-DFA458636F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01E739-421C-979A-0990-C6215E048F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2F53D-5235-AD48-D7C7-D4E002649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35930-754B-8345-93C5-4BD1EC51A9AF}" type="datetimeFigureOut">
              <a:rPr lang="fr-FR" smtClean="0"/>
              <a:t>03/03/2023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9C47F-97DA-214C-89C0-399ACBEEA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C8014F-2353-8EA9-44A7-5BBFAB6B1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12A39-E557-4640-B243-95514CB945E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9572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96B94-FE45-4135-1E5F-563DAF115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B3B4A-DEA2-8DF5-D8F6-A1998CF6E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00A00-0424-1066-70D8-13919F31E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35930-754B-8345-93C5-4BD1EC51A9AF}" type="datetimeFigureOut">
              <a:rPr lang="fr-FR" smtClean="0"/>
              <a:t>03/03/2023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0BB1A-C1B7-449C-16ED-D2BF9D160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298D0-1094-0154-232A-7BE559862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12A39-E557-4640-B243-95514CB945E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4476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11212-4FA1-0507-13E3-FB67460DC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CDA0F-AC1B-7BE4-8369-DB9A0B1A1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351A96-C2F7-A736-EDF8-D7A0D20F9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35930-754B-8345-93C5-4BD1EC51A9AF}" type="datetimeFigureOut">
              <a:rPr lang="fr-FR" smtClean="0"/>
              <a:t>03/03/2023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8A3ED-CA1B-08B2-C144-DA4AE6209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2C5CF-0CAF-3699-A705-D635D23D8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12A39-E557-4640-B243-95514CB945E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823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902EA-BD73-6DDD-F9B4-08FAA20A2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718D1-0278-4C86-381D-6F0DAED27F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9E5AD6-ACF8-CDDE-2C54-214F447313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E81056-BB75-3763-5009-C4E58980B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35930-754B-8345-93C5-4BD1EC51A9AF}" type="datetimeFigureOut">
              <a:rPr lang="fr-FR" smtClean="0"/>
              <a:t>03/03/2023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8B48B4-A5D0-5627-A255-0F3B0884B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0612B7-90DB-6BD4-BFB9-D0887EFA5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12A39-E557-4640-B243-95514CB945E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4249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F5958-0D6A-A523-D0B4-39B79CEAD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371286-FBCE-9242-A81D-7920E4015E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30BB53-B81D-9067-0BF0-8A8A83144C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A46012-B755-71AC-5CF1-5B10CCF919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521308-2047-7DB2-7C46-C190E658A9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3DEDDE-43D2-D6C3-C4E6-A05599691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35930-754B-8345-93C5-4BD1EC51A9AF}" type="datetimeFigureOut">
              <a:rPr lang="fr-FR" smtClean="0"/>
              <a:t>03/03/2023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A4E061-8BAD-372F-7C5F-AC1391B30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3DEA6A-BAC9-6FC0-D9E8-A91756831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12A39-E557-4640-B243-95514CB945E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1820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FF80A-0A5A-BC54-D5F7-62AC1E7FC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33F0BF-6168-2CC0-E7BE-609638D3E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35930-754B-8345-93C5-4BD1EC51A9AF}" type="datetimeFigureOut">
              <a:rPr lang="fr-FR" smtClean="0"/>
              <a:t>03/03/2023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4158D4-F524-689F-CD5C-30ADEB647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A3D414-C1CD-A235-E5AA-D4DE84DE5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12A39-E557-4640-B243-95514CB945E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3936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53B45D-D1E1-0962-A1EA-BCCE0E116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35930-754B-8345-93C5-4BD1EC51A9AF}" type="datetimeFigureOut">
              <a:rPr lang="fr-FR" smtClean="0"/>
              <a:t>03/03/2023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AF8693-1EA4-9FC8-9141-7DBF7E6C7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7387A-DC57-AE1A-4CDC-C3BAC975C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12A39-E557-4640-B243-95514CB945E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4889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A44AB-A6E5-B08A-8582-2C5BFC73E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F39F9-F880-E9D1-03D9-CDC6CBB7BB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53407F-7DE9-B853-0C67-F012D78627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528D92-3DC6-5B71-43B7-E5886A906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35930-754B-8345-93C5-4BD1EC51A9AF}" type="datetimeFigureOut">
              <a:rPr lang="fr-FR" smtClean="0"/>
              <a:t>03/03/2023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FC1D67-748A-B19A-5DDE-6ACCF931A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6D7790-A83B-0C79-EF88-94CE6572A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12A39-E557-4640-B243-95514CB945E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5743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576F9-E722-091E-DDF6-B6628E521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F77E23-F3B8-C56E-28B1-CFA8DE10E6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04717A-1469-FAD2-7B72-2FC8B7FA6D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751A8D-8C94-6BCD-B313-BC89E40C6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35930-754B-8345-93C5-4BD1EC51A9AF}" type="datetimeFigureOut">
              <a:rPr lang="fr-FR" smtClean="0"/>
              <a:t>03/03/2023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5E1ED5-9D44-18A1-D154-BF973E969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FE6707-CC42-760F-E3F0-53D765347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12A39-E557-4640-B243-95514CB945E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5959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DFFBE-B958-6A94-BA00-A641CFF9C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D82044-195F-3072-1BBB-A5659FCA10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605F6-5573-4AA0-38BC-E088CA40E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35930-754B-8345-93C5-4BD1EC51A9AF}" type="datetimeFigureOut">
              <a:rPr lang="fr-FR" smtClean="0"/>
              <a:t>03/03/2023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5CBC3-CC24-7422-14AF-D0DFF6B28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6BA2B-C20F-3E7A-F00C-8A9595C05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12A39-E557-4640-B243-95514CB945E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1065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33A37F-17ED-39AD-A68B-83CB3647B7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FA66B7-52F1-37D9-5A1A-86427A76BA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43A8B3-32BF-5941-3D3C-5290286C8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35930-754B-8345-93C5-4BD1EC51A9AF}" type="datetimeFigureOut">
              <a:rPr lang="fr-FR" smtClean="0"/>
              <a:t>03/03/2023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75D11-584F-71B1-5167-68CEB2A6A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7C5F6-5A7F-C518-4546-1ACF003D5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12A39-E557-4640-B243-95514CB945E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7373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9AB6FE-AACF-5F3C-DAAD-4249A8802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19700F-AA7B-1C6E-B06A-81BB467AB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AEFE5-1A91-2CE6-6E00-155102E42C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C35930-754B-8345-93C5-4BD1EC51A9AF}" type="datetimeFigureOut">
              <a:rPr lang="fr-FR" smtClean="0"/>
              <a:t>03/03/2023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474B63-C52B-91F7-5E8E-813E77B424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2F772-F8BF-79FF-BEA0-39A594ED0C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812A39-E557-4640-B243-95514CB945E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2822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F8221A-BD6C-D743-8F79-B5CC237B7B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5 – Communications réseau</a:t>
            </a:r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76B8DA83-B860-924D-B9FE-FE02FD8A3C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25983"/>
            <a:ext cx="9144000" cy="1655762"/>
          </a:xfrm>
        </p:spPr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3ANDM - Développeur d’application Android mobile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5A1A31C-D020-0B43-A654-BC830BBC2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3200" y="5454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263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AC0B1E25-C870-E44C-9AEC-2F6389ADF8D7}"/>
              </a:ext>
            </a:extLst>
          </p:cNvPr>
          <p:cNvSpPr txBox="1">
            <a:spLocks/>
          </p:cNvSpPr>
          <p:nvPr/>
        </p:nvSpPr>
        <p:spPr>
          <a:xfrm>
            <a:off x="831850" y="2554565"/>
            <a:ext cx="10515600" cy="10800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42950" indent="-742950">
              <a:buAutoNum type="arabicPeriod"/>
            </a:pPr>
            <a:r>
              <a:rPr lang="fr-FR" sz="3600" dirty="0">
                <a:solidFill>
                  <a:schemeClr val="bg1"/>
                </a:solidFill>
              </a:rPr>
              <a:t>Contextualisation</a:t>
            </a:r>
          </a:p>
          <a:p>
            <a:pPr marL="742950" indent="-742950">
              <a:buAutoNum type="arabicPeriod"/>
            </a:pPr>
            <a:r>
              <a:rPr lang="fr-FR" sz="3600" dirty="0">
                <a:solidFill>
                  <a:schemeClr val="bg1"/>
                </a:solidFill>
              </a:rPr>
              <a:t>Utilisation de </a:t>
            </a:r>
            <a:r>
              <a:rPr lang="fr-FR" sz="3600" dirty="0" err="1">
                <a:solidFill>
                  <a:schemeClr val="bg1"/>
                </a:solidFill>
              </a:rPr>
              <a:t>Ktor</a:t>
            </a:r>
            <a:r>
              <a:rPr lang="fr-FR" sz="3600" dirty="0">
                <a:solidFill>
                  <a:schemeClr val="bg1"/>
                </a:solidFill>
              </a:rPr>
              <a:t> Client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E19DB8DF-56A9-C146-8CC5-1A72BBF66B41}"/>
              </a:ext>
            </a:extLst>
          </p:cNvPr>
          <p:cNvSpPr txBox="1">
            <a:spLocks/>
          </p:cNvSpPr>
          <p:nvPr/>
        </p:nvSpPr>
        <p:spPr>
          <a:xfrm>
            <a:off x="4994689" y="402196"/>
            <a:ext cx="2189922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200" i="1">
                <a:solidFill>
                  <a:schemeClr val="bg1"/>
                </a:solidFill>
              </a:rPr>
              <a:t>Sommaire</a:t>
            </a:r>
          </a:p>
        </p:txBody>
      </p:sp>
      <p:pic>
        <p:nvPicPr>
          <p:cNvPr id="6" name="Graphique 5" descr="Menu avec un remplissage uni">
            <a:extLst>
              <a:ext uri="{FF2B5EF4-FFF2-40B4-BE49-F238E27FC236}">
                <a16:creationId xmlns:a16="http://schemas.microsoft.com/office/drawing/2014/main" id="{F3640D13-DDD0-8D47-9978-9A138749BA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40000" y="5040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360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Contextualisation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7" y="1431230"/>
            <a:ext cx="525117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Communications réseau</a:t>
            </a:r>
          </a:p>
          <a:p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b="0" i="0" dirty="0">
                <a:solidFill>
                  <a:srgbClr val="374151"/>
                </a:solidFill>
                <a:effectLst/>
                <a:latin typeface="Söhne"/>
              </a:rPr>
              <a:t>Constituent un aspect essentiel </a:t>
            </a:r>
            <a:r>
              <a:rPr lang="fr-FR" sz="2400" dirty="0">
                <a:solidFill>
                  <a:srgbClr val="374151"/>
                </a:solidFill>
                <a:latin typeface="Söhne"/>
              </a:rPr>
              <a:t>du </a:t>
            </a:r>
            <a:r>
              <a:rPr lang="fr-FR" sz="2400" b="0" i="0" dirty="0">
                <a:solidFill>
                  <a:srgbClr val="374151"/>
                </a:solidFill>
                <a:effectLst/>
                <a:latin typeface="Söhne"/>
              </a:rPr>
              <a:t>développement d'application Android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b="0" i="0" dirty="0">
                <a:solidFill>
                  <a:srgbClr val="374151"/>
                </a:solidFill>
                <a:effectLst/>
                <a:latin typeface="Söhne"/>
              </a:rPr>
              <a:t>Permettent aux applications de se connecter aux serveurs et d'échanger des données sur Internet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374151"/>
                </a:solidFill>
                <a:latin typeface="Söhne"/>
              </a:rPr>
              <a:t>Incontournables pour la majorité des applications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374151"/>
                </a:solidFill>
                <a:latin typeface="Söhne"/>
              </a:rPr>
              <a:t>Nécessaires pour utiliser des APIs (</a:t>
            </a:r>
            <a:r>
              <a:rPr lang="fr-FR" sz="2400" i="1" dirty="0">
                <a:solidFill>
                  <a:srgbClr val="374151"/>
                </a:solidFill>
                <a:latin typeface="Söhne"/>
              </a:rPr>
              <a:t>Application </a:t>
            </a:r>
            <a:r>
              <a:rPr lang="fr-FR" sz="2400" i="1" dirty="0" err="1">
                <a:solidFill>
                  <a:srgbClr val="374151"/>
                </a:solidFill>
                <a:latin typeface="Söhne"/>
              </a:rPr>
              <a:t>Programming</a:t>
            </a:r>
            <a:r>
              <a:rPr lang="fr-FR" sz="2400" i="1" dirty="0">
                <a:solidFill>
                  <a:srgbClr val="374151"/>
                </a:solidFill>
                <a:latin typeface="Söhne"/>
              </a:rPr>
              <a:t> Interface</a:t>
            </a:r>
            <a:r>
              <a:rPr lang="fr-FR" sz="2400" dirty="0">
                <a:solidFill>
                  <a:srgbClr val="374151"/>
                </a:solidFill>
                <a:latin typeface="Söhne"/>
              </a:rPr>
              <a:t>) réseau</a:t>
            </a:r>
            <a:endParaRPr lang="fr-FR" sz="2400" dirty="0"/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47D47F11-1BB5-5F0E-EABE-5A678F894C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760" y="2260604"/>
            <a:ext cx="4389120" cy="2750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331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Contextualisation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Types de communication</a:t>
            </a:r>
          </a:p>
          <a:p>
            <a:endParaRPr lang="fr-FR" sz="24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400" b="1" i="0" dirty="0">
                <a:solidFill>
                  <a:srgbClr val="374151"/>
                </a:solidFill>
                <a:effectLst/>
                <a:latin typeface="Söhne"/>
              </a:rPr>
              <a:t>HTTP / HTTPS </a:t>
            </a:r>
            <a:r>
              <a:rPr lang="fr-FR" sz="2400" b="0" i="0" dirty="0">
                <a:solidFill>
                  <a:srgbClr val="374151"/>
                </a:solidFill>
                <a:effectLst/>
                <a:latin typeface="Söhne"/>
              </a:rPr>
              <a:t>: type de communication réseau le plus couramment utilisé pour envoyer et recevoir des données entre une application et un serveur sur Internet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400" b="1" dirty="0" err="1">
                <a:solidFill>
                  <a:srgbClr val="374151"/>
                </a:solidFill>
                <a:effectLst/>
                <a:latin typeface="Söhne"/>
              </a:rPr>
              <a:t>WebSocket</a:t>
            </a:r>
            <a:r>
              <a:rPr lang="fr-FR" sz="2400" b="1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fr-FR" sz="2400" b="0" i="0" dirty="0">
                <a:solidFill>
                  <a:srgbClr val="374151"/>
                </a:solidFill>
                <a:effectLst/>
                <a:latin typeface="Söhne"/>
              </a:rPr>
              <a:t>: protocole pour la communication bidirectionnelle en temps réel entre un client et un serveur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400" b="1" i="0" dirty="0">
                <a:solidFill>
                  <a:srgbClr val="374151"/>
                </a:solidFill>
                <a:effectLst/>
                <a:latin typeface="Söhne"/>
              </a:rPr>
              <a:t>Bluetooth</a:t>
            </a:r>
            <a:r>
              <a:rPr lang="fr-FR" sz="2400" b="0" i="0" dirty="0">
                <a:solidFill>
                  <a:srgbClr val="374151"/>
                </a:solidFill>
                <a:effectLst/>
                <a:latin typeface="Söhne"/>
              </a:rPr>
              <a:t> : protocole pour échanger des données de manière locale d’appareil à appareil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fr-FR" sz="24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2207421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Contextualisation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Librairies HTTP Android</a:t>
            </a:r>
          </a:p>
          <a:p>
            <a:endParaRPr lang="fr-FR" sz="24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400" b="1" i="0" dirty="0" err="1">
                <a:solidFill>
                  <a:srgbClr val="374151"/>
                </a:solidFill>
                <a:effectLst/>
                <a:latin typeface="Söhne"/>
              </a:rPr>
              <a:t>Retrofit</a:t>
            </a:r>
            <a:r>
              <a:rPr lang="fr-FR" sz="2400" b="0" i="0" dirty="0">
                <a:solidFill>
                  <a:srgbClr val="374151"/>
                </a:solidFill>
                <a:effectLst/>
                <a:latin typeface="Söhne"/>
              </a:rPr>
              <a:t> : librairie populaire basée sur de la génération de code. </a:t>
            </a:r>
            <a:r>
              <a:rPr lang="fr-FR" sz="2400" dirty="0">
                <a:solidFill>
                  <a:srgbClr val="374151"/>
                </a:solidFill>
                <a:latin typeface="Söhne"/>
              </a:rPr>
              <a:t>Pour cela il est nécessaire de reproduire le schéma API via des classes Kotlin.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400" b="1" i="0" dirty="0" err="1">
                <a:solidFill>
                  <a:srgbClr val="374151"/>
                </a:solidFill>
                <a:effectLst/>
                <a:latin typeface="Söhne"/>
              </a:rPr>
              <a:t>OkHttp</a:t>
            </a:r>
            <a:r>
              <a:rPr lang="fr-FR" sz="2400" dirty="0">
                <a:solidFill>
                  <a:srgbClr val="374151"/>
                </a:solidFill>
                <a:latin typeface="Söhne"/>
              </a:rPr>
              <a:t> : une bibliothèque plus bas niveau dont </a:t>
            </a:r>
            <a:r>
              <a:rPr lang="fr-FR" sz="2400" dirty="0" err="1">
                <a:solidFill>
                  <a:srgbClr val="374151"/>
                </a:solidFill>
                <a:latin typeface="Söhne"/>
              </a:rPr>
              <a:t>Retrofit</a:t>
            </a:r>
            <a:r>
              <a:rPr lang="fr-FR" sz="2400" dirty="0">
                <a:solidFill>
                  <a:srgbClr val="374151"/>
                </a:solidFill>
                <a:latin typeface="Söhne"/>
              </a:rPr>
              <a:t> fait usage.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400" b="1" i="0" dirty="0">
                <a:solidFill>
                  <a:srgbClr val="374151"/>
                </a:solidFill>
                <a:effectLst/>
                <a:latin typeface="Söhne"/>
              </a:rPr>
              <a:t>Volley</a:t>
            </a:r>
            <a:r>
              <a:rPr lang="fr-FR" sz="2400" b="0" i="0" dirty="0">
                <a:solidFill>
                  <a:srgbClr val="374151"/>
                </a:solidFill>
                <a:effectLst/>
                <a:latin typeface="Söhne"/>
              </a:rPr>
              <a:t> : librairie</a:t>
            </a:r>
            <a:r>
              <a:rPr lang="fr-FR" sz="2400" dirty="0">
                <a:solidFill>
                  <a:srgbClr val="374151"/>
                </a:solidFill>
                <a:latin typeface="Söhne"/>
              </a:rPr>
              <a:t> créée par Google reposant sur un système de queue.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400" b="1" dirty="0" err="1">
                <a:solidFill>
                  <a:srgbClr val="374151"/>
                </a:solidFill>
                <a:latin typeface="Söhne"/>
              </a:rPr>
              <a:t>Ktor</a:t>
            </a:r>
            <a:r>
              <a:rPr lang="fr-FR" sz="2400" b="1" dirty="0">
                <a:solidFill>
                  <a:srgbClr val="374151"/>
                </a:solidFill>
                <a:latin typeface="Söhne"/>
              </a:rPr>
              <a:t> Client </a:t>
            </a:r>
            <a:r>
              <a:rPr lang="fr-FR" sz="2400" dirty="0">
                <a:solidFill>
                  <a:srgbClr val="374151"/>
                </a:solidFill>
                <a:latin typeface="Söhne"/>
              </a:rPr>
              <a:t>: librairie créée par </a:t>
            </a:r>
            <a:r>
              <a:rPr lang="fr-FR" sz="2400" dirty="0" err="1">
                <a:solidFill>
                  <a:srgbClr val="374151"/>
                </a:solidFill>
                <a:latin typeface="Söhne"/>
              </a:rPr>
              <a:t>JetBrains</a:t>
            </a:r>
            <a:r>
              <a:rPr lang="fr-FR" sz="2400" dirty="0">
                <a:solidFill>
                  <a:srgbClr val="374151"/>
                </a:solidFill>
                <a:latin typeface="Söhne"/>
              </a:rPr>
              <a:t> adaptée pour n’importe quel programme Kotlin.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fr-FR" sz="2400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fr-FR" sz="24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4176841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Contextualisation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7" y="1431230"/>
            <a:ext cx="525117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Librairie étudiée : </a:t>
            </a:r>
            <a:r>
              <a:rPr lang="fr-FR" sz="2400" b="1" dirty="0" err="1"/>
              <a:t>Ktor</a:t>
            </a:r>
            <a:r>
              <a:rPr lang="fr-FR" sz="2400" b="1" dirty="0"/>
              <a:t> Client</a:t>
            </a:r>
          </a:p>
          <a:p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Versatile car non spécifique à Android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Facilité d’utilisation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Une des plus récentes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Idiomatique à Kotlin et aux coroutines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F3EF37-B4E1-4234-1584-F29B624934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00" y="1835150"/>
            <a:ext cx="3187700" cy="318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702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117F3F9E-E45E-9844-8215-AA148A5923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6784514D-DFE8-6540-A8D9-ED1329C44D3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>
                <a:solidFill>
                  <a:schemeClr val="bg1"/>
                </a:solidFill>
              </a:rPr>
              <a:t>1. Contextualisation</a:t>
            </a:r>
          </a:p>
        </p:txBody>
      </p:sp>
    </p:spTree>
    <p:extLst>
      <p:ext uri="{BB962C8B-B14F-4D97-AF65-F5344CB8AC3E}">
        <p14:creationId xmlns:p14="http://schemas.microsoft.com/office/powerpoint/2010/main" val="3023431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AC0B1E25-C870-E44C-9AEC-2F6389ADF8D7}"/>
              </a:ext>
            </a:extLst>
          </p:cNvPr>
          <p:cNvSpPr txBox="1">
            <a:spLocks/>
          </p:cNvSpPr>
          <p:nvPr/>
        </p:nvSpPr>
        <p:spPr>
          <a:xfrm>
            <a:off x="831850" y="1709738"/>
            <a:ext cx="10515600" cy="28512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fr-FR" sz="5400" dirty="0"/>
          </a:p>
          <a:p>
            <a:endParaRPr lang="fr-FR" sz="5400" dirty="0"/>
          </a:p>
          <a:p>
            <a:endParaRPr lang="fr-FR" sz="5400" dirty="0"/>
          </a:p>
          <a:p>
            <a:r>
              <a:rPr lang="fr-FR" sz="5400" dirty="0">
                <a:solidFill>
                  <a:schemeClr val="bg1"/>
                </a:solidFill>
              </a:rPr>
              <a:t>2. Utilisation de </a:t>
            </a:r>
            <a:r>
              <a:rPr lang="fr-FR" sz="5400" dirty="0" err="1">
                <a:solidFill>
                  <a:schemeClr val="bg1"/>
                </a:solidFill>
              </a:rPr>
              <a:t>Ktor</a:t>
            </a:r>
            <a:r>
              <a:rPr lang="fr-FR" sz="5400" dirty="0">
                <a:solidFill>
                  <a:schemeClr val="bg1"/>
                </a:solidFill>
              </a:rPr>
              <a:t> Client</a:t>
            </a:r>
            <a:endParaRPr lang="fr-FR" sz="5400" i="1" dirty="0">
              <a:solidFill>
                <a:schemeClr val="bg1"/>
              </a:solidFill>
            </a:endParaRPr>
          </a:p>
          <a:p>
            <a:endParaRPr lang="fr-FR" sz="5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4185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Utilisation de </a:t>
            </a:r>
            <a:r>
              <a:rPr lang="fr-FR" sz="3200" dirty="0" err="1"/>
              <a:t>Ktor</a:t>
            </a:r>
            <a:r>
              <a:rPr lang="fr-FR" sz="3200" dirty="0"/>
              <a:t> Client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Configuration </a:t>
            </a:r>
            <a:r>
              <a:rPr lang="fr-FR" sz="2400" b="1" dirty="0" err="1"/>
              <a:t>Gradle</a:t>
            </a:r>
            <a:endParaRPr lang="fr-FR" sz="2400" b="1" dirty="0"/>
          </a:p>
          <a:p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 err="1"/>
              <a:t>Ktor</a:t>
            </a:r>
            <a:r>
              <a:rPr lang="fr-FR" sz="2400" dirty="0"/>
              <a:t> Client est une librairie à inclure dans la liste des dépendances.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En plus de celle-ci, un moteur pour traiter les requêtes est nécessaire. Certains moteurs ne sont disponibles que sur certaines plateformes (exemple : Android vs Web).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Il est possible d’étendre les fonctionnalités de </a:t>
            </a:r>
            <a:r>
              <a:rPr lang="fr-FR" sz="2400" dirty="0" err="1"/>
              <a:t>Ktor</a:t>
            </a:r>
            <a:r>
              <a:rPr lang="fr-FR" sz="2400" dirty="0"/>
              <a:t> client en ajoutant des plugins à la liste des dépendances (exemple : </a:t>
            </a:r>
            <a:r>
              <a:rPr lang="fr-FR" sz="2400" i="1" dirty="0" err="1"/>
              <a:t>logging</a:t>
            </a:r>
            <a:r>
              <a:rPr lang="fr-FR" sz="2400" dirty="0"/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 err="1"/>
              <a:t>Ktor</a:t>
            </a:r>
            <a:r>
              <a:rPr lang="fr-FR" sz="2400" dirty="0"/>
              <a:t> Client sait transformer automatiquement les réponses HTTP en </a:t>
            </a:r>
            <a:r>
              <a:rPr lang="fr-FR" sz="2400" i="1" dirty="0"/>
              <a:t>data classes </a:t>
            </a:r>
            <a:r>
              <a:rPr lang="fr-FR" sz="2400" dirty="0"/>
              <a:t>Kotlin, à condition d’utiliser le plugin </a:t>
            </a:r>
            <a:r>
              <a:rPr lang="fr-FR" sz="2400" dirty="0" err="1"/>
              <a:t>Gradle</a:t>
            </a:r>
            <a:r>
              <a:rPr lang="fr-FR" sz="2400" dirty="0"/>
              <a:t> </a:t>
            </a:r>
            <a:r>
              <a:rPr lang="fr-FR" sz="2400" dirty="0" err="1"/>
              <a:t>kotlinx-serialization</a:t>
            </a:r>
            <a:r>
              <a:rPr lang="fr-FR" sz="2400" dirty="0"/>
              <a:t> (qui fournit </a:t>
            </a:r>
            <a:r>
              <a:rPr lang="fr-FR" sz="2400" dirty="0">
                <a:latin typeface="Consolas" panose="020B0609020204030204" pitchFamily="49" charset="0"/>
                <a:cs typeface="Consolas" panose="020B0609020204030204" pitchFamily="49" charset="0"/>
              </a:rPr>
              <a:t>@</a:t>
            </a:r>
            <a:r>
              <a:rPr lang="fr-FR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Serializable</a:t>
            </a:r>
            <a:r>
              <a:rPr lang="fr-FR" sz="2400" dirty="0"/>
              <a:t>). Les réponses sont donc typées automatiquement.</a:t>
            </a:r>
          </a:p>
        </p:txBody>
      </p:sp>
    </p:spTree>
    <p:extLst>
      <p:ext uri="{BB962C8B-B14F-4D97-AF65-F5344CB8AC3E}">
        <p14:creationId xmlns:p14="http://schemas.microsoft.com/office/powerpoint/2010/main" val="23527364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Utilisation de </a:t>
            </a:r>
            <a:r>
              <a:rPr lang="fr-FR" sz="3200" dirty="0" err="1"/>
              <a:t>Ktor</a:t>
            </a:r>
            <a:r>
              <a:rPr lang="fr-FR" sz="3200" dirty="0"/>
              <a:t> Client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Configuration </a:t>
            </a:r>
            <a:r>
              <a:rPr lang="fr-FR" sz="2400" b="1" dirty="0" err="1"/>
              <a:t>Gradle</a:t>
            </a:r>
            <a:endParaRPr lang="fr-FR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F6497D-9812-FE40-0142-1BC1F4905610}"/>
              </a:ext>
            </a:extLst>
          </p:cNvPr>
          <p:cNvSpPr txBox="1"/>
          <p:nvPr/>
        </p:nvSpPr>
        <p:spPr>
          <a:xfrm>
            <a:off x="844827" y="2132994"/>
            <a:ext cx="10525538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plugins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i="1" noProof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kotlin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"plugin.serialization"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sz="1600" i="1" noProof="1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Typer les réponses HTTP</a:t>
            </a:r>
            <a:br>
              <a:rPr lang="en-US" sz="1600" i="1" noProof="1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i="1" noProof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dependencies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i="1" noProof="1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Ktor Client</a:t>
            </a:r>
            <a:br>
              <a:rPr lang="en-US" sz="1600" i="1" noProof="1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i="1" noProof="1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i="1" noProof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implementation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"io.ktor:ktor-client-core:</a:t>
            </a:r>
            <a:r>
              <a:rPr lang="en-US" sz="1600" noProof="1">
                <a:solidFill>
                  <a:srgbClr val="0037A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ktor_version</a:t>
            </a:r>
            <a:r>
              <a:rPr lang="en-US" sz="1600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i="1" noProof="1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Moteur populaire</a:t>
            </a:r>
            <a:br>
              <a:rPr lang="en-US" sz="1600" i="1" noProof="1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i="1" noProof="1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i="1" noProof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implementation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"io.ktor:ktor-client-cio:</a:t>
            </a:r>
            <a:r>
              <a:rPr lang="en-US" sz="1600" noProof="1">
                <a:solidFill>
                  <a:srgbClr val="0037A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ktor_version</a:t>
            </a:r>
            <a:r>
              <a:rPr lang="en-US" sz="1600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i="1" noProof="1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Exemples de plugins</a:t>
            </a:r>
            <a:br>
              <a:rPr lang="en-US" sz="1600" i="1" noProof="1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i="1" noProof="1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i="1" noProof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implementation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"io.ktor:ktor-serialization-kotlinx-json:</a:t>
            </a:r>
            <a:r>
              <a:rPr lang="en-US" sz="1600" noProof="1">
                <a:solidFill>
                  <a:srgbClr val="0037A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ktor_version</a:t>
            </a:r>
            <a:r>
              <a:rPr lang="en-US" sz="1600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i="1" noProof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implementation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"io.ktor:ktor-client-content-negotiation:</a:t>
            </a:r>
            <a:r>
              <a:rPr lang="en-US" sz="1600" noProof="1">
                <a:solidFill>
                  <a:srgbClr val="0037A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ktor_version</a:t>
            </a:r>
            <a:r>
              <a:rPr lang="en-US" sz="1600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i="1" noProof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implementation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"io.ktor:ktor-client-logging:</a:t>
            </a:r>
            <a:r>
              <a:rPr lang="en-US" sz="1600" noProof="1">
                <a:solidFill>
                  <a:srgbClr val="0037A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ktor_version</a:t>
            </a:r>
            <a:r>
              <a:rPr lang="en-US" sz="1600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1600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1795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Utilisation de </a:t>
            </a:r>
            <a:r>
              <a:rPr lang="fr-FR" sz="3200" dirty="0" err="1"/>
              <a:t>Ktor</a:t>
            </a:r>
            <a:r>
              <a:rPr lang="fr-FR" sz="3200" dirty="0"/>
              <a:t> Client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Permissions</a:t>
            </a:r>
          </a:p>
          <a:p>
            <a:endParaRPr lang="fr-FR" sz="2400" b="1" dirty="0"/>
          </a:p>
          <a:p>
            <a:r>
              <a:rPr lang="fr-FR" sz="2400" dirty="0"/>
              <a:t>Toute application souhaitant effectuer des requêtes HTTP doit déclarer la permission ci-dessous dans le fichier </a:t>
            </a:r>
            <a:r>
              <a:rPr lang="fr-FR" sz="2400" noProof="1"/>
              <a:t>AndroidManifest.xml. L’utilisateur n’a pas la possiblité de refuser celle-ci.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F6497D-9812-FE40-0142-1BC1F4905610}"/>
              </a:ext>
            </a:extLst>
          </p:cNvPr>
          <p:cNvSpPr txBox="1"/>
          <p:nvPr/>
        </p:nvSpPr>
        <p:spPr>
          <a:xfrm>
            <a:off x="828262" y="4089461"/>
            <a:ext cx="105255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uses-permission </a:t>
            </a:r>
            <a:r>
              <a:rPr lang="en-US" noProof="1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android</a:t>
            </a:r>
            <a:r>
              <a:rPr lang="en-US" noProof="1">
                <a:solidFill>
                  <a:srgbClr val="174AD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:name</a:t>
            </a:r>
            <a:r>
              <a:rPr lang="en-US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="android.permission.INTERNET" 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/&gt;</a:t>
            </a:r>
          </a:p>
        </p:txBody>
      </p:sp>
    </p:spTree>
    <p:extLst>
      <p:ext uri="{BB962C8B-B14F-4D97-AF65-F5344CB8AC3E}">
        <p14:creationId xmlns:p14="http://schemas.microsoft.com/office/powerpoint/2010/main" val="23714736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Utilisation de </a:t>
            </a:r>
            <a:r>
              <a:rPr lang="fr-FR" sz="3200" dirty="0" err="1"/>
              <a:t>Ktor</a:t>
            </a:r>
            <a:r>
              <a:rPr lang="fr-FR" sz="3200" dirty="0"/>
              <a:t> Client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Instancier un client HTTP</a:t>
            </a:r>
          </a:p>
          <a:p>
            <a:r>
              <a:rPr lang="fr-FR" sz="2400" dirty="0"/>
              <a:t>D’une manière analogue à la base de données embarquée, il est préférable de n’avoir qu’une seule instance du client HTTP pour toute l’application (car coûteux)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F6497D-9812-FE40-0142-1BC1F4905610}"/>
              </a:ext>
            </a:extLst>
          </p:cNvPr>
          <p:cNvSpPr txBox="1"/>
          <p:nvPr/>
        </p:nvSpPr>
        <p:spPr>
          <a:xfrm>
            <a:off x="828262" y="2890391"/>
            <a:ext cx="1052553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import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io.ktor.client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.*</a:t>
            </a:r>
            <a:b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import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io.ktor.client.engine.cio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.*</a:t>
            </a:r>
            <a:b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 err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sz="1600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i="1" dirty="0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client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sz="1600" dirty="0" err="1">
                <a:solidFill>
                  <a:srgbClr val="7411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HttpClient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CIO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en-US" sz="1600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44094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Utilisation de </a:t>
            </a:r>
            <a:r>
              <a:rPr lang="fr-FR" sz="3200" dirty="0" err="1"/>
              <a:t>Ktor</a:t>
            </a:r>
            <a:r>
              <a:rPr lang="fr-FR" sz="3200" dirty="0"/>
              <a:t> Client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Installer un plugin</a:t>
            </a:r>
          </a:p>
          <a:p>
            <a:r>
              <a:rPr lang="fr-FR" sz="2400" dirty="0"/>
              <a:t>Exemple pour le </a:t>
            </a:r>
            <a:r>
              <a:rPr lang="fr-FR" sz="2400" i="1" dirty="0" err="1"/>
              <a:t>logging</a:t>
            </a:r>
            <a:endParaRPr lang="fr-FR" sz="2400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F6497D-9812-FE40-0142-1BC1F4905610}"/>
              </a:ext>
            </a:extLst>
          </p:cNvPr>
          <p:cNvSpPr txBox="1"/>
          <p:nvPr/>
        </p:nvSpPr>
        <p:spPr>
          <a:xfrm>
            <a:off x="828262" y="2674547"/>
            <a:ext cx="1052553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client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HttpClient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(CIO) </a:t>
            </a: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install(Logging) </a:t>
            </a: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logger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Logger.DEFAULT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level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LogLevel.HEADERS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filter </a:t>
            </a: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request </a:t>
            </a: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-&gt;</a:t>
            </a:r>
            <a:b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request.url.host.contains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ktor.io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b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32203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Utilisation de </a:t>
            </a:r>
            <a:r>
              <a:rPr lang="fr-FR" sz="3200" dirty="0" err="1"/>
              <a:t>Ktor</a:t>
            </a:r>
            <a:r>
              <a:rPr lang="fr-FR" sz="3200" dirty="0"/>
              <a:t> Client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Instancier un client HTTP</a:t>
            </a:r>
          </a:p>
          <a:p>
            <a:r>
              <a:rPr lang="fr-FR" sz="2400" dirty="0"/>
              <a:t>Il convient de clore le client HTTP une fois son utilisation terminée.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F6497D-9812-FE40-0142-1BC1F4905610}"/>
              </a:ext>
            </a:extLst>
          </p:cNvPr>
          <p:cNvSpPr txBox="1"/>
          <p:nvPr/>
        </p:nvSpPr>
        <p:spPr>
          <a:xfrm>
            <a:off x="844827" y="2774362"/>
            <a:ext cx="105255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client.close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endParaRPr lang="en-US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FED4F4-8BA8-AF1E-0647-8525BF64B8A5}"/>
              </a:ext>
            </a:extLst>
          </p:cNvPr>
          <p:cNvSpPr txBox="1"/>
          <p:nvPr/>
        </p:nvSpPr>
        <p:spPr>
          <a:xfrm>
            <a:off x="844826" y="450344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status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HttpClient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().use </a:t>
            </a: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client </a:t>
            </a: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-&gt;</a:t>
            </a:r>
            <a:b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i="1" dirty="0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  <a:br>
              <a:rPr lang="en-US" i="1" dirty="0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fr-FR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ZoneTexte 2">
            <a:extLst>
              <a:ext uri="{FF2B5EF4-FFF2-40B4-BE49-F238E27FC236}">
                <a16:creationId xmlns:a16="http://schemas.microsoft.com/office/drawing/2014/main" id="{904407EF-698C-4FEC-2CF5-6252F70F886B}"/>
              </a:ext>
            </a:extLst>
          </p:cNvPr>
          <p:cNvSpPr txBox="1"/>
          <p:nvPr/>
        </p:nvSpPr>
        <p:spPr>
          <a:xfrm>
            <a:off x="828261" y="3655829"/>
            <a:ext cx="10525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Fermeture automatique :</a:t>
            </a:r>
          </a:p>
        </p:txBody>
      </p:sp>
    </p:spTree>
    <p:extLst>
      <p:ext uri="{BB962C8B-B14F-4D97-AF65-F5344CB8AC3E}">
        <p14:creationId xmlns:p14="http://schemas.microsoft.com/office/powerpoint/2010/main" val="29690498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Utilisation de </a:t>
            </a:r>
            <a:r>
              <a:rPr lang="fr-FR" sz="3200" dirty="0" err="1"/>
              <a:t>Ktor</a:t>
            </a:r>
            <a:r>
              <a:rPr lang="fr-FR" sz="3200" dirty="0"/>
              <a:t> Client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Effectuer une requête GET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F7A850-885B-DC89-63E7-A982F3B4746C}"/>
              </a:ext>
            </a:extLst>
          </p:cNvPr>
          <p:cNvSpPr txBox="1"/>
          <p:nvPr/>
        </p:nvSpPr>
        <p:spPr>
          <a:xfrm>
            <a:off x="838200" y="2264694"/>
            <a:ext cx="9951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b="0" i="0" dirty="0" err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b="0" i="0" dirty="0">
                <a:solidFill>
                  <a:srgbClr val="19191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response</a:t>
            </a:r>
            <a:r>
              <a:rPr lang="en-US" b="0" i="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b="0" i="0" dirty="0">
                <a:solidFill>
                  <a:srgbClr val="19191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 i="0" dirty="0" err="1">
                <a:solidFill>
                  <a:srgbClr val="19191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HttpResponse</a:t>
            </a:r>
            <a:r>
              <a:rPr lang="en-US" b="0" i="0" dirty="0">
                <a:solidFill>
                  <a:srgbClr val="19191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 i="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b="0" i="0" dirty="0">
                <a:solidFill>
                  <a:srgbClr val="19191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 i="0" dirty="0" err="1">
                <a:solidFill>
                  <a:srgbClr val="19191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client</a:t>
            </a:r>
            <a:r>
              <a:rPr lang="en-US" b="0" i="0" dirty="0" err="1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 i="0" dirty="0" err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get</a:t>
            </a:r>
            <a:r>
              <a:rPr lang="en-US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b="0" i="0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"https://</a:t>
            </a:r>
            <a:r>
              <a:rPr lang="en-US" b="0" i="0" dirty="0" err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ktor.io</a:t>
            </a:r>
            <a:r>
              <a:rPr lang="en-US" b="0" i="0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/docs/</a:t>
            </a:r>
            <a:r>
              <a:rPr lang="en-US" b="0" i="0" dirty="0" err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welcome.html</a:t>
            </a:r>
            <a:r>
              <a:rPr lang="en-US" b="0" i="0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fr-FR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ZoneTexte 2">
            <a:extLst>
              <a:ext uri="{FF2B5EF4-FFF2-40B4-BE49-F238E27FC236}">
                <a16:creationId xmlns:a16="http://schemas.microsoft.com/office/drawing/2014/main" id="{E8D17E5C-63FE-4308-8600-B6EEA393C39A}"/>
              </a:ext>
            </a:extLst>
          </p:cNvPr>
          <p:cNvSpPr txBox="1"/>
          <p:nvPr/>
        </p:nvSpPr>
        <p:spPr>
          <a:xfrm>
            <a:off x="838200" y="3198167"/>
            <a:ext cx="10525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Ou 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6C45F2-10CE-2D2E-22EA-DE5ACA07A114}"/>
              </a:ext>
            </a:extLst>
          </p:cNvPr>
          <p:cNvSpPr txBox="1"/>
          <p:nvPr/>
        </p:nvSpPr>
        <p:spPr>
          <a:xfrm>
            <a:off x="844826" y="3949441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client.get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url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protocol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URLProtocol.HTTPS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host = 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ktor.io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b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path(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"docs/</a:t>
            </a:r>
            <a:r>
              <a:rPr lang="en-US" dirty="0" err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welcome.html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fr-FR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1535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Utilisation de </a:t>
            </a:r>
            <a:r>
              <a:rPr lang="fr-FR" sz="3200" dirty="0" err="1"/>
              <a:t>Ktor</a:t>
            </a:r>
            <a:r>
              <a:rPr lang="fr-FR" sz="3200" dirty="0"/>
              <a:t> Client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i="1" dirty="0"/>
              <a:t>Headers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7C670F-1E64-70F6-3EF9-2DCBD96E37B9}"/>
              </a:ext>
            </a:extLst>
          </p:cNvPr>
          <p:cNvSpPr txBox="1"/>
          <p:nvPr/>
        </p:nvSpPr>
        <p:spPr>
          <a:xfrm>
            <a:off x="844826" y="2257987"/>
            <a:ext cx="765048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client.get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"https://</a:t>
            </a:r>
            <a:r>
              <a:rPr lang="en-US" dirty="0" err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ktor.io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headers </a:t>
            </a: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append(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HttpHeaders.Accept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"text/html"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append(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HttpHeaders.Authorization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"abc123"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append(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HttpHeaders.UserAgent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ktor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client"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fr-FR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03732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Utilisation de </a:t>
            </a:r>
            <a:r>
              <a:rPr lang="fr-FR" sz="3200" dirty="0" err="1"/>
              <a:t>Ktor</a:t>
            </a:r>
            <a:r>
              <a:rPr lang="fr-FR" sz="3200" dirty="0"/>
              <a:t> Client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i="1" dirty="0"/>
              <a:t>Cookies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7C670F-1E64-70F6-3EF9-2DCBD96E37B9}"/>
              </a:ext>
            </a:extLst>
          </p:cNvPr>
          <p:cNvSpPr txBox="1"/>
          <p:nvPr/>
        </p:nvSpPr>
        <p:spPr>
          <a:xfrm>
            <a:off x="838200" y="2102784"/>
            <a:ext cx="1040229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client.get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"https://</a:t>
            </a:r>
            <a:r>
              <a:rPr lang="en-US" dirty="0" err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ktor.io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cookie(</a:t>
            </a:r>
            <a:r>
              <a:rPr lang="en-US" dirty="0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name = 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user_name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value = 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jetbrains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expires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GMTDate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seconds = </a:t>
            </a:r>
            <a:r>
              <a:rPr lang="en-US" dirty="0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minutes = </a:t>
            </a:r>
            <a:r>
              <a:rPr lang="en-US" dirty="0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hours = </a:t>
            </a:r>
            <a:r>
              <a:rPr lang="en-US" dirty="0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dirty="0" err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dayOfMonth</a:t>
            </a:r>
            <a:r>
              <a:rPr lang="en-US" dirty="0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month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Month.APRIL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year = </a:t>
            </a:r>
            <a:r>
              <a:rPr lang="en-US" dirty="0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2023</a:t>
            </a:r>
            <a:br>
              <a:rPr lang="en-US" dirty="0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fr-FR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69128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Utilisation de </a:t>
            </a:r>
            <a:r>
              <a:rPr lang="fr-FR" sz="3200" dirty="0" err="1"/>
              <a:t>Ktor</a:t>
            </a:r>
            <a:r>
              <a:rPr lang="fr-FR" sz="3200" dirty="0"/>
              <a:t> Client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Effectuer une requête POST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F7A850-885B-DC89-63E7-A982F3B4746C}"/>
              </a:ext>
            </a:extLst>
          </p:cNvPr>
          <p:cNvSpPr txBox="1"/>
          <p:nvPr/>
        </p:nvSpPr>
        <p:spPr>
          <a:xfrm>
            <a:off x="838200" y="2264694"/>
            <a:ext cx="99517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import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io.ktor.client.request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.*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import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io.ktor.client.statement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.*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import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io.ktor.http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.*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 err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i="1" dirty="0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response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HttpResponse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i="1" dirty="0" err="1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client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.post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"http://localhost:8080/post"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i="1" dirty="0" err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setBody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"Body content"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fr-FR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59293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Utilisation de </a:t>
            </a:r>
            <a:r>
              <a:rPr lang="fr-FR" sz="3200" dirty="0" err="1"/>
              <a:t>Ktor</a:t>
            </a:r>
            <a:r>
              <a:rPr lang="fr-FR" sz="3200" dirty="0"/>
              <a:t> Client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Envoyer un formulaire type </a:t>
            </a:r>
            <a:r>
              <a:rPr lang="fr-FR" sz="2400" b="1" i="1" dirty="0" err="1"/>
              <a:t>form</a:t>
            </a:r>
            <a:r>
              <a:rPr lang="fr-FR" sz="2400" b="1" i="1" dirty="0"/>
              <a:t>-data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F7A850-885B-DC89-63E7-A982F3B4746C}"/>
              </a:ext>
            </a:extLst>
          </p:cNvPr>
          <p:cNvSpPr txBox="1"/>
          <p:nvPr/>
        </p:nvSpPr>
        <p:spPr>
          <a:xfrm>
            <a:off x="838200" y="2264694"/>
            <a:ext cx="995172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dirty="0" err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response: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HttpResponse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client.submitForm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url</a:t>
            </a:r>
            <a:r>
              <a:rPr lang="en-US" dirty="0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"http://localhost:8080/signup"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formParameters</a:t>
            </a:r>
            <a:r>
              <a:rPr lang="en-US" dirty="0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Parameters.build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append(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"username"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"JetBrains"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append(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"email"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example@jetbrains.com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append(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"password"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foobar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append(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"confirmation"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foobar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fr-FR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12959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Utilisation de </a:t>
            </a:r>
            <a:r>
              <a:rPr lang="fr-FR" sz="3200" dirty="0" err="1"/>
              <a:t>Ktor</a:t>
            </a:r>
            <a:r>
              <a:rPr lang="fr-FR" sz="3200" dirty="0"/>
              <a:t> Client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Envoyer un fichier</a:t>
            </a:r>
            <a:endParaRPr lang="fr-FR" sz="2400" b="1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F7A850-885B-DC89-63E7-A982F3B4746C}"/>
              </a:ext>
            </a:extLst>
          </p:cNvPr>
          <p:cNvSpPr txBox="1"/>
          <p:nvPr/>
        </p:nvSpPr>
        <p:spPr>
          <a:xfrm>
            <a:off x="838200" y="2264694"/>
            <a:ext cx="107442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dirty="0" err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response: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HttpResponse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client.submitFormWithBinaryData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url</a:t>
            </a:r>
            <a:r>
              <a:rPr lang="en-US" dirty="0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"http://localhost:8080/upload"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formData</a:t>
            </a:r>
            <a:r>
              <a:rPr lang="en-US" dirty="0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formData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append(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"description"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Ktor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logo"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append(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"image"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File(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ktor_logo.png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).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readBytes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Headers.build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append(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HttpHeaders.ContentType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"image/</a:t>
            </a:r>
            <a:r>
              <a:rPr lang="en-US" dirty="0" err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png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    append(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HttpHeaders.ContentDisposition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"filename=</a:t>
            </a:r>
            <a:r>
              <a:rPr lang="en-US" dirty="0">
                <a:solidFill>
                  <a:srgbClr val="0037A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\"</a:t>
            </a:r>
            <a:r>
              <a:rPr lang="en-US" dirty="0" err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ktor_logo.png</a:t>
            </a:r>
            <a:r>
              <a:rPr lang="en-US" dirty="0">
                <a:solidFill>
                  <a:srgbClr val="0037A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\"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fr-FR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23611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Utilisation de </a:t>
            </a:r>
            <a:r>
              <a:rPr lang="fr-FR" sz="3200" dirty="0" err="1"/>
              <a:t>Ktor</a:t>
            </a:r>
            <a:r>
              <a:rPr lang="fr-FR" sz="3200" dirty="0"/>
              <a:t> Client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Effectuer des requêtes en parallèle</a:t>
            </a:r>
          </a:p>
          <a:p>
            <a:r>
              <a:rPr lang="fr-FR" sz="2400" dirty="0"/>
              <a:t>Il est aussi possible d’utiliser </a:t>
            </a:r>
            <a:r>
              <a:rPr lang="fr-FR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awaitAll</a:t>
            </a:r>
            <a:r>
              <a:rPr lang="fr-FR" sz="24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fr-FR" sz="2400" dirty="0"/>
              <a:t> plutôt que d’appeler </a:t>
            </a:r>
            <a:r>
              <a:rPr lang="fr-FR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await</a:t>
            </a:r>
            <a:r>
              <a:rPr lang="fr-FR" sz="24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r>
              <a:rPr lang="fr-FR" sz="2400" dirty="0"/>
              <a:t>individuellement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F7A850-885B-DC89-63E7-A982F3B4746C}"/>
              </a:ext>
            </a:extLst>
          </p:cNvPr>
          <p:cNvSpPr txBox="1"/>
          <p:nvPr/>
        </p:nvSpPr>
        <p:spPr>
          <a:xfrm>
            <a:off x="844826" y="2884454"/>
            <a:ext cx="899668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runBlocking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firstRequest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async </a:t>
            </a: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b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client.get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"http://localhost:8080/path1"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).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bodyAsText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secondRequest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async </a:t>
            </a: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client.get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"http://localhost:8080/path2"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).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bodyAsText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firstRequestContent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firstRequest.await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secondRequestContent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secondRequest.await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fr-FR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34418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Utilisation de </a:t>
            </a:r>
            <a:r>
              <a:rPr lang="fr-FR" sz="3200" dirty="0" err="1"/>
              <a:t>Ktor</a:t>
            </a:r>
            <a:r>
              <a:rPr lang="fr-FR" sz="3200" dirty="0"/>
              <a:t> Client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Annuler une requête en cours</a:t>
            </a:r>
          </a:p>
          <a:p>
            <a:r>
              <a:rPr lang="fr-FR" sz="2400" dirty="0"/>
              <a:t>S’annule de la même manière qu’une coroutine habituelle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F7A850-885B-DC89-63E7-A982F3B4746C}"/>
              </a:ext>
            </a:extLst>
          </p:cNvPr>
          <p:cNvSpPr txBox="1"/>
          <p:nvPr/>
        </p:nvSpPr>
        <p:spPr>
          <a:xfrm>
            <a:off x="838200" y="2620294"/>
            <a:ext cx="10744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dirty="0" err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i="1" dirty="0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job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= launch </a:t>
            </a: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requestContent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String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client.get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"http://localhost:8080"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job.cancel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endParaRPr lang="fr-FR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52788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Utilisation de </a:t>
            </a:r>
            <a:r>
              <a:rPr lang="fr-FR" sz="3200" dirty="0" err="1"/>
              <a:t>Ktor</a:t>
            </a:r>
            <a:r>
              <a:rPr lang="fr-FR" sz="3200" dirty="0"/>
              <a:t> Client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Vérifier qu’une requête s’est effectuée correctement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F7A850-885B-DC89-63E7-A982F3B4746C}"/>
              </a:ext>
            </a:extLst>
          </p:cNvPr>
          <p:cNvSpPr txBox="1"/>
          <p:nvPr/>
        </p:nvSpPr>
        <p:spPr>
          <a:xfrm>
            <a:off x="844826" y="2379907"/>
            <a:ext cx="10744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dirty="0" err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i="1" dirty="0" err="1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httpResponse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HttpResponse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i="1" dirty="0" err="1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client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.get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"https://</a:t>
            </a:r>
            <a:r>
              <a:rPr lang="en-US" dirty="0" err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ktor.io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httpResponse.status.</a:t>
            </a:r>
            <a:r>
              <a:rPr lang="en-US" dirty="0" err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value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in </a:t>
            </a:r>
            <a:r>
              <a:rPr lang="en-US" dirty="0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200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..</a:t>
            </a:r>
            <a:r>
              <a:rPr lang="en-US" dirty="0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299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"Successful response!"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fr-FR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00703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Utilisation de </a:t>
            </a:r>
            <a:r>
              <a:rPr lang="fr-FR" sz="3200" dirty="0" err="1"/>
              <a:t>Ktor</a:t>
            </a:r>
            <a:r>
              <a:rPr lang="fr-FR" sz="3200" dirty="0"/>
              <a:t> Client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Réessayer des requêtes automatiquement</a:t>
            </a:r>
          </a:p>
          <a:p>
            <a:r>
              <a:rPr lang="fr-FR" sz="2400" dirty="0"/>
              <a:t>Utiliser le plugin </a:t>
            </a:r>
            <a:r>
              <a:rPr lang="fr-FR" sz="2400" dirty="0" err="1"/>
              <a:t>Ktor</a:t>
            </a:r>
            <a:r>
              <a:rPr lang="fr-FR" sz="2400" dirty="0"/>
              <a:t> Client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HttpRequestRetry</a:t>
            </a:r>
            <a:endParaRPr lang="fr-FR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F7A850-885B-DC89-63E7-A982F3B4746C}"/>
              </a:ext>
            </a:extLst>
          </p:cNvPr>
          <p:cNvSpPr txBox="1"/>
          <p:nvPr/>
        </p:nvSpPr>
        <p:spPr>
          <a:xfrm>
            <a:off x="844826" y="2522147"/>
            <a:ext cx="10744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install(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HttpRequestRetry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maxRetries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 </a:t>
            </a:r>
            <a:r>
              <a:rPr lang="en-US" i="1" dirty="0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-US" i="1" dirty="0" err="1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Réesayer</a:t>
            </a:r>
            <a:r>
              <a:rPr lang="en-US" i="1" dirty="0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5 </a:t>
            </a:r>
            <a:r>
              <a:rPr lang="en-US" i="1" dirty="0" err="1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fois</a:t>
            </a:r>
            <a:r>
              <a:rPr lang="en-US" i="1" dirty="0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au maximum</a:t>
            </a:r>
            <a:br>
              <a:rPr lang="en-US" i="1" dirty="0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i="1" dirty="0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retryIf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request, response </a:t>
            </a: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-&gt;</a:t>
            </a:r>
            <a:b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!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response.status.isSuccess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retryOnExceptionIf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request, cause </a:t>
            </a: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-&gt;</a:t>
            </a:r>
            <a:b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cause 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is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NetworkError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delayMillis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retry </a:t>
            </a: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-&gt;</a:t>
            </a:r>
            <a:b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retry * </a:t>
            </a:r>
            <a:r>
              <a:rPr lang="en-US" dirty="0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3_000L </a:t>
            </a:r>
            <a:r>
              <a:rPr lang="en-US" i="1" dirty="0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-US" i="1" dirty="0" err="1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Réessayer</a:t>
            </a:r>
            <a:r>
              <a:rPr lang="en-US" i="1" dirty="0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i="1" dirty="0" err="1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toutes</a:t>
            </a:r>
            <a:r>
              <a:rPr lang="en-US" i="1" dirty="0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les 3 </a:t>
            </a:r>
            <a:r>
              <a:rPr lang="en-US" i="1" dirty="0" err="1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secondes</a:t>
            </a:r>
            <a:br>
              <a:rPr lang="en-US" i="1" dirty="0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i="1" dirty="0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algn="l" fontAlgn="base"/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fr-FR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49823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117F3F9E-E45E-9844-8215-AA148A5923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6784514D-DFE8-6540-A8D9-ED1329C44D3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>
                <a:solidFill>
                  <a:schemeClr val="bg1"/>
                </a:solidFill>
              </a:rPr>
              <a:t>2. Utilisation de </a:t>
            </a:r>
            <a:r>
              <a:rPr lang="fr-FR" sz="3200" dirty="0" err="1">
                <a:solidFill>
                  <a:schemeClr val="bg1"/>
                </a:solidFill>
              </a:rPr>
              <a:t>Ktor</a:t>
            </a:r>
            <a:r>
              <a:rPr lang="fr-FR" sz="3200" dirty="0">
                <a:solidFill>
                  <a:schemeClr val="bg1"/>
                </a:solidFill>
              </a:rPr>
              <a:t> Client</a:t>
            </a:r>
          </a:p>
        </p:txBody>
      </p:sp>
    </p:spTree>
    <p:extLst>
      <p:ext uri="{BB962C8B-B14F-4D97-AF65-F5344CB8AC3E}">
        <p14:creationId xmlns:p14="http://schemas.microsoft.com/office/powerpoint/2010/main" val="6888754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Drapeau de course avec un remplissage uni">
            <a:extLst>
              <a:ext uri="{FF2B5EF4-FFF2-40B4-BE49-F238E27FC236}">
                <a16:creationId xmlns:a16="http://schemas.microsoft.com/office/drawing/2014/main" id="{31EA9D4C-4724-F749-BAC8-105B32CB0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007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1473</Words>
  <Application>Microsoft Macintosh PowerPoint</Application>
  <PresentationFormat>Widescreen</PresentationFormat>
  <Paragraphs>125</Paragraphs>
  <Slides>26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Calibri Light</vt:lpstr>
      <vt:lpstr>Consolas</vt:lpstr>
      <vt:lpstr>Söhne</vt:lpstr>
      <vt:lpstr>Office Theme</vt:lpstr>
      <vt:lpstr>5 – Communications réseau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 – Communications réseau</dc:title>
  <dc:creator>Alexandre Gressier</dc:creator>
  <cp:lastModifiedBy>Alexandre Gressier</cp:lastModifiedBy>
  <cp:revision>2</cp:revision>
  <dcterms:created xsi:type="dcterms:W3CDTF">2023-01-23T07:12:37Z</dcterms:created>
  <dcterms:modified xsi:type="dcterms:W3CDTF">2023-03-03T13:00:06Z</dcterms:modified>
</cp:coreProperties>
</file>