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1"/>
  </p:notesMasterIdLst>
  <p:sldIdLst>
    <p:sldId id="275" r:id="rId2"/>
    <p:sldId id="410" r:id="rId3"/>
    <p:sldId id="369" r:id="rId4"/>
    <p:sldId id="357" r:id="rId5"/>
    <p:sldId id="355" r:id="rId6"/>
    <p:sldId id="358" r:id="rId7"/>
    <p:sldId id="359" r:id="rId8"/>
    <p:sldId id="360" r:id="rId9"/>
    <p:sldId id="363" r:id="rId10"/>
    <p:sldId id="411" r:id="rId11"/>
    <p:sldId id="370" r:id="rId12"/>
    <p:sldId id="372" r:id="rId13"/>
    <p:sldId id="374" r:id="rId14"/>
    <p:sldId id="373" r:id="rId15"/>
    <p:sldId id="375" r:id="rId16"/>
    <p:sldId id="376" r:id="rId17"/>
    <p:sldId id="377" r:id="rId18"/>
    <p:sldId id="378" r:id="rId19"/>
    <p:sldId id="379" r:id="rId20"/>
    <p:sldId id="382" r:id="rId21"/>
    <p:sldId id="380" r:id="rId22"/>
    <p:sldId id="383" r:id="rId23"/>
    <p:sldId id="393" r:id="rId24"/>
    <p:sldId id="384" r:id="rId25"/>
    <p:sldId id="386" r:id="rId26"/>
    <p:sldId id="387" r:id="rId27"/>
    <p:sldId id="389" r:id="rId28"/>
    <p:sldId id="390" r:id="rId29"/>
    <p:sldId id="388" r:id="rId30"/>
    <p:sldId id="392" r:id="rId31"/>
    <p:sldId id="391" r:id="rId32"/>
    <p:sldId id="394" r:id="rId33"/>
    <p:sldId id="395" r:id="rId34"/>
    <p:sldId id="396" r:id="rId35"/>
    <p:sldId id="397" r:id="rId36"/>
    <p:sldId id="398" r:id="rId37"/>
    <p:sldId id="400" r:id="rId38"/>
    <p:sldId id="399" r:id="rId39"/>
    <p:sldId id="401" r:id="rId40"/>
    <p:sldId id="402" r:id="rId41"/>
    <p:sldId id="403" r:id="rId42"/>
    <p:sldId id="405" r:id="rId43"/>
    <p:sldId id="406" r:id="rId44"/>
    <p:sldId id="404" r:id="rId45"/>
    <p:sldId id="407" r:id="rId46"/>
    <p:sldId id="409" r:id="rId47"/>
    <p:sldId id="408" r:id="rId48"/>
    <p:sldId id="412" r:id="rId49"/>
    <p:sldId id="413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7"/>
    <p:restoredTop sz="96327"/>
  </p:normalViewPr>
  <p:slideViewPr>
    <p:cSldViewPr snapToGrid="0">
      <p:cViewPr varScale="1">
        <p:scale>
          <a:sx n="128" d="100"/>
          <a:sy n="128" d="100"/>
        </p:scale>
        <p:origin x="1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826A84-7618-754D-AB56-61855808F2FE}" type="datetimeFigureOut">
              <a:rPr lang="fr-FR" smtClean="0"/>
              <a:t>02/10/2023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EFA65-C8DB-7446-ACE8-9B68CC4CC93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7460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© SUPINFO</a:t>
            </a:r>
          </a:p>
          <a:p>
            <a:r>
              <a:rPr lang="fr-FR" dirty="0"/>
              <a:t>Auteur : Alexandre Gressier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9A1237-63C0-2149-90AD-33FFCF7C8578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8261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9A1237-63C0-2149-90AD-33FFCF7C8578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71711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E35FED-2507-6347-9B57-3FF5AFCD8E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AD8B847-1B82-BE49-A9A7-C3023CD2D5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B611D94-0717-E14D-B19C-F142F7DBD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D62BDA-0F08-504D-9BDA-A04B89E82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0C21CC-1B92-B44B-AE72-CDCCB2D83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3336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EA51D4-1867-8845-820C-C21D7BCEC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3841B2-2299-484D-98D4-2509FDD87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57F3535-31CB-2243-9FD7-D6385CE3D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828F9A-0BE6-2040-B200-CA9AD150D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553960E-7BA0-5744-B871-2625A9246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6993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D28FD5-3D75-FF4B-8910-57BF5A278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84D373C-AC4E-4749-AF27-1D4F5473F3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4B37BF-0D5B-EE4F-B5D2-4991975BE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CC8B85-AF4B-D347-9A59-97FD4522E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F0FD24F-150A-1443-9905-84B822D46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4691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238437-A9AA-1649-93B3-41C10243C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052425-B188-F44E-AE00-4A68E5EA43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C1B7208-E02E-5B44-B5B0-8F7E4329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6479033-F7B2-3340-AA42-C9315CC63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BC51178-4562-B14F-81E9-EEB57190D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ECB1059-2BD2-DE48-8A78-A1F0952EF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8341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E87D52-2FB1-1B49-AB3F-B878A6C6C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35322B7-F0A2-534D-A6BC-4D36CFB7E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A541A8E-94B9-9948-9F7F-B59CE4A7A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87F5E04-45D9-0B41-A49B-C539BB2407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45050A4-C507-9A4F-B6CE-71C0EC9B7E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FAFD617-5DC0-7146-8644-37FDEF3C4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66D3D1A-4433-FB46-BCB3-2FC07477E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28BE2A0-7142-7944-9978-9CF0A02E5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5234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23AE92-F78E-674F-9897-3D26B7A9F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AC96ECA-9486-6E4B-B4BC-7E76B34EF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8B4D8AF-4BB6-934B-A379-CBF84C9A4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F8E009D-38CE-D34C-82BA-3182CA4F1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596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D844418-3E68-CA4E-AC8C-9D66D9255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CD285BC-A399-C24D-9863-55D71A825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BBC877D-0D91-8442-9A72-AF3420B94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3561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9C8412-37C8-4B46-9CE8-3469F1893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1A9CD95-5780-714B-A453-63A2F3456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2D7CA0C-E415-F14F-9EF8-44A9C7CBED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2697766-D919-5247-A55B-2A12BA74B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FB77295-5D11-2841-AC5B-84946CEA3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CAF8E56-0D31-804D-9F4F-DD615D5E8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2283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B54B13-E418-4E42-B170-1BC860212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B349CDA-C85B-4F42-B8C6-26E684EDA6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9E92AAF-FCE8-F84A-8EB9-CC618F3F7E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AB83901-E98D-6B44-A440-F9809CD85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AB5FCBB-5385-494D-A3C1-C59A68C9E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24BFBC5-500C-E04C-A17A-AC6C64E82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1137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3EDC94-6368-2D4E-8A75-930EFDF09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FEE47BB-5DBD-034C-84DA-C86FA33B90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E7FE81-3F94-FB4B-AB88-842AE52DC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51EDF4-8F0D-4644-BC7F-8EDA683F6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D779F0B-3D1B-234B-8E0E-0005BA6EE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7010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FD2D733-6537-F246-9DD6-47A2CFFE25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FED1EB9-F8C4-6F42-9293-8EFB0A55D0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078BEE2-EC2A-B14D-8087-8A8A25C4D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6C088C9-8381-E84F-AEB6-0CE68238A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FEFA170-D382-C048-933C-9BCF9266E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0917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1016B3E-7434-F444-85B1-81A3F66D7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6C2A833-B532-5441-8F6F-770D7BDE7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9AD43F0-39EC-1047-86D5-82DFE14D54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406F5D3-EF53-A447-B4AC-97397E1C33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542739-B2AF-EA41-A1C0-C7A7135EE3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800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hub.docker.com/_/nginx" TargetMode="Externa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F8221A-BD6C-D743-8F79-B5CC237B7B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2 – Conteneurs</a:t>
            </a:r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76B8DA83-B860-924D-B9FE-FE02FD8A3C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25983"/>
            <a:ext cx="9144000" cy="1655762"/>
          </a:xfrm>
        </p:spPr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3DOKR – Développement et livraison d’applications avec Docker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5A1A31C-D020-0B43-A654-BC830BBC2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3200" y="5454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295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AC0B1E25-C870-E44C-9AEC-2F6389ADF8D7}"/>
              </a:ext>
            </a:extLst>
          </p:cNvPr>
          <p:cNvSpPr txBox="1">
            <a:spLocks/>
          </p:cNvSpPr>
          <p:nvPr/>
        </p:nvSpPr>
        <p:spPr>
          <a:xfrm>
            <a:off x="831850" y="2554565"/>
            <a:ext cx="10515600" cy="16874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42950" marR="0" lvl="0" indent="-74295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fr-FR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Premiers conteneurs</a:t>
            </a:r>
          </a:p>
          <a:p>
            <a:pPr marL="742950" marR="0" lvl="0" indent="-74295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fr-FR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Commandes Docker de base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E19DB8DF-56A9-C146-8CC5-1A72BBF66B41}"/>
              </a:ext>
            </a:extLst>
          </p:cNvPr>
          <p:cNvSpPr txBox="1">
            <a:spLocks/>
          </p:cNvSpPr>
          <p:nvPr/>
        </p:nvSpPr>
        <p:spPr>
          <a:xfrm>
            <a:off x="4994689" y="402196"/>
            <a:ext cx="2189922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Sommaire</a:t>
            </a:r>
          </a:p>
        </p:txBody>
      </p:sp>
      <p:pic>
        <p:nvPicPr>
          <p:cNvPr id="6" name="Graphique 5" descr="Menu avec un remplissage uni">
            <a:extLst>
              <a:ext uri="{FF2B5EF4-FFF2-40B4-BE49-F238E27FC236}">
                <a16:creationId xmlns:a16="http://schemas.microsoft.com/office/drawing/2014/main" id="{F3640D13-DDD0-8D47-9978-9A138749BA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40000" y="5040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352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76E163-1E71-0AF0-EEDF-C14D40054A5D}"/>
              </a:ext>
            </a:extLst>
          </p:cNvPr>
          <p:cNvSpPr txBox="1">
            <a:spLocks/>
          </p:cNvSpPr>
          <p:nvPr/>
        </p:nvSpPr>
        <p:spPr>
          <a:xfrm>
            <a:off x="831850" y="3618967"/>
            <a:ext cx="10515600" cy="838276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Premiers conteneurs</a:t>
            </a:r>
          </a:p>
        </p:txBody>
      </p:sp>
    </p:spTree>
    <p:extLst>
      <p:ext uri="{BB962C8B-B14F-4D97-AF65-F5344CB8AC3E}">
        <p14:creationId xmlns:p14="http://schemas.microsoft.com/office/powerpoint/2010/main" val="4022723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Premiers conteneurs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5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Lancer un premier conteneur</a:t>
            </a: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C6A64543-8407-9E1D-D978-AF25046E347D}"/>
              </a:ext>
            </a:extLst>
          </p:cNvPr>
          <p:cNvSpPr txBox="1"/>
          <p:nvPr/>
        </p:nvSpPr>
        <p:spPr>
          <a:xfrm>
            <a:off x="838200" y="1830431"/>
            <a:ext cx="1051559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run hello-world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Unable to find image 'hello-world:latest' locally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4f53e2564790: Download complete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efebf0f7aee6: Download complete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b038788ddb22: Download complete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70f5ac315c5a: Download complete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Hello from Docker!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This message shows that your installation appears to be working correctly.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(...)</a:t>
            </a:r>
          </a:p>
        </p:txBody>
      </p:sp>
    </p:spTree>
    <p:extLst>
      <p:ext uri="{BB962C8B-B14F-4D97-AF65-F5344CB8AC3E}">
        <p14:creationId xmlns:p14="http://schemas.microsoft.com/office/powerpoint/2010/main" val="924688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Premiers conteneurs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599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Lancer un premier conteneur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Voici ce qu’il s’est passé en exécutant la commande précédente 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Docker a besoin de trouver l’image 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hello-world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Il la cherche d’abord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localement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mais sans succès. Il la récupère donc depuis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registre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configuré actuellement, c’est-à-dire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Docker Hub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Docker crée un nouveau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conteneur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depuis cette image.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Docker alloue un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système de fichiers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 lecture et écriture par-dessus celui inclut dans l’image. En effet, les dossiers et fichiers d’une image sont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immuables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422711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Premiers conteneurs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599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Lancer un premier conteneur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4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Docker crée une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interface réseau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pour connecter le conteneur au réseau par défaut. Cela comprend l'attribution d'une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adresse IP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 conteneur. Concrètement, cela signifie que le conteneur a accès à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internet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4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4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 conteneur démarre. Comme vu précédemment, un conteneur est en réalité un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processus isolé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Par conséquent, son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cycle de vie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est lié à celui de ce processus.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4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4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Comme le processus du conteneur s’est terminé après avoir affiché du texte, le conteneur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prend lui aussi fin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Le système de fichiers mentionné précédemment est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détruit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(= tous les changements de fichiers et de dossiers sont perdus).</a:t>
            </a:r>
          </a:p>
        </p:txBody>
      </p:sp>
    </p:spTree>
    <p:extLst>
      <p:ext uri="{BB962C8B-B14F-4D97-AF65-F5344CB8AC3E}">
        <p14:creationId xmlns:p14="http://schemas.microsoft.com/office/powerpoint/2010/main" val="2558727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Premiers conteneurs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5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Lancer un second conteneur</a:t>
            </a: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C6A64543-8407-9E1D-D978-AF25046E347D}"/>
              </a:ext>
            </a:extLst>
          </p:cNvPr>
          <p:cNvSpPr txBox="1"/>
          <p:nvPr/>
        </p:nvSpPr>
        <p:spPr>
          <a:xfrm>
            <a:off x="838200" y="1821004"/>
            <a:ext cx="1051559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run -i -t ubuntu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Unable to find image 'ubuntu:latest' locally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aabed3296a3d: Download complete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94d12db896d0: Download complete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6a47e077731f: Download complete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root@b690a94b0f7c:/# echo 'Hello, Ubuntu!'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Hello, Ubuntu!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root@b690a94b0f7c:/# exit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exit</a:t>
            </a:r>
          </a:p>
        </p:txBody>
      </p:sp>
    </p:spTree>
    <p:extLst>
      <p:ext uri="{BB962C8B-B14F-4D97-AF65-F5344CB8AC3E}">
        <p14:creationId xmlns:p14="http://schemas.microsoft.com/office/powerpoint/2010/main" val="3065729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Premiers conteneurs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59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Lancer un second conteneur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 commande précédente est basée sur le même principe que la précédente.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Cependant, le conteneur reste cette fois-ci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actif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puisque le processus par défaut dans le conteneur ne se termine pas (il s’agit de </a:t>
            </a: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bash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pour l’image </a:t>
            </a: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ubuntu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 conséquent, on peut y entrer des commandes (exemple : </a:t>
            </a: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echo 'Hello, Ubuntu!’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Lorsque l’on quitte </a:t>
            </a: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bash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avec la commande </a:t>
            </a: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exit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le conteneur se termine.</a:t>
            </a:r>
          </a:p>
        </p:txBody>
      </p:sp>
    </p:spTree>
    <p:extLst>
      <p:ext uri="{BB962C8B-B14F-4D97-AF65-F5344CB8AC3E}">
        <p14:creationId xmlns:p14="http://schemas.microsoft.com/office/powerpoint/2010/main" val="3363429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Premiers conteneurs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59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Lancer un second conteneur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L’image </a:t>
            </a: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ubuntu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 pour commande par défaut 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bash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car elle est typiquement utilisée pour exécuter des scripts </a:t>
            </a: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bash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Pour déclencher le mode interactif de bash, on utilise les options :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-i, --interactive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permet d’interagir avec le terminal à l’intérieur du conteneur. En l’absence de l’autre option </a:t>
            </a: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-t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-t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--tty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: met en place un environnement d’entrée/sortie, ce qui rend une invite de commande visible (ici 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root@fa64fc2da7ad:/#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 résumé :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on passe les deux options </a:t>
            </a: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-i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et </a:t>
            </a:r>
            <a:r>
              <a:rPr kumimoji="0" lang="ca-ES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-t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à </a:t>
            </a: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docker run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lorsque l’on souhaite se connecter au terminal du conteneur dont le processus est un </a:t>
            </a: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shell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comme </a:t>
            </a: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bash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02169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Questions avec un remplissage uni">
            <a:extLst>
              <a:ext uri="{FF2B5EF4-FFF2-40B4-BE49-F238E27FC236}">
                <a16:creationId xmlns:a16="http://schemas.microsoft.com/office/drawing/2014/main" id="{117F3F9E-E45E-9844-8215-AA148A592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6784514D-DFE8-6540-A8D9-ED1329C44D3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Premiers conteneurs</a:t>
            </a:r>
          </a:p>
        </p:txBody>
      </p:sp>
    </p:spTree>
    <p:extLst>
      <p:ext uri="{BB962C8B-B14F-4D97-AF65-F5344CB8AC3E}">
        <p14:creationId xmlns:p14="http://schemas.microsoft.com/office/powerpoint/2010/main" val="2142909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76E163-1E71-0AF0-EEDF-C14D40054A5D}"/>
              </a:ext>
            </a:extLst>
          </p:cNvPr>
          <p:cNvSpPr txBox="1">
            <a:spLocks/>
          </p:cNvSpPr>
          <p:nvPr/>
        </p:nvSpPr>
        <p:spPr>
          <a:xfrm>
            <a:off x="831850" y="3618967"/>
            <a:ext cx="10515600" cy="838276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Commandes Docker de base</a:t>
            </a:r>
          </a:p>
        </p:txBody>
      </p:sp>
    </p:spTree>
    <p:extLst>
      <p:ext uri="{BB962C8B-B14F-4D97-AF65-F5344CB8AC3E}">
        <p14:creationId xmlns:p14="http://schemas.microsoft.com/office/powerpoint/2010/main" val="2926479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Commandes Docker de base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Choix d’une image d’exemple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NGINX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(prononcé "</a:t>
            </a: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engine-ex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") est un serveur web populaire.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Il est principalement utilisé dans deux cas :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Servir des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sites ou des applications web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 tant que </a:t>
            </a:r>
            <a:r>
              <a:rPr kumimoji="0" lang="fr-FR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reverse proxy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(reçoit les requêtes des clients et les transmet aux serveurs appropriés)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 commande pour lancer NGINX est </a:t>
            </a: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nginx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Il s’agit de la commande lancée par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défaut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dans le conteneur.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Comme pour bash précédemment, le conteneur ne s’arrête pas car </a:t>
            </a: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nginx</a:t>
            </a:r>
            <a:r>
              <a:rPr kumimoji="0" lang="fr-F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est un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processus long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5FF513D-024C-F1E8-0F23-6F77B9E312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28055" y="1389667"/>
            <a:ext cx="1735318" cy="1735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5620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Commandes Docker de base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0" y="1085791"/>
            <a:ext cx="107190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Télécharger une image depuis le registre par défaut (Docker Hub)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Note :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pull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est implicitement exécuté par 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run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si l’image est indisponible localement.</a:t>
            </a: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F44B8B38-CFBC-16B9-9CE3-5B7ABF2AB952}"/>
              </a:ext>
            </a:extLst>
          </p:cNvPr>
          <p:cNvSpPr txBox="1"/>
          <p:nvPr/>
        </p:nvSpPr>
        <p:spPr>
          <a:xfrm>
            <a:off x="838200" y="2427693"/>
            <a:ext cx="10515599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pull nginx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Using default tag: latest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32da30332506: Download complete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65cd8f49af74: Download complete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2a4fbb36e966: Download complete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096332b242c2: Download complete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e886f0f47ef5: Download complete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9a9138853e32: Download complete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598a42ec6587: Download complete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82e490cc2043: Download complete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948128637a91: Download complete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e4cad15ac3f6: Download complete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docker.io/library/nginx:latest</a:t>
            </a:r>
            <a:endParaRPr kumimoji="0" lang="fr-FR" sz="2000" b="0" i="0" u="none" strike="noStrike" kern="1200" cap="none" spc="0" normalizeH="0" baseline="0" noProof="1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80547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Commandes Docker de base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Lancer un conteneur (comme précédemment)</a:t>
            </a: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F44B8B38-CFBC-16B9-9CE3-5B7ABF2AB952}"/>
              </a:ext>
            </a:extLst>
          </p:cNvPr>
          <p:cNvSpPr txBox="1"/>
          <p:nvPr/>
        </p:nvSpPr>
        <p:spPr>
          <a:xfrm>
            <a:off x="838200" y="1830431"/>
            <a:ext cx="1051559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run nginx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/docker-entrypoint.sh: /docker-entrypoint.d/ is not empty, will attempt to perform configuration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/docker-entrypoint.sh: Looking for shell scripts in /docker-entrypoint.d/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/docker-entrypoint.sh: Launching /docker-entrypoint.d/10-listen-on-ipv6-by-default.sh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10-listen-on-ipv6-by-default.sh: info: Getting the checksum of /etc/nginx/conf.d/default.conf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10-listen-on-ipv6-by-default.sh: info: Enabled listen on IPv6 in /etc/nginx/conf.d/default.conf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(...)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2023/09/09 13:11:09 [notice] 1#1: start worker processes</a:t>
            </a:r>
          </a:p>
        </p:txBody>
      </p:sp>
    </p:spTree>
    <p:extLst>
      <p:ext uri="{BB962C8B-B14F-4D97-AF65-F5344CB8AC3E}">
        <p14:creationId xmlns:p14="http://schemas.microsoft.com/office/powerpoint/2010/main" val="22197663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Commandes Docker de base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Quitter un conteneur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 défaut, le processus d’un conteneur est attaché au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terminal actuel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Il est donc possible de saisir à nouveau une commande seulement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après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que le processus est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achevé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Pour bash, nous avions saisi la commande shell 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exit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Ctrl + D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fonctionne aussi).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Pour un autre processus, nous devons envoyer l’interrompre avec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Ctrl + C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(même chose qu’habituellement sous Linux).</a:t>
            </a:r>
          </a:p>
        </p:txBody>
      </p:sp>
    </p:spTree>
    <p:extLst>
      <p:ext uri="{BB962C8B-B14F-4D97-AF65-F5344CB8AC3E}">
        <p14:creationId xmlns:p14="http://schemas.microsoft.com/office/powerpoint/2010/main" val="27712405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Commandes Docker de base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Quitter un conteneur</a:t>
            </a: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F44B8B38-CFBC-16B9-9CE3-5B7ABF2AB952}"/>
              </a:ext>
            </a:extLst>
          </p:cNvPr>
          <p:cNvSpPr txBox="1"/>
          <p:nvPr/>
        </p:nvSpPr>
        <p:spPr>
          <a:xfrm>
            <a:off x="838200" y="1841231"/>
            <a:ext cx="1051559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2023/09/09 13:11:09 [notice] 1#1: start worker process 34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2023/09/09 13:11:09 [notice] 1#1: start worker process 35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2023/09/09 13:11:09 [notice] 1#1: start worker process 36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^C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2023/09/09 13:12:43 [notice] 1#1: signal 2 (SIGINT) received, exiting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2023/09/09 13:12:43 [notice] 35#35: exiting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2023/09/09 13:12:43 [notice] 33#33: exiting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2023/09/09 13:12:43 [notice] 35#35: exit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(...)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2023/09/09 13:12:43 [notice] 1#1: exit</a:t>
            </a:r>
          </a:p>
        </p:txBody>
      </p:sp>
    </p:spTree>
    <p:extLst>
      <p:ext uri="{BB962C8B-B14F-4D97-AF65-F5344CB8AC3E}">
        <p14:creationId xmlns:p14="http://schemas.microsoft.com/office/powerpoint/2010/main" val="38376980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Commandes Docker de base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Lancer un conteneur sans l’attacher au terminal actuel</a:t>
            </a: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F44B8B38-CFBC-16B9-9CE3-5B7ABF2AB952}"/>
              </a:ext>
            </a:extLst>
          </p:cNvPr>
          <p:cNvSpPr txBox="1"/>
          <p:nvPr/>
        </p:nvSpPr>
        <p:spPr>
          <a:xfrm>
            <a:off x="838200" y="1830431"/>
            <a:ext cx="105155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run -d nginx </a:t>
            </a:r>
            <a:r>
              <a:rPr kumimoji="0" lang="fr-FR" sz="20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a5695e1bf902e4acde486e0e1751906e8a69d60cb33aaf250c0dd92f602821b8</a:t>
            </a:r>
            <a:endParaRPr kumimoji="0" lang="fr-FR" sz="20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</p:txBody>
      </p:sp>
      <p:sp>
        <p:nvSpPr>
          <p:cNvPr id="5" name="ZoneTexte 2">
            <a:extLst>
              <a:ext uri="{FF2B5EF4-FFF2-40B4-BE49-F238E27FC236}">
                <a16:creationId xmlns:a16="http://schemas.microsoft.com/office/drawing/2014/main" id="{3AA83D7D-C7E0-154C-0033-8FEF5E3E0A09}"/>
              </a:ext>
            </a:extLst>
          </p:cNvPr>
          <p:cNvSpPr txBox="1"/>
          <p:nvPr/>
        </p:nvSpPr>
        <p:spPr>
          <a:xfrm>
            <a:off x="838198" y="2804069"/>
            <a:ext cx="1082526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-d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--detach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lancer un conteneur en arrière-plan et afficher son ID.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 ID de conteneur est une chaîne de caractère en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hexadécimal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et de longueur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64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Il est généré aléatoirement.</a:t>
            </a:r>
          </a:p>
        </p:txBody>
      </p:sp>
    </p:spTree>
    <p:extLst>
      <p:ext uri="{BB962C8B-B14F-4D97-AF65-F5344CB8AC3E}">
        <p14:creationId xmlns:p14="http://schemas.microsoft.com/office/powerpoint/2010/main" val="37417931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Commandes Docker de base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Lister les conteneurs actuellement lancés</a:t>
            </a: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F44B8B38-CFBC-16B9-9CE3-5B7ABF2AB952}"/>
              </a:ext>
            </a:extLst>
          </p:cNvPr>
          <p:cNvSpPr txBox="1"/>
          <p:nvPr/>
        </p:nvSpPr>
        <p:spPr>
          <a:xfrm>
            <a:off x="838199" y="1841231"/>
            <a:ext cx="1112682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container ls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CONTAINER ID   IMAGE     COMMAND                  CREATED          STATUS          PORTS     NAMES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a5695e1bf902   nginx     "/docker-entrypoint.…"   12 minutes ago   Up 12 minutes   80/tcp    inspiring_thompson</a:t>
            </a:r>
          </a:p>
        </p:txBody>
      </p:sp>
      <p:sp>
        <p:nvSpPr>
          <p:cNvPr id="5" name="ZoneTexte 2">
            <a:extLst>
              <a:ext uri="{FF2B5EF4-FFF2-40B4-BE49-F238E27FC236}">
                <a16:creationId xmlns:a16="http://schemas.microsoft.com/office/drawing/2014/main" id="{C984229F-965E-56F3-4E93-448C6FB5E0E1}"/>
              </a:ext>
            </a:extLst>
          </p:cNvPr>
          <p:cNvSpPr txBox="1"/>
          <p:nvPr/>
        </p:nvSpPr>
        <p:spPr>
          <a:xfrm>
            <a:off x="838200" y="3273779"/>
            <a:ext cx="10515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Malgré les apparences, l’ID d’un conteneur comporte bel et bien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64 caractères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Comme il est pratiquement improbable que deux IDs de conteneurs aient les mêmes premiers caractères, Docker n’affiche que les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12 premiers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dans la plupart des commandes.</a:t>
            </a:r>
          </a:p>
        </p:txBody>
      </p:sp>
    </p:spTree>
    <p:extLst>
      <p:ext uri="{BB962C8B-B14F-4D97-AF65-F5344CB8AC3E}">
        <p14:creationId xmlns:p14="http://schemas.microsoft.com/office/powerpoint/2010/main" val="40597232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Commandes Docker de base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Arrêter un conteneur</a:t>
            </a: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F44B8B38-CFBC-16B9-9CE3-5B7ABF2AB952}"/>
              </a:ext>
            </a:extLst>
          </p:cNvPr>
          <p:cNvSpPr txBox="1"/>
          <p:nvPr/>
        </p:nvSpPr>
        <p:spPr>
          <a:xfrm>
            <a:off x="838199" y="1841231"/>
            <a:ext cx="11126821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container stop a5695e1bf902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a5695e1bf902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container ls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CONTAINER ID   IMAGE     COMMAND                  CREATED          STATUS          PORTS     NAMES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07935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Commandes Docker de base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Note sur la sélection d’un conteneur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Pour toutes les commandes qui nécessite l’ID d’un conteneur, il est possible de passer seulement le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début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de l’ID qui correspond à un unique conteneur.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Ici il n’y a qu’un seul conteneur. N’utiliser un seul caractère fonctionne car il n’y pas d’autres conteneurs dont l’ID commence par </a:t>
            </a:r>
            <a:r>
              <a:rPr kumimoji="0" lang="fr-FR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'a'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En pratique, utiliser les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ou 4 premiers caractères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suffit.</a:t>
            </a: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F44B8B38-CFBC-16B9-9CE3-5B7ABF2AB952}"/>
              </a:ext>
            </a:extLst>
          </p:cNvPr>
          <p:cNvSpPr txBox="1"/>
          <p:nvPr/>
        </p:nvSpPr>
        <p:spPr>
          <a:xfrm>
            <a:off x="838201" y="4274352"/>
            <a:ext cx="111268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container stop a569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a569</a:t>
            </a:r>
          </a:p>
        </p:txBody>
      </p:sp>
      <p:sp>
        <p:nvSpPr>
          <p:cNvPr id="5" name="ZoneTexte 2">
            <a:extLst>
              <a:ext uri="{FF2B5EF4-FFF2-40B4-BE49-F238E27FC236}">
                <a16:creationId xmlns:a16="http://schemas.microsoft.com/office/drawing/2014/main" id="{358B63E7-9929-65B0-14E6-1CB31FDCA4E9}"/>
              </a:ext>
            </a:extLst>
          </p:cNvPr>
          <p:cNvSpPr txBox="1"/>
          <p:nvPr/>
        </p:nvSpPr>
        <p:spPr>
          <a:xfrm>
            <a:off x="838200" y="5862121"/>
            <a:ext cx="111268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container stop a</a:t>
            </a:r>
            <a:endParaRPr kumimoji="0" lang="fr-FR" sz="20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a</a:t>
            </a:r>
          </a:p>
        </p:txBody>
      </p:sp>
      <p:sp>
        <p:nvSpPr>
          <p:cNvPr id="6" name="ZoneTexte 2">
            <a:extLst>
              <a:ext uri="{FF2B5EF4-FFF2-40B4-BE49-F238E27FC236}">
                <a16:creationId xmlns:a16="http://schemas.microsoft.com/office/drawing/2014/main" id="{685882F7-A091-BCD9-A69D-D7A4D6C96E64}"/>
              </a:ext>
            </a:extLst>
          </p:cNvPr>
          <p:cNvSpPr txBox="1"/>
          <p:nvPr/>
        </p:nvSpPr>
        <p:spPr>
          <a:xfrm>
            <a:off x="838199" y="5068236"/>
            <a:ext cx="111268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container stop a5695e1bf902e4acde486e0e1751906e8a69d60cb33aaf250c0dd9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a5695e1bf902e4acde486e0e1751906e8a69d60cb33aaf250c0dd9</a:t>
            </a:r>
          </a:p>
        </p:txBody>
      </p:sp>
    </p:spTree>
    <p:extLst>
      <p:ext uri="{BB962C8B-B14F-4D97-AF65-F5344CB8AC3E}">
        <p14:creationId xmlns:p14="http://schemas.microsoft.com/office/powerpoint/2010/main" val="17492418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Commandes Docker de base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Voir tous les conteneurs, indépendamment de leurs statuts</a:t>
            </a: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F44B8B38-CFBC-16B9-9CE3-5B7ABF2AB952}"/>
              </a:ext>
            </a:extLst>
          </p:cNvPr>
          <p:cNvSpPr txBox="1"/>
          <p:nvPr/>
        </p:nvSpPr>
        <p:spPr>
          <a:xfrm>
            <a:off x="838199" y="1841231"/>
            <a:ext cx="1112682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container ls -a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CONTAINER ID   IMAGE     COMMAND                  CREATED          STATUS          PORTS     NAMES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a5695e1bf902   nginx     "/docker-entrypoint.…"   12 minutes ago   Up 12 minutes   80/tcp    inspiring_thompson</a:t>
            </a:r>
          </a:p>
        </p:txBody>
      </p:sp>
      <p:sp>
        <p:nvSpPr>
          <p:cNvPr id="6" name="ZoneTexte 2">
            <a:extLst>
              <a:ext uri="{FF2B5EF4-FFF2-40B4-BE49-F238E27FC236}">
                <a16:creationId xmlns:a16="http://schemas.microsoft.com/office/drawing/2014/main" id="{2ABD0D4F-73C0-4540-6F1A-E435FED77A53}"/>
              </a:ext>
            </a:extLst>
          </p:cNvPr>
          <p:cNvSpPr txBox="1"/>
          <p:nvPr/>
        </p:nvSpPr>
        <p:spPr>
          <a:xfrm>
            <a:off x="838199" y="3273779"/>
            <a:ext cx="108252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-a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--all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lister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tous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les conteneurs (autrement seuls ceux qui ont le statut 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Running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sont listés).</a:t>
            </a:r>
          </a:p>
        </p:txBody>
      </p:sp>
    </p:spTree>
    <p:extLst>
      <p:ext uri="{BB962C8B-B14F-4D97-AF65-F5344CB8AC3E}">
        <p14:creationId xmlns:p14="http://schemas.microsoft.com/office/powerpoint/2010/main" val="39434175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Commandes Docker de base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Supprimer un conteneur</a:t>
            </a: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F44B8B38-CFBC-16B9-9CE3-5B7ABF2AB952}"/>
              </a:ext>
            </a:extLst>
          </p:cNvPr>
          <p:cNvSpPr txBox="1"/>
          <p:nvPr/>
        </p:nvSpPr>
        <p:spPr>
          <a:xfrm>
            <a:off x="838199" y="1841231"/>
            <a:ext cx="1112682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container rm a5695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Error response from daemon: cannot remove container "/inspiring_thompson": container is running: stop the container before removing or force remove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container rm --force a5695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a5695</a:t>
            </a:r>
          </a:p>
        </p:txBody>
      </p:sp>
      <p:sp>
        <p:nvSpPr>
          <p:cNvPr id="5" name="ZoneTexte 2">
            <a:extLst>
              <a:ext uri="{FF2B5EF4-FFF2-40B4-BE49-F238E27FC236}">
                <a16:creationId xmlns:a16="http://schemas.microsoft.com/office/drawing/2014/main" id="{2FABAB8C-8652-AFA9-7AEA-AC6F0887AF71}"/>
              </a:ext>
            </a:extLst>
          </p:cNvPr>
          <p:cNvSpPr txBox="1"/>
          <p:nvPr/>
        </p:nvSpPr>
        <p:spPr>
          <a:xfrm>
            <a:off x="838199" y="4073998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 pratique, on envoie toujours la commande 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stop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avant </a:t>
            </a: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rm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872380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Commandes Docker de base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Supprimer un conteneur automatiquement à son arrêt</a:t>
            </a: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F44B8B38-CFBC-16B9-9CE3-5B7ABF2AB952}"/>
              </a:ext>
            </a:extLst>
          </p:cNvPr>
          <p:cNvSpPr txBox="1"/>
          <p:nvPr/>
        </p:nvSpPr>
        <p:spPr>
          <a:xfrm>
            <a:off x="838199" y="1841231"/>
            <a:ext cx="1112682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run --rm nginx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(...)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2023/09/09 14:37:58 [notice] 1#1: start worker process 36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^C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(...)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2023/09/09 14:38:09 [notice] 1#1: exit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container ls –a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1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CONTAINER ID   IMAGE     COMMAND                  CREATED          STATUS          PORTS     NAMES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1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71741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Commandes Docker de base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Supprimer tous les conteneurs inutilisés</a:t>
            </a: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F44B8B38-CFBC-16B9-9CE3-5B7ABF2AB952}"/>
              </a:ext>
            </a:extLst>
          </p:cNvPr>
          <p:cNvSpPr txBox="1"/>
          <p:nvPr/>
        </p:nvSpPr>
        <p:spPr>
          <a:xfrm>
            <a:off x="838199" y="1841231"/>
            <a:ext cx="111268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container prune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WARNING! This will remove all stopped containers.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Are you sure you want to continue? [y/N] 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Total reclaimed space: 0B</a:t>
            </a:r>
          </a:p>
        </p:txBody>
      </p:sp>
    </p:spTree>
    <p:extLst>
      <p:ext uri="{BB962C8B-B14F-4D97-AF65-F5344CB8AC3E}">
        <p14:creationId xmlns:p14="http://schemas.microsoft.com/office/powerpoint/2010/main" val="7632354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Commandes Docker de base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Voir la liste des images présentes localement</a:t>
            </a: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F44B8B38-CFBC-16B9-9CE3-5B7ABF2AB952}"/>
              </a:ext>
            </a:extLst>
          </p:cNvPr>
          <p:cNvSpPr txBox="1"/>
          <p:nvPr/>
        </p:nvSpPr>
        <p:spPr>
          <a:xfrm>
            <a:off x="838199" y="1841231"/>
            <a:ext cx="111268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image ls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1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REPOSITORY                     TAG               IMAGE ID       CREATED             SIZE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nginx                          latest            32da30332506   About an hour ago   274MB</a:t>
            </a:r>
          </a:p>
        </p:txBody>
      </p:sp>
      <p:sp>
        <p:nvSpPr>
          <p:cNvPr id="5" name="ZoneTexte 2">
            <a:extLst>
              <a:ext uri="{FF2B5EF4-FFF2-40B4-BE49-F238E27FC236}">
                <a16:creationId xmlns:a16="http://schemas.microsoft.com/office/drawing/2014/main" id="{48103080-F32C-0CF5-5A00-30A1368E29C2}"/>
              </a:ext>
            </a:extLst>
          </p:cNvPr>
          <p:cNvSpPr txBox="1"/>
          <p:nvPr/>
        </p:nvSpPr>
        <p:spPr>
          <a:xfrm>
            <a:off x="838199" y="3335335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 une image est déjà présente localement, il n’est pas nécessaire de la télécharger à nouveau.</a:t>
            </a:r>
          </a:p>
        </p:txBody>
      </p:sp>
    </p:spTree>
    <p:extLst>
      <p:ext uri="{BB962C8B-B14F-4D97-AF65-F5344CB8AC3E}">
        <p14:creationId xmlns:p14="http://schemas.microsoft.com/office/powerpoint/2010/main" val="25289428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Commandes Docker de base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Supprimer une image</a:t>
            </a: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F44B8B38-CFBC-16B9-9CE3-5B7ABF2AB952}"/>
              </a:ext>
            </a:extLst>
          </p:cNvPr>
          <p:cNvSpPr txBox="1"/>
          <p:nvPr/>
        </p:nvSpPr>
        <p:spPr>
          <a:xfrm>
            <a:off x="838199" y="1841231"/>
            <a:ext cx="111268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image rm nginx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Untagged: nginx:latest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Deleted: sha256:32da30332506740a2f7c34d5dc70467b7f14ec67d912703568daff790ab3f755</a:t>
            </a:r>
          </a:p>
        </p:txBody>
      </p:sp>
    </p:spTree>
    <p:extLst>
      <p:ext uri="{BB962C8B-B14F-4D97-AF65-F5344CB8AC3E}">
        <p14:creationId xmlns:p14="http://schemas.microsoft.com/office/powerpoint/2010/main" val="2175091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Commandes Docker de base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Trouver les versions disponibles d’une image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 rendre sur la page Docker Hub correspondante :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/>
              </a:rPr>
              <a:t>https://hub.docker.com/_/nginx</a:t>
            </a: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8643FB7B-213E-2EDC-90D4-8BD86EACA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286120"/>
            <a:ext cx="7772400" cy="4336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6010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Commandes Docker de base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Trouver les versions disponibles d’une image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Chaque ligne référence la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même version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d’une image donnée (exemple : on peut utiliser soit 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1.25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1.25.2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ou </a:t>
            </a: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latest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Ces versions sont en vérité ce que l’on appelle des </a:t>
            </a:r>
            <a:r>
              <a:rPr kumimoji="0" lang="fr-FR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tags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Il est possible de </a:t>
            </a: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tagger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une image avec n’importe quelle chaîne de caractère, mais en pratique c’est presque toujours des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versions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qui sont utilisées.</a:t>
            </a:r>
          </a:p>
        </p:txBody>
      </p:sp>
    </p:spTree>
    <p:extLst>
      <p:ext uri="{BB962C8B-B14F-4D97-AF65-F5344CB8AC3E}">
        <p14:creationId xmlns:p14="http://schemas.microsoft.com/office/powerpoint/2010/main" val="19247829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Commandes Docker de base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Instancier la version spécifique d’une image</a:t>
            </a: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F44B8B38-CFBC-16B9-9CE3-5B7ABF2AB952}"/>
              </a:ext>
            </a:extLst>
          </p:cNvPr>
          <p:cNvSpPr txBox="1"/>
          <p:nvPr/>
        </p:nvSpPr>
        <p:spPr>
          <a:xfrm>
            <a:off x="838200" y="1830431"/>
            <a:ext cx="10515599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run nginx:1.25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Unable to find image 'nginx:1.25' locally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32da30332506: Download complete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65cd8f49af74: Download complete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2a4fbb36e966: Download complete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e4cad15ac3f6: Download complete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096332b242c2: Download complete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e886f0f47ef5: Download complete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9a9138853e32: Download complete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598a42ec6587: Download complete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82e490cc2043: Download complete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948128637a91: Download complete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(...)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2023/09/09 14:19:45 [notice] 1#1: start worker process 36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^C</a:t>
            </a:r>
          </a:p>
        </p:txBody>
      </p:sp>
    </p:spTree>
    <p:extLst>
      <p:ext uri="{BB962C8B-B14F-4D97-AF65-F5344CB8AC3E}">
        <p14:creationId xmlns:p14="http://schemas.microsoft.com/office/powerpoint/2010/main" val="24531701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Commandes Docker de base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Nommer un conteneur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Utile pour ne pas à avoir à raisonner avec des IDs.</a:t>
            </a: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F44B8B38-CFBC-16B9-9CE3-5B7ABF2AB952}"/>
              </a:ext>
            </a:extLst>
          </p:cNvPr>
          <p:cNvSpPr txBox="1"/>
          <p:nvPr/>
        </p:nvSpPr>
        <p:spPr>
          <a:xfrm>
            <a:off x="838200" y="2456795"/>
            <a:ext cx="10515599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run -d --name web-server nginx:1.25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Unable to find image 'nginx:1.25' locally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32da30332506: Download complete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65cd8f49af74: Download complete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2a4fbb36e966: Download complete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e4cad15ac3f6: Download complete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096332b242c2: Download complete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e886f0f47ef5: Download complete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9a9138853e32: Download complete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(...)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2023/09/09 14:19:45 [notice] 1#1: start worker process 36</a:t>
            </a:r>
          </a:p>
        </p:txBody>
      </p:sp>
    </p:spTree>
    <p:extLst>
      <p:ext uri="{BB962C8B-B14F-4D97-AF65-F5344CB8AC3E}">
        <p14:creationId xmlns:p14="http://schemas.microsoft.com/office/powerpoint/2010/main" val="18999368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Commandes Docker de base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Exécuter une commande supplémentaire dans un conteneur déjà lancé</a:t>
            </a: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F44B8B38-CFBC-16B9-9CE3-5B7ABF2AB952}"/>
              </a:ext>
            </a:extLst>
          </p:cNvPr>
          <p:cNvSpPr txBox="1"/>
          <p:nvPr/>
        </p:nvSpPr>
        <p:spPr>
          <a:xfrm>
            <a:off x="838199" y="1841231"/>
            <a:ext cx="111268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exec -it web-server bash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1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root@f45163a2cb4f:/# exit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exit</a:t>
            </a:r>
          </a:p>
        </p:txBody>
      </p:sp>
      <p:sp>
        <p:nvSpPr>
          <p:cNvPr id="6" name="ZoneTexte 2">
            <a:extLst>
              <a:ext uri="{FF2B5EF4-FFF2-40B4-BE49-F238E27FC236}">
                <a16:creationId xmlns:a16="http://schemas.microsoft.com/office/drawing/2014/main" id="{838EBF82-6675-83C5-FECB-02D7498917CE}"/>
              </a:ext>
            </a:extLst>
          </p:cNvPr>
          <p:cNvSpPr txBox="1"/>
          <p:nvPr/>
        </p:nvSpPr>
        <p:spPr>
          <a:xfrm>
            <a:off x="838199" y="3415689"/>
            <a:ext cx="10515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Naturellement, cette commande supplémentaire ne fonctionne que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 elle est accessible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dans le conteneur.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L’image </a:t>
            </a: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nginx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étant basée sur </a:t>
            </a:r>
            <a:r>
              <a:rPr kumimoji="0" lang="ca-ES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debian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la commande </a:t>
            </a:r>
            <a:r>
              <a:rPr kumimoji="0" lang="ca-ES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bash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est accessible.</a:t>
            </a:r>
          </a:p>
        </p:txBody>
      </p:sp>
    </p:spTree>
    <p:extLst>
      <p:ext uri="{BB962C8B-B14F-4D97-AF65-F5344CB8AC3E}">
        <p14:creationId xmlns:p14="http://schemas.microsoft.com/office/powerpoint/2010/main" val="1356354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Commandes Docker de base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Voir la page web exposée par NGINX</a:t>
            </a: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F44B8B38-CFBC-16B9-9CE3-5B7ABF2AB952}"/>
              </a:ext>
            </a:extLst>
          </p:cNvPr>
          <p:cNvSpPr txBox="1"/>
          <p:nvPr/>
        </p:nvSpPr>
        <p:spPr>
          <a:xfrm>
            <a:off x="838199" y="1841231"/>
            <a:ext cx="11126821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container ls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1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CONTAINER ID   IMAGE        COMMAND                  CREATED          STATUS          PORTS     NAMES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f45163a2cb4f   nginx:1.25   "/docker-entrypoint.…"   10 minutes ago   Up 10 minutes   </a:t>
            </a:r>
            <a:r>
              <a:rPr kumimoji="0" lang="fr-FR" sz="14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80/tcp</a:t>
            </a:r>
            <a:r>
              <a:rPr kumimoji="0" lang="fr-FR" sz="14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web-server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1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exec -it web-server bash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1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root@f45163a2cb4f:/# curl localhost:80 </a:t>
            </a:r>
            <a:r>
              <a:rPr kumimoji="0" lang="fr-FR" sz="2000" b="1" i="0" u="none" strike="noStrike" kern="1200" cap="none" spc="0" normalizeH="0" baseline="0" noProof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# ou `curl localhost` directement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1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&lt;!DOCTYPE html&gt;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&lt;html&gt;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&lt;head&gt;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&lt;title&gt;Welcome to nginx!&lt;/title&gt;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&lt;style&gt;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(...)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1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root@f45163a2cb4f:/# exit</a:t>
            </a:r>
          </a:p>
        </p:txBody>
      </p:sp>
    </p:spTree>
    <p:extLst>
      <p:ext uri="{BB962C8B-B14F-4D97-AF65-F5344CB8AC3E}">
        <p14:creationId xmlns:p14="http://schemas.microsoft.com/office/powerpoint/2010/main" val="21365316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Commandes Docker de base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1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Mapper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le port d’un conteneur vers un port de l’hôte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Docker ne permet pas d’effectuer cette opération sans recréer le conteneur.</a:t>
            </a:r>
          </a:p>
        </p:txBody>
      </p:sp>
      <p:sp>
        <p:nvSpPr>
          <p:cNvPr id="5" name="ZoneTexte 2">
            <a:extLst>
              <a:ext uri="{FF2B5EF4-FFF2-40B4-BE49-F238E27FC236}">
                <a16:creationId xmlns:a16="http://schemas.microsoft.com/office/drawing/2014/main" id="{FD8F6E9D-EEDA-5FF3-739F-C5093C5AE860}"/>
              </a:ext>
            </a:extLst>
          </p:cNvPr>
          <p:cNvSpPr txBox="1"/>
          <p:nvPr/>
        </p:nvSpPr>
        <p:spPr>
          <a:xfrm>
            <a:off x="838199" y="2427693"/>
            <a:ext cx="1112682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container stop web-server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web-server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container rm web-server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web-server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run -d -p 8888:80 --name web-server nginx:1.25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ac6edbdc1b8cc26d9a48a11822b9409150f42ebac0e8faa63f960311ef8f181c</a:t>
            </a:r>
          </a:p>
        </p:txBody>
      </p:sp>
    </p:spTree>
    <p:extLst>
      <p:ext uri="{BB962C8B-B14F-4D97-AF65-F5344CB8AC3E}">
        <p14:creationId xmlns:p14="http://schemas.microsoft.com/office/powerpoint/2010/main" val="42179933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Commandes Docker de base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1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Mapper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le port d’un conteneur vers un port de l’hôte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A0D3DCEB-BDAA-826A-F385-8020219FF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689029"/>
            <a:ext cx="7772400" cy="5167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2417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Commandes Docker de base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1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Mapper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le port d’un conteneur vers un port de l’hôte</a:t>
            </a:r>
          </a:p>
        </p:txBody>
      </p:sp>
      <p:sp>
        <p:nvSpPr>
          <p:cNvPr id="5" name="ZoneTexte 2">
            <a:extLst>
              <a:ext uri="{FF2B5EF4-FFF2-40B4-BE49-F238E27FC236}">
                <a16:creationId xmlns:a16="http://schemas.microsoft.com/office/drawing/2014/main" id="{FD8F6E9D-EEDA-5FF3-739F-C5093C5AE860}"/>
              </a:ext>
            </a:extLst>
          </p:cNvPr>
          <p:cNvSpPr txBox="1"/>
          <p:nvPr/>
        </p:nvSpPr>
        <p:spPr>
          <a:xfrm>
            <a:off x="838200" y="1689029"/>
            <a:ext cx="111268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stop web-server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web-server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6C0A2146-12CC-BE36-058A-C64D5E0B35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6019" y="2292267"/>
            <a:ext cx="6291182" cy="425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3999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Commandes Docker de base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1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Mapper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le port d’un conteneur vers un port de l’hôte</a:t>
            </a:r>
          </a:p>
        </p:txBody>
      </p:sp>
      <p:sp>
        <p:nvSpPr>
          <p:cNvPr id="5" name="ZoneTexte 2">
            <a:extLst>
              <a:ext uri="{FF2B5EF4-FFF2-40B4-BE49-F238E27FC236}">
                <a16:creationId xmlns:a16="http://schemas.microsoft.com/office/drawing/2014/main" id="{FD8F6E9D-EEDA-5FF3-739F-C5093C5AE860}"/>
              </a:ext>
            </a:extLst>
          </p:cNvPr>
          <p:cNvSpPr txBox="1"/>
          <p:nvPr/>
        </p:nvSpPr>
        <p:spPr>
          <a:xfrm>
            <a:off x="838200" y="1689029"/>
            <a:ext cx="111268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start web-server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web-server</a:t>
            </a:r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85FE9FF9-D160-ECA2-53C1-AC6F164A3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5213" y="2292267"/>
            <a:ext cx="6352794" cy="4294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2527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Commandes Docker de base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Nettoyage</a:t>
            </a:r>
            <a:r>
              <a:rPr kumimoji="0" lang="fr-FR" sz="2400" b="1" i="1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ZoneTexte 2">
            <a:extLst>
              <a:ext uri="{FF2B5EF4-FFF2-40B4-BE49-F238E27FC236}">
                <a16:creationId xmlns:a16="http://schemas.microsoft.com/office/drawing/2014/main" id="{FD8F6E9D-EEDA-5FF3-739F-C5093C5AE860}"/>
              </a:ext>
            </a:extLst>
          </p:cNvPr>
          <p:cNvSpPr txBox="1"/>
          <p:nvPr/>
        </p:nvSpPr>
        <p:spPr>
          <a:xfrm>
            <a:off x="838200" y="1689029"/>
            <a:ext cx="1112682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container stop web-server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web-server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1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container rm web-server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web-server</a:t>
            </a:r>
          </a:p>
        </p:txBody>
      </p:sp>
    </p:spTree>
    <p:extLst>
      <p:ext uri="{BB962C8B-B14F-4D97-AF65-F5344CB8AC3E}">
        <p14:creationId xmlns:p14="http://schemas.microsoft.com/office/powerpoint/2010/main" val="4855961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Commandes Docker de base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Remplacer la commande par défaut d’une image</a:t>
            </a:r>
          </a:p>
        </p:txBody>
      </p:sp>
      <p:sp>
        <p:nvSpPr>
          <p:cNvPr id="5" name="ZoneTexte 2">
            <a:extLst>
              <a:ext uri="{FF2B5EF4-FFF2-40B4-BE49-F238E27FC236}">
                <a16:creationId xmlns:a16="http://schemas.microsoft.com/office/drawing/2014/main" id="{FD8F6E9D-EEDA-5FF3-739F-C5093C5AE860}"/>
              </a:ext>
            </a:extLst>
          </p:cNvPr>
          <p:cNvSpPr txBox="1"/>
          <p:nvPr/>
        </p:nvSpPr>
        <p:spPr>
          <a:xfrm>
            <a:off x="838200" y="1777253"/>
            <a:ext cx="111268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run nginx bash -c 'echo "Hello, Debian!"'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Hello, Debian!</a:t>
            </a: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ED6522B4-CC32-0EE8-1634-DE132A5CD2FA}"/>
              </a:ext>
            </a:extLst>
          </p:cNvPr>
          <p:cNvSpPr txBox="1"/>
          <p:nvPr/>
        </p:nvSpPr>
        <p:spPr>
          <a:xfrm>
            <a:off x="838200" y="2831673"/>
            <a:ext cx="1051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 conteneur s’arrête à la fin de l’exécution du script </a:t>
            </a: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bash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 commande </a:t>
            </a: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nginx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n’est jamais lancée car elle a été remplacée.</a:t>
            </a:r>
          </a:p>
        </p:txBody>
      </p:sp>
    </p:spTree>
    <p:extLst>
      <p:ext uri="{BB962C8B-B14F-4D97-AF65-F5344CB8AC3E}">
        <p14:creationId xmlns:p14="http://schemas.microsoft.com/office/powerpoint/2010/main" val="18454415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Commandes Docker de base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Passer une variable d’environnement à un conteneur</a:t>
            </a:r>
          </a:p>
        </p:txBody>
      </p:sp>
      <p:sp>
        <p:nvSpPr>
          <p:cNvPr id="5" name="ZoneTexte 2">
            <a:extLst>
              <a:ext uri="{FF2B5EF4-FFF2-40B4-BE49-F238E27FC236}">
                <a16:creationId xmlns:a16="http://schemas.microsoft.com/office/drawing/2014/main" id="{FD8F6E9D-EEDA-5FF3-739F-C5093C5AE860}"/>
              </a:ext>
            </a:extLst>
          </p:cNvPr>
          <p:cNvSpPr txBox="1"/>
          <p:nvPr/>
        </p:nvSpPr>
        <p:spPr>
          <a:xfrm>
            <a:off x="838200" y="1777253"/>
            <a:ext cx="111268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run -e NGINX_ENTRYPOINT_QUIET_LOGS=1 nginx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(...)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2023/09/09 18:50:02 [notice] 1#1: start worker process 36</a:t>
            </a:r>
          </a:p>
        </p:txBody>
      </p:sp>
      <p:sp>
        <p:nvSpPr>
          <p:cNvPr id="6" name="ZoneTexte 2">
            <a:extLst>
              <a:ext uri="{FF2B5EF4-FFF2-40B4-BE49-F238E27FC236}">
                <a16:creationId xmlns:a16="http://schemas.microsoft.com/office/drawing/2014/main" id="{BCD74D49-CB33-28E1-E356-6C9BF5F33816}"/>
              </a:ext>
            </a:extLst>
          </p:cNvPr>
          <p:cNvSpPr txBox="1"/>
          <p:nvPr/>
        </p:nvSpPr>
        <p:spPr>
          <a:xfrm>
            <a:off x="838200" y="2967335"/>
            <a:ext cx="105156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Définir cette variable d’environnement propre à NGINX permet de contrôler le niveau d’information dans les </a:t>
            </a: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logs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Les variables d’environnements sont utilisées pour configurer les conteneurs (car pour rappel, les images sont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immuables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Exemple : définir mot de passe d’un conteneur MySQL.</a:t>
            </a:r>
          </a:p>
        </p:txBody>
      </p:sp>
    </p:spTree>
    <p:extLst>
      <p:ext uri="{BB962C8B-B14F-4D97-AF65-F5344CB8AC3E}">
        <p14:creationId xmlns:p14="http://schemas.microsoft.com/office/powerpoint/2010/main" val="14534879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Commandes Docker de base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Créer une image à la volée par-dessus une image existante</a:t>
            </a:r>
          </a:p>
        </p:txBody>
      </p:sp>
      <p:sp>
        <p:nvSpPr>
          <p:cNvPr id="5" name="ZoneTexte 2">
            <a:extLst>
              <a:ext uri="{FF2B5EF4-FFF2-40B4-BE49-F238E27FC236}">
                <a16:creationId xmlns:a16="http://schemas.microsoft.com/office/drawing/2014/main" id="{FD8F6E9D-EEDA-5FF3-739F-C5093C5AE860}"/>
              </a:ext>
            </a:extLst>
          </p:cNvPr>
          <p:cNvSpPr txBox="1"/>
          <p:nvPr/>
        </p:nvSpPr>
        <p:spPr>
          <a:xfrm>
            <a:off x="838200" y="1777253"/>
            <a:ext cx="1112682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run -d --name nginx-base nginx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1" i="0" u="none" strike="noStrike" kern="1200" cap="none" spc="0" normalizeH="0" baseline="0" noProof="1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exec -it nginx-base bash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1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root@9cbfee2b7445:/# sed -ie 's/Welcome to nginx!/Welcome to my website!/' \ /usr/share/nginx/html/index.html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1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root@9cbfee2b7445:/# exit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1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commit nginx-base nginx-custom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1" i="0" u="none" strike="noStrike" kern="1200" cap="none" spc="0" normalizeH="0" baseline="0" noProof="1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run --rm -p 8888:80 nginx-custom</a:t>
            </a:r>
          </a:p>
        </p:txBody>
      </p:sp>
    </p:spTree>
    <p:extLst>
      <p:ext uri="{BB962C8B-B14F-4D97-AF65-F5344CB8AC3E}">
        <p14:creationId xmlns:p14="http://schemas.microsoft.com/office/powerpoint/2010/main" val="3191208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Commandes Docker de base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Créer une image à la volée par-dessus une image existante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AFAC7CF3-887E-5865-FF07-7FF634B3D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8493" y="1696169"/>
            <a:ext cx="7095014" cy="4796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4179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Commandes Docker de base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Créer une image à la volée par-dessus une image existante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 pratique, la commande 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commit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n’est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jamais utilisée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 effet, il est difficile d’évaluer précisément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quels changements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ont été apportés sur l’image de base (mais 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diff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que nous verrons juste ensuite peut aider).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 plus, des fichiers créés au lancement de l’image ont été inclus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involontairement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dans notre commit.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Pour ces raisons, Docker nous permet de définir via du code les changements nous souhaitons apporter par-dessus une image au moyen d’un </a:t>
            </a:r>
            <a:r>
              <a:rPr kumimoji="0" lang="fr-FR" sz="2400" b="1" i="1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Dockerfile</a:t>
            </a:r>
            <a:r>
              <a:rPr kumimoji="0" lang="fr-FR" sz="24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(voir chapitre suivant)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025078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Commandes Docker de base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Voir toutes les modifications apportées aux fichiers d'un conteneur</a:t>
            </a: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299E8EE2-E83E-A0BF-02D7-AFADDD35D103}"/>
              </a:ext>
            </a:extLst>
          </p:cNvPr>
          <p:cNvSpPr txBox="1"/>
          <p:nvPr/>
        </p:nvSpPr>
        <p:spPr>
          <a:xfrm>
            <a:off x="838200" y="1777253"/>
            <a:ext cx="1112682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diff nginx-base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 /run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A /run/nginx.pid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 /root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A /root/.bash_history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 /var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 /var/cache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 /var/cache/nginx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A /var/cache/nginx/uwsgi_temp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A /var/cache/nginx/client_temp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A /var/cache/nginx/fastcgi_temp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(...)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 /usr/share/nginx/html/index.html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A /usr/share/nginx/html/index.htmle</a:t>
            </a:r>
          </a:p>
        </p:txBody>
      </p:sp>
    </p:spTree>
    <p:extLst>
      <p:ext uri="{BB962C8B-B14F-4D97-AF65-F5344CB8AC3E}">
        <p14:creationId xmlns:p14="http://schemas.microsoft.com/office/powerpoint/2010/main" val="2824405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Commandes Docker de base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Lancer plusieurs conteneurs pour une même image</a:t>
            </a:r>
          </a:p>
        </p:txBody>
      </p:sp>
      <p:sp>
        <p:nvSpPr>
          <p:cNvPr id="5" name="ZoneTexte 2">
            <a:extLst>
              <a:ext uri="{FF2B5EF4-FFF2-40B4-BE49-F238E27FC236}">
                <a16:creationId xmlns:a16="http://schemas.microsoft.com/office/drawing/2014/main" id="{FD8F6E9D-EEDA-5FF3-739F-C5093C5AE860}"/>
              </a:ext>
            </a:extLst>
          </p:cNvPr>
          <p:cNvSpPr txBox="1"/>
          <p:nvPr/>
        </p:nvSpPr>
        <p:spPr>
          <a:xfrm>
            <a:off x="838200" y="1777253"/>
            <a:ext cx="11126821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for i in {1..3}; do docker run -d --rm -p 888$i:80 nginx-custom; done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82ff2a083ae58675a924650167624c16edddeb525ff5ef29801dad33aafd3ee1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8a20a831aa76488e25a365230e8404661cdd6b6c83dfcecb164cc5ccb8703e91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245dcf491ddb57a762e591487e5a85f7eea69f114bd323189c3bc56cefc8d02c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container ls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CONTAINER ID   IMAGE          COMMAND                  CREATED          STATUS          PORTS                  NAMES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245dcf491ddb   nginx-custom   "/docker-entrypoint.…"   4 minutes ago    Up 4 minutes    0.0.0.0:</a:t>
            </a:r>
            <a:r>
              <a:rPr kumimoji="0" lang="fr-FR" sz="12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8883</a:t>
            </a:r>
            <a:r>
              <a:rPr kumimoji="0" lang="fr-FR" sz="12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-&gt;80/tcp   quirky_ishizaka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8a20a831aa76   nginx-custom   "/docker-entrypoint.…"   4 minutes ago    Up 4 minutes    0.0.0.0:</a:t>
            </a:r>
            <a:r>
              <a:rPr kumimoji="0" lang="fr-FR" sz="12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8882</a:t>
            </a:r>
            <a:r>
              <a:rPr kumimoji="0" lang="fr-FR" sz="12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-&gt;80/tcp   quizzical_borg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82ff2a083ae5   nginx-custom   "/docker-entrypoint.…"   4 minutes ago    Up 4 minutes    0.0.0.0:</a:t>
            </a:r>
            <a:r>
              <a:rPr kumimoji="0" lang="fr-FR" sz="12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8881</a:t>
            </a:r>
            <a:r>
              <a:rPr kumimoji="0" lang="fr-FR" sz="12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-&gt;80/tcp   stoic_benz</a:t>
            </a:r>
          </a:p>
        </p:txBody>
      </p:sp>
    </p:spTree>
    <p:extLst>
      <p:ext uri="{BB962C8B-B14F-4D97-AF65-F5344CB8AC3E}">
        <p14:creationId xmlns:p14="http://schemas.microsoft.com/office/powerpoint/2010/main" val="40462562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Commandes Docker de base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Lancer plusieurs conteneurs pour une même image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AEADDD75-F1EA-B8C8-7B78-D5B43060E7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339" y="1689029"/>
            <a:ext cx="4078930" cy="3245815"/>
          </a:xfrm>
          <a:prstGeom prst="rect">
            <a:avLst/>
          </a:prstGeom>
        </p:spPr>
      </p:pic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E7B6A9B1-6843-FE9B-871A-56E77F616A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4761" y="2443448"/>
            <a:ext cx="4078930" cy="3245815"/>
          </a:xfrm>
          <a:prstGeom prst="rect">
            <a:avLst/>
          </a:prstGeom>
        </p:spPr>
      </p:pic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A3BD261F-DBEB-BDB4-76BE-1D2155D2A6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1182" y="3197868"/>
            <a:ext cx="4078930" cy="3245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317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Commandes Docker de base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Obtenir de l’aide et des informations sur les commandes</a:t>
            </a:r>
          </a:p>
        </p:txBody>
      </p:sp>
      <p:sp>
        <p:nvSpPr>
          <p:cNvPr id="5" name="ZoneTexte 2">
            <a:extLst>
              <a:ext uri="{FF2B5EF4-FFF2-40B4-BE49-F238E27FC236}">
                <a16:creationId xmlns:a16="http://schemas.microsoft.com/office/drawing/2014/main" id="{FD8F6E9D-EEDA-5FF3-739F-C5093C5AE860}"/>
              </a:ext>
            </a:extLst>
          </p:cNvPr>
          <p:cNvSpPr txBox="1"/>
          <p:nvPr/>
        </p:nvSpPr>
        <p:spPr>
          <a:xfrm>
            <a:off x="838200" y="1781627"/>
            <a:ext cx="1112682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--help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1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container --help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1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container ls --help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run --help</a:t>
            </a:r>
          </a:p>
        </p:txBody>
      </p:sp>
    </p:spTree>
    <p:extLst>
      <p:ext uri="{BB962C8B-B14F-4D97-AF65-F5344CB8AC3E}">
        <p14:creationId xmlns:p14="http://schemas.microsoft.com/office/powerpoint/2010/main" val="37276937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Commandes Docker de base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Nettoyage</a:t>
            </a:r>
            <a:r>
              <a:rPr kumimoji="0" lang="fr-FR" sz="2400" b="1" i="1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ZoneTexte 2">
            <a:extLst>
              <a:ext uri="{FF2B5EF4-FFF2-40B4-BE49-F238E27FC236}">
                <a16:creationId xmlns:a16="http://schemas.microsoft.com/office/drawing/2014/main" id="{FD8F6E9D-EEDA-5FF3-739F-C5093C5AE860}"/>
              </a:ext>
            </a:extLst>
          </p:cNvPr>
          <p:cNvSpPr txBox="1"/>
          <p:nvPr/>
        </p:nvSpPr>
        <p:spPr>
          <a:xfrm>
            <a:off x="838200" y="1689029"/>
            <a:ext cx="111268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container stop $(docker container ls -aq)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6728F0-2C08-BC38-8EEC-95B248A8D1A9}"/>
              </a:ext>
            </a:extLst>
          </p:cNvPr>
          <p:cNvSpPr txBox="1"/>
          <p:nvPr/>
        </p:nvSpPr>
        <p:spPr>
          <a:xfrm>
            <a:off x="838199" y="2271764"/>
            <a:ext cx="100072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-a, --all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: lister tous les conteneurs (autrement seuls ceux qui ont le statut 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Running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sont listés).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-q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--quiet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: n’afficher que les IDs des conteneurs.</a:t>
            </a:r>
          </a:p>
        </p:txBody>
      </p:sp>
      <p:sp>
        <p:nvSpPr>
          <p:cNvPr id="9" name="ZoneTexte 2">
            <a:extLst>
              <a:ext uri="{FF2B5EF4-FFF2-40B4-BE49-F238E27FC236}">
                <a16:creationId xmlns:a16="http://schemas.microsoft.com/office/drawing/2014/main" id="{67922183-C76E-51BF-F2B4-53B1DE627A6A}"/>
              </a:ext>
            </a:extLst>
          </p:cNvPr>
          <p:cNvSpPr txBox="1"/>
          <p:nvPr/>
        </p:nvSpPr>
        <p:spPr>
          <a:xfrm>
            <a:off x="838199" y="3783976"/>
            <a:ext cx="111268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container prune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image prune</a:t>
            </a:r>
          </a:p>
        </p:txBody>
      </p:sp>
    </p:spTree>
    <p:extLst>
      <p:ext uri="{BB962C8B-B14F-4D97-AF65-F5344CB8AC3E}">
        <p14:creationId xmlns:p14="http://schemas.microsoft.com/office/powerpoint/2010/main" val="14769039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Questions avec un remplissage uni">
            <a:extLst>
              <a:ext uri="{FF2B5EF4-FFF2-40B4-BE49-F238E27FC236}">
                <a16:creationId xmlns:a16="http://schemas.microsoft.com/office/drawing/2014/main" id="{117F3F9E-E45E-9844-8215-AA148A592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6784514D-DFE8-6540-A8D9-ED1329C44D3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Commandes Docker de base</a:t>
            </a:r>
          </a:p>
        </p:txBody>
      </p:sp>
    </p:spTree>
    <p:extLst>
      <p:ext uri="{BB962C8B-B14F-4D97-AF65-F5344CB8AC3E}">
        <p14:creationId xmlns:p14="http://schemas.microsoft.com/office/powerpoint/2010/main" val="214258448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Drapeau de course avec un remplissage uni">
            <a:extLst>
              <a:ext uri="{FF2B5EF4-FFF2-40B4-BE49-F238E27FC236}">
                <a16:creationId xmlns:a16="http://schemas.microsoft.com/office/drawing/2014/main" id="{31EA9D4C-4724-F749-BAC8-105B32CB0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90509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2818</Words>
  <Application>Microsoft Macintosh PowerPoint</Application>
  <PresentationFormat>Widescreen</PresentationFormat>
  <Paragraphs>408</Paragraphs>
  <Slides>49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4" baseType="lpstr">
      <vt:lpstr>Arial</vt:lpstr>
      <vt:lpstr>Calibri</vt:lpstr>
      <vt:lpstr>Calibri Light</vt:lpstr>
      <vt:lpstr>Consolas</vt:lpstr>
      <vt:lpstr>Thème Office</vt:lpstr>
      <vt:lpstr>2 – Conteneurs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 – Conteneurs</dc:title>
  <dc:creator>Alexandre Gressier</dc:creator>
  <cp:lastModifiedBy>Alexandre Gressier</cp:lastModifiedBy>
  <cp:revision>1</cp:revision>
  <dcterms:created xsi:type="dcterms:W3CDTF">2023-10-02T19:44:32Z</dcterms:created>
  <dcterms:modified xsi:type="dcterms:W3CDTF">2023-10-02T19:46:09Z</dcterms:modified>
</cp:coreProperties>
</file>