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2" r:id="rId9"/>
    <p:sldId id="325" r:id="rId10"/>
    <p:sldId id="262" r:id="rId11"/>
    <p:sldId id="268" r:id="rId12"/>
    <p:sldId id="333" r:id="rId13"/>
    <p:sldId id="334" r:id="rId14"/>
    <p:sldId id="335" r:id="rId15"/>
    <p:sldId id="336" r:id="rId16"/>
    <p:sldId id="337" r:id="rId17"/>
    <p:sldId id="346" r:id="rId18"/>
    <p:sldId id="347" r:id="rId19"/>
    <p:sldId id="328" r:id="rId20"/>
    <p:sldId id="263" r:id="rId21"/>
    <p:sldId id="269" r:id="rId22"/>
    <p:sldId id="338" r:id="rId23"/>
    <p:sldId id="340" r:id="rId24"/>
    <p:sldId id="339" r:id="rId25"/>
    <p:sldId id="342" r:id="rId26"/>
    <p:sldId id="341" r:id="rId27"/>
    <p:sldId id="344" r:id="rId28"/>
    <p:sldId id="343" r:id="rId29"/>
    <p:sldId id="345" r:id="rId30"/>
    <p:sldId id="327" r:id="rId31"/>
    <p:sldId id="272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626"/>
  </p:normalViewPr>
  <p:slideViewPr>
    <p:cSldViewPr snapToGrid="0" snapToObjects="1">
      <p:cViewPr varScale="1">
        <p:scale>
          <a:sx n="94" d="100"/>
          <a:sy n="94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FOR : </a:t>
            </a:r>
            <a:r>
              <a:rPr lang="fr-FR" dirty="0" err="1"/>
              <a:t>snippet</a:t>
            </a:r>
            <a:r>
              <a:rPr lang="fr-FR" dirty="0"/>
              <a:t> d’itérations incrémentales</a:t>
            </a:r>
          </a:p>
          <a:p>
            <a:r>
              <a:rPr lang="fr-FR" dirty="0"/>
              <a:t>FORR : </a:t>
            </a:r>
            <a:r>
              <a:rPr lang="fr-FR" dirty="0" err="1"/>
              <a:t>snippet</a:t>
            </a:r>
            <a:r>
              <a:rPr lang="fr-FR" dirty="0"/>
              <a:t> d’itérations décrémentales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768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818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235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L’allocation mémoire sera vue dans un autre module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38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L’allocation mémoire sera vue dans un autre module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542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L’allocation mémoire sera vue dans un autre module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982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L’allocation mémoire sera vue dans un autre module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87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044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691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méthode qui retourne une valeur n’oblige pas forcément le développeur à la récupérer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928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seule obligation pour la surcharge est de ne laisser aucune ambiguïté pour le compilateur quant au choix de la méthode.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776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54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28/08/2024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Bases du C# - partie 2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3ASP - C# / ASP.NET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Boucles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Tableaux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Méthodes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Boucles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Boucles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Tant que (</a:t>
            </a:r>
            <a:r>
              <a:rPr lang="fr-FR" sz="2400" b="1" dirty="0" err="1"/>
              <a:t>while</a:t>
            </a:r>
            <a:r>
              <a:rPr lang="fr-FR" sz="2400" b="1" dirty="0"/>
              <a:t>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Nombre d’itérations indéfini jusqu’à la condition de sortie atteinte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38F2A92-A525-969C-1E4E-EA06E29BF935}"/>
              </a:ext>
            </a:extLst>
          </p:cNvPr>
          <p:cNvSpPr txBox="1"/>
          <p:nvPr/>
        </p:nvSpPr>
        <p:spPr>
          <a:xfrm>
            <a:off x="1360714" y="3290501"/>
            <a:ext cx="78268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3;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--}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EA95B22-3775-9DF9-AC38-56B4E409BD67}"/>
              </a:ext>
            </a:extLst>
          </p:cNvPr>
          <p:cNvGrpSpPr/>
          <p:nvPr/>
        </p:nvGrpSpPr>
        <p:grpSpPr>
          <a:xfrm>
            <a:off x="8811720" y="4254880"/>
            <a:ext cx="1130913" cy="656971"/>
            <a:chOff x="8811720" y="4254880"/>
            <a:chExt cx="1130913" cy="656971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E0CA8E5E-8F1A-4675-4616-A82EC242EA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1720" y="4254880"/>
              <a:ext cx="1130913" cy="617473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59FA5041-7A19-169E-A616-8CFB8263EE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8155" y="4299165"/>
              <a:ext cx="1033297" cy="612686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9054F7F9-2B8E-4717-801A-5DFE7608C35F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1046987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957072" y="539496"/>
                  </a:lnTo>
                  <a:lnTo>
                    <a:pt x="1046987" y="44958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18D36E2F-390B-6DF6-CB40-51B883D32D9C}"/>
                </a:ext>
              </a:extLst>
            </p:cNvPr>
            <p:cNvSpPr/>
            <p:nvPr/>
          </p:nvSpPr>
          <p:spPr>
            <a:xfrm>
              <a:off x="9809987" y="4707636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5" y="0"/>
                  </a:moveTo>
                  <a:lnTo>
                    <a:pt x="18033" y="18033"/>
                  </a:lnTo>
                  <a:lnTo>
                    <a:pt x="0" y="89915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2B6535C2-310D-4C9E-4D91-EA5501CE53B9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957072" y="539496"/>
                  </a:moveTo>
                  <a:lnTo>
                    <a:pt x="975105" y="467614"/>
                  </a:lnTo>
                  <a:lnTo>
                    <a:pt x="1046987" y="449580"/>
                  </a:lnTo>
                  <a:lnTo>
                    <a:pt x="957072" y="539496"/>
                  </a:lnTo>
                  <a:lnTo>
                    <a:pt x="0" y="539496"/>
                  </a:lnTo>
                  <a:lnTo>
                    <a:pt x="0" y="0"/>
                  </a:lnTo>
                  <a:lnTo>
                    <a:pt x="1046987" y="0"/>
                  </a:lnTo>
                  <a:lnTo>
                    <a:pt x="1046987" y="44958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2">
            <a:extLst>
              <a:ext uri="{FF2B5EF4-FFF2-40B4-BE49-F238E27FC236}">
                <a16:creationId xmlns:a16="http://schemas.microsoft.com/office/drawing/2014/main" id="{7C4237D9-A52D-9728-97A4-D46E93FE4CF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9931" y="4003547"/>
            <a:ext cx="507492" cy="50749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DBE8A29-DB35-50E7-6E41-F7EF27A3BB70}"/>
              </a:ext>
            </a:extLst>
          </p:cNvPr>
          <p:cNvSpPr txBox="1"/>
          <p:nvPr/>
        </p:nvSpPr>
        <p:spPr>
          <a:xfrm>
            <a:off x="8954039" y="4332213"/>
            <a:ext cx="1045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-10" dirty="0">
                <a:latin typeface="Consolas"/>
                <a:cs typeface="Consolas"/>
              </a:rPr>
              <a:t>WHILE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Boucles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Répéter tant que (do </a:t>
            </a:r>
            <a:r>
              <a:rPr lang="fr-FR" sz="2400" b="1" dirty="0" err="1"/>
              <a:t>while</a:t>
            </a:r>
            <a:r>
              <a:rPr lang="fr-FR" sz="2400" b="1" dirty="0"/>
              <a:t>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Nombre d’itérations indéfini jusqu’à la condition de sortie atteinte</a:t>
            </a:r>
          </a:p>
          <a:p>
            <a:r>
              <a:rPr lang="fr-FR" sz="2400" dirty="0"/>
              <a:t>	(mais condition testée à la fin de chaque itération)</a:t>
            </a:r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EA95B22-3775-9DF9-AC38-56B4E409BD67}"/>
              </a:ext>
            </a:extLst>
          </p:cNvPr>
          <p:cNvGrpSpPr/>
          <p:nvPr/>
        </p:nvGrpSpPr>
        <p:grpSpPr>
          <a:xfrm>
            <a:off x="8811720" y="4254880"/>
            <a:ext cx="1130913" cy="656971"/>
            <a:chOff x="8811720" y="4254880"/>
            <a:chExt cx="1130913" cy="656971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E0CA8E5E-8F1A-4675-4616-A82EC242EA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1720" y="4254880"/>
              <a:ext cx="1130913" cy="617473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59FA5041-7A19-169E-A616-8CFB8263EE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8155" y="4299165"/>
              <a:ext cx="1033297" cy="612686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9054F7F9-2B8E-4717-801A-5DFE7608C35F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1046987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957072" y="539496"/>
                  </a:lnTo>
                  <a:lnTo>
                    <a:pt x="1046987" y="44958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18D36E2F-390B-6DF6-CB40-51B883D32D9C}"/>
                </a:ext>
              </a:extLst>
            </p:cNvPr>
            <p:cNvSpPr/>
            <p:nvPr/>
          </p:nvSpPr>
          <p:spPr>
            <a:xfrm>
              <a:off x="9809987" y="4707636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5" y="0"/>
                  </a:moveTo>
                  <a:lnTo>
                    <a:pt x="18033" y="18033"/>
                  </a:lnTo>
                  <a:lnTo>
                    <a:pt x="0" y="89915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2B6535C2-310D-4C9E-4D91-EA5501CE53B9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957072" y="539496"/>
                  </a:moveTo>
                  <a:lnTo>
                    <a:pt x="975105" y="467614"/>
                  </a:lnTo>
                  <a:lnTo>
                    <a:pt x="1046987" y="449580"/>
                  </a:lnTo>
                  <a:lnTo>
                    <a:pt x="957072" y="539496"/>
                  </a:lnTo>
                  <a:lnTo>
                    <a:pt x="0" y="539496"/>
                  </a:lnTo>
                  <a:lnTo>
                    <a:pt x="0" y="0"/>
                  </a:lnTo>
                  <a:lnTo>
                    <a:pt x="1046987" y="0"/>
                  </a:lnTo>
                  <a:lnTo>
                    <a:pt x="1046987" y="44958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2">
            <a:extLst>
              <a:ext uri="{FF2B5EF4-FFF2-40B4-BE49-F238E27FC236}">
                <a16:creationId xmlns:a16="http://schemas.microsoft.com/office/drawing/2014/main" id="{7C4237D9-A52D-9728-97A4-D46E93FE4CF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9931" y="4003547"/>
            <a:ext cx="507492" cy="50749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DBE8A29-DB35-50E7-6E41-F7EF27A3BB70}"/>
              </a:ext>
            </a:extLst>
          </p:cNvPr>
          <p:cNvSpPr txBox="1"/>
          <p:nvPr/>
        </p:nvSpPr>
        <p:spPr>
          <a:xfrm>
            <a:off x="9139097" y="4332213"/>
            <a:ext cx="1045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-10" dirty="0">
                <a:latin typeface="Consolas"/>
                <a:cs typeface="Consolas"/>
              </a:rPr>
              <a:t>DO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3C2912-2356-A8F4-E5AC-8E7DF4B882E9}"/>
              </a:ext>
            </a:extLst>
          </p:cNvPr>
          <p:cNvSpPr txBox="1"/>
          <p:nvPr/>
        </p:nvSpPr>
        <p:spPr>
          <a:xfrm>
            <a:off x="1436914" y="3333255"/>
            <a:ext cx="71630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3;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--}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22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Boucles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Répéter pour (for)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Nombre d’itérations prédéfini</a:t>
            </a:r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EA95B22-3775-9DF9-AC38-56B4E409BD67}"/>
              </a:ext>
            </a:extLst>
          </p:cNvPr>
          <p:cNvGrpSpPr/>
          <p:nvPr/>
        </p:nvGrpSpPr>
        <p:grpSpPr>
          <a:xfrm>
            <a:off x="8289205" y="3460221"/>
            <a:ext cx="1372406" cy="926720"/>
            <a:chOff x="8811720" y="4254880"/>
            <a:chExt cx="1130913" cy="656971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E0CA8E5E-8F1A-4675-4616-A82EC242EA7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1720" y="4254880"/>
              <a:ext cx="1130913" cy="617473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59FA5041-7A19-169E-A616-8CFB8263EE7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8155" y="4299165"/>
              <a:ext cx="1033297" cy="612686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9054F7F9-2B8E-4717-801A-5DFE7608C35F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1046987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957072" y="539496"/>
                  </a:lnTo>
                  <a:lnTo>
                    <a:pt x="1046987" y="449580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A39A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18D36E2F-390B-6DF6-CB40-51B883D32D9C}"/>
                </a:ext>
              </a:extLst>
            </p:cNvPr>
            <p:cNvSpPr/>
            <p:nvPr/>
          </p:nvSpPr>
          <p:spPr>
            <a:xfrm>
              <a:off x="9809987" y="4707636"/>
              <a:ext cx="90170" cy="90170"/>
            </a:xfrm>
            <a:custGeom>
              <a:avLst/>
              <a:gdLst/>
              <a:ahLst/>
              <a:cxnLst/>
              <a:rect l="l" t="t" r="r" b="b"/>
              <a:pathLst>
                <a:path w="90170" h="90170">
                  <a:moveTo>
                    <a:pt x="89915" y="0"/>
                  </a:moveTo>
                  <a:lnTo>
                    <a:pt x="18033" y="18033"/>
                  </a:lnTo>
                  <a:lnTo>
                    <a:pt x="0" y="89915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847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2B6535C2-310D-4C9E-4D91-EA5501CE53B9}"/>
                </a:ext>
              </a:extLst>
            </p:cNvPr>
            <p:cNvSpPr/>
            <p:nvPr/>
          </p:nvSpPr>
          <p:spPr>
            <a:xfrm>
              <a:off x="8852915" y="4258055"/>
              <a:ext cx="1047115" cy="539750"/>
            </a:xfrm>
            <a:custGeom>
              <a:avLst/>
              <a:gdLst/>
              <a:ahLst/>
              <a:cxnLst/>
              <a:rect l="l" t="t" r="r" b="b"/>
              <a:pathLst>
                <a:path w="1047115" h="539750">
                  <a:moveTo>
                    <a:pt x="957072" y="539496"/>
                  </a:moveTo>
                  <a:lnTo>
                    <a:pt x="975105" y="467614"/>
                  </a:lnTo>
                  <a:lnTo>
                    <a:pt x="1046987" y="449580"/>
                  </a:lnTo>
                  <a:lnTo>
                    <a:pt x="957072" y="539496"/>
                  </a:lnTo>
                  <a:lnTo>
                    <a:pt x="0" y="539496"/>
                  </a:lnTo>
                  <a:lnTo>
                    <a:pt x="0" y="0"/>
                  </a:lnTo>
                  <a:lnTo>
                    <a:pt x="1046987" y="0"/>
                  </a:lnTo>
                  <a:lnTo>
                    <a:pt x="1046987" y="449580"/>
                  </a:lnTo>
                </a:path>
              </a:pathLst>
            </a:custGeom>
            <a:ln w="12700">
              <a:solidFill>
                <a:srgbClr val="3917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2">
            <a:extLst>
              <a:ext uri="{FF2B5EF4-FFF2-40B4-BE49-F238E27FC236}">
                <a16:creationId xmlns:a16="http://schemas.microsoft.com/office/drawing/2014/main" id="{7C4237D9-A52D-9728-97A4-D46E93FE4CF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7416" y="3208888"/>
            <a:ext cx="507492" cy="50749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DBE8A29-DB35-50E7-6E41-F7EF27A3BB70}"/>
              </a:ext>
            </a:extLst>
          </p:cNvPr>
          <p:cNvSpPr txBox="1"/>
          <p:nvPr/>
        </p:nvSpPr>
        <p:spPr>
          <a:xfrm>
            <a:off x="8616582" y="3537554"/>
            <a:ext cx="10450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spc="-10" dirty="0">
                <a:latin typeface="Consolas"/>
                <a:cs typeface="Consolas"/>
              </a:rPr>
              <a:t>FOR</a:t>
            </a:r>
          </a:p>
          <a:p>
            <a:r>
              <a:rPr lang="fr-FR" spc="-10" dirty="0">
                <a:latin typeface="Consolas"/>
              </a:rPr>
              <a:t>FORR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866533-F99E-9E01-88C1-9B5321A2382F}"/>
              </a:ext>
            </a:extLst>
          </p:cNvPr>
          <p:cNvSpPr txBox="1"/>
          <p:nvPr/>
        </p:nvSpPr>
        <p:spPr>
          <a:xfrm>
            <a:off x="1711324" y="348888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54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Boucles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L’instruction break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Ordre d’arrêt de l’itération courante et sortie de boucle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1D1D9F-87D7-AA3D-53EF-3F258CDDBBE8}"/>
              </a:ext>
            </a:extLst>
          </p:cNvPr>
          <p:cNvSpPr txBox="1"/>
          <p:nvPr/>
        </p:nvSpPr>
        <p:spPr>
          <a:xfrm>
            <a:off x="1545770" y="3210779"/>
            <a:ext cx="79792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3;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-- &lt; 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6961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fr-FR" sz="3200" dirty="0"/>
              <a:t>Boucles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L’instruction continue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Ordre d’arrêt de l’itération courante et lancement de la prochaine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EBE8606-74C8-C704-E052-4598A828F13C}"/>
              </a:ext>
            </a:extLst>
          </p:cNvPr>
          <p:cNvSpPr txBox="1"/>
          <p:nvPr/>
        </p:nvSpPr>
        <p:spPr>
          <a:xfrm>
            <a:off x="1469572" y="3143081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10;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-- &gt; 5)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continue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0103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Première partie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Tableaux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062546" y="1812231"/>
            <a:ext cx="10525539" cy="3280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tableaux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93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suite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d'éléments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même</a:t>
            </a:r>
            <a:r>
              <a:rPr lang="fr-FR" sz="20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spc="-2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type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taille</a:t>
            </a:r>
            <a:r>
              <a:rPr lang="fr-FR" sz="20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spc="-2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fixe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Possèdent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toujours</a:t>
            </a:r>
            <a:r>
              <a:rPr lang="fr-FR" sz="20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une</a:t>
            </a:r>
            <a:r>
              <a:rPr lang="fr-FR" sz="20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valeur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Dont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l'indice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commence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zéro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Peuvent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unidimensionnel,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multidimensionnel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imbriqués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doivent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confondus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collections</a:t>
            </a:r>
            <a:endParaRPr lang="fr-FR" sz="2000" dirty="0">
              <a:latin typeface="Segoe UI"/>
              <a:cs typeface="Segoe UI"/>
            </a:endParaRPr>
          </a:p>
          <a:p>
            <a:pPr marL="927100" lvl="2">
              <a:lnSpc>
                <a:spcPct val="100000"/>
              </a:lnSpc>
              <a:spcBef>
                <a:spcPts val="520"/>
              </a:spcBef>
              <a:tabLst>
                <a:tab pos="1155700" algn="l"/>
              </a:tabLst>
            </a:pPr>
            <a:r>
              <a:rPr lang="fr-FR" sz="1400" dirty="0">
                <a:latin typeface="Segoe UI"/>
                <a:cs typeface="Segoe UI"/>
              </a:rPr>
              <a:t>	(qui</a:t>
            </a:r>
            <a:r>
              <a:rPr lang="fr-FR" sz="1400" spc="-35" dirty="0">
                <a:latin typeface="Segoe UI"/>
                <a:cs typeface="Segoe UI"/>
              </a:rPr>
              <a:t> </a:t>
            </a:r>
            <a:r>
              <a:rPr lang="fr-FR" sz="1400" dirty="0">
                <a:latin typeface="Segoe UI"/>
                <a:cs typeface="Segoe UI"/>
              </a:rPr>
              <a:t>seront</a:t>
            </a:r>
            <a:r>
              <a:rPr lang="fr-FR" sz="1400" spc="-30" dirty="0">
                <a:latin typeface="Segoe UI"/>
                <a:cs typeface="Segoe UI"/>
              </a:rPr>
              <a:t> </a:t>
            </a:r>
            <a:r>
              <a:rPr lang="fr-FR" sz="1400" dirty="0">
                <a:latin typeface="Segoe UI"/>
                <a:cs typeface="Segoe UI"/>
              </a:rPr>
              <a:t>abordées</a:t>
            </a:r>
            <a:r>
              <a:rPr lang="fr-FR" sz="1400" spc="-30" dirty="0">
                <a:latin typeface="Segoe UI"/>
                <a:cs typeface="Segoe UI"/>
              </a:rPr>
              <a:t> </a:t>
            </a:r>
            <a:r>
              <a:rPr lang="fr-FR" sz="1400" dirty="0">
                <a:latin typeface="Segoe UI"/>
                <a:cs typeface="Segoe UI"/>
              </a:rPr>
              <a:t>dans</a:t>
            </a:r>
            <a:r>
              <a:rPr lang="fr-FR" sz="1400" spc="-40" dirty="0">
                <a:latin typeface="Segoe UI"/>
                <a:cs typeface="Segoe UI"/>
              </a:rPr>
              <a:t> </a:t>
            </a:r>
            <a:r>
              <a:rPr lang="fr-FR" sz="1400" dirty="0">
                <a:latin typeface="Segoe UI"/>
                <a:cs typeface="Segoe UI"/>
              </a:rPr>
              <a:t>un</a:t>
            </a:r>
            <a:r>
              <a:rPr lang="fr-FR" sz="1400" spc="-35" dirty="0">
                <a:latin typeface="Segoe UI"/>
                <a:cs typeface="Segoe UI"/>
              </a:rPr>
              <a:t> </a:t>
            </a:r>
            <a:r>
              <a:rPr lang="fr-FR" sz="1400" dirty="0">
                <a:latin typeface="Segoe UI"/>
                <a:cs typeface="Segoe UI"/>
              </a:rPr>
              <a:t>autre</a:t>
            </a:r>
            <a:r>
              <a:rPr lang="fr-FR" sz="1400" spc="-40" dirty="0">
                <a:latin typeface="Segoe UI"/>
                <a:cs typeface="Segoe UI"/>
              </a:rPr>
              <a:t> </a:t>
            </a:r>
            <a:r>
              <a:rPr lang="fr-FR" sz="1400" spc="-10" dirty="0">
                <a:latin typeface="Segoe UI"/>
                <a:cs typeface="Segoe UI"/>
              </a:rPr>
              <a:t>module)</a:t>
            </a:r>
            <a:endParaRPr lang="fr-FR" sz="1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062546" y="1812231"/>
            <a:ext cx="10525539" cy="228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Déclaration d’une variable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Création du tableau</a:t>
            </a:r>
          </a:p>
          <a:p>
            <a:pPr marL="469900" lvl="1">
              <a:spcBef>
                <a:spcPts val="100"/>
              </a:spcBef>
              <a:tabLst>
                <a:tab pos="240665" algn="l"/>
              </a:tabLst>
            </a:pPr>
            <a:r>
              <a:rPr lang="fr-FR" dirty="0">
                <a:solidFill>
                  <a:srgbClr val="FF0000"/>
                </a:solidFill>
                <a:latin typeface="Segoe UI"/>
                <a:cs typeface="Segoe UI"/>
              </a:rPr>
              <a:t>(la taille doit être définie à ce moment-là)</a:t>
            </a: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11E90F-4AC3-FD0F-525D-EDE0030ABAC9}"/>
              </a:ext>
            </a:extLst>
          </p:cNvPr>
          <p:cNvSpPr txBox="1"/>
          <p:nvPr/>
        </p:nvSpPr>
        <p:spPr>
          <a:xfrm>
            <a:off x="1589320" y="2438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</a:rPr>
              <a:t>[] array;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4887608-1D13-1350-5DFB-76858C28B693}"/>
              </a:ext>
            </a:extLst>
          </p:cNvPr>
          <p:cNvSpPr txBox="1"/>
          <p:nvPr/>
        </p:nvSpPr>
        <p:spPr>
          <a:xfrm>
            <a:off x="1589320" y="41917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[5];</a:t>
            </a:r>
            <a:endParaRPr lang="fr-FR" dirty="0"/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5F71AE04-E345-5665-4B37-2648574B8A64}"/>
              </a:ext>
            </a:extLst>
          </p:cNvPr>
          <p:cNvGrpSpPr/>
          <p:nvPr/>
        </p:nvGrpSpPr>
        <p:grpSpPr>
          <a:xfrm>
            <a:off x="3255449" y="5251669"/>
            <a:ext cx="2408555" cy="1018540"/>
            <a:chOff x="3081273" y="5164582"/>
            <a:chExt cx="2408555" cy="101854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8F059816-C83D-41BC-065B-EFC4D3C1782A}"/>
                </a:ext>
              </a:extLst>
            </p:cNvPr>
            <p:cNvSpPr/>
            <p:nvPr/>
          </p:nvSpPr>
          <p:spPr>
            <a:xfrm>
              <a:off x="3087623" y="5170932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2228088" y="0"/>
                  </a:moveTo>
                  <a:lnTo>
                    <a:pt x="167639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40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39" y="1005840"/>
                  </a:lnTo>
                  <a:lnTo>
                    <a:pt x="2228088" y="1005840"/>
                  </a:lnTo>
                  <a:lnTo>
                    <a:pt x="2272652" y="999851"/>
                  </a:lnTo>
                  <a:lnTo>
                    <a:pt x="2312698" y="982951"/>
                  </a:lnTo>
                  <a:lnTo>
                    <a:pt x="2346626" y="956738"/>
                  </a:lnTo>
                  <a:lnTo>
                    <a:pt x="2372839" y="922810"/>
                  </a:lnTo>
                  <a:lnTo>
                    <a:pt x="2389739" y="882764"/>
                  </a:lnTo>
                  <a:lnTo>
                    <a:pt x="2395728" y="838200"/>
                  </a:lnTo>
                  <a:lnTo>
                    <a:pt x="2395728" y="167640"/>
                  </a:lnTo>
                  <a:lnTo>
                    <a:pt x="2389739" y="123075"/>
                  </a:lnTo>
                  <a:lnTo>
                    <a:pt x="2372839" y="83029"/>
                  </a:lnTo>
                  <a:lnTo>
                    <a:pt x="2346626" y="49101"/>
                  </a:lnTo>
                  <a:lnTo>
                    <a:pt x="2312698" y="22888"/>
                  </a:lnTo>
                  <a:lnTo>
                    <a:pt x="2272652" y="5988"/>
                  </a:lnTo>
                  <a:lnTo>
                    <a:pt x="22280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94B5043E-4656-8B76-0ABD-B682D276474A}"/>
                </a:ext>
              </a:extLst>
            </p:cNvPr>
            <p:cNvSpPr/>
            <p:nvPr/>
          </p:nvSpPr>
          <p:spPr>
            <a:xfrm>
              <a:off x="3087623" y="5170932"/>
              <a:ext cx="2395855" cy="1005840"/>
            </a:xfrm>
            <a:custGeom>
              <a:avLst/>
              <a:gdLst/>
              <a:ahLst/>
              <a:cxnLst/>
              <a:rect l="l" t="t" r="r" b="b"/>
              <a:pathLst>
                <a:path w="2395854" h="1005839">
                  <a:moveTo>
                    <a:pt x="0" y="167640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39" y="0"/>
                  </a:lnTo>
                  <a:lnTo>
                    <a:pt x="2228088" y="0"/>
                  </a:lnTo>
                  <a:lnTo>
                    <a:pt x="2272652" y="5988"/>
                  </a:lnTo>
                  <a:lnTo>
                    <a:pt x="2312698" y="22888"/>
                  </a:lnTo>
                  <a:lnTo>
                    <a:pt x="2346626" y="49101"/>
                  </a:lnTo>
                  <a:lnTo>
                    <a:pt x="2372839" y="83029"/>
                  </a:lnTo>
                  <a:lnTo>
                    <a:pt x="2389739" y="123075"/>
                  </a:lnTo>
                  <a:lnTo>
                    <a:pt x="2395728" y="167640"/>
                  </a:lnTo>
                  <a:lnTo>
                    <a:pt x="2395728" y="838200"/>
                  </a:lnTo>
                  <a:lnTo>
                    <a:pt x="2389739" y="882764"/>
                  </a:lnTo>
                  <a:lnTo>
                    <a:pt x="2372839" y="922810"/>
                  </a:lnTo>
                  <a:lnTo>
                    <a:pt x="2346626" y="956738"/>
                  </a:lnTo>
                  <a:lnTo>
                    <a:pt x="2312698" y="982951"/>
                  </a:lnTo>
                  <a:lnTo>
                    <a:pt x="2272652" y="999851"/>
                  </a:lnTo>
                  <a:lnTo>
                    <a:pt x="2228088" y="1005840"/>
                  </a:lnTo>
                  <a:lnTo>
                    <a:pt x="167639" y="1005840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EA3A6DC-DC28-D433-10D2-90B2CBEA7503}"/>
              </a:ext>
            </a:extLst>
          </p:cNvPr>
          <p:cNvSpPr txBox="1"/>
          <p:nvPr/>
        </p:nvSpPr>
        <p:spPr>
          <a:xfrm>
            <a:off x="3433758" y="5460203"/>
            <a:ext cx="2051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5080" indent="-44830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Allocation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dynamique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mémoire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B59C3C2F-AEC1-9ACC-6DF6-B3B6E732760C}"/>
              </a:ext>
            </a:extLst>
          </p:cNvPr>
          <p:cNvSpPr/>
          <p:nvPr/>
        </p:nvSpPr>
        <p:spPr>
          <a:xfrm>
            <a:off x="3942266" y="4723857"/>
            <a:ext cx="531495" cy="548640"/>
          </a:xfrm>
          <a:custGeom>
            <a:avLst/>
            <a:gdLst/>
            <a:ahLst/>
            <a:cxnLst/>
            <a:rect l="l" t="t" r="r" b="b"/>
            <a:pathLst>
              <a:path w="531495" h="548639">
                <a:moveTo>
                  <a:pt x="93123" y="68928"/>
                </a:moveTo>
                <a:lnTo>
                  <a:pt x="65817" y="95347"/>
                </a:lnTo>
                <a:lnTo>
                  <a:pt x="504063" y="548385"/>
                </a:lnTo>
                <a:lnTo>
                  <a:pt x="531368" y="521842"/>
                </a:lnTo>
                <a:lnTo>
                  <a:pt x="93123" y="68928"/>
                </a:lnTo>
                <a:close/>
              </a:path>
              <a:path w="531495" h="548639">
                <a:moveTo>
                  <a:pt x="0" y="0"/>
                </a:moveTo>
                <a:lnTo>
                  <a:pt x="38354" y="121919"/>
                </a:lnTo>
                <a:lnTo>
                  <a:pt x="65817" y="95347"/>
                </a:lnTo>
                <a:lnTo>
                  <a:pt x="52577" y="81660"/>
                </a:lnTo>
                <a:lnTo>
                  <a:pt x="79883" y="55244"/>
                </a:lnTo>
                <a:lnTo>
                  <a:pt x="107265" y="55244"/>
                </a:lnTo>
                <a:lnTo>
                  <a:pt x="120523" y="42417"/>
                </a:lnTo>
                <a:lnTo>
                  <a:pt x="0" y="0"/>
                </a:lnTo>
                <a:close/>
              </a:path>
              <a:path w="531495" h="548639">
                <a:moveTo>
                  <a:pt x="79883" y="55244"/>
                </a:moveTo>
                <a:lnTo>
                  <a:pt x="52577" y="81660"/>
                </a:lnTo>
                <a:lnTo>
                  <a:pt x="65817" y="95347"/>
                </a:lnTo>
                <a:lnTo>
                  <a:pt x="93123" y="68928"/>
                </a:lnTo>
                <a:lnTo>
                  <a:pt x="79883" y="55244"/>
                </a:lnTo>
                <a:close/>
              </a:path>
              <a:path w="531495" h="548639">
                <a:moveTo>
                  <a:pt x="107265" y="55244"/>
                </a:moveTo>
                <a:lnTo>
                  <a:pt x="79883" y="55244"/>
                </a:lnTo>
                <a:lnTo>
                  <a:pt x="93123" y="68928"/>
                </a:lnTo>
                <a:lnTo>
                  <a:pt x="107265" y="5524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387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073429" y="1812231"/>
            <a:ext cx="10525539" cy="38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Déclaration et création d’un tableau</a:t>
            </a:r>
          </a:p>
          <a:p>
            <a:pPr marL="469900" lvl="1">
              <a:spcBef>
                <a:spcPts val="100"/>
              </a:spcBef>
              <a:tabLst>
                <a:tab pos="240665" algn="l"/>
              </a:tabLst>
            </a:pPr>
            <a:r>
              <a:rPr lang="fr-FR" dirty="0">
                <a:solidFill>
                  <a:srgbClr val="FF0000"/>
                </a:solidFill>
                <a:latin typeface="Segoe UI"/>
                <a:cs typeface="Segoe UI"/>
              </a:rPr>
              <a:t>(la taille doit être définie à ce moment-là)</a:t>
            </a: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	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Initialisation d’un des éléments du tableau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Accès à l’élément du tableau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11E90F-4AC3-FD0F-525D-EDE0030ABAC9}"/>
              </a:ext>
            </a:extLst>
          </p:cNvPr>
          <p:cNvSpPr txBox="1"/>
          <p:nvPr/>
        </p:nvSpPr>
        <p:spPr>
          <a:xfrm>
            <a:off x="1600203" y="27415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[5];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1F02F5-625F-7E62-DD60-4E98028A7AA2}"/>
              </a:ext>
            </a:extLst>
          </p:cNvPr>
          <p:cNvSpPr txBox="1"/>
          <p:nvPr/>
        </p:nvSpPr>
        <p:spPr>
          <a:xfrm>
            <a:off x="1600203" y="4224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[0] = 123;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4D5F66-BC32-C456-56D1-E8142A208FEE}"/>
              </a:ext>
            </a:extLst>
          </p:cNvPr>
          <p:cNvSpPr txBox="1"/>
          <p:nvPr/>
        </p:nvSpPr>
        <p:spPr>
          <a:xfrm>
            <a:off x="1600203" y="57045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integer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[0];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1979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073429" y="1812231"/>
            <a:ext cx="10525539" cy="833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Déclaration,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création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initialisation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tableau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fonctionne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cas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d'une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déclaration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12F7F9-3367-C3FC-93BC-C7B51806D1A4}"/>
              </a:ext>
            </a:extLst>
          </p:cNvPr>
          <p:cNvSpPr txBox="1"/>
          <p:nvPr/>
        </p:nvSpPr>
        <p:spPr>
          <a:xfrm>
            <a:off x="2111829" y="3211009"/>
            <a:ext cx="81316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array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[3] { 1, 2, 3 };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solution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array2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{ 1, 2, 3 };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solution 2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array3 = { 1, 2, 3 };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solution 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177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Tableaux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1073429" y="1812231"/>
            <a:ext cx="10525539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Taille du tableau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	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Accès à une plage de valeurs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4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lang="fr-FR" sz="2000" dirty="0">
              <a:solidFill>
                <a:srgbClr val="FF0000"/>
              </a:solidFill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40" dirty="0">
                <a:latin typeface="Segoe UI"/>
                <a:cs typeface="Segoe UI"/>
              </a:rPr>
              <a:t>Tri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tableau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l'aide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'</a:t>
            </a:r>
            <a:r>
              <a:rPr lang="fr-FR" sz="2400" spc="-10" dirty="0" err="1">
                <a:latin typeface="Segoe UI"/>
                <a:cs typeface="Segoe UI"/>
              </a:rPr>
              <a:t>Array</a:t>
            </a:r>
            <a:r>
              <a:rPr lang="fr-FR" sz="2400" spc="-10" dirty="0">
                <a:latin typeface="Segoe UI"/>
                <a:cs typeface="Segoe UI"/>
              </a:rPr>
              <a:t>'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5BEC27A-FF03-668B-9924-CDA5F8B84A0E}"/>
              </a:ext>
            </a:extLst>
          </p:cNvPr>
          <p:cNvSpPr txBox="1"/>
          <p:nvPr/>
        </p:nvSpPr>
        <p:spPr>
          <a:xfrm>
            <a:off x="1883941" y="24021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array3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[5];</a:t>
            </a: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numberOfElements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array3.Length;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26C19DE-76BB-2509-84EF-398F3AE56D78}"/>
              </a:ext>
            </a:extLst>
          </p:cNvPr>
          <p:cNvSpPr txBox="1"/>
          <p:nvPr/>
        </p:nvSpPr>
        <p:spPr>
          <a:xfrm>
            <a:off x="1905000" y="39192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extractedArray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array[1..3];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4DE82BD-8A6E-3677-CD2E-71C5ED91ED86}"/>
              </a:ext>
            </a:extLst>
          </p:cNvPr>
          <p:cNvSpPr txBox="1"/>
          <p:nvPr/>
        </p:nvSpPr>
        <p:spPr>
          <a:xfrm>
            <a:off x="1905000" y="53187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{ 123, 456, 789 };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Array.Sort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033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Boucle « pour chaque » (</a:t>
            </a:r>
            <a:r>
              <a:rPr lang="fr-FR" sz="2400" b="1" dirty="0" err="1"/>
              <a:t>foreach</a:t>
            </a:r>
            <a:r>
              <a:rPr lang="fr-FR" sz="2400" b="1" dirty="0"/>
              <a:t>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boucle </a:t>
            </a:r>
            <a:r>
              <a:rPr lang="fr-FR" sz="2400" dirty="0" err="1"/>
              <a:t>foreach</a:t>
            </a:r>
            <a:r>
              <a:rPr lang="fr-FR" sz="2400" dirty="0"/>
              <a:t> sert à itérer sur chaque élément d’un tableau </a:t>
            </a:r>
            <a:r>
              <a:rPr lang="fr-FR" dirty="0"/>
              <a:t>(ou collection)</a:t>
            </a:r>
          </a:p>
          <a:p>
            <a:r>
              <a:rPr lang="fr-FR" sz="2400" dirty="0"/>
              <a:t>	Nombre prédéfini d’itération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643238-157A-F824-3D0C-3442FABB4B51}"/>
              </a:ext>
            </a:extLst>
          </p:cNvPr>
          <p:cNvSpPr txBox="1"/>
          <p:nvPr/>
        </p:nvSpPr>
        <p:spPr>
          <a:xfrm>
            <a:off x="1567543" y="333498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{ 1, 2, 3 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element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array)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element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155F39-0B31-2965-7143-FDDE7FA9AD0B}"/>
              </a:ext>
            </a:extLst>
          </p:cNvPr>
          <p:cNvSpPr txBox="1"/>
          <p:nvPr/>
        </p:nvSpPr>
        <p:spPr>
          <a:xfrm>
            <a:off x="1129553" y="5660308"/>
            <a:ext cx="905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🚩 Attention, il est impossible de modifier un tableau ou collection à l’intérieur de l’itération</a:t>
            </a:r>
          </a:p>
        </p:txBody>
      </p:sp>
    </p:spTree>
    <p:extLst>
      <p:ext uri="{BB962C8B-B14F-4D97-AF65-F5344CB8AC3E}">
        <p14:creationId xmlns:p14="http://schemas.microsoft.com/office/powerpoint/2010/main" val="1154600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Tableaux imbriqués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 tableau imbriqué correspond au « tableau dans un tableau »</a:t>
            </a:r>
          </a:p>
          <a:p>
            <a:r>
              <a:rPr lang="fr-FR" sz="2400" dirty="0"/>
              <a:t>	comme dans d’autres langages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Déclaration / utilisation (2 dimensions) :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9C1DF5-0DEE-802A-7A43-68CC825DEE09}"/>
              </a:ext>
            </a:extLst>
          </p:cNvPr>
          <p:cNvSpPr txBox="1"/>
          <p:nvPr/>
        </p:nvSpPr>
        <p:spPr>
          <a:xfrm>
            <a:off x="1239520" y="3914427"/>
            <a:ext cx="4074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[][]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nestedArray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[3][];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nestedArray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[0] = [1, 3, 5, 7, 9];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nestedArray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[1] = [0, 2, 4, 6];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nestedArray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[2] = [11, 22];</a:t>
            </a:r>
            <a:endParaRPr lang="fr-FR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99B1DED-300B-440C-2EB7-C1047C4B113F}"/>
              </a:ext>
            </a:extLst>
          </p:cNvPr>
          <p:cNvSpPr txBox="1"/>
          <p:nvPr/>
        </p:nvSpPr>
        <p:spPr>
          <a:xfrm>
            <a:off x="1239520" y="5281929"/>
            <a:ext cx="2895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[][] jaggedArray2 =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[1, 3, 5, 7, 9],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[0, 2, 4, 6],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[11, 22]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  <a:endParaRPr lang="fr-FR" sz="1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32C3A41-0B7C-B82F-5AC0-7CEC71E498C8}"/>
              </a:ext>
            </a:extLst>
          </p:cNvPr>
          <p:cNvSpPr txBox="1"/>
          <p:nvPr/>
        </p:nvSpPr>
        <p:spPr>
          <a:xfrm>
            <a:off x="6725920" y="395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nestedArray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[0][1] = 77;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AC0A94-484F-A4A6-ABFC-7CD7E4C6B436}"/>
              </a:ext>
            </a:extLst>
          </p:cNvPr>
          <p:cNvSpPr txBox="1"/>
          <p:nvPr/>
        </p:nvSpPr>
        <p:spPr>
          <a:xfrm>
            <a:off x="6725920" y="4499980"/>
            <a:ext cx="641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Cascadia Mono" panose="020B0609020000020004" pitchFamily="49" charset="0"/>
              </a:rPr>
              <a:t>nested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[2][1] = 88;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3237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Tableaux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Tableaux multidimensionnels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Utilisation de plusieurs dimensions sans utiliser d’imbrications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Déclaration / utilisation (2 dimensions)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35234E-CB75-BDD8-EFA9-612D371E8008}"/>
              </a:ext>
            </a:extLst>
          </p:cNvPr>
          <p:cNvSpPr txBox="1"/>
          <p:nvPr/>
        </p:nvSpPr>
        <p:spPr>
          <a:xfrm>
            <a:off x="1483360" y="3477854"/>
            <a:ext cx="102006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//Création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[,] array2D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[4, 2];</a:t>
            </a:r>
          </a:p>
          <a:p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[,] array2DInit = { { 1, 2 }, { 3, 4 }, { 5, 6 }, { 7, 8 } };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//Accès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(array2DInit[0, 0]);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//Longueur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totallength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1;</a:t>
            </a:r>
          </a:p>
          <a:p>
            <a:r>
              <a:rPr lang="nn-NO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array2D.</a:t>
            </a:r>
            <a:r>
              <a:rPr lang="nn-NO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Rank</a:t>
            </a:r>
            <a:r>
              <a:rPr lang="nn-NO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i++)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totallength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*= array2D.</a:t>
            </a:r>
            <a:r>
              <a:rPr lang="fr-FR" sz="1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GetLength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(i);</a:t>
            </a:r>
          </a:p>
          <a:p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$"Longueur totale :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totallength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243797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Deuxième partie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Méthodes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403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Types de méthodes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existe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deux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statiques </a:t>
            </a:r>
            <a:r>
              <a:rPr lang="fr-FR" sz="1600" spc="-10" dirty="0">
                <a:latin typeface="Segoe UI"/>
                <a:cs typeface="Segoe UI"/>
              </a:rPr>
              <a:t>(</a:t>
            </a:r>
            <a:r>
              <a:rPr lang="fr-FR" sz="1600" dirty="0">
                <a:latin typeface="Segoe UI"/>
                <a:cs typeface="Segoe UI"/>
              </a:rPr>
              <a:t>Liées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à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une</a:t>
            </a:r>
            <a:r>
              <a:rPr lang="fr-FR" sz="1600" spc="-20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classe)</a:t>
            </a: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8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méthodes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d'instance </a:t>
            </a:r>
            <a:r>
              <a:rPr lang="fr-FR" sz="1600" spc="-10" dirty="0">
                <a:latin typeface="Segoe UI"/>
                <a:cs typeface="Segoe UI"/>
              </a:rPr>
              <a:t>(</a:t>
            </a:r>
            <a:r>
              <a:rPr lang="fr-FR" sz="1600" dirty="0">
                <a:latin typeface="Segoe UI"/>
                <a:cs typeface="Segoe UI"/>
              </a:rPr>
              <a:t>Liées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à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un objet</a:t>
            </a:r>
            <a:r>
              <a:rPr lang="fr-FR" sz="1600" spc="-10" dirty="0">
                <a:latin typeface="Segoe UI"/>
                <a:cs typeface="Segoe UI"/>
              </a:rPr>
              <a:t>)</a:t>
            </a:r>
            <a:endParaRPr lang="fr-FR" sz="16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4D1F44-390C-6F5A-785C-E3981C7922B2}"/>
              </a:ext>
            </a:extLst>
          </p:cNvPr>
          <p:cNvSpPr txBox="1"/>
          <p:nvPr/>
        </p:nvSpPr>
        <p:spPr>
          <a:xfrm>
            <a:off x="1894114" y="407282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? input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ReadLine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input = input?.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ToUpper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</a:t>
            </a:r>
            <a:r>
              <a:rPr lang="fr-FR" sz="18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(input);</a:t>
            </a:r>
            <a:endParaRPr lang="fr-FR" dirty="0"/>
          </a:p>
        </p:txBody>
      </p:sp>
      <p:grpSp>
        <p:nvGrpSpPr>
          <p:cNvPr id="6" name="object 15">
            <a:extLst>
              <a:ext uri="{FF2B5EF4-FFF2-40B4-BE49-F238E27FC236}">
                <a16:creationId xmlns:a16="http://schemas.microsoft.com/office/drawing/2014/main" id="{4651BDA3-A11A-D34E-7B40-238F04DFE6DB}"/>
              </a:ext>
            </a:extLst>
          </p:cNvPr>
          <p:cNvGrpSpPr/>
          <p:nvPr/>
        </p:nvGrpSpPr>
        <p:grpSpPr>
          <a:xfrm>
            <a:off x="7654707" y="4296401"/>
            <a:ext cx="2244090" cy="718820"/>
            <a:chOff x="7599933" y="4215129"/>
            <a:chExt cx="2244090" cy="718820"/>
          </a:xfrm>
        </p:grpSpPr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30DF6CFB-B99F-8373-277F-4159ADC92083}"/>
                </a:ext>
              </a:extLst>
            </p:cNvPr>
            <p:cNvSpPr/>
            <p:nvPr/>
          </p:nvSpPr>
          <p:spPr>
            <a:xfrm>
              <a:off x="7606283" y="4221479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20">
                  <a:moveTo>
                    <a:pt x="2113534" y="0"/>
                  </a:moveTo>
                  <a:lnTo>
                    <a:pt x="117601" y="0"/>
                  </a:lnTo>
                  <a:lnTo>
                    <a:pt x="71848" y="9249"/>
                  </a:lnTo>
                  <a:lnTo>
                    <a:pt x="34464" y="34464"/>
                  </a:lnTo>
                  <a:lnTo>
                    <a:pt x="9249" y="71848"/>
                  </a:lnTo>
                  <a:lnTo>
                    <a:pt x="0" y="117602"/>
                  </a:lnTo>
                  <a:lnTo>
                    <a:pt x="0" y="588010"/>
                  </a:lnTo>
                  <a:lnTo>
                    <a:pt x="9249" y="633763"/>
                  </a:lnTo>
                  <a:lnTo>
                    <a:pt x="34464" y="671147"/>
                  </a:lnTo>
                  <a:lnTo>
                    <a:pt x="71848" y="696362"/>
                  </a:lnTo>
                  <a:lnTo>
                    <a:pt x="117601" y="705612"/>
                  </a:lnTo>
                  <a:lnTo>
                    <a:pt x="2113534" y="705612"/>
                  </a:lnTo>
                  <a:lnTo>
                    <a:pt x="2159287" y="696362"/>
                  </a:lnTo>
                  <a:lnTo>
                    <a:pt x="2196671" y="671147"/>
                  </a:lnTo>
                  <a:lnTo>
                    <a:pt x="2221886" y="633763"/>
                  </a:lnTo>
                  <a:lnTo>
                    <a:pt x="2231136" y="588010"/>
                  </a:lnTo>
                  <a:lnTo>
                    <a:pt x="2231136" y="117602"/>
                  </a:lnTo>
                  <a:lnTo>
                    <a:pt x="2221886" y="71848"/>
                  </a:lnTo>
                  <a:lnTo>
                    <a:pt x="2196671" y="34464"/>
                  </a:lnTo>
                  <a:lnTo>
                    <a:pt x="2159287" y="9249"/>
                  </a:lnTo>
                  <a:lnTo>
                    <a:pt x="21135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7">
              <a:extLst>
                <a:ext uri="{FF2B5EF4-FFF2-40B4-BE49-F238E27FC236}">
                  <a16:creationId xmlns:a16="http://schemas.microsoft.com/office/drawing/2014/main" id="{DE9059DD-4DE3-BA6D-DAB3-FE915409AA02}"/>
                </a:ext>
              </a:extLst>
            </p:cNvPr>
            <p:cNvSpPr/>
            <p:nvPr/>
          </p:nvSpPr>
          <p:spPr>
            <a:xfrm>
              <a:off x="7606283" y="4221479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20">
                  <a:moveTo>
                    <a:pt x="0" y="117602"/>
                  </a:moveTo>
                  <a:lnTo>
                    <a:pt x="9249" y="71848"/>
                  </a:lnTo>
                  <a:lnTo>
                    <a:pt x="34464" y="34464"/>
                  </a:lnTo>
                  <a:lnTo>
                    <a:pt x="71848" y="9249"/>
                  </a:lnTo>
                  <a:lnTo>
                    <a:pt x="117601" y="0"/>
                  </a:lnTo>
                  <a:lnTo>
                    <a:pt x="2113534" y="0"/>
                  </a:lnTo>
                  <a:lnTo>
                    <a:pt x="2159287" y="9249"/>
                  </a:lnTo>
                  <a:lnTo>
                    <a:pt x="2196671" y="34464"/>
                  </a:lnTo>
                  <a:lnTo>
                    <a:pt x="2221886" y="71848"/>
                  </a:lnTo>
                  <a:lnTo>
                    <a:pt x="2231136" y="117602"/>
                  </a:lnTo>
                  <a:lnTo>
                    <a:pt x="2231136" y="588010"/>
                  </a:lnTo>
                  <a:lnTo>
                    <a:pt x="2221886" y="633763"/>
                  </a:lnTo>
                  <a:lnTo>
                    <a:pt x="2196671" y="671147"/>
                  </a:lnTo>
                  <a:lnTo>
                    <a:pt x="2159287" y="696362"/>
                  </a:lnTo>
                  <a:lnTo>
                    <a:pt x="2113534" y="705612"/>
                  </a:lnTo>
                  <a:lnTo>
                    <a:pt x="117601" y="705612"/>
                  </a:lnTo>
                  <a:lnTo>
                    <a:pt x="71848" y="696362"/>
                  </a:lnTo>
                  <a:lnTo>
                    <a:pt x="34464" y="671147"/>
                  </a:lnTo>
                  <a:lnTo>
                    <a:pt x="9249" y="633763"/>
                  </a:lnTo>
                  <a:lnTo>
                    <a:pt x="0" y="588010"/>
                  </a:lnTo>
                  <a:lnTo>
                    <a:pt x="0" y="11760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8">
            <a:extLst>
              <a:ext uri="{FF2B5EF4-FFF2-40B4-BE49-F238E27FC236}">
                <a16:creationId xmlns:a16="http://schemas.microsoft.com/office/drawing/2014/main" id="{E09660D6-9866-9946-F8B8-6F0097746975}"/>
              </a:ext>
            </a:extLst>
          </p:cNvPr>
          <p:cNvSpPr txBox="1"/>
          <p:nvPr/>
        </p:nvSpPr>
        <p:spPr>
          <a:xfrm>
            <a:off x="7837333" y="4491474"/>
            <a:ext cx="1881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Méthode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d'instance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B2BBEBDD-F475-B386-BD7F-9F0DABC41DB4}"/>
              </a:ext>
            </a:extLst>
          </p:cNvPr>
          <p:cNvSpPr/>
          <p:nvPr/>
        </p:nvSpPr>
        <p:spPr>
          <a:xfrm>
            <a:off x="5569368" y="4638031"/>
            <a:ext cx="2094864" cy="226060"/>
          </a:xfrm>
          <a:custGeom>
            <a:avLst/>
            <a:gdLst/>
            <a:ahLst/>
            <a:cxnLst/>
            <a:rect l="l" t="t" r="r" b="b"/>
            <a:pathLst>
              <a:path w="2094865" h="226060">
                <a:moveTo>
                  <a:pt x="109600" y="112140"/>
                </a:moveTo>
                <a:lnTo>
                  <a:pt x="0" y="177672"/>
                </a:lnTo>
                <a:lnTo>
                  <a:pt x="118236" y="226059"/>
                </a:lnTo>
                <a:lnTo>
                  <a:pt x="115464" y="189483"/>
                </a:lnTo>
                <a:lnTo>
                  <a:pt x="96392" y="189483"/>
                </a:lnTo>
                <a:lnTo>
                  <a:pt x="93598" y="151510"/>
                </a:lnTo>
                <a:lnTo>
                  <a:pt x="112477" y="150079"/>
                </a:lnTo>
                <a:lnTo>
                  <a:pt x="109600" y="112140"/>
                </a:lnTo>
                <a:close/>
              </a:path>
              <a:path w="2094865" h="226060">
                <a:moveTo>
                  <a:pt x="112477" y="150079"/>
                </a:moveTo>
                <a:lnTo>
                  <a:pt x="93598" y="151510"/>
                </a:lnTo>
                <a:lnTo>
                  <a:pt x="96392" y="189483"/>
                </a:lnTo>
                <a:lnTo>
                  <a:pt x="115355" y="188047"/>
                </a:lnTo>
                <a:lnTo>
                  <a:pt x="112477" y="150079"/>
                </a:lnTo>
                <a:close/>
              </a:path>
              <a:path w="2094865" h="226060">
                <a:moveTo>
                  <a:pt x="115355" y="188047"/>
                </a:moveTo>
                <a:lnTo>
                  <a:pt x="96392" y="189483"/>
                </a:lnTo>
                <a:lnTo>
                  <a:pt x="115464" y="189483"/>
                </a:lnTo>
                <a:lnTo>
                  <a:pt x="115355" y="188047"/>
                </a:lnTo>
                <a:close/>
              </a:path>
              <a:path w="2094865" h="226060">
                <a:moveTo>
                  <a:pt x="2091435" y="0"/>
                </a:moveTo>
                <a:lnTo>
                  <a:pt x="112477" y="150079"/>
                </a:lnTo>
                <a:lnTo>
                  <a:pt x="115355" y="188047"/>
                </a:lnTo>
                <a:lnTo>
                  <a:pt x="2094356" y="38100"/>
                </a:lnTo>
                <a:lnTo>
                  <a:pt x="209143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20">
            <a:extLst>
              <a:ext uri="{FF2B5EF4-FFF2-40B4-BE49-F238E27FC236}">
                <a16:creationId xmlns:a16="http://schemas.microsoft.com/office/drawing/2014/main" id="{60A5320D-A0D9-4EFC-3A8D-81FECB07C0CD}"/>
              </a:ext>
            </a:extLst>
          </p:cNvPr>
          <p:cNvGrpSpPr/>
          <p:nvPr/>
        </p:nvGrpSpPr>
        <p:grpSpPr>
          <a:xfrm>
            <a:off x="7661057" y="2587244"/>
            <a:ext cx="2244090" cy="718820"/>
            <a:chOff x="6652006" y="2447289"/>
            <a:chExt cx="2244090" cy="718820"/>
          </a:xfrm>
        </p:grpSpPr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1BB8145D-A35D-E979-3236-3341B7C8B795}"/>
                </a:ext>
              </a:extLst>
            </p:cNvPr>
            <p:cNvSpPr/>
            <p:nvPr/>
          </p:nvSpPr>
          <p:spPr>
            <a:xfrm>
              <a:off x="6658356" y="2453639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19">
                  <a:moveTo>
                    <a:pt x="2113534" y="0"/>
                  </a:moveTo>
                  <a:lnTo>
                    <a:pt x="117601" y="0"/>
                  </a:lnTo>
                  <a:lnTo>
                    <a:pt x="71848" y="9249"/>
                  </a:lnTo>
                  <a:lnTo>
                    <a:pt x="34464" y="34464"/>
                  </a:lnTo>
                  <a:lnTo>
                    <a:pt x="9249" y="71848"/>
                  </a:lnTo>
                  <a:lnTo>
                    <a:pt x="0" y="117601"/>
                  </a:lnTo>
                  <a:lnTo>
                    <a:pt x="0" y="588010"/>
                  </a:lnTo>
                  <a:lnTo>
                    <a:pt x="9249" y="633763"/>
                  </a:lnTo>
                  <a:lnTo>
                    <a:pt x="34464" y="671147"/>
                  </a:lnTo>
                  <a:lnTo>
                    <a:pt x="71848" y="696362"/>
                  </a:lnTo>
                  <a:lnTo>
                    <a:pt x="117601" y="705612"/>
                  </a:lnTo>
                  <a:lnTo>
                    <a:pt x="2113534" y="705612"/>
                  </a:lnTo>
                  <a:lnTo>
                    <a:pt x="2159287" y="696362"/>
                  </a:lnTo>
                  <a:lnTo>
                    <a:pt x="2196671" y="671147"/>
                  </a:lnTo>
                  <a:lnTo>
                    <a:pt x="2221886" y="633763"/>
                  </a:lnTo>
                  <a:lnTo>
                    <a:pt x="2231136" y="588010"/>
                  </a:lnTo>
                  <a:lnTo>
                    <a:pt x="2231136" y="117601"/>
                  </a:lnTo>
                  <a:lnTo>
                    <a:pt x="2221886" y="71848"/>
                  </a:lnTo>
                  <a:lnTo>
                    <a:pt x="2196671" y="34464"/>
                  </a:lnTo>
                  <a:lnTo>
                    <a:pt x="2159287" y="9249"/>
                  </a:lnTo>
                  <a:lnTo>
                    <a:pt x="211353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22">
              <a:extLst>
                <a:ext uri="{FF2B5EF4-FFF2-40B4-BE49-F238E27FC236}">
                  <a16:creationId xmlns:a16="http://schemas.microsoft.com/office/drawing/2014/main" id="{1CCEA1FE-A9DC-FD83-50BA-3BCFAAD0F2B2}"/>
                </a:ext>
              </a:extLst>
            </p:cNvPr>
            <p:cNvSpPr/>
            <p:nvPr/>
          </p:nvSpPr>
          <p:spPr>
            <a:xfrm>
              <a:off x="6658356" y="2453639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19">
                  <a:moveTo>
                    <a:pt x="0" y="117601"/>
                  </a:moveTo>
                  <a:lnTo>
                    <a:pt x="9249" y="71848"/>
                  </a:lnTo>
                  <a:lnTo>
                    <a:pt x="34464" y="34464"/>
                  </a:lnTo>
                  <a:lnTo>
                    <a:pt x="71848" y="9249"/>
                  </a:lnTo>
                  <a:lnTo>
                    <a:pt x="117601" y="0"/>
                  </a:lnTo>
                  <a:lnTo>
                    <a:pt x="2113534" y="0"/>
                  </a:lnTo>
                  <a:lnTo>
                    <a:pt x="2159287" y="9249"/>
                  </a:lnTo>
                  <a:lnTo>
                    <a:pt x="2196671" y="34464"/>
                  </a:lnTo>
                  <a:lnTo>
                    <a:pt x="2221886" y="71848"/>
                  </a:lnTo>
                  <a:lnTo>
                    <a:pt x="2231136" y="117601"/>
                  </a:lnTo>
                  <a:lnTo>
                    <a:pt x="2231136" y="588010"/>
                  </a:lnTo>
                  <a:lnTo>
                    <a:pt x="2221886" y="633763"/>
                  </a:lnTo>
                  <a:lnTo>
                    <a:pt x="2196671" y="671147"/>
                  </a:lnTo>
                  <a:lnTo>
                    <a:pt x="2159287" y="696362"/>
                  </a:lnTo>
                  <a:lnTo>
                    <a:pt x="2113534" y="705612"/>
                  </a:lnTo>
                  <a:lnTo>
                    <a:pt x="117601" y="705612"/>
                  </a:lnTo>
                  <a:lnTo>
                    <a:pt x="71848" y="696362"/>
                  </a:lnTo>
                  <a:lnTo>
                    <a:pt x="34464" y="671147"/>
                  </a:lnTo>
                  <a:lnTo>
                    <a:pt x="9249" y="633763"/>
                  </a:lnTo>
                  <a:lnTo>
                    <a:pt x="0" y="588010"/>
                  </a:lnTo>
                  <a:lnTo>
                    <a:pt x="0" y="117601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23">
            <a:extLst>
              <a:ext uri="{FF2B5EF4-FFF2-40B4-BE49-F238E27FC236}">
                <a16:creationId xmlns:a16="http://schemas.microsoft.com/office/drawing/2014/main" id="{143BFE3D-45CB-7E34-C683-1CE1FF3AC45D}"/>
              </a:ext>
            </a:extLst>
          </p:cNvPr>
          <p:cNvSpPr txBox="1"/>
          <p:nvPr/>
        </p:nvSpPr>
        <p:spPr>
          <a:xfrm>
            <a:off x="7938424" y="2781758"/>
            <a:ext cx="1689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Méthode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statique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24">
            <a:extLst>
              <a:ext uri="{FF2B5EF4-FFF2-40B4-BE49-F238E27FC236}">
                <a16:creationId xmlns:a16="http://schemas.microsoft.com/office/drawing/2014/main" id="{D8E1624A-DC76-4388-A2D2-ECF81F4D2C35}"/>
              </a:ext>
            </a:extLst>
          </p:cNvPr>
          <p:cNvSpPr/>
          <p:nvPr/>
        </p:nvSpPr>
        <p:spPr>
          <a:xfrm>
            <a:off x="6096000" y="2937256"/>
            <a:ext cx="1565057" cy="1127125"/>
          </a:xfrm>
          <a:custGeom>
            <a:avLst/>
            <a:gdLst/>
            <a:ahLst/>
            <a:cxnLst/>
            <a:rect l="l" t="t" r="r" b="b"/>
            <a:pathLst>
              <a:path w="984884" h="1127125">
                <a:moveTo>
                  <a:pt x="31877" y="1003300"/>
                </a:moveTo>
                <a:lnTo>
                  <a:pt x="0" y="1126998"/>
                </a:lnTo>
                <a:lnTo>
                  <a:pt x="118110" y="1078357"/>
                </a:lnTo>
                <a:lnTo>
                  <a:pt x="105853" y="1067689"/>
                </a:lnTo>
                <a:lnTo>
                  <a:pt x="76962" y="1067689"/>
                </a:lnTo>
                <a:lnTo>
                  <a:pt x="48133" y="1042669"/>
                </a:lnTo>
                <a:lnTo>
                  <a:pt x="60623" y="1028321"/>
                </a:lnTo>
                <a:lnTo>
                  <a:pt x="31877" y="1003300"/>
                </a:lnTo>
                <a:close/>
              </a:path>
              <a:path w="984884" h="1127125">
                <a:moveTo>
                  <a:pt x="60623" y="1028321"/>
                </a:moveTo>
                <a:lnTo>
                  <a:pt x="48133" y="1042669"/>
                </a:lnTo>
                <a:lnTo>
                  <a:pt x="76962" y="1067689"/>
                </a:lnTo>
                <a:lnTo>
                  <a:pt x="89414" y="1053380"/>
                </a:lnTo>
                <a:lnTo>
                  <a:pt x="60623" y="1028321"/>
                </a:lnTo>
                <a:close/>
              </a:path>
              <a:path w="984884" h="1127125">
                <a:moveTo>
                  <a:pt x="89414" y="1053380"/>
                </a:moveTo>
                <a:lnTo>
                  <a:pt x="76962" y="1067689"/>
                </a:lnTo>
                <a:lnTo>
                  <a:pt x="105853" y="1067689"/>
                </a:lnTo>
                <a:lnTo>
                  <a:pt x="89414" y="1053380"/>
                </a:lnTo>
                <a:close/>
              </a:path>
              <a:path w="984884" h="1127125">
                <a:moveTo>
                  <a:pt x="955801" y="0"/>
                </a:moveTo>
                <a:lnTo>
                  <a:pt x="60623" y="1028321"/>
                </a:lnTo>
                <a:lnTo>
                  <a:pt x="89414" y="1053380"/>
                </a:lnTo>
                <a:lnTo>
                  <a:pt x="984503" y="24891"/>
                </a:lnTo>
                <a:lnTo>
                  <a:pt x="95580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25">
            <a:extLst>
              <a:ext uri="{FF2B5EF4-FFF2-40B4-BE49-F238E27FC236}">
                <a16:creationId xmlns:a16="http://schemas.microsoft.com/office/drawing/2014/main" id="{3924B481-1397-F260-0D82-4FE46C974317}"/>
              </a:ext>
            </a:extLst>
          </p:cNvPr>
          <p:cNvGrpSpPr/>
          <p:nvPr/>
        </p:nvGrpSpPr>
        <p:grpSpPr>
          <a:xfrm>
            <a:off x="5569368" y="5926836"/>
            <a:ext cx="2244090" cy="718820"/>
            <a:chOff x="5787897" y="5736082"/>
            <a:chExt cx="2244090" cy="718820"/>
          </a:xfrm>
        </p:grpSpPr>
        <p:sp>
          <p:nvSpPr>
            <p:cNvPr id="17" name="object 26">
              <a:extLst>
                <a:ext uri="{FF2B5EF4-FFF2-40B4-BE49-F238E27FC236}">
                  <a16:creationId xmlns:a16="http://schemas.microsoft.com/office/drawing/2014/main" id="{1351E84B-A512-1142-EBEF-C92AA45850C0}"/>
                </a:ext>
              </a:extLst>
            </p:cNvPr>
            <p:cNvSpPr/>
            <p:nvPr/>
          </p:nvSpPr>
          <p:spPr>
            <a:xfrm>
              <a:off x="5794247" y="5742432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20">
                  <a:moveTo>
                    <a:pt x="2113533" y="0"/>
                  </a:moveTo>
                  <a:lnTo>
                    <a:pt x="117601" y="0"/>
                  </a:lnTo>
                  <a:lnTo>
                    <a:pt x="71848" y="9242"/>
                  </a:lnTo>
                  <a:lnTo>
                    <a:pt x="34464" y="34445"/>
                  </a:lnTo>
                  <a:lnTo>
                    <a:pt x="9249" y="71826"/>
                  </a:lnTo>
                  <a:lnTo>
                    <a:pt x="0" y="117602"/>
                  </a:lnTo>
                  <a:lnTo>
                    <a:pt x="0" y="588010"/>
                  </a:lnTo>
                  <a:lnTo>
                    <a:pt x="9249" y="633785"/>
                  </a:lnTo>
                  <a:lnTo>
                    <a:pt x="34464" y="671166"/>
                  </a:lnTo>
                  <a:lnTo>
                    <a:pt x="71848" y="696369"/>
                  </a:lnTo>
                  <a:lnTo>
                    <a:pt x="117601" y="705612"/>
                  </a:lnTo>
                  <a:lnTo>
                    <a:pt x="2113533" y="705612"/>
                  </a:lnTo>
                  <a:lnTo>
                    <a:pt x="2159287" y="696369"/>
                  </a:lnTo>
                  <a:lnTo>
                    <a:pt x="2196671" y="671166"/>
                  </a:lnTo>
                  <a:lnTo>
                    <a:pt x="2221886" y="633785"/>
                  </a:lnTo>
                  <a:lnTo>
                    <a:pt x="2231135" y="588010"/>
                  </a:lnTo>
                  <a:lnTo>
                    <a:pt x="2231135" y="117602"/>
                  </a:lnTo>
                  <a:lnTo>
                    <a:pt x="2221886" y="71826"/>
                  </a:lnTo>
                  <a:lnTo>
                    <a:pt x="2196671" y="34445"/>
                  </a:lnTo>
                  <a:lnTo>
                    <a:pt x="2159287" y="9242"/>
                  </a:lnTo>
                  <a:lnTo>
                    <a:pt x="211353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7">
              <a:extLst>
                <a:ext uri="{FF2B5EF4-FFF2-40B4-BE49-F238E27FC236}">
                  <a16:creationId xmlns:a16="http://schemas.microsoft.com/office/drawing/2014/main" id="{B4BDCDE7-C30D-2DA8-A74C-8EEB432D460C}"/>
                </a:ext>
              </a:extLst>
            </p:cNvPr>
            <p:cNvSpPr/>
            <p:nvPr/>
          </p:nvSpPr>
          <p:spPr>
            <a:xfrm>
              <a:off x="5794247" y="5742432"/>
              <a:ext cx="2231390" cy="706120"/>
            </a:xfrm>
            <a:custGeom>
              <a:avLst/>
              <a:gdLst/>
              <a:ahLst/>
              <a:cxnLst/>
              <a:rect l="l" t="t" r="r" b="b"/>
              <a:pathLst>
                <a:path w="2231390" h="706120">
                  <a:moveTo>
                    <a:pt x="0" y="117602"/>
                  </a:moveTo>
                  <a:lnTo>
                    <a:pt x="9249" y="71826"/>
                  </a:lnTo>
                  <a:lnTo>
                    <a:pt x="34464" y="34445"/>
                  </a:lnTo>
                  <a:lnTo>
                    <a:pt x="71848" y="9242"/>
                  </a:lnTo>
                  <a:lnTo>
                    <a:pt x="117601" y="0"/>
                  </a:lnTo>
                  <a:lnTo>
                    <a:pt x="2113533" y="0"/>
                  </a:lnTo>
                  <a:lnTo>
                    <a:pt x="2159287" y="9242"/>
                  </a:lnTo>
                  <a:lnTo>
                    <a:pt x="2196671" y="34445"/>
                  </a:lnTo>
                  <a:lnTo>
                    <a:pt x="2221886" y="71826"/>
                  </a:lnTo>
                  <a:lnTo>
                    <a:pt x="2231135" y="117602"/>
                  </a:lnTo>
                  <a:lnTo>
                    <a:pt x="2231135" y="588010"/>
                  </a:lnTo>
                  <a:lnTo>
                    <a:pt x="2221886" y="633785"/>
                  </a:lnTo>
                  <a:lnTo>
                    <a:pt x="2196671" y="671166"/>
                  </a:lnTo>
                  <a:lnTo>
                    <a:pt x="2159287" y="696369"/>
                  </a:lnTo>
                  <a:lnTo>
                    <a:pt x="2113533" y="705612"/>
                  </a:lnTo>
                  <a:lnTo>
                    <a:pt x="117601" y="705612"/>
                  </a:lnTo>
                  <a:lnTo>
                    <a:pt x="71848" y="696369"/>
                  </a:lnTo>
                  <a:lnTo>
                    <a:pt x="34464" y="671166"/>
                  </a:lnTo>
                  <a:lnTo>
                    <a:pt x="9249" y="633785"/>
                  </a:lnTo>
                  <a:lnTo>
                    <a:pt x="0" y="588010"/>
                  </a:lnTo>
                  <a:lnTo>
                    <a:pt x="0" y="117602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8">
            <a:extLst>
              <a:ext uri="{FF2B5EF4-FFF2-40B4-BE49-F238E27FC236}">
                <a16:creationId xmlns:a16="http://schemas.microsoft.com/office/drawing/2014/main" id="{8E1D4FC4-A0F4-2CD0-8538-3184E87109B5}"/>
              </a:ext>
            </a:extLst>
          </p:cNvPr>
          <p:cNvSpPr txBox="1"/>
          <p:nvPr/>
        </p:nvSpPr>
        <p:spPr>
          <a:xfrm>
            <a:off x="5847372" y="6121958"/>
            <a:ext cx="1689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Méthode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statique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9">
            <a:extLst>
              <a:ext uri="{FF2B5EF4-FFF2-40B4-BE49-F238E27FC236}">
                <a16:creationId xmlns:a16="http://schemas.microsoft.com/office/drawing/2014/main" id="{F6FD7CA1-FB5D-50E5-B971-5FF4FE1CEE6A}"/>
              </a:ext>
            </a:extLst>
          </p:cNvPr>
          <p:cNvSpPr/>
          <p:nvPr/>
        </p:nvSpPr>
        <p:spPr>
          <a:xfrm>
            <a:off x="3796449" y="5648832"/>
            <a:ext cx="1786889" cy="692785"/>
          </a:xfrm>
          <a:custGeom>
            <a:avLst/>
            <a:gdLst/>
            <a:ahLst/>
            <a:cxnLst/>
            <a:rect l="l" t="t" r="r" b="b"/>
            <a:pathLst>
              <a:path w="1786889" h="692785">
                <a:moveTo>
                  <a:pt x="113755" y="35714"/>
                </a:moveTo>
                <a:lnTo>
                  <a:pt x="100482" y="71503"/>
                </a:lnTo>
                <a:lnTo>
                  <a:pt x="1773427" y="692238"/>
                </a:lnTo>
                <a:lnTo>
                  <a:pt x="1786636" y="656513"/>
                </a:lnTo>
                <a:lnTo>
                  <a:pt x="113755" y="35714"/>
                </a:lnTo>
                <a:close/>
              </a:path>
              <a:path w="1786889" h="692785">
                <a:moveTo>
                  <a:pt x="127000" y="0"/>
                </a:moveTo>
                <a:lnTo>
                  <a:pt x="0" y="13843"/>
                </a:lnTo>
                <a:lnTo>
                  <a:pt x="87249" y="107188"/>
                </a:lnTo>
                <a:lnTo>
                  <a:pt x="100482" y="71503"/>
                </a:lnTo>
                <a:lnTo>
                  <a:pt x="82676" y="64897"/>
                </a:lnTo>
                <a:lnTo>
                  <a:pt x="95885" y="29083"/>
                </a:lnTo>
                <a:lnTo>
                  <a:pt x="116214" y="29083"/>
                </a:lnTo>
                <a:lnTo>
                  <a:pt x="127000" y="0"/>
                </a:lnTo>
                <a:close/>
              </a:path>
              <a:path w="1786889" h="692785">
                <a:moveTo>
                  <a:pt x="95885" y="29083"/>
                </a:moveTo>
                <a:lnTo>
                  <a:pt x="82676" y="64897"/>
                </a:lnTo>
                <a:lnTo>
                  <a:pt x="100482" y="71503"/>
                </a:lnTo>
                <a:lnTo>
                  <a:pt x="113755" y="35714"/>
                </a:lnTo>
                <a:lnTo>
                  <a:pt x="95885" y="29083"/>
                </a:lnTo>
                <a:close/>
              </a:path>
              <a:path w="1786889" h="692785">
                <a:moveTo>
                  <a:pt x="116214" y="29083"/>
                </a:moveTo>
                <a:lnTo>
                  <a:pt x="95885" y="29083"/>
                </a:lnTo>
                <a:lnTo>
                  <a:pt x="113755" y="35714"/>
                </a:lnTo>
                <a:lnTo>
                  <a:pt x="116214" y="2908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659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Méthode d’instance</a:t>
            </a:r>
          </a:p>
          <a:p>
            <a:endParaRPr lang="fr-FR" sz="2400" dirty="0"/>
          </a:p>
          <a:p>
            <a:pPr marL="240665" indent="-227965"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Disponible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partir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variable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2D48952-BCAB-227D-C2CA-306B1102A762}"/>
              </a:ext>
            </a:extLst>
          </p:cNvPr>
          <p:cNvSpPr txBox="1"/>
          <p:nvPr/>
        </p:nvSpPr>
        <p:spPr>
          <a:xfrm>
            <a:off x="2177145" y="324907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création dans une classe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IsValidPercentage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 &gt;= 0 &amp;&amp; value &lt;= 100;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myObject.IsValidPercentage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(50);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730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3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Méthode statique</a:t>
            </a:r>
          </a:p>
          <a:p>
            <a:r>
              <a:rPr lang="fr-FR" b="1" dirty="0"/>
              <a:t>(méthode de classe)</a:t>
            </a:r>
            <a:endParaRPr lang="fr-FR" sz="2400" b="1" dirty="0"/>
          </a:p>
          <a:p>
            <a:endParaRPr lang="fr-FR" sz="2400" dirty="0"/>
          </a:p>
          <a:p>
            <a:pPr marL="240665" indent="-227965"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Disponible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partir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4E5D52-1437-158C-C93E-84CD9F05253D}"/>
              </a:ext>
            </a:extLst>
          </p:cNvPr>
          <p:cNvSpPr txBox="1"/>
          <p:nvPr/>
        </p:nvSpPr>
        <p:spPr>
          <a:xfrm>
            <a:off x="2198913" y="325058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création dans une classe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static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IsValidPercentage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 &gt;= 0 &amp;&amp; value &lt;= 100;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MyClass.IsValidPercentage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(50);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02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169664"/>
            <a:ext cx="10525539" cy="203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obligatoirement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elle-</a:t>
            </a:r>
            <a:r>
              <a:rPr lang="fr-FR" sz="2000" dirty="0">
                <a:latin typeface="Segoe UI"/>
                <a:cs typeface="Segoe UI"/>
              </a:rPr>
              <a:t>même définie dans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namespace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mot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clé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'</a:t>
            </a:r>
            <a:r>
              <a:rPr lang="fr-FR" sz="2000" dirty="0" err="1">
                <a:latin typeface="Segoe UI"/>
                <a:cs typeface="Segoe UI"/>
              </a:rPr>
              <a:t>static</a:t>
            </a:r>
            <a:r>
              <a:rPr lang="fr-FR" sz="2000" dirty="0">
                <a:latin typeface="Segoe UI"/>
                <a:cs typeface="Segoe UI"/>
              </a:rPr>
              <a:t>'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permettra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faire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différence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entre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méthodes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06EDCD0-A757-E474-EF74-D97D3CBE929A}"/>
              </a:ext>
            </a:extLst>
          </p:cNvPr>
          <p:cNvSpPr txBox="1"/>
          <p:nvPr/>
        </p:nvSpPr>
        <p:spPr>
          <a:xfrm>
            <a:off x="2329543" y="318178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MyClass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MyStaticMethod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734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169664"/>
            <a:ext cx="10525539" cy="1379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665" indent="-227965"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retourner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valeur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non</a:t>
            </a: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2E74F7-6D40-0ABB-4246-73A754D768D9}"/>
              </a:ext>
            </a:extLst>
          </p:cNvPr>
          <p:cNvSpPr txBox="1"/>
          <p:nvPr/>
        </p:nvSpPr>
        <p:spPr>
          <a:xfrm>
            <a:off x="2177143" y="2600312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IsValidPercentage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value)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DisplayMessage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message)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myVar.IsValidPercentage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(50);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myVar.DisplayMessage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World"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7259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Surcharge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surchargées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jouant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nombre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paramètres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54AFBA-BEC1-44AB-C3C2-B5938F8AE5B7}"/>
              </a:ext>
            </a:extLst>
          </p:cNvPr>
          <p:cNvSpPr txBox="1"/>
          <p:nvPr/>
        </p:nvSpPr>
        <p:spPr>
          <a:xfrm>
            <a:off x="2242457" y="370270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x) {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x,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y) {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y) { 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1854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7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Mot clé « params »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'params'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70" dirty="0">
                <a:latin typeface="Segoe UI"/>
                <a:cs typeface="Segoe UI"/>
              </a:rPr>
              <a:t> la création d’une fonction d’un </a:t>
            </a:r>
            <a:r>
              <a:rPr lang="fr-FR" sz="2400" dirty="0">
                <a:latin typeface="Segoe UI"/>
                <a:cs typeface="Segoe UI"/>
              </a:rPr>
              <a:t>nombre d’</a:t>
            </a:r>
            <a:r>
              <a:rPr lang="fr-FR" sz="2400" spc="-10" dirty="0">
                <a:latin typeface="Segoe UI"/>
                <a:cs typeface="Segoe UI"/>
              </a:rPr>
              <a:t>éléments inconnu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éléments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doivent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être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même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type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'params'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utilisé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uniquement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tant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dernier</a:t>
            </a:r>
            <a:r>
              <a:rPr lang="fr-FR" sz="20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paramètre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AB0C354-2337-C424-8F90-F7281C40B119}"/>
              </a:ext>
            </a:extLst>
          </p:cNvPr>
          <p:cNvSpPr txBox="1"/>
          <p:nvPr/>
        </p:nvSpPr>
        <p:spPr>
          <a:xfrm>
            <a:off x="2481942" y="400566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params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amount)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result1 = Sum(50, 70);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result2 = Sum(40, 30, 120);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result3 = Sum(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{ 34, 87 });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4437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Optionnels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paramètres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optionnels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88CF15-A62A-05C8-FB31-2777AFF592F2}"/>
              </a:ext>
            </a:extLst>
          </p:cNvPr>
          <p:cNvSpPr txBox="1"/>
          <p:nvPr/>
        </p:nvSpPr>
        <p:spPr>
          <a:xfrm>
            <a:off x="2362199" y="3097503"/>
            <a:ext cx="84799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MyMethod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"3A"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hp = 110)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"Renaud"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 90);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"DMW"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"Série A"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"Hoodie"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9541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Méthodes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paramètres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nommés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l'appel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A8BFA54-5FED-A694-99AC-80A99C4E7911}"/>
              </a:ext>
            </a:extLst>
          </p:cNvPr>
          <p:cNvSpPr txBox="1"/>
          <p:nvPr/>
        </p:nvSpPr>
        <p:spPr>
          <a:xfrm>
            <a:off x="1872343" y="2857810"/>
            <a:ext cx="94980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MyMethod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brand,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"3A"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hp = 110)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utilisation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(brand: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Mercado-Bunz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"Classe 1"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hp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: 150);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hp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: 70, brand: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"Citron"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myVar.MyMethod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(brand: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"Cageot"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9862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</a:t>
            </a:r>
            <a:r>
              <a:rPr lang="fr-FR" sz="3200">
                <a:solidFill>
                  <a:schemeClr val="bg1"/>
                </a:solidFill>
              </a:rPr>
              <a:t>Méthodes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1457</Words>
  <Application>Microsoft Office PowerPoint</Application>
  <PresentationFormat>Grand écran</PresentationFormat>
  <Paragraphs>331</Paragraphs>
  <Slides>31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Cascadia Mono</vt:lpstr>
      <vt:lpstr>Consolas</vt:lpstr>
      <vt:lpstr>Segoe UI</vt:lpstr>
      <vt:lpstr>Thème Office</vt:lpstr>
      <vt:lpstr>Bases du C# - partie 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38</cp:revision>
  <dcterms:created xsi:type="dcterms:W3CDTF">2021-02-04T09:09:06Z</dcterms:created>
  <dcterms:modified xsi:type="dcterms:W3CDTF">2024-08-28T14:34:56Z</dcterms:modified>
</cp:coreProperties>
</file>