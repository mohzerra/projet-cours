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3" r:id="rId9"/>
    <p:sldId id="325" r:id="rId10"/>
    <p:sldId id="262" r:id="rId11"/>
    <p:sldId id="268" r:id="rId12"/>
    <p:sldId id="334" r:id="rId13"/>
    <p:sldId id="336" r:id="rId14"/>
    <p:sldId id="337" r:id="rId15"/>
    <p:sldId id="335" r:id="rId16"/>
    <p:sldId id="338" r:id="rId17"/>
    <p:sldId id="339" r:id="rId18"/>
    <p:sldId id="328" r:id="rId19"/>
    <p:sldId id="263" r:id="rId20"/>
    <p:sldId id="340" r:id="rId21"/>
    <p:sldId id="269" r:id="rId22"/>
    <p:sldId id="341" r:id="rId23"/>
    <p:sldId id="342" r:id="rId24"/>
    <p:sldId id="343" r:id="rId25"/>
    <p:sldId id="345" r:id="rId26"/>
    <p:sldId id="344" r:id="rId27"/>
    <p:sldId id="346" r:id="rId28"/>
    <p:sldId id="327" r:id="rId29"/>
    <p:sldId id="272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Bases du C# - partie 1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3ASP - C# / ASP.NET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Application Console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Variables et types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Opérateurs et conditions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Application Console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Application Console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Solution dans Visual Studio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cs typeface="Segoe UI"/>
              </a:rPr>
              <a:t>Dans</a:t>
            </a:r>
            <a:r>
              <a:rPr lang="fr-FR" sz="2400" spc="-6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Visual</a:t>
            </a:r>
            <a:r>
              <a:rPr lang="fr-FR" sz="2400" spc="-5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Studio</a:t>
            </a:r>
            <a:r>
              <a:rPr lang="fr-FR" sz="2400" spc="-6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(VS),</a:t>
            </a:r>
            <a:r>
              <a:rPr lang="fr-FR" sz="2400" spc="-6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une</a:t>
            </a:r>
            <a:r>
              <a:rPr lang="fr-FR" sz="2400" spc="-7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solution</a:t>
            </a:r>
            <a:r>
              <a:rPr lang="fr-FR" sz="2400" spc="-3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est</a:t>
            </a:r>
            <a:r>
              <a:rPr lang="fr-FR" sz="2400" spc="-80" dirty="0">
                <a:cs typeface="Segoe UI"/>
              </a:rPr>
              <a:t> </a:t>
            </a:r>
            <a:r>
              <a:rPr lang="fr-FR" sz="2400" spc="-50" dirty="0">
                <a:cs typeface="Segoe UI"/>
              </a:rPr>
              <a:t>:</a:t>
            </a:r>
            <a:endParaRPr lang="fr-FR" sz="2400" dirty="0"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cs typeface="Segoe UI"/>
              </a:rPr>
              <a:t>Un</a:t>
            </a:r>
            <a:r>
              <a:rPr lang="fr-FR" sz="2000" spc="-50" dirty="0"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cs typeface="Segoe UI"/>
              </a:rPr>
              <a:t>ensemble</a:t>
            </a:r>
            <a:r>
              <a:rPr lang="fr-FR" sz="2000" u="sng" spc="-45" dirty="0">
                <a:uFill>
                  <a:solidFill>
                    <a:srgbClr val="000000"/>
                  </a:solidFill>
                </a:uFill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cs typeface="Segoe UI"/>
              </a:rPr>
              <a:t>de</a:t>
            </a:r>
            <a:r>
              <a:rPr lang="fr-FR" sz="2000" u="sng" spc="-45" dirty="0">
                <a:uFill>
                  <a:solidFill>
                    <a:srgbClr val="000000"/>
                  </a:solidFill>
                </a:uFill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cs typeface="Segoe UI"/>
              </a:rPr>
              <a:t>projets</a:t>
            </a:r>
            <a:r>
              <a:rPr lang="fr-FR" sz="2000" spc="-3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(parfois</a:t>
            </a:r>
            <a:r>
              <a:rPr lang="fr-FR" sz="2000" spc="-5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liés</a:t>
            </a:r>
            <a:r>
              <a:rPr lang="fr-FR" sz="2000" spc="-3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entre</a:t>
            </a:r>
            <a:r>
              <a:rPr lang="fr-FR" sz="2000" spc="-50" dirty="0">
                <a:cs typeface="Segoe UI"/>
              </a:rPr>
              <a:t> </a:t>
            </a:r>
            <a:r>
              <a:rPr lang="fr-FR" sz="2000" spc="-20" dirty="0">
                <a:cs typeface="Segoe UI"/>
              </a:rPr>
              <a:t>eux)</a:t>
            </a:r>
            <a:endParaRPr lang="fr-FR" sz="2000" dirty="0"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cs typeface="Segoe UI"/>
              </a:rPr>
              <a:t>Défini</a:t>
            </a:r>
            <a:r>
              <a:rPr lang="fr-FR" sz="2000" spc="-3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dans</a:t>
            </a:r>
            <a:r>
              <a:rPr lang="fr-FR" sz="2000" spc="-3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un</a:t>
            </a:r>
            <a:r>
              <a:rPr lang="fr-FR" sz="2000" spc="-4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fichier</a:t>
            </a:r>
            <a:r>
              <a:rPr lang="fr-FR" sz="2000" spc="-15" dirty="0">
                <a:cs typeface="Segoe UI"/>
              </a:rPr>
              <a:t> </a:t>
            </a:r>
            <a:r>
              <a:rPr lang="fr-FR" sz="2000" spc="-10" dirty="0">
                <a:cs typeface="Segoe UI"/>
              </a:rPr>
              <a:t>".</a:t>
            </a:r>
            <a:r>
              <a:rPr lang="fr-FR" sz="2000" spc="-10" dirty="0" err="1">
                <a:cs typeface="Segoe UI"/>
              </a:rPr>
              <a:t>sln</a:t>
            </a:r>
            <a:r>
              <a:rPr lang="fr-FR" sz="2000" spc="-10" dirty="0">
                <a:cs typeface="Segoe UI"/>
              </a:rPr>
              <a:t>"</a:t>
            </a:r>
            <a:endParaRPr lang="fr-FR" sz="2000" dirty="0"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cs typeface="Segoe UI"/>
              </a:rPr>
              <a:t>Visible</a:t>
            </a:r>
            <a:r>
              <a:rPr lang="fr-FR" sz="2000" spc="-3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dans</a:t>
            </a:r>
            <a:r>
              <a:rPr lang="fr-FR" sz="2000" spc="-3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le</a:t>
            </a:r>
            <a:r>
              <a:rPr lang="fr-FR" sz="2000" spc="-25" dirty="0">
                <a:cs typeface="Segoe UI"/>
              </a:rPr>
              <a:t> </a:t>
            </a:r>
            <a:r>
              <a:rPr lang="fr-FR" sz="2000" spc="-10" dirty="0">
                <a:cs typeface="Segoe UI"/>
              </a:rPr>
              <a:t>"solution</a:t>
            </a:r>
            <a:r>
              <a:rPr lang="fr-FR" sz="2000" spc="-30" dirty="0">
                <a:cs typeface="Segoe UI"/>
              </a:rPr>
              <a:t> </a:t>
            </a:r>
            <a:r>
              <a:rPr lang="fr-FR" sz="2000" spc="-10" dirty="0">
                <a:cs typeface="Segoe UI"/>
              </a:rPr>
              <a:t>explorer"</a:t>
            </a:r>
            <a:endParaRPr lang="fr-FR" sz="2000" dirty="0">
              <a:cs typeface="Segoe U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lang="fr-FR" sz="2000" dirty="0">
              <a:cs typeface="Segoe UI"/>
            </a:endParaRPr>
          </a:p>
          <a:p>
            <a:pPr lvl="1">
              <a:lnSpc>
                <a:spcPct val="100000"/>
              </a:lnSpc>
              <a:spcBef>
                <a:spcPts val="975"/>
              </a:spcBef>
              <a:buFont typeface="Arial"/>
              <a:buChar char="•"/>
            </a:pPr>
            <a:endParaRPr lang="fr-FR" sz="2000" dirty="0"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cs typeface="Segoe UI"/>
              </a:rPr>
              <a:t>Dans</a:t>
            </a:r>
            <a:r>
              <a:rPr lang="fr-FR" sz="2400" spc="-5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Visual</a:t>
            </a:r>
            <a:r>
              <a:rPr lang="fr-FR" sz="2400" spc="-4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Studio</a:t>
            </a:r>
            <a:r>
              <a:rPr lang="fr-FR" sz="2400" spc="-4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Code</a:t>
            </a:r>
            <a:r>
              <a:rPr lang="fr-FR" sz="2400" spc="-6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(VS</a:t>
            </a:r>
            <a:r>
              <a:rPr lang="fr-FR" sz="2400" spc="-4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Code),</a:t>
            </a:r>
            <a:r>
              <a:rPr lang="fr-FR" sz="2400" spc="-70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le</a:t>
            </a:r>
            <a:r>
              <a:rPr lang="fr-FR" sz="2400" spc="-45" dirty="0">
                <a:cs typeface="Segoe UI"/>
              </a:rPr>
              <a:t> </a:t>
            </a:r>
            <a:r>
              <a:rPr lang="fr-FR" sz="2400" spc="-10" dirty="0">
                <a:cs typeface="Segoe UI"/>
              </a:rPr>
              <a:t>code-</a:t>
            </a:r>
            <a:r>
              <a:rPr lang="fr-FR" sz="2400" dirty="0" err="1">
                <a:cs typeface="Segoe UI"/>
              </a:rPr>
              <a:t>workspace</a:t>
            </a:r>
            <a:r>
              <a:rPr lang="fr-FR" sz="2400" spc="-45" dirty="0">
                <a:cs typeface="Segoe UI"/>
              </a:rPr>
              <a:t> </a:t>
            </a:r>
            <a:r>
              <a:rPr lang="fr-FR" sz="2400" dirty="0">
                <a:cs typeface="Segoe UI"/>
              </a:rPr>
              <a:t>est</a:t>
            </a:r>
            <a:r>
              <a:rPr lang="fr-FR" sz="2400" spc="-75" dirty="0">
                <a:cs typeface="Segoe UI"/>
              </a:rPr>
              <a:t> </a:t>
            </a:r>
            <a:r>
              <a:rPr lang="fr-FR" sz="2400" spc="-50" dirty="0">
                <a:cs typeface="Segoe UI"/>
              </a:rPr>
              <a:t>:</a:t>
            </a:r>
            <a:endParaRPr lang="fr-FR" sz="2400" dirty="0"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cs typeface="Segoe UI"/>
              </a:rPr>
              <a:t>Simplement</a:t>
            </a:r>
            <a:r>
              <a:rPr lang="fr-FR" sz="2000" spc="-2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un</a:t>
            </a:r>
            <a:r>
              <a:rPr lang="fr-FR" sz="2000" spc="-20" dirty="0"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cs typeface="Segoe UI"/>
              </a:rPr>
              <a:t>ensemble</a:t>
            </a:r>
            <a:r>
              <a:rPr lang="fr-FR" sz="2000" u="sng" spc="-20" dirty="0">
                <a:uFill>
                  <a:solidFill>
                    <a:srgbClr val="000000"/>
                  </a:solidFill>
                </a:uFill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cs typeface="Segoe UI"/>
              </a:rPr>
              <a:t>de</a:t>
            </a:r>
            <a:r>
              <a:rPr lang="fr-FR" sz="2000" u="sng" spc="-30" dirty="0">
                <a:uFill>
                  <a:solidFill>
                    <a:srgbClr val="000000"/>
                  </a:solidFill>
                </a:uFill>
                <a:cs typeface="Segoe UI"/>
              </a:rPr>
              <a:t> 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cs typeface="Segoe UI"/>
              </a:rPr>
              <a:t>dossiers</a:t>
            </a:r>
            <a:endParaRPr lang="fr-FR" sz="2000" dirty="0"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cs typeface="Segoe UI"/>
              </a:rPr>
              <a:t>Défini</a:t>
            </a:r>
            <a:r>
              <a:rPr lang="fr-FR" sz="2000" spc="-3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dans</a:t>
            </a:r>
            <a:r>
              <a:rPr lang="fr-FR" sz="2000" spc="-35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un</a:t>
            </a:r>
            <a:r>
              <a:rPr lang="fr-FR" sz="2000" spc="-40" dirty="0">
                <a:cs typeface="Segoe UI"/>
              </a:rPr>
              <a:t> </a:t>
            </a:r>
            <a:r>
              <a:rPr lang="fr-FR" sz="2000" dirty="0">
                <a:cs typeface="Segoe UI"/>
              </a:rPr>
              <a:t>fichier</a:t>
            </a:r>
            <a:r>
              <a:rPr lang="fr-FR" sz="2000" spc="-15" dirty="0">
                <a:cs typeface="Segoe UI"/>
              </a:rPr>
              <a:t> </a:t>
            </a:r>
            <a:r>
              <a:rPr lang="fr-FR" sz="2000" spc="-10" dirty="0">
                <a:cs typeface="Segoe UI"/>
              </a:rPr>
              <a:t>".code-</a:t>
            </a:r>
            <a:r>
              <a:rPr lang="fr-FR" sz="2000" spc="-10" dirty="0" err="1">
                <a:cs typeface="Segoe UI"/>
              </a:rPr>
              <a:t>workspace</a:t>
            </a:r>
            <a:r>
              <a:rPr lang="fr-FR" sz="2000" spc="-10" dirty="0">
                <a:cs typeface="Segoe UI"/>
              </a:rPr>
              <a:t>"</a:t>
            </a:r>
            <a:endParaRPr lang="fr-FR" sz="2000" dirty="0"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9AC58CE-229A-50A8-F87C-FD00DCDFB6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8996" y="2127236"/>
            <a:ext cx="2699004" cy="16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Application Console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Structure d'une application</a:t>
            </a:r>
          </a:p>
          <a:p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6DD770-562F-B57B-9783-CA7C59D09590}"/>
              </a:ext>
            </a:extLst>
          </p:cNvPr>
          <p:cNvSpPr txBox="1"/>
          <p:nvPr/>
        </p:nvSpPr>
        <p:spPr>
          <a:xfrm>
            <a:off x="844826" y="2262227"/>
            <a:ext cx="77288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MyProject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internal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Program</a:t>
            </a: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"Hello World!"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</a:endParaRP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786CCAF0-12A1-77B8-BF77-9DD7268DCD85}"/>
              </a:ext>
            </a:extLst>
          </p:cNvPr>
          <p:cNvGrpSpPr/>
          <p:nvPr/>
        </p:nvGrpSpPr>
        <p:grpSpPr>
          <a:xfrm>
            <a:off x="3321340" y="1813436"/>
            <a:ext cx="5996305" cy="682625"/>
            <a:chOff x="4627626" y="1271028"/>
            <a:chExt cx="5996305" cy="682625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8C6A1BF-17C3-C858-A1C7-835F86AF0858}"/>
                </a:ext>
              </a:extLst>
            </p:cNvPr>
            <p:cNvSpPr/>
            <p:nvPr/>
          </p:nvSpPr>
          <p:spPr>
            <a:xfrm>
              <a:off x="4627626" y="1487805"/>
              <a:ext cx="2002789" cy="466090"/>
            </a:xfrm>
            <a:custGeom>
              <a:avLst/>
              <a:gdLst/>
              <a:ahLst/>
              <a:cxnLst/>
              <a:rect l="l" t="t" r="r" b="b"/>
              <a:pathLst>
                <a:path w="2002790" h="466089">
                  <a:moveTo>
                    <a:pt x="100329" y="353695"/>
                  </a:moveTo>
                  <a:lnTo>
                    <a:pt x="0" y="432943"/>
                  </a:lnTo>
                  <a:lnTo>
                    <a:pt x="123571" y="465709"/>
                  </a:lnTo>
                  <a:lnTo>
                    <a:pt x="116614" y="432181"/>
                  </a:lnTo>
                  <a:lnTo>
                    <a:pt x="97154" y="432181"/>
                  </a:lnTo>
                  <a:lnTo>
                    <a:pt x="89408" y="394843"/>
                  </a:lnTo>
                  <a:lnTo>
                    <a:pt x="108065" y="390976"/>
                  </a:lnTo>
                  <a:lnTo>
                    <a:pt x="100329" y="353695"/>
                  </a:lnTo>
                  <a:close/>
                </a:path>
                <a:path w="2002790" h="466089">
                  <a:moveTo>
                    <a:pt x="108065" y="390976"/>
                  </a:moveTo>
                  <a:lnTo>
                    <a:pt x="89408" y="394843"/>
                  </a:lnTo>
                  <a:lnTo>
                    <a:pt x="97154" y="432181"/>
                  </a:lnTo>
                  <a:lnTo>
                    <a:pt x="115812" y="428314"/>
                  </a:lnTo>
                  <a:lnTo>
                    <a:pt x="108065" y="390976"/>
                  </a:lnTo>
                  <a:close/>
                </a:path>
                <a:path w="2002790" h="466089">
                  <a:moveTo>
                    <a:pt x="115812" y="428314"/>
                  </a:moveTo>
                  <a:lnTo>
                    <a:pt x="97154" y="432181"/>
                  </a:lnTo>
                  <a:lnTo>
                    <a:pt x="116614" y="432181"/>
                  </a:lnTo>
                  <a:lnTo>
                    <a:pt x="115812" y="428314"/>
                  </a:lnTo>
                  <a:close/>
                </a:path>
                <a:path w="2002790" h="466089">
                  <a:moveTo>
                    <a:pt x="1994662" y="0"/>
                  </a:moveTo>
                  <a:lnTo>
                    <a:pt x="108065" y="390976"/>
                  </a:lnTo>
                  <a:lnTo>
                    <a:pt x="115812" y="428314"/>
                  </a:lnTo>
                  <a:lnTo>
                    <a:pt x="2002408" y="37337"/>
                  </a:lnTo>
                  <a:lnTo>
                    <a:pt x="1994662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C39CBDF8-236A-3C5C-CB64-18767C6C6F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8920" y="1295400"/>
              <a:ext cx="4020312" cy="470915"/>
            </a:xfrm>
            <a:prstGeom prst="rect">
              <a:avLst/>
            </a:prstGeom>
          </p:spPr>
        </p:pic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5F7EE5B8-717C-C7D0-D62F-04DBB5EDDF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200" y="1271028"/>
              <a:ext cx="4070604" cy="582155"/>
            </a:xfrm>
            <a:prstGeom prst="rect">
              <a:avLst/>
            </a:prstGeom>
          </p:spPr>
        </p:pic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6C822020-3A56-7D17-5ED8-31333735BAF5}"/>
              </a:ext>
            </a:extLst>
          </p:cNvPr>
          <p:cNvSpPr txBox="1"/>
          <p:nvPr/>
        </p:nvSpPr>
        <p:spPr>
          <a:xfrm>
            <a:off x="5318542" y="1863716"/>
            <a:ext cx="3918585" cy="36893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Espace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référencé </a:t>
            </a:r>
            <a:r>
              <a:rPr sz="1800" dirty="0">
                <a:latin typeface="Calibri"/>
                <a:cs typeface="Calibri"/>
              </a:rPr>
              <a:t>dans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</a:t>
            </a:r>
            <a:r>
              <a:rPr sz="1800" spc="-10" dirty="0">
                <a:latin typeface="Calibri"/>
                <a:cs typeface="Calibri"/>
              </a:rPr>
              <a:t> fichier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ADE34764-1A3C-920A-1973-7DB2652B23F5}"/>
              </a:ext>
            </a:extLst>
          </p:cNvPr>
          <p:cNvGrpSpPr/>
          <p:nvPr/>
        </p:nvGrpSpPr>
        <p:grpSpPr>
          <a:xfrm>
            <a:off x="4270574" y="2397624"/>
            <a:ext cx="4613910" cy="684530"/>
            <a:chOff x="5054346" y="2004072"/>
            <a:chExt cx="4613910" cy="684530"/>
          </a:xfrm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158500A-71EC-3013-2BCD-1606D37AE465}"/>
                </a:ext>
              </a:extLst>
            </p:cNvPr>
            <p:cNvSpPr/>
            <p:nvPr/>
          </p:nvSpPr>
          <p:spPr>
            <a:xfrm>
              <a:off x="5054346" y="2222372"/>
              <a:ext cx="2002789" cy="466090"/>
            </a:xfrm>
            <a:custGeom>
              <a:avLst/>
              <a:gdLst/>
              <a:ahLst/>
              <a:cxnLst/>
              <a:rect l="l" t="t" r="r" b="b"/>
              <a:pathLst>
                <a:path w="2002790" h="466089">
                  <a:moveTo>
                    <a:pt x="100329" y="353694"/>
                  </a:moveTo>
                  <a:lnTo>
                    <a:pt x="0" y="432942"/>
                  </a:lnTo>
                  <a:lnTo>
                    <a:pt x="123570" y="465709"/>
                  </a:lnTo>
                  <a:lnTo>
                    <a:pt x="116614" y="432180"/>
                  </a:lnTo>
                  <a:lnTo>
                    <a:pt x="97154" y="432180"/>
                  </a:lnTo>
                  <a:lnTo>
                    <a:pt x="89407" y="394842"/>
                  </a:lnTo>
                  <a:lnTo>
                    <a:pt x="108065" y="390976"/>
                  </a:lnTo>
                  <a:lnTo>
                    <a:pt x="100329" y="353694"/>
                  </a:lnTo>
                  <a:close/>
                </a:path>
                <a:path w="2002790" h="466089">
                  <a:moveTo>
                    <a:pt x="108065" y="390976"/>
                  </a:moveTo>
                  <a:lnTo>
                    <a:pt x="89407" y="394842"/>
                  </a:lnTo>
                  <a:lnTo>
                    <a:pt x="97154" y="432180"/>
                  </a:lnTo>
                  <a:lnTo>
                    <a:pt x="115812" y="428314"/>
                  </a:lnTo>
                  <a:lnTo>
                    <a:pt x="108065" y="390976"/>
                  </a:lnTo>
                  <a:close/>
                </a:path>
                <a:path w="2002790" h="466089">
                  <a:moveTo>
                    <a:pt x="115812" y="428314"/>
                  </a:moveTo>
                  <a:lnTo>
                    <a:pt x="97154" y="432180"/>
                  </a:lnTo>
                  <a:lnTo>
                    <a:pt x="116614" y="432180"/>
                  </a:lnTo>
                  <a:lnTo>
                    <a:pt x="115812" y="428314"/>
                  </a:lnTo>
                  <a:close/>
                </a:path>
                <a:path w="2002790" h="466089">
                  <a:moveTo>
                    <a:pt x="1994661" y="0"/>
                  </a:moveTo>
                  <a:lnTo>
                    <a:pt x="108065" y="390976"/>
                  </a:lnTo>
                  <a:lnTo>
                    <a:pt x="115812" y="428314"/>
                  </a:lnTo>
                  <a:lnTo>
                    <a:pt x="2002408" y="37337"/>
                  </a:lnTo>
                  <a:lnTo>
                    <a:pt x="1994661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322CCE8A-DCE7-230C-85DF-2F4AC83773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5640" y="2029967"/>
              <a:ext cx="2621279" cy="470915"/>
            </a:xfrm>
            <a:prstGeom prst="rect">
              <a:avLst/>
            </a:prstGeom>
          </p:spPr>
        </p:pic>
        <p:pic>
          <p:nvPicPr>
            <p:cNvPr id="16" name="object 14">
              <a:extLst>
                <a:ext uri="{FF2B5EF4-FFF2-40B4-BE49-F238E27FC236}">
                  <a16:creationId xmlns:a16="http://schemas.microsoft.com/office/drawing/2014/main" id="{63333A1B-2533-EFB6-95E1-3A87E61DB2C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9920" y="2004072"/>
              <a:ext cx="2688335" cy="582155"/>
            </a:xfrm>
            <a:prstGeom prst="rect">
              <a:avLst/>
            </a:prstGeom>
          </p:spPr>
        </p:pic>
      </p:grpSp>
      <p:sp>
        <p:nvSpPr>
          <p:cNvPr id="17" name="object 15">
            <a:extLst>
              <a:ext uri="{FF2B5EF4-FFF2-40B4-BE49-F238E27FC236}">
                <a16:creationId xmlns:a16="http://schemas.microsoft.com/office/drawing/2014/main" id="{70D35C60-9458-99BC-D755-8C86F00C7C50}"/>
              </a:ext>
            </a:extLst>
          </p:cNvPr>
          <p:cNvSpPr txBox="1"/>
          <p:nvPr/>
        </p:nvSpPr>
        <p:spPr>
          <a:xfrm>
            <a:off x="6267775" y="2449428"/>
            <a:ext cx="2519680" cy="36893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2984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35"/>
              </a:spcBef>
            </a:pPr>
            <a:r>
              <a:rPr sz="1800" dirty="0">
                <a:latin typeface="Calibri"/>
                <a:cs typeface="Calibri"/>
              </a:rPr>
              <a:t>Espace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 </a:t>
            </a:r>
            <a:r>
              <a:rPr sz="1800" spc="-10" dirty="0">
                <a:latin typeface="Calibri"/>
                <a:cs typeface="Calibri"/>
              </a:rPr>
              <a:t>projet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8103461C-3969-2731-0F44-321AFC1B1233}"/>
              </a:ext>
            </a:extLst>
          </p:cNvPr>
          <p:cNvGrpSpPr/>
          <p:nvPr/>
        </p:nvGrpSpPr>
        <p:grpSpPr>
          <a:xfrm>
            <a:off x="5146657" y="3250035"/>
            <a:ext cx="5734050" cy="582295"/>
            <a:chOff x="5560314" y="3217176"/>
            <a:chExt cx="5734050" cy="582295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2ABCD69E-983A-2AA0-EE12-90B8DB5F946B}"/>
                </a:ext>
              </a:extLst>
            </p:cNvPr>
            <p:cNvSpPr/>
            <p:nvPr/>
          </p:nvSpPr>
          <p:spPr>
            <a:xfrm>
              <a:off x="5560314" y="3433571"/>
              <a:ext cx="1976755" cy="139700"/>
            </a:xfrm>
            <a:custGeom>
              <a:avLst/>
              <a:gdLst/>
              <a:ahLst/>
              <a:cxnLst/>
              <a:rect l="l" t="t" r="r" b="b"/>
              <a:pathLst>
                <a:path w="1976754" h="139700">
                  <a:moveTo>
                    <a:pt x="112268" y="25526"/>
                  </a:moveTo>
                  <a:lnTo>
                    <a:pt x="0" y="86487"/>
                  </a:lnTo>
                  <a:lnTo>
                    <a:pt x="116205" y="139700"/>
                  </a:lnTo>
                  <a:lnTo>
                    <a:pt x="114917" y="102362"/>
                  </a:lnTo>
                  <a:lnTo>
                    <a:pt x="95885" y="102362"/>
                  </a:lnTo>
                  <a:lnTo>
                    <a:pt x="94487" y="64262"/>
                  </a:lnTo>
                  <a:lnTo>
                    <a:pt x="113581" y="63609"/>
                  </a:lnTo>
                  <a:lnTo>
                    <a:pt x="112268" y="25526"/>
                  </a:lnTo>
                  <a:close/>
                </a:path>
                <a:path w="1976754" h="139700">
                  <a:moveTo>
                    <a:pt x="113581" y="63609"/>
                  </a:moveTo>
                  <a:lnTo>
                    <a:pt x="94487" y="64262"/>
                  </a:lnTo>
                  <a:lnTo>
                    <a:pt x="95885" y="102362"/>
                  </a:lnTo>
                  <a:lnTo>
                    <a:pt x="114895" y="101712"/>
                  </a:lnTo>
                  <a:lnTo>
                    <a:pt x="113581" y="63609"/>
                  </a:lnTo>
                  <a:close/>
                </a:path>
                <a:path w="1976754" h="139700">
                  <a:moveTo>
                    <a:pt x="114895" y="101712"/>
                  </a:moveTo>
                  <a:lnTo>
                    <a:pt x="95885" y="102362"/>
                  </a:lnTo>
                  <a:lnTo>
                    <a:pt x="114917" y="102362"/>
                  </a:lnTo>
                  <a:lnTo>
                    <a:pt x="114895" y="101712"/>
                  </a:lnTo>
                  <a:close/>
                </a:path>
                <a:path w="1976754" h="139700">
                  <a:moveTo>
                    <a:pt x="1975231" y="0"/>
                  </a:moveTo>
                  <a:lnTo>
                    <a:pt x="113581" y="63609"/>
                  </a:lnTo>
                  <a:lnTo>
                    <a:pt x="114895" y="101712"/>
                  </a:lnTo>
                  <a:lnTo>
                    <a:pt x="1976628" y="38100"/>
                  </a:lnTo>
                  <a:lnTo>
                    <a:pt x="1975231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8">
              <a:extLst>
                <a:ext uri="{FF2B5EF4-FFF2-40B4-BE49-F238E27FC236}">
                  <a16:creationId xmlns:a16="http://schemas.microsoft.com/office/drawing/2014/main" id="{BAABBC72-628D-7653-305D-D4325A144A1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0272" y="3241547"/>
              <a:ext cx="3784091" cy="470915"/>
            </a:xfrm>
            <a:prstGeom prst="rect">
              <a:avLst/>
            </a:prstGeom>
          </p:spPr>
        </p:pic>
        <p:pic>
          <p:nvPicPr>
            <p:cNvPr id="21" name="object 19">
              <a:extLst>
                <a:ext uri="{FF2B5EF4-FFF2-40B4-BE49-F238E27FC236}">
                  <a16:creationId xmlns:a16="http://schemas.microsoft.com/office/drawing/2014/main" id="{D1405330-6683-FA8E-7D6D-C39E2F9E1F6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3028" y="3217176"/>
              <a:ext cx="2028444" cy="582155"/>
            </a:xfrm>
            <a:prstGeom prst="rect">
              <a:avLst/>
            </a:prstGeom>
          </p:spPr>
        </p:pic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33080A0A-5FF4-18EE-7A94-C7A4A83819D8}"/>
              </a:ext>
            </a:extLst>
          </p:cNvPr>
          <p:cNvSpPr txBox="1"/>
          <p:nvPr/>
        </p:nvSpPr>
        <p:spPr>
          <a:xfrm>
            <a:off x="7122523" y="3300314"/>
            <a:ext cx="3682365" cy="36893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206BA782-1778-FAE4-D76C-4A23ED1D331D}"/>
              </a:ext>
            </a:extLst>
          </p:cNvPr>
          <p:cNvSpPr txBox="1"/>
          <p:nvPr/>
        </p:nvSpPr>
        <p:spPr>
          <a:xfrm>
            <a:off x="8489260" y="4184165"/>
            <a:ext cx="2870200" cy="64643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méthode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"main",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point</a:t>
            </a:r>
            <a:endParaRPr sz="1800" dirty="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d'entrée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0D8BEF92-D83D-0704-1C9A-66A171AFD459}"/>
              </a:ext>
            </a:extLst>
          </p:cNvPr>
          <p:cNvSpPr/>
          <p:nvPr/>
        </p:nvSpPr>
        <p:spPr>
          <a:xfrm>
            <a:off x="7967894" y="3889794"/>
            <a:ext cx="411480" cy="1182950"/>
          </a:xfrm>
          <a:custGeom>
            <a:avLst/>
            <a:gdLst/>
            <a:ahLst/>
            <a:cxnLst/>
            <a:rect l="l" t="t" r="r" b="b"/>
            <a:pathLst>
              <a:path w="411479" h="1701164">
                <a:moveTo>
                  <a:pt x="0" y="1700783"/>
                </a:moveTo>
                <a:lnTo>
                  <a:pt x="80099" y="1698089"/>
                </a:lnTo>
                <a:lnTo>
                  <a:pt x="145494" y="1690739"/>
                </a:lnTo>
                <a:lnTo>
                  <a:pt x="189577" y="1679840"/>
                </a:lnTo>
                <a:lnTo>
                  <a:pt x="205739" y="1666494"/>
                </a:lnTo>
                <a:lnTo>
                  <a:pt x="205739" y="884682"/>
                </a:lnTo>
                <a:lnTo>
                  <a:pt x="221902" y="871341"/>
                </a:lnTo>
                <a:lnTo>
                  <a:pt x="265985" y="860440"/>
                </a:lnTo>
                <a:lnTo>
                  <a:pt x="331380" y="853088"/>
                </a:lnTo>
                <a:lnTo>
                  <a:pt x="411479" y="850391"/>
                </a:lnTo>
                <a:lnTo>
                  <a:pt x="331380" y="847695"/>
                </a:lnTo>
                <a:lnTo>
                  <a:pt x="265985" y="840343"/>
                </a:lnTo>
                <a:lnTo>
                  <a:pt x="221902" y="829442"/>
                </a:lnTo>
                <a:lnTo>
                  <a:pt x="205739" y="816101"/>
                </a:lnTo>
                <a:lnTo>
                  <a:pt x="205739" y="34289"/>
                </a:lnTo>
                <a:lnTo>
                  <a:pt x="189577" y="20949"/>
                </a:lnTo>
                <a:lnTo>
                  <a:pt x="145494" y="10048"/>
                </a:lnTo>
                <a:lnTo>
                  <a:pt x="80099" y="2696"/>
                </a:lnTo>
                <a:lnTo>
                  <a:pt x="0" y="0"/>
                </a:lnTo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7E89AD86-A17B-3597-B32A-DC685125CBD3}"/>
              </a:ext>
            </a:extLst>
          </p:cNvPr>
          <p:cNvSpPr txBox="1"/>
          <p:nvPr/>
        </p:nvSpPr>
        <p:spPr>
          <a:xfrm>
            <a:off x="3826775" y="5999214"/>
            <a:ext cx="3830320" cy="37084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Console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provenant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24717E1B-408F-22F3-FB68-74249DA2665C}"/>
              </a:ext>
            </a:extLst>
          </p:cNvPr>
          <p:cNvSpPr/>
          <p:nvPr/>
        </p:nvSpPr>
        <p:spPr>
          <a:xfrm>
            <a:off x="4210060" y="5036808"/>
            <a:ext cx="583565" cy="973455"/>
          </a:xfrm>
          <a:custGeom>
            <a:avLst/>
            <a:gdLst/>
            <a:ahLst/>
            <a:cxnLst/>
            <a:rect l="l" t="t" r="r" b="b"/>
            <a:pathLst>
              <a:path w="583564" h="973454">
                <a:moveTo>
                  <a:pt x="74420" y="88791"/>
                </a:moveTo>
                <a:lnTo>
                  <a:pt x="41568" y="108163"/>
                </a:lnTo>
                <a:lnTo>
                  <a:pt x="550545" y="973035"/>
                </a:lnTo>
                <a:lnTo>
                  <a:pt x="583311" y="953706"/>
                </a:lnTo>
                <a:lnTo>
                  <a:pt x="74420" y="88791"/>
                </a:lnTo>
                <a:close/>
              </a:path>
              <a:path w="583564" h="973454">
                <a:moveTo>
                  <a:pt x="0" y="0"/>
                </a:moveTo>
                <a:lnTo>
                  <a:pt x="8762" y="127507"/>
                </a:lnTo>
                <a:lnTo>
                  <a:pt x="41568" y="108163"/>
                </a:lnTo>
                <a:lnTo>
                  <a:pt x="31877" y="91693"/>
                </a:lnTo>
                <a:lnTo>
                  <a:pt x="64770" y="72389"/>
                </a:lnTo>
                <a:lnTo>
                  <a:pt x="102234" y="72389"/>
                </a:lnTo>
                <a:lnTo>
                  <a:pt x="107187" y="69468"/>
                </a:lnTo>
                <a:lnTo>
                  <a:pt x="0" y="0"/>
                </a:lnTo>
                <a:close/>
              </a:path>
              <a:path w="583564" h="973454">
                <a:moveTo>
                  <a:pt x="64770" y="72389"/>
                </a:moveTo>
                <a:lnTo>
                  <a:pt x="31877" y="91693"/>
                </a:lnTo>
                <a:lnTo>
                  <a:pt x="41568" y="108163"/>
                </a:lnTo>
                <a:lnTo>
                  <a:pt x="74420" y="88791"/>
                </a:lnTo>
                <a:lnTo>
                  <a:pt x="64770" y="72389"/>
                </a:lnTo>
                <a:close/>
              </a:path>
              <a:path w="583564" h="973454">
                <a:moveTo>
                  <a:pt x="102234" y="72389"/>
                </a:moveTo>
                <a:lnTo>
                  <a:pt x="64770" y="72389"/>
                </a:lnTo>
                <a:lnTo>
                  <a:pt x="74420" y="88791"/>
                </a:lnTo>
                <a:lnTo>
                  <a:pt x="102234" y="7238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984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Application Console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332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La classe Console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Console.</a:t>
            </a:r>
            <a:r>
              <a:rPr lang="fr-FR" sz="2400" b="1" spc="-10" dirty="0" err="1">
                <a:latin typeface="Segoe UI"/>
                <a:cs typeface="Segoe UI"/>
              </a:rPr>
              <a:t>Clear</a:t>
            </a:r>
            <a:r>
              <a:rPr lang="fr-FR" sz="2400" b="1" spc="-10" dirty="0">
                <a:latin typeface="Segoe UI"/>
                <a:cs typeface="Segoe UI"/>
              </a:rPr>
              <a:t>()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000" dirty="0">
                <a:latin typeface="Segoe UI"/>
                <a:cs typeface="Segoe UI"/>
              </a:rPr>
              <a:t>Efface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console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0"/>
              </a:spcBef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Console.</a:t>
            </a:r>
            <a:r>
              <a:rPr lang="fr-FR" sz="2400" b="1" spc="-10" dirty="0" err="1">
                <a:latin typeface="Segoe UI"/>
                <a:cs typeface="Segoe UI"/>
              </a:rPr>
              <a:t>ReadLine</a:t>
            </a:r>
            <a:r>
              <a:rPr lang="fr-FR" sz="2400" b="1" spc="-10" dirty="0">
                <a:latin typeface="Segoe UI"/>
                <a:cs typeface="Segoe UI"/>
              </a:rPr>
              <a:t>()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000" spc="-10" dirty="0">
                <a:latin typeface="Segoe UI"/>
                <a:cs typeface="Segoe UI"/>
              </a:rPr>
              <a:t>Récupère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contenu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console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variable</a:t>
            </a:r>
          </a:p>
          <a:p>
            <a:pPr marL="469900" lvl="1">
              <a:lnSpc>
                <a:spcPct val="100000"/>
              </a:lnSpc>
              <a:spcBef>
                <a:spcPts val="509"/>
              </a:spcBef>
              <a:tabLst>
                <a:tab pos="697865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240665" indent="-227965"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Console</a:t>
            </a:r>
            <a:r>
              <a:rPr lang="fr-FR" sz="2400" b="1" spc="-10" dirty="0" err="1">
                <a:latin typeface="Segoe UI"/>
                <a:cs typeface="Segoe UI"/>
              </a:rPr>
              <a:t>.Write</a:t>
            </a:r>
            <a:r>
              <a:rPr lang="fr-FR" sz="2400" b="1" spc="-10" dirty="0">
                <a:latin typeface="Segoe UI"/>
                <a:cs typeface="Segoe UI"/>
              </a:rPr>
              <a:t>(…)</a:t>
            </a:r>
          </a:p>
          <a:p>
            <a:pPr marL="697865" lvl="1" indent="-227965"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000" dirty="0">
                <a:latin typeface="Segoe UI"/>
                <a:cs typeface="Segoe UI"/>
              </a:rPr>
              <a:t>Ecrit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console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Console</a:t>
            </a:r>
            <a:r>
              <a:rPr lang="fr-FR" sz="2400" b="1" spc="-10" dirty="0" err="1">
                <a:latin typeface="Segoe UI"/>
                <a:cs typeface="Segoe UI"/>
              </a:rPr>
              <a:t>.WriteLine</a:t>
            </a:r>
            <a:r>
              <a:rPr lang="fr-FR" sz="2400" b="1" spc="-10" dirty="0">
                <a:latin typeface="Segoe UI"/>
                <a:cs typeface="Segoe UI"/>
              </a:rPr>
              <a:t>(…)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000" dirty="0">
                <a:latin typeface="Segoe UI"/>
                <a:cs typeface="Segoe UI"/>
              </a:rPr>
              <a:t>Ecrit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console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puis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saute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ligne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C84462ED-2F10-0A8A-F4F0-9DE5C0E4347E}"/>
              </a:ext>
            </a:extLst>
          </p:cNvPr>
          <p:cNvGrpSpPr/>
          <p:nvPr/>
        </p:nvGrpSpPr>
        <p:grpSpPr>
          <a:xfrm>
            <a:off x="7291958" y="5640860"/>
            <a:ext cx="933450" cy="660400"/>
            <a:chOff x="7717366" y="5339841"/>
            <a:chExt cx="933450" cy="660400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AA3989BE-F8E7-0F85-6928-5251537EA13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366" y="5343058"/>
              <a:ext cx="933135" cy="628002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BAB59169-E19B-1E2A-FBDD-129DF734E11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2315" y="5387339"/>
              <a:ext cx="658393" cy="612686"/>
            </a:xfrm>
            <a:prstGeom prst="rect">
              <a:avLst/>
            </a:prstGeom>
          </p:spPr>
        </p:pic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A9C01B8C-04C7-9BE8-7F61-2C7BC91E0D39}"/>
                </a:ext>
              </a:extLst>
            </p:cNvPr>
            <p:cNvSpPr/>
            <p:nvPr/>
          </p:nvSpPr>
          <p:spPr>
            <a:xfrm>
              <a:off x="7758683" y="5346191"/>
              <a:ext cx="848994" cy="541020"/>
            </a:xfrm>
            <a:custGeom>
              <a:avLst/>
              <a:gdLst/>
              <a:ahLst/>
              <a:cxnLst/>
              <a:rect l="l" t="t" r="r" b="b"/>
              <a:pathLst>
                <a:path w="848995" h="541020">
                  <a:moveTo>
                    <a:pt x="848868" y="0"/>
                  </a:moveTo>
                  <a:lnTo>
                    <a:pt x="0" y="0"/>
                  </a:lnTo>
                  <a:lnTo>
                    <a:pt x="0" y="541020"/>
                  </a:lnTo>
                  <a:lnTo>
                    <a:pt x="758698" y="541020"/>
                  </a:lnTo>
                  <a:lnTo>
                    <a:pt x="848868" y="450850"/>
                  </a:lnTo>
                  <a:lnTo>
                    <a:pt x="848868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500B77CF-A078-FF57-123C-BC5290F44B9B}"/>
                </a:ext>
              </a:extLst>
            </p:cNvPr>
            <p:cNvSpPr/>
            <p:nvPr/>
          </p:nvSpPr>
          <p:spPr>
            <a:xfrm>
              <a:off x="8517381" y="5797041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90170" y="0"/>
                  </a:moveTo>
                  <a:lnTo>
                    <a:pt x="18034" y="18034"/>
                  </a:lnTo>
                  <a:lnTo>
                    <a:pt x="0" y="90170"/>
                  </a:lnTo>
                  <a:lnTo>
                    <a:pt x="90170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771FFD68-F10F-39CE-05C4-165839CCC041}"/>
                </a:ext>
              </a:extLst>
            </p:cNvPr>
            <p:cNvSpPr/>
            <p:nvPr/>
          </p:nvSpPr>
          <p:spPr>
            <a:xfrm>
              <a:off x="7758683" y="5346191"/>
              <a:ext cx="848994" cy="541020"/>
            </a:xfrm>
            <a:custGeom>
              <a:avLst/>
              <a:gdLst/>
              <a:ahLst/>
              <a:cxnLst/>
              <a:rect l="l" t="t" r="r" b="b"/>
              <a:pathLst>
                <a:path w="848995" h="541020">
                  <a:moveTo>
                    <a:pt x="758698" y="541020"/>
                  </a:moveTo>
                  <a:lnTo>
                    <a:pt x="776732" y="468884"/>
                  </a:lnTo>
                  <a:lnTo>
                    <a:pt x="848868" y="450850"/>
                  </a:lnTo>
                  <a:lnTo>
                    <a:pt x="758698" y="541020"/>
                  </a:lnTo>
                  <a:lnTo>
                    <a:pt x="0" y="541020"/>
                  </a:lnTo>
                  <a:lnTo>
                    <a:pt x="0" y="0"/>
                  </a:lnTo>
                  <a:lnTo>
                    <a:pt x="848868" y="0"/>
                  </a:lnTo>
                  <a:lnTo>
                    <a:pt x="848868" y="45085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78C96D34-4CCC-322D-7C35-7E9BE5E521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4131" y="5401055"/>
              <a:ext cx="557009" cy="511289"/>
            </a:xfrm>
            <a:prstGeom prst="rect">
              <a:avLst/>
            </a:prstGeom>
          </p:spPr>
        </p:pic>
      </p:grpSp>
      <p:pic>
        <p:nvPicPr>
          <p:cNvPr id="11" name="object 13">
            <a:extLst>
              <a:ext uri="{FF2B5EF4-FFF2-40B4-BE49-F238E27FC236}">
                <a16:creationId xmlns:a16="http://schemas.microsoft.com/office/drawing/2014/main" id="{1714482C-79F3-5118-85FF-0C938EFEC7C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0292" y="5394227"/>
            <a:ext cx="505968" cy="5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4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Application Console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Depuis</a:t>
            </a:r>
            <a:r>
              <a:rPr lang="en-US" sz="2400" b="1" dirty="0"/>
              <a:t> .NET 6 : "top level statement"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>
                <a:latin typeface="Calibri"/>
                <a:cs typeface="Calibri"/>
              </a:rPr>
              <a:t>Depuis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.NET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6,</a:t>
            </a:r>
            <a:r>
              <a:rPr lang="fr-FR" sz="2800" spc="-8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Visual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Studio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propose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de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nouveaux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dirty="0" err="1">
                <a:latin typeface="Calibri"/>
                <a:cs typeface="Calibri"/>
              </a:rPr>
              <a:t>templates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spc="-50" dirty="0">
                <a:latin typeface="Calibri"/>
                <a:cs typeface="Calibri"/>
              </a:rPr>
              <a:t>: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Console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ASP.NET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5D9EA2-3B5F-800F-53D5-271A972D8941}"/>
              </a:ext>
            </a:extLst>
          </p:cNvPr>
          <p:cNvSpPr txBox="1"/>
          <p:nvPr/>
        </p:nvSpPr>
        <p:spPr>
          <a:xfrm>
            <a:off x="844826" y="4821241"/>
            <a:ext cx="10525539" cy="986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>
                <a:latin typeface="Calibri"/>
                <a:cs typeface="Calibri"/>
              </a:rPr>
              <a:t>De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nombreux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éléments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uniquement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visible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à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compilation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anciens</a:t>
            </a:r>
            <a:r>
              <a:rPr lang="fr-FR" sz="2400" spc="-9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modèles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restent</a:t>
            </a:r>
            <a:r>
              <a:rPr lang="fr-FR" sz="2400" spc="-8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cependant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compatibles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40FFE9B-1873-0CCB-884F-5472187448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9788" y="3699269"/>
            <a:ext cx="3099816" cy="47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Application Console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65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Console depuis .NET 6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défaut,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suppression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certains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éléments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namespace</a:t>
            </a:r>
            <a:r>
              <a:rPr lang="fr-FR" sz="2000" spc="-10" dirty="0">
                <a:latin typeface="Segoe UI"/>
                <a:cs typeface="Segoe UI"/>
              </a:rPr>
              <a:t>,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Program,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Main.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ADB851-B426-B894-0A21-80A81B5FEB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067" y="4090932"/>
            <a:ext cx="10008108" cy="21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79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Application Console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Variables et Types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Typage fort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langage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langage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fortement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typé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AB5BC8CC-42C6-A2D4-0C06-4D75BCB93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994503"/>
              </p:ext>
            </p:extLst>
          </p:nvPr>
        </p:nvGraphicFramePr>
        <p:xfrm>
          <a:off x="1285876" y="2766369"/>
          <a:ext cx="4163695" cy="184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7518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Les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entiers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exemple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byte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8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bits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123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short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16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bits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123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Segoe UI"/>
                          <a:cs typeface="Segoe UI"/>
                        </a:rPr>
                        <a:t>int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Segoe UI"/>
                          <a:cs typeface="Segoe UI"/>
                        </a:rPr>
                        <a:t>32</a:t>
                      </a:r>
                      <a:r>
                        <a:rPr sz="1800" b="1" spc="-20" dirty="0">
                          <a:latin typeface="Segoe UI"/>
                          <a:cs typeface="Segoe UI"/>
                        </a:rPr>
                        <a:t> bits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Segoe UI"/>
                          <a:cs typeface="Segoe UI"/>
                        </a:rPr>
                        <a:t>123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long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64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bits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123L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123l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8326F354-1320-71DF-47DC-BBDC65954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29623"/>
              </p:ext>
            </p:extLst>
          </p:nvPr>
        </p:nvGraphicFramePr>
        <p:xfrm>
          <a:off x="6713855" y="2766369"/>
          <a:ext cx="4164329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598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Les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décimaux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exemple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float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080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32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bits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(IEEE754)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1.2F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1.2f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Segoe UI"/>
                          <a:cs typeface="Segoe UI"/>
                        </a:rPr>
                        <a:t>double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Segoe UI"/>
                          <a:cs typeface="Segoe UI"/>
                        </a:rPr>
                        <a:t>64</a:t>
                      </a:r>
                      <a:r>
                        <a:rPr sz="1800" b="1" spc="-20" dirty="0">
                          <a:latin typeface="Segoe UI"/>
                          <a:cs typeface="Segoe UI"/>
                        </a:rPr>
                        <a:t> bits</a:t>
                      </a:r>
                      <a:endParaRPr sz="1800">
                        <a:latin typeface="Segoe UI"/>
                        <a:cs typeface="Segoe U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(IEEE754)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Segoe UI"/>
                          <a:cs typeface="Segoe UI"/>
                        </a:rPr>
                        <a:t>1.2</a:t>
                      </a:r>
                      <a:r>
                        <a:rPr sz="1800" b="1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dirty="0">
                          <a:latin typeface="Segoe UI"/>
                          <a:cs typeface="Segoe UI"/>
                        </a:rPr>
                        <a:t>ou</a:t>
                      </a:r>
                      <a:r>
                        <a:rPr sz="1800" b="1" spc="-25" dirty="0">
                          <a:latin typeface="Segoe UI"/>
                          <a:cs typeface="Segoe UI"/>
                        </a:rPr>
                        <a:t> 12D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decimal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81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128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bits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(précision)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96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1.2M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ou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1.2m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24EAE2D0-DBAB-D568-6C50-6BAF67BC9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26958"/>
              </p:ext>
            </p:extLst>
          </p:nvPr>
        </p:nvGraphicFramePr>
        <p:xfrm>
          <a:off x="1285876" y="4875028"/>
          <a:ext cx="4163059" cy="164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 gridSpan="2">
                  <a:txBody>
                    <a:bodyPr/>
                    <a:lstStyle/>
                    <a:p>
                      <a:pPr marL="81406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Caractère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exemple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char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Un</a:t>
                      </a:r>
                      <a:r>
                        <a:rPr sz="18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seul</a:t>
                      </a:r>
                      <a:endParaRPr sz="1800">
                        <a:latin typeface="Segoe UI"/>
                        <a:cs typeface="Segoe U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caractère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'h'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'\n'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string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08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Chaine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de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caractères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"hello"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77D5448-44DC-805E-653F-E86307DF0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1922"/>
              </p:ext>
            </p:extLst>
          </p:nvPr>
        </p:nvGraphicFramePr>
        <p:xfrm>
          <a:off x="6713855" y="5329689"/>
          <a:ext cx="4162425" cy="73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87756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Booléen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exemple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bool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Booléen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Segoe UI"/>
                          <a:cs typeface="Segoe UI"/>
                        </a:rPr>
                        <a:t>true</a:t>
                      </a:r>
                      <a:r>
                        <a:rPr sz="1800" b="1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latin typeface="Segoe UI"/>
                          <a:cs typeface="Segoe UI"/>
                        </a:rPr>
                        <a:t>false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Typage fort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Déclaration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variable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Commence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lettre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_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Peut</a:t>
            </a:r>
            <a:r>
              <a:rPr lang="fr-FR" sz="2000" spc="-7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contenir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lettres,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chiffres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_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clé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réservé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C#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alors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on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préfixe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@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D40B2D-774A-FD0F-863F-D230DA9B4538}"/>
              </a:ext>
            </a:extLst>
          </p:cNvPr>
          <p:cNvSpPr txBox="1"/>
          <p:nvPr/>
        </p:nvSpPr>
        <p:spPr>
          <a:xfrm>
            <a:off x="1033247" y="4206349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isValid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hasValue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price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15.5M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@class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".col-md-2"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8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Typage fort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Portée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variable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Délimitée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accolades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Disponible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partir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</a:t>
            </a:r>
            <a:r>
              <a:rPr lang="fr-FR" sz="2000" spc="-10" dirty="0">
                <a:latin typeface="Segoe UI"/>
                <a:cs typeface="Segoe UI"/>
              </a:rPr>
              <a:t> déclaration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Fonctionnement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similaire</a:t>
            </a:r>
            <a:r>
              <a:rPr lang="fr-FR" sz="2000" spc="-35" dirty="0">
                <a:latin typeface="Segoe UI"/>
                <a:cs typeface="Segoe UI"/>
              </a:rPr>
              <a:t> au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 / C++ /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FF217-54FD-27AB-28A1-21FC3B87ED78}"/>
              </a:ext>
            </a:extLst>
          </p:cNvPr>
          <p:cNvSpPr txBox="1"/>
          <p:nvPr/>
        </p:nvSpPr>
        <p:spPr>
          <a:xfrm>
            <a:off x="1131219" y="4316121"/>
            <a:ext cx="60942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myValue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localValue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localValue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66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96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Typage fort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bases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toujours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défaut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1716405" algn="l"/>
              </a:tabLst>
            </a:pPr>
            <a:r>
              <a:rPr lang="fr-FR" sz="2000" dirty="0">
                <a:latin typeface="Segoe UI"/>
                <a:cs typeface="Segoe UI"/>
              </a:rPr>
              <a:t>Entiers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r>
              <a:rPr lang="fr-FR" sz="2000" dirty="0">
                <a:latin typeface="Segoe UI"/>
                <a:cs typeface="Segoe UI"/>
              </a:rPr>
              <a:t>			</a:t>
            </a:r>
            <a:r>
              <a:rPr lang="fr-FR" sz="2000" spc="65" dirty="0">
                <a:latin typeface="Trebuchet MS"/>
                <a:cs typeface="Trebuchet MS"/>
              </a:rPr>
              <a:t>0</a:t>
            </a:r>
            <a:endParaRPr lang="fr-FR" sz="20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2062480" algn="l"/>
              </a:tabLst>
            </a:pPr>
            <a:r>
              <a:rPr lang="fr-FR" sz="2000" dirty="0">
                <a:latin typeface="Segoe UI"/>
                <a:cs typeface="Segoe UI"/>
              </a:rPr>
              <a:t>Décimaux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r>
              <a:rPr lang="fr-FR" sz="2000" dirty="0">
                <a:latin typeface="Segoe UI"/>
                <a:cs typeface="Segoe UI"/>
              </a:rPr>
              <a:t>		</a:t>
            </a:r>
            <a:r>
              <a:rPr lang="fr-FR" sz="2000" spc="200" dirty="0">
                <a:latin typeface="Trebuchet MS"/>
                <a:cs typeface="Trebuchet MS"/>
              </a:rPr>
              <a:t>0.0</a:t>
            </a:r>
            <a:endParaRPr lang="fr-FR" sz="20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Booléen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-35" dirty="0">
                <a:latin typeface="Segoe UI"/>
                <a:cs typeface="Segoe UI"/>
              </a:rPr>
              <a:t> 		</a:t>
            </a:r>
            <a:r>
              <a:rPr lang="fr-FR" sz="2000" spc="305" dirty="0">
                <a:latin typeface="Consolas" panose="020B0609020204030204" pitchFamily="49" charset="0"/>
                <a:cs typeface="Trebuchet MS"/>
              </a:rPr>
              <a:t>false</a:t>
            </a:r>
            <a:endParaRPr lang="fr-FR" sz="2000" dirty="0">
              <a:latin typeface="Consolas" panose="020B0609020204030204" pitchFamily="49" charset="0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Char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10" dirty="0">
                <a:latin typeface="Segoe UI"/>
                <a:cs typeface="Segoe UI"/>
              </a:rPr>
              <a:t> 		</a:t>
            </a:r>
            <a:r>
              <a:rPr lang="fr-FR" sz="2000" spc="550" dirty="0">
                <a:latin typeface="Trebuchet MS"/>
                <a:cs typeface="Trebuchet MS"/>
              </a:rPr>
              <a:t>'\0'</a:t>
            </a:r>
            <a:endParaRPr lang="fr-FR"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095"/>
              </a:spcBef>
              <a:buFont typeface="Arial"/>
              <a:buChar char="•"/>
            </a:pPr>
            <a:endParaRPr lang="fr-FR" sz="2000" dirty="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chaîne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"</a:t>
            </a:r>
            <a:r>
              <a:rPr lang="fr-FR" sz="2400" spc="-10" dirty="0" err="1">
                <a:latin typeface="Segoe UI"/>
                <a:cs typeface="Segoe UI"/>
              </a:rPr>
              <a:t>null</a:t>
            </a:r>
            <a:r>
              <a:rPr lang="fr-FR" sz="2400" spc="-10" dirty="0">
                <a:latin typeface="Segoe UI"/>
                <a:cs typeface="Segoe UI"/>
              </a:rPr>
              <a:t>"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166DB5-145D-B502-FB26-92CBDC83AC53}"/>
              </a:ext>
            </a:extLst>
          </p:cNvPr>
          <p:cNvSpPr txBox="1"/>
          <p:nvPr/>
        </p:nvSpPr>
        <p:spPr>
          <a:xfrm>
            <a:off x="1230086" y="5470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myValue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565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8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Typage fort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>
                <a:latin typeface="Segoe UI"/>
                <a:cs typeface="Segoe UI"/>
              </a:rPr>
              <a:t>Typage</a:t>
            </a:r>
            <a:r>
              <a:rPr lang="fr-FR" sz="2400" spc="-1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implicite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Utilisation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clé</a:t>
            </a:r>
            <a:r>
              <a:rPr lang="fr-FR" sz="2000" spc="-20" dirty="0">
                <a:latin typeface="Segoe UI"/>
                <a:cs typeface="Segoe UI"/>
              </a:rPr>
              <a:t> "</a:t>
            </a:r>
            <a:r>
              <a:rPr lang="fr-FR" sz="2000" spc="-20" dirty="0">
                <a:latin typeface="Consolas"/>
                <a:cs typeface="Consolas"/>
              </a:rPr>
              <a:t>var</a:t>
            </a:r>
            <a:r>
              <a:rPr lang="fr-FR" sz="2000" spc="-20" dirty="0">
                <a:latin typeface="Segoe UI"/>
                <a:cs typeface="Segoe UI"/>
              </a:rPr>
              <a:t>"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Typage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fait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compilateur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n'est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dynamique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!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AE144B-1E2F-8F35-C541-F8A22C4798EC}"/>
              </a:ext>
            </a:extLst>
          </p:cNvPr>
          <p:cNvSpPr txBox="1"/>
          <p:nvPr/>
        </p:nvSpPr>
        <p:spPr>
          <a:xfrm>
            <a:off x="1284514" y="43830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"hello world"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123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616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97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Conversion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000" dirty="0">
                <a:latin typeface="Segoe UI"/>
                <a:cs typeface="Segoe UI"/>
              </a:rPr>
              <a:t>Conversion implicite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59F50A-A2CB-CC4C-C9C0-51B34525CE71}"/>
              </a:ext>
            </a:extLst>
          </p:cNvPr>
          <p:cNvSpPr txBox="1"/>
          <p:nvPr/>
        </p:nvSpPr>
        <p:spPr>
          <a:xfrm>
            <a:off x="1284514" y="2883544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intValue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longValue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stockage de 32 bits dans 64 bits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28962F-E5EA-A94F-2E79-51D2ABA7B99A}"/>
              </a:ext>
            </a:extLst>
          </p:cNvPr>
          <p:cNvSpPr txBox="1"/>
          <p:nvPr/>
        </p:nvSpPr>
        <p:spPr>
          <a:xfrm>
            <a:off x="844826" y="3989373"/>
            <a:ext cx="105255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000" dirty="0">
                <a:latin typeface="Segoe UI"/>
                <a:cs typeface="Segoe UI"/>
              </a:rPr>
              <a:t>Conversion explicite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E6EC6A8-C801-492B-1860-3028A39C7870}"/>
              </a:ext>
            </a:extLst>
          </p:cNvPr>
          <p:cNvSpPr txBox="1"/>
          <p:nvPr/>
        </p:nvSpPr>
        <p:spPr>
          <a:xfrm>
            <a:off x="1284514" y="4662492"/>
            <a:ext cx="847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longValue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5L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longValue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perte d'informations assumée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77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Règle de nommage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pascalCase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variables,</a:t>
            </a:r>
            <a:r>
              <a:rPr lang="fr-FR" sz="2000" spc="-11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paramètres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4BF600-8FC8-C386-3505-63CEC1BB214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Variables et Types</a:t>
            </a:r>
          </a:p>
          <a:p>
            <a:endParaRPr lang="fr-FR" sz="3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DE05B8-33D5-DC33-FE18-60B3EF4A3888}"/>
              </a:ext>
            </a:extLst>
          </p:cNvPr>
          <p:cNvSpPr txBox="1"/>
          <p:nvPr/>
        </p:nvSpPr>
        <p:spPr>
          <a:xfrm>
            <a:off x="1338942" y="32582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counterOfElements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argumentsOfMyProgram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E912221-EB7E-82AE-4686-788E87035B66}"/>
              </a:ext>
            </a:extLst>
          </p:cNvPr>
          <p:cNvSpPr txBox="1"/>
          <p:nvPr/>
        </p:nvSpPr>
        <p:spPr>
          <a:xfrm>
            <a:off x="844826" y="4231997"/>
            <a:ext cx="6096000" cy="83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>
                <a:latin typeface="Segoe UI"/>
                <a:cs typeface="Segoe UI"/>
              </a:rPr>
              <a:t>CamelCase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 err="1">
                <a:latin typeface="Segoe UI"/>
                <a:cs typeface="Segoe UI"/>
              </a:rPr>
              <a:t>namespace</a:t>
            </a:r>
            <a:r>
              <a:rPr lang="fr-FR" sz="2000" dirty="0">
                <a:latin typeface="Segoe UI"/>
                <a:cs typeface="Segoe UI"/>
              </a:rPr>
              <a:t>,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classes,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méthodes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8DFB5DE-A859-37CA-4BAA-6C32BC781322}"/>
              </a:ext>
            </a:extLst>
          </p:cNvPr>
          <p:cNvSpPr txBox="1"/>
          <p:nvPr/>
        </p:nvSpPr>
        <p:spPr>
          <a:xfrm>
            <a:off x="1338942" y="5269906"/>
            <a:ext cx="7913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MyProject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internal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MyProgram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argumentsOfMyProgram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986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Deuxième partie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Opérateurs et conditions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Opérateurs</a:t>
            </a:r>
          </a:p>
          <a:p>
            <a:endParaRPr lang="fr-FR" sz="2400" dirty="0"/>
          </a:p>
          <a:p>
            <a:endParaRPr lang="fr-FR" sz="2400" dirty="0"/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C7A3B4D8-1E00-780D-3FB9-783AB6718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857833"/>
              </p:ext>
            </p:extLst>
          </p:nvPr>
        </p:nvGraphicFramePr>
        <p:xfrm>
          <a:off x="1621282" y="2412238"/>
          <a:ext cx="8468360" cy="302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4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Arithmétique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92759" algn="l"/>
                          <a:tab pos="892175" algn="l"/>
                          <a:tab pos="1292860" algn="l"/>
                          <a:tab pos="1692275" algn="l"/>
                        </a:tabLst>
                      </a:pP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+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340" dirty="0">
                          <a:latin typeface="Consolas" panose="020B0609020204030204" pitchFamily="49" charset="0"/>
                          <a:cs typeface="Trebuchet MS"/>
                        </a:rPr>
                        <a:t>-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340" dirty="0">
                          <a:latin typeface="Consolas" panose="020B0609020204030204" pitchFamily="49" charset="0"/>
                          <a:cs typeface="Trebuchet MS"/>
                        </a:rPr>
                        <a:t>*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/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-50" dirty="0">
                          <a:latin typeface="Consolas" panose="020B0609020204030204" pitchFamily="49" charset="0"/>
                          <a:cs typeface="Trebuchet MS"/>
                        </a:rPr>
                        <a:t>%</a:t>
                      </a:r>
                      <a:endParaRPr sz="1800">
                        <a:latin typeface="Consolas" panose="020B0609020204030204" pitchFamily="49" charset="0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Assignation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92759" algn="l"/>
                          <a:tab pos="1026160" algn="l"/>
                          <a:tab pos="1558290" algn="l"/>
                          <a:tab pos="2091689" algn="l"/>
                          <a:tab pos="2492375" algn="l"/>
                          <a:tab pos="3024505" algn="l"/>
                        </a:tabLst>
                      </a:pP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60" dirty="0">
                          <a:latin typeface="Consolas" panose="020B0609020204030204" pitchFamily="49" charset="0"/>
                          <a:cs typeface="Trebuchet MS"/>
                        </a:rPr>
                        <a:t>+=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375" dirty="0">
                          <a:latin typeface="Consolas" panose="020B0609020204030204" pitchFamily="49" charset="0"/>
                          <a:cs typeface="Trebuchet MS"/>
                        </a:rPr>
                        <a:t>-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215" dirty="0">
                          <a:latin typeface="Consolas" panose="020B0609020204030204" pitchFamily="49" charset="0"/>
                          <a:cs typeface="Trebuchet MS"/>
                        </a:rPr>
                        <a:t>*=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5" dirty="0">
                          <a:latin typeface="Consolas" panose="020B0609020204030204" pitchFamily="49" charset="0"/>
                          <a:cs typeface="Trebuchet MS"/>
                        </a:rPr>
                        <a:t>/=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0" dirty="0">
                          <a:latin typeface="Consolas" panose="020B0609020204030204" pitchFamily="49" charset="0"/>
                          <a:cs typeface="Trebuchet MS"/>
                        </a:rPr>
                        <a:t>++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385" dirty="0">
                          <a:latin typeface="Consolas" panose="020B0609020204030204" pitchFamily="49" charset="0"/>
                          <a:cs typeface="Trebuchet MS"/>
                        </a:rPr>
                        <a:t>-</a:t>
                      </a:r>
                      <a:r>
                        <a:rPr sz="1800" spc="335" dirty="0">
                          <a:latin typeface="Consolas" panose="020B0609020204030204" pitchFamily="49" charset="0"/>
                          <a:cs typeface="Trebuchet MS"/>
                        </a:rPr>
                        <a:t>-</a:t>
                      </a:r>
                      <a:endParaRPr sz="1800">
                        <a:latin typeface="Consolas" panose="020B0609020204030204" pitchFamily="49" charset="0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Comparaison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625475" algn="l"/>
                          <a:tab pos="1158875" algn="l"/>
                          <a:tab pos="1558290" algn="l"/>
                          <a:tab pos="1958975" algn="l"/>
                          <a:tab pos="2492375" algn="l"/>
                        </a:tabLst>
                      </a:pPr>
                      <a:r>
                        <a:rPr sz="1800" spc="75" dirty="0">
                          <a:latin typeface="Consolas" panose="020B0609020204030204" pitchFamily="49" charset="0"/>
                          <a:cs typeface="Trebuchet MS"/>
                        </a:rPr>
                        <a:t>==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215" dirty="0">
                          <a:latin typeface="Consolas" panose="020B0609020204030204" pitchFamily="49" charset="0"/>
                          <a:cs typeface="Trebuchet MS"/>
                        </a:rPr>
                        <a:t>!=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&lt;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&gt;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0" dirty="0">
                          <a:latin typeface="Consolas" panose="020B0609020204030204" pitchFamily="49" charset="0"/>
                          <a:cs typeface="Trebuchet MS"/>
                        </a:rPr>
                        <a:t>&lt;=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0" dirty="0">
                          <a:latin typeface="Consolas" panose="020B0609020204030204" pitchFamily="49" charset="0"/>
                          <a:cs typeface="Trebuchet MS"/>
                        </a:rPr>
                        <a:t>&gt;=</a:t>
                      </a:r>
                      <a:endParaRPr sz="1800" dirty="0">
                        <a:latin typeface="Consolas" panose="020B0609020204030204" pitchFamily="49" charset="0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Logique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625475" algn="l"/>
                          <a:tab pos="1158875" algn="l"/>
                        </a:tabLst>
                      </a:pPr>
                      <a:r>
                        <a:rPr sz="1800" spc="-25" dirty="0">
                          <a:latin typeface="Consolas" panose="020B0609020204030204" pitchFamily="49" charset="0"/>
                          <a:cs typeface="Trebuchet MS"/>
                        </a:rPr>
                        <a:t>&amp;&amp;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5" dirty="0">
                          <a:latin typeface="Consolas" panose="020B0609020204030204" pitchFamily="49" charset="0"/>
                          <a:cs typeface="Trebuchet MS"/>
                        </a:rPr>
                        <a:t>||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340" dirty="0">
                          <a:latin typeface="Consolas" panose="020B0609020204030204" pitchFamily="49" charset="0"/>
                          <a:cs typeface="Trebuchet MS"/>
                        </a:rPr>
                        <a:t>!</a:t>
                      </a:r>
                      <a:endParaRPr sz="1800" dirty="0">
                        <a:latin typeface="Consolas" panose="020B0609020204030204" pitchFamily="49" charset="0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Binaire</a:t>
                      </a:r>
                      <a:endParaRPr sz="1800" dirty="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492759" algn="l"/>
                          <a:tab pos="892175" algn="l"/>
                          <a:tab pos="1292860" algn="l"/>
                          <a:tab pos="1692275" algn="l"/>
                          <a:tab pos="2225675" algn="l"/>
                        </a:tabLst>
                      </a:pPr>
                      <a:r>
                        <a:rPr sz="1800" spc="-50" dirty="0">
                          <a:latin typeface="Consolas" panose="020B0609020204030204" pitchFamily="49" charset="0"/>
                          <a:cs typeface="Trebuchet MS"/>
                        </a:rPr>
                        <a:t>&amp;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|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^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50" dirty="0">
                          <a:latin typeface="Consolas" panose="020B0609020204030204" pitchFamily="49" charset="0"/>
                          <a:cs typeface="Trebuchet MS"/>
                        </a:rPr>
                        <a:t>~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0" dirty="0">
                          <a:latin typeface="Consolas" panose="020B0609020204030204" pitchFamily="49" charset="0"/>
                          <a:cs typeface="Trebuchet MS"/>
                        </a:rPr>
                        <a:t>&lt;&lt;</a:t>
                      </a:r>
                      <a:r>
                        <a:rPr sz="1800" dirty="0">
                          <a:latin typeface="Consolas" panose="020B0609020204030204" pitchFamily="49" charset="0"/>
                          <a:cs typeface="Trebuchet MS"/>
                        </a:rPr>
                        <a:t>	</a:t>
                      </a:r>
                      <a:r>
                        <a:rPr sz="1800" spc="70" dirty="0">
                          <a:latin typeface="Consolas" panose="020B0609020204030204" pitchFamily="49" charset="0"/>
                          <a:cs typeface="Trebuchet MS"/>
                        </a:rPr>
                        <a:t>&gt;&gt;</a:t>
                      </a:r>
                      <a:endParaRPr sz="1800" dirty="0">
                        <a:latin typeface="Consolas" panose="020B0609020204030204" pitchFamily="49" charset="0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68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Opérateurs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Opérateurs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chaines</a:t>
            </a:r>
          </a:p>
          <a:p>
            <a:pPr marL="697865" lvl="1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000" dirty="0">
                <a:latin typeface="Segoe UI"/>
                <a:cs typeface="Segoe UI"/>
              </a:rPr>
              <a:t>Concaténation</a:t>
            </a:r>
            <a:r>
              <a:rPr lang="fr-FR" sz="2000" spc="-9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>
                <a:latin typeface="Segoe UI"/>
                <a:cs typeface="Segoe UI"/>
              </a:rPr>
              <a:t>l'opérateur</a:t>
            </a:r>
            <a:r>
              <a:rPr lang="fr-FR" sz="2000" spc="-50">
                <a:latin typeface="Segoe UI"/>
                <a:cs typeface="Segoe UI"/>
              </a:rPr>
              <a:t> </a:t>
            </a:r>
            <a:r>
              <a:rPr lang="fr-FR" sz="2000" spc="-25">
                <a:latin typeface="Segoe UI"/>
                <a:cs typeface="Segoe UI"/>
              </a:rPr>
              <a:t>« + » </a:t>
            </a:r>
            <a:endParaRPr lang="fr-FR" sz="2000" spc="-25" dirty="0">
              <a:latin typeface="Segoe UI"/>
              <a:cs typeface="Segoe UI"/>
            </a:endParaRPr>
          </a:p>
          <a:p>
            <a:pPr marL="697865" lvl="1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000" spc="-25" dirty="0">
              <a:latin typeface="Segoe UI"/>
              <a:cs typeface="Segoe UI"/>
            </a:endParaRPr>
          </a:p>
          <a:p>
            <a:pPr marL="697865" lvl="1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000" spc="-25" dirty="0">
              <a:latin typeface="Segoe UI"/>
              <a:cs typeface="Segoe UI"/>
            </a:endParaRPr>
          </a:p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12700">
              <a:spcBef>
                <a:spcPts val="100"/>
              </a:spcBef>
              <a:tabLst>
                <a:tab pos="240665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697865" lvl="1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000" dirty="0">
                <a:latin typeface="Segoe UI"/>
                <a:cs typeface="Segoe UI"/>
              </a:rPr>
              <a:t>Concaténation</a:t>
            </a:r>
            <a:r>
              <a:rPr lang="fr-FR" sz="2000" spc="-9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l'interpolation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chaînes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(solution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conseillée)</a:t>
            </a:r>
            <a:endParaRPr lang="fr-FR" sz="2000" dirty="0">
              <a:latin typeface="Segoe UI"/>
              <a:cs typeface="Segoe UI"/>
            </a:endParaRPr>
          </a:p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C7DA4B-9C35-3E93-7172-51B543A1C0E6}"/>
              </a:ext>
            </a:extLst>
          </p:cNvPr>
          <p:cNvSpPr txBox="1"/>
          <p:nvPr/>
        </p:nvSpPr>
        <p:spPr>
          <a:xfrm>
            <a:off x="1306286" y="3105834"/>
            <a:ext cx="10308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blabla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concatenatedString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 préfixe "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en suffixe "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3879D2D-63FD-30A3-339B-1CA795FF4D65}"/>
              </a:ext>
            </a:extLst>
          </p:cNvPr>
          <p:cNvSpPr txBox="1"/>
          <p:nvPr/>
        </p:nvSpPr>
        <p:spPr>
          <a:xfrm>
            <a:off x="1306286" y="4826604"/>
            <a:ext cx="10040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blabla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concatenatedString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$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 préfixe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 suffixe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/>
                <a:cs typeface="Segoe UI"/>
              </a:rPr>
              <a:t>L'instruction</a:t>
            </a:r>
            <a:r>
              <a:rPr lang="en-US" sz="2400" spc="-10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if</a:t>
            </a:r>
            <a:r>
              <a:rPr lang="en-US" sz="2400" spc="-20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-</a:t>
            </a:r>
            <a:r>
              <a:rPr lang="en-US" sz="2400" spc="-35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if/else</a:t>
            </a:r>
            <a:r>
              <a:rPr lang="en-US" sz="2400" spc="-25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-</a:t>
            </a:r>
            <a:r>
              <a:rPr lang="en-US" sz="2400" spc="-35" dirty="0">
                <a:latin typeface="Segoe UI"/>
                <a:cs typeface="Segoe UI"/>
              </a:rPr>
              <a:t> </a:t>
            </a:r>
            <a:r>
              <a:rPr lang="en-US" sz="2400" dirty="0">
                <a:latin typeface="Segoe UI"/>
                <a:cs typeface="Segoe UI"/>
              </a:rPr>
              <a:t>if/else</a:t>
            </a:r>
            <a:r>
              <a:rPr lang="en-US" sz="2400" spc="-30" dirty="0">
                <a:latin typeface="Segoe UI"/>
                <a:cs typeface="Segoe UI"/>
              </a:rPr>
              <a:t> </a:t>
            </a:r>
            <a:r>
              <a:rPr lang="en-US" sz="2400" spc="-10" dirty="0">
                <a:latin typeface="Segoe UI"/>
                <a:cs typeface="Segoe UI"/>
              </a:rPr>
              <a:t>if/else</a:t>
            </a:r>
            <a:endParaRPr lang="en-US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94F258F-3D12-52F5-3422-F86579DC1748}"/>
              </a:ext>
            </a:extLst>
          </p:cNvPr>
          <p:cNvSpPr txBox="1"/>
          <p:nvPr/>
        </p:nvSpPr>
        <p:spPr>
          <a:xfrm>
            <a:off x="1219200" y="272835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endParaRPr lang="fr-FR" sz="18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fr-FR" sz="18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by default</a:t>
            </a: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</a:endParaRP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0BDFB084-AD46-9D03-6CE7-D854120FE19F}"/>
              </a:ext>
            </a:extLst>
          </p:cNvPr>
          <p:cNvGrpSpPr/>
          <p:nvPr/>
        </p:nvGrpSpPr>
        <p:grpSpPr>
          <a:xfrm>
            <a:off x="9319893" y="2458275"/>
            <a:ext cx="1130935" cy="916305"/>
            <a:chOff x="9473136" y="2221738"/>
            <a:chExt cx="1130935" cy="91630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672239F-BBF3-7F87-8179-05E43C9580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73136" y="2225022"/>
              <a:ext cx="1130913" cy="912908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FBE8EF0-4FA5-D1B0-CD8A-C54F0B714B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2055" y="2232634"/>
              <a:ext cx="908316" cy="886993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68078C08-62BB-A709-7655-1B8FB7F88C11}"/>
                </a:ext>
              </a:extLst>
            </p:cNvPr>
            <p:cNvSpPr/>
            <p:nvPr/>
          </p:nvSpPr>
          <p:spPr>
            <a:xfrm>
              <a:off x="9514331" y="2228088"/>
              <a:ext cx="1047115" cy="826135"/>
            </a:xfrm>
            <a:custGeom>
              <a:avLst/>
              <a:gdLst/>
              <a:ahLst/>
              <a:cxnLst/>
              <a:rect l="l" t="t" r="r" b="b"/>
              <a:pathLst>
                <a:path w="1047115" h="826135">
                  <a:moveTo>
                    <a:pt x="1046988" y="0"/>
                  </a:moveTo>
                  <a:lnTo>
                    <a:pt x="0" y="0"/>
                  </a:lnTo>
                  <a:lnTo>
                    <a:pt x="0" y="826008"/>
                  </a:lnTo>
                  <a:lnTo>
                    <a:pt x="909320" y="826008"/>
                  </a:lnTo>
                  <a:lnTo>
                    <a:pt x="1046988" y="688339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A0F831DE-40FC-585E-99B6-10E7877DF61A}"/>
                </a:ext>
              </a:extLst>
            </p:cNvPr>
            <p:cNvSpPr/>
            <p:nvPr/>
          </p:nvSpPr>
          <p:spPr>
            <a:xfrm>
              <a:off x="10423651" y="2916428"/>
              <a:ext cx="137795" cy="137795"/>
            </a:xfrm>
            <a:custGeom>
              <a:avLst/>
              <a:gdLst/>
              <a:ahLst/>
              <a:cxnLst/>
              <a:rect l="l" t="t" r="r" b="b"/>
              <a:pathLst>
                <a:path w="137795" h="137794">
                  <a:moveTo>
                    <a:pt x="137668" y="0"/>
                  </a:moveTo>
                  <a:lnTo>
                    <a:pt x="27558" y="27559"/>
                  </a:lnTo>
                  <a:lnTo>
                    <a:pt x="0" y="137668"/>
                  </a:lnTo>
                  <a:lnTo>
                    <a:pt x="137668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729AEEB0-696A-481E-5361-1ECF9C720B3D}"/>
                </a:ext>
              </a:extLst>
            </p:cNvPr>
            <p:cNvSpPr/>
            <p:nvPr/>
          </p:nvSpPr>
          <p:spPr>
            <a:xfrm>
              <a:off x="9514331" y="2228088"/>
              <a:ext cx="1047115" cy="826135"/>
            </a:xfrm>
            <a:custGeom>
              <a:avLst/>
              <a:gdLst/>
              <a:ahLst/>
              <a:cxnLst/>
              <a:rect l="l" t="t" r="r" b="b"/>
              <a:pathLst>
                <a:path w="1047115" h="826135">
                  <a:moveTo>
                    <a:pt x="909320" y="826008"/>
                  </a:moveTo>
                  <a:lnTo>
                    <a:pt x="936878" y="715899"/>
                  </a:lnTo>
                  <a:lnTo>
                    <a:pt x="1046988" y="688339"/>
                  </a:lnTo>
                  <a:lnTo>
                    <a:pt x="909320" y="826008"/>
                  </a:lnTo>
                  <a:lnTo>
                    <a:pt x="0" y="826008"/>
                  </a:lnTo>
                  <a:lnTo>
                    <a:pt x="0" y="0"/>
                  </a:lnTo>
                  <a:lnTo>
                    <a:pt x="1046988" y="0"/>
                  </a:lnTo>
                  <a:lnTo>
                    <a:pt x="1046988" y="688339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932464A3-8ACE-F639-CA7F-D7A3356372D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68839" y="2246388"/>
              <a:ext cx="557009" cy="511289"/>
            </a:xfrm>
            <a:prstGeom prst="rect">
              <a:avLst/>
            </a:prstGeom>
          </p:spPr>
        </p:pic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26AF04DA-1183-22A7-D0D4-76CFCA88337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43871" y="2520708"/>
              <a:ext cx="806957" cy="511289"/>
            </a:xfrm>
            <a:prstGeom prst="rect">
              <a:avLst/>
            </a:prstGeom>
          </p:spPr>
        </p:pic>
      </p:grpSp>
      <p:pic>
        <p:nvPicPr>
          <p:cNvPr id="14" name="object 13">
            <a:extLst>
              <a:ext uri="{FF2B5EF4-FFF2-40B4-BE49-F238E27FC236}">
                <a16:creationId xmlns:a16="http://schemas.microsoft.com/office/drawing/2014/main" id="{107EFD6B-B1A4-C2CB-68AA-388B0415163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08104" y="2210116"/>
            <a:ext cx="505968" cy="50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75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8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L'instruction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if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raccourci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(if/</a:t>
            </a:r>
            <a:r>
              <a:rPr lang="fr-FR" sz="2400" dirty="0" err="1">
                <a:latin typeface="Segoe UI"/>
                <a:cs typeface="Segoe UI"/>
              </a:rPr>
              <a:t>else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–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if/</a:t>
            </a:r>
            <a:r>
              <a:rPr lang="fr-FR" sz="2400" dirty="0" err="1">
                <a:latin typeface="Segoe UI"/>
                <a:cs typeface="Segoe UI"/>
              </a:rPr>
              <a:t>else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if/</a:t>
            </a:r>
            <a:r>
              <a:rPr lang="fr-FR" sz="2400" spc="-10" dirty="0" err="1">
                <a:latin typeface="Segoe UI"/>
                <a:cs typeface="Segoe UI"/>
              </a:rPr>
              <a:t>else</a:t>
            </a:r>
            <a:r>
              <a:rPr lang="fr-FR" sz="2400" spc="-10" dirty="0">
                <a:latin typeface="Segoe UI"/>
                <a:cs typeface="Segoe UI"/>
              </a:rPr>
              <a:t>)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Uniquement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valide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seule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instruction</a:t>
            </a: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endParaRPr lang="fr-FR" sz="2000" spc="-10" dirty="0">
              <a:latin typeface="Segoe UI"/>
              <a:cs typeface="Segoe UI"/>
            </a:endParaRPr>
          </a:p>
          <a:p>
            <a:pPr marL="241300" indent="-228600"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Les opérateurs ternaires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D362A4-08B2-EF28-3237-6FAA2CB816C6}"/>
              </a:ext>
            </a:extLst>
          </p:cNvPr>
          <p:cNvSpPr txBox="1"/>
          <p:nvPr/>
        </p:nvSpPr>
        <p:spPr>
          <a:xfrm>
            <a:off x="1382486" y="32721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endParaRPr lang="fr-FR" sz="18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131C225-ABB1-B7C2-8000-D4C40216F7F7}"/>
              </a:ext>
            </a:extLst>
          </p:cNvPr>
          <p:cNvSpPr txBox="1"/>
          <p:nvPr/>
        </p:nvSpPr>
        <p:spPr>
          <a:xfrm>
            <a:off x="1382486" y="5238994"/>
            <a:ext cx="10254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sting response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"secret"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"correct"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"incorrect"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82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10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opérateurs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conditionnels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avancés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273CF-DCDC-61C8-559F-B7CE34F14D64}"/>
              </a:ext>
            </a:extLst>
          </p:cNvPr>
          <p:cNvSpPr txBox="1"/>
          <p:nvPr/>
        </p:nvSpPr>
        <p:spPr>
          <a:xfrm>
            <a:off x="1110342" y="2799555"/>
            <a:ext cx="106135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si input est '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alors on assigne "valeur par défaut"</a:t>
            </a: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		</a:t>
            </a:r>
            <a:r>
              <a:rPr lang="en-US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1</a:t>
            </a: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"valeur par défaut"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"valeur par défaut"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2</a:t>
            </a: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??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"valeur par défaut"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3</a:t>
            </a: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??=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"valeur par défaut"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4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885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10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opérateurs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conditionnels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avancés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7FE6B0-6126-DF90-C302-79C03503DBAD}"/>
              </a:ext>
            </a:extLst>
          </p:cNvPr>
          <p:cNvSpPr txBox="1"/>
          <p:nvPr/>
        </p:nvSpPr>
        <p:spPr>
          <a:xfrm>
            <a:off x="1240971" y="3035209"/>
            <a:ext cx="10129393" cy="207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si input n'est pas '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alors on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execute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la fonction</a:t>
            </a: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	</a:t>
            </a:r>
            <a:r>
              <a:rPr lang="en-US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1</a:t>
            </a:r>
          </a:p>
          <a:p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ToUpper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WriteLine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ToUpper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//solution 2</a:t>
            </a:r>
          </a:p>
        </p:txBody>
      </p:sp>
    </p:spTree>
    <p:extLst>
      <p:ext uri="{BB962C8B-B14F-4D97-AF65-F5344CB8AC3E}">
        <p14:creationId xmlns:p14="http://schemas.microsoft.com/office/powerpoint/2010/main" val="3076042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L'instruction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'cas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parmi'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–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partie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1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0C9963-B896-0F49-CF91-12735E7CEE61}"/>
              </a:ext>
            </a:extLst>
          </p:cNvPr>
          <p:cNvSpPr txBox="1"/>
          <p:nvPr/>
        </p:nvSpPr>
        <p:spPr>
          <a:xfrm>
            <a:off x="1404257" y="272835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break;</a:t>
            </a: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break;</a:t>
            </a: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endParaRPr lang="fr-FR" sz="18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85D2CDD9-7455-7379-B760-46C48C324088}"/>
              </a:ext>
            </a:extLst>
          </p:cNvPr>
          <p:cNvGrpSpPr/>
          <p:nvPr/>
        </p:nvGrpSpPr>
        <p:grpSpPr>
          <a:xfrm>
            <a:off x="7622287" y="3707674"/>
            <a:ext cx="3484245" cy="1005840"/>
            <a:chOff x="6720840" y="3550920"/>
            <a:chExt cx="3484245" cy="100584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788ACFA-1462-084F-96F9-B38ABB3C074F}"/>
                </a:ext>
              </a:extLst>
            </p:cNvPr>
            <p:cNvSpPr/>
            <p:nvPr/>
          </p:nvSpPr>
          <p:spPr>
            <a:xfrm>
              <a:off x="6720840" y="3550920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39">
                  <a:moveTo>
                    <a:pt x="3316224" y="0"/>
                  </a:moveTo>
                  <a:lnTo>
                    <a:pt x="167639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199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39" y="1005839"/>
                  </a:lnTo>
                  <a:lnTo>
                    <a:pt x="3316224" y="1005839"/>
                  </a:lnTo>
                  <a:lnTo>
                    <a:pt x="3360788" y="999851"/>
                  </a:lnTo>
                  <a:lnTo>
                    <a:pt x="3400834" y="982951"/>
                  </a:lnTo>
                  <a:lnTo>
                    <a:pt x="3434762" y="956738"/>
                  </a:lnTo>
                  <a:lnTo>
                    <a:pt x="3460975" y="922810"/>
                  </a:lnTo>
                  <a:lnTo>
                    <a:pt x="3477875" y="882764"/>
                  </a:lnTo>
                  <a:lnTo>
                    <a:pt x="3483863" y="838199"/>
                  </a:lnTo>
                  <a:lnTo>
                    <a:pt x="3483863" y="167639"/>
                  </a:lnTo>
                  <a:lnTo>
                    <a:pt x="3477875" y="123075"/>
                  </a:lnTo>
                  <a:lnTo>
                    <a:pt x="3460975" y="83029"/>
                  </a:lnTo>
                  <a:lnTo>
                    <a:pt x="3434762" y="49101"/>
                  </a:lnTo>
                  <a:lnTo>
                    <a:pt x="3400834" y="22888"/>
                  </a:lnTo>
                  <a:lnTo>
                    <a:pt x="3360788" y="5988"/>
                  </a:lnTo>
                  <a:lnTo>
                    <a:pt x="33162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1992191-5389-E108-7FD8-CBDF9DA51840}"/>
                </a:ext>
              </a:extLst>
            </p:cNvPr>
            <p:cNvSpPr/>
            <p:nvPr/>
          </p:nvSpPr>
          <p:spPr>
            <a:xfrm>
              <a:off x="6720840" y="3550920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39" y="0"/>
                  </a:lnTo>
                  <a:lnTo>
                    <a:pt x="3316224" y="0"/>
                  </a:lnTo>
                  <a:lnTo>
                    <a:pt x="3360788" y="5988"/>
                  </a:lnTo>
                  <a:lnTo>
                    <a:pt x="3400834" y="22888"/>
                  </a:lnTo>
                  <a:lnTo>
                    <a:pt x="3434762" y="49101"/>
                  </a:lnTo>
                  <a:lnTo>
                    <a:pt x="3460975" y="83029"/>
                  </a:lnTo>
                  <a:lnTo>
                    <a:pt x="3477875" y="123075"/>
                  </a:lnTo>
                  <a:lnTo>
                    <a:pt x="3483863" y="167639"/>
                  </a:lnTo>
                  <a:lnTo>
                    <a:pt x="3483863" y="838199"/>
                  </a:lnTo>
                  <a:lnTo>
                    <a:pt x="3477875" y="882764"/>
                  </a:lnTo>
                  <a:lnTo>
                    <a:pt x="3460975" y="922810"/>
                  </a:lnTo>
                  <a:lnTo>
                    <a:pt x="3434762" y="956738"/>
                  </a:lnTo>
                  <a:lnTo>
                    <a:pt x="3400834" y="982951"/>
                  </a:lnTo>
                  <a:lnTo>
                    <a:pt x="3360788" y="999851"/>
                  </a:lnTo>
                  <a:lnTo>
                    <a:pt x="3316224" y="1005839"/>
                  </a:lnTo>
                  <a:lnTo>
                    <a:pt x="167639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199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C2CFDAAB-DB12-0EFF-E4AE-769D5EFC3F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6260" y="4012750"/>
              <a:ext cx="1053846" cy="46550"/>
            </a:xfrm>
            <a:prstGeom prst="rect">
              <a:avLst/>
            </a:prstGeom>
          </p:spPr>
        </p:pic>
      </p:grpSp>
      <p:sp>
        <p:nvSpPr>
          <p:cNvPr id="11" name="object 15">
            <a:extLst>
              <a:ext uri="{FF2B5EF4-FFF2-40B4-BE49-F238E27FC236}">
                <a16:creationId xmlns:a16="http://schemas.microsoft.com/office/drawing/2014/main" id="{137C033E-87E6-486E-A8CE-FAD2262C9696}"/>
              </a:ext>
            </a:extLst>
          </p:cNvPr>
          <p:cNvSpPr/>
          <p:nvPr/>
        </p:nvSpPr>
        <p:spPr>
          <a:xfrm>
            <a:off x="6096000" y="4398934"/>
            <a:ext cx="1536700" cy="879475"/>
          </a:xfrm>
          <a:custGeom>
            <a:avLst/>
            <a:gdLst/>
            <a:ahLst/>
            <a:cxnLst/>
            <a:rect l="l" t="t" r="r" b="b"/>
            <a:pathLst>
              <a:path w="1536700" h="879475">
                <a:moveTo>
                  <a:pt x="71374" y="773303"/>
                </a:moveTo>
                <a:lnTo>
                  <a:pt x="0" y="879348"/>
                </a:lnTo>
                <a:lnTo>
                  <a:pt x="127635" y="872871"/>
                </a:lnTo>
                <a:lnTo>
                  <a:pt x="114143" y="848995"/>
                </a:lnTo>
                <a:lnTo>
                  <a:pt x="92329" y="848995"/>
                </a:lnTo>
                <a:lnTo>
                  <a:pt x="73533" y="815848"/>
                </a:lnTo>
                <a:lnTo>
                  <a:pt x="90119" y="806477"/>
                </a:lnTo>
                <a:lnTo>
                  <a:pt x="71374" y="773303"/>
                </a:lnTo>
                <a:close/>
              </a:path>
              <a:path w="1536700" h="879475">
                <a:moveTo>
                  <a:pt x="90119" y="806477"/>
                </a:moveTo>
                <a:lnTo>
                  <a:pt x="73533" y="815848"/>
                </a:lnTo>
                <a:lnTo>
                  <a:pt x="92329" y="848995"/>
                </a:lnTo>
                <a:lnTo>
                  <a:pt x="108865" y="839654"/>
                </a:lnTo>
                <a:lnTo>
                  <a:pt x="90119" y="806477"/>
                </a:lnTo>
                <a:close/>
              </a:path>
              <a:path w="1536700" h="879475">
                <a:moveTo>
                  <a:pt x="108865" y="839654"/>
                </a:moveTo>
                <a:lnTo>
                  <a:pt x="92329" y="848995"/>
                </a:lnTo>
                <a:lnTo>
                  <a:pt x="114143" y="848995"/>
                </a:lnTo>
                <a:lnTo>
                  <a:pt x="108865" y="839654"/>
                </a:lnTo>
                <a:close/>
              </a:path>
              <a:path w="1536700" h="879475">
                <a:moveTo>
                  <a:pt x="1517650" y="0"/>
                </a:moveTo>
                <a:lnTo>
                  <a:pt x="90119" y="806477"/>
                </a:lnTo>
                <a:lnTo>
                  <a:pt x="108865" y="839654"/>
                </a:lnTo>
                <a:lnTo>
                  <a:pt x="1536446" y="33274"/>
                </a:lnTo>
                <a:lnTo>
                  <a:pt x="151765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A32C3B4-F6E3-45CD-874E-D5E38FFE9A27}"/>
              </a:ext>
            </a:extLst>
          </p:cNvPr>
          <p:cNvSpPr txBox="1"/>
          <p:nvPr/>
        </p:nvSpPr>
        <p:spPr>
          <a:xfrm>
            <a:off x="7844762" y="3869613"/>
            <a:ext cx="3181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8475" marR="5080" indent="-486409">
              <a:lnSpc>
                <a:spcPct val="100000"/>
              </a:lnSpc>
              <a:spcBef>
                <a:spcPts val="100"/>
              </a:spcBef>
            </a:pP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lang="fr-FR"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lang="fr-FR"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est</a:t>
            </a:r>
            <a:r>
              <a:rPr lang="fr-FR"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obligatoire</a:t>
            </a:r>
            <a:r>
              <a:rPr lang="fr-FR"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dans</a:t>
            </a:r>
            <a:r>
              <a:rPr lang="fr-FR"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spc="-25" dirty="0">
                <a:solidFill>
                  <a:srgbClr val="FFFFFF"/>
                </a:solidFill>
                <a:latin typeface="Calibri"/>
                <a:cs typeface="Calibri"/>
              </a:rPr>
              <a:t>le </a:t>
            </a: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cas</a:t>
            </a:r>
            <a:r>
              <a:rPr lang="fr-FR"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dirty="0">
                <a:solidFill>
                  <a:srgbClr val="FFFFFF"/>
                </a:solidFill>
                <a:latin typeface="Calibri"/>
                <a:cs typeface="Calibri"/>
              </a:rPr>
              <a:t>d'une</a:t>
            </a:r>
            <a:r>
              <a:rPr lang="fr-FR"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800" spc="-10" dirty="0">
                <a:solidFill>
                  <a:srgbClr val="FFFFFF"/>
                </a:solidFill>
                <a:latin typeface="Calibri"/>
                <a:cs typeface="Calibri"/>
              </a:rPr>
              <a:t>instruction</a:t>
            </a:r>
            <a:endParaRPr lang="fr-FR" sz="1800" dirty="0">
              <a:latin typeface="Calibri"/>
              <a:cs typeface="Calibri"/>
            </a:endParaRPr>
          </a:p>
        </p:txBody>
      </p:sp>
      <p:grpSp>
        <p:nvGrpSpPr>
          <p:cNvPr id="19" name="object 11">
            <a:extLst>
              <a:ext uri="{FF2B5EF4-FFF2-40B4-BE49-F238E27FC236}">
                <a16:creationId xmlns:a16="http://schemas.microsoft.com/office/drawing/2014/main" id="{02B93AEC-06B0-2034-8DD6-D985EE02A5B9}"/>
              </a:ext>
            </a:extLst>
          </p:cNvPr>
          <p:cNvGrpSpPr/>
          <p:nvPr/>
        </p:nvGrpSpPr>
        <p:grpSpPr>
          <a:xfrm>
            <a:off x="7500257" y="5479271"/>
            <a:ext cx="3496945" cy="1018540"/>
            <a:chOff x="6894321" y="5573014"/>
            <a:chExt cx="3496945" cy="1018540"/>
          </a:xfrm>
        </p:grpSpPr>
        <p:sp>
          <p:nvSpPr>
            <p:cNvPr id="20" name="object 12">
              <a:extLst>
                <a:ext uri="{FF2B5EF4-FFF2-40B4-BE49-F238E27FC236}">
                  <a16:creationId xmlns:a16="http://schemas.microsoft.com/office/drawing/2014/main" id="{2D52C9C7-6DE1-0ABB-475E-7DB22FCFE6D5}"/>
                </a:ext>
              </a:extLst>
            </p:cNvPr>
            <p:cNvSpPr/>
            <p:nvPr/>
          </p:nvSpPr>
          <p:spPr>
            <a:xfrm>
              <a:off x="6900671" y="5579364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40">
                  <a:moveTo>
                    <a:pt x="3316224" y="0"/>
                  </a:moveTo>
                  <a:lnTo>
                    <a:pt x="167639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40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39" y="1005840"/>
                  </a:lnTo>
                  <a:lnTo>
                    <a:pt x="3316224" y="1005840"/>
                  </a:lnTo>
                  <a:lnTo>
                    <a:pt x="3360788" y="999851"/>
                  </a:lnTo>
                  <a:lnTo>
                    <a:pt x="3400834" y="982951"/>
                  </a:lnTo>
                  <a:lnTo>
                    <a:pt x="3434762" y="956738"/>
                  </a:lnTo>
                  <a:lnTo>
                    <a:pt x="3460975" y="922810"/>
                  </a:lnTo>
                  <a:lnTo>
                    <a:pt x="3477875" y="882764"/>
                  </a:lnTo>
                  <a:lnTo>
                    <a:pt x="3483863" y="838200"/>
                  </a:lnTo>
                  <a:lnTo>
                    <a:pt x="3483863" y="167640"/>
                  </a:lnTo>
                  <a:lnTo>
                    <a:pt x="3477875" y="123075"/>
                  </a:lnTo>
                  <a:lnTo>
                    <a:pt x="3460975" y="83029"/>
                  </a:lnTo>
                  <a:lnTo>
                    <a:pt x="3434762" y="49101"/>
                  </a:lnTo>
                  <a:lnTo>
                    <a:pt x="3400834" y="22888"/>
                  </a:lnTo>
                  <a:lnTo>
                    <a:pt x="3360788" y="5988"/>
                  </a:lnTo>
                  <a:lnTo>
                    <a:pt x="33162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A1DE6A50-8A2D-FFEE-CFCD-FF6135C3109D}"/>
                </a:ext>
              </a:extLst>
            </p:cNvPr>
            <p:cNvSpPr/>
            <p:nvPr/>
          </p:nvSpPr>
          <p:spPr>
            <a:xfrm>
              <a:off x="6900671" y="5579364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40">
                  <a:moveTo>
                    <a:pt x="0" y="167640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39" y="0"/>
                  </a:lnTo>
                  <a:lnTo>
                    <a:pt x="3316224" y="0"/>
                  </a:lnTo>
                  <a:lnTo>
                    <a:pt x="3360788" y="5988"/>
                  </a:lnTo>
                  <a:lnTo>
                    <a:pt x="3400834" y="22888"/>
                  </a:lnTo>
                  <a:lnTo>
                    <a:pt x="3434762" y="49101"/>
                  </a:lnTo>
                  <a:lnTo>
                    <a:pt x="3460975" y="83029"/>
                  </a:lnTo>
                  <a:lnTo>
                    <a:pt x="3477875" y="123075"/>
                  </a:lnTo>
                  <a:lnTo>
                    <a:pt x="3483863" y="167640"/>
                  </a:lnTo>
                  <a:lnTo>
                    <a:pt x="3483863" y="838200"/>
                  </a:lnTo>
                  <a:lnTo>
                    <a:pt x="3477875" y="882764"/>
                  </a:lnTo>
                  <a:lnTo>
                    <a:pt x="3460975" y="922810"/>
                  </a:lnTo>
                  <a:lnTo>
                    <a:pt x="3434762" y="956738"/>
                  </a:lnTo>
                  <a:lnTo>
                    <a:pt x="3400834" y="982951"/>
                  </a:lnTo>
                  <a:lnTo>
                    <a:pt x="3360788" y="999851"/>
                  </a:lnTo>
                  <a:lnTo>
                    <a:pt x="3316224" y="1005840"/>
                  </a:lnTo>
                  <a:lnTo>
                    <a:pt x="167639" y="1005840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4">
            <a:extLst>
              <a:ext uri="{FF2B5EF4-FFF2-40B4-BE49-F238E27FC236}">
                <a16:creationId xmlns:a16="http://schemas.microsoft.com/office/drawing/2014/main" id="{019EC4E5-B0C9-9892-4458-6CC333DA3F2A}"/>
              </a:ext>
            </a:extLst>
          </p:cNvPr>
          <p:cNvSpPr txBox="1"/>
          <p:nvPr/>
        </p:nvSpPr>
        <p:spPr>
          <a:xfrm>
            <a:off x="8132464" y="5687195"/>
            <a:ext cx="2232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L'instruction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est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optionnelle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A96C0983-DD7E-50A4-FE90-19AB98E48A5B}"/>
              </a:ext>
            </a:extLst>
          </p:cNvPr>
          <p:cNvSpPr/>
          <p:nvPr/>
        </p:nvSpPr>
        <p:spPr>
          <a:xfrm>
            <a:off x="5800489" y="5924533"/>
            <a:ext cx="1706880" cy="114300"/>
          </a:xfrm>
          <a:custGeom>
            <a:avLst/>
            <a:gdLst/>
            <a:ahLst/>
            <a:cxnLst/>
            <a:rect l="l" t="t" r="r" b="b"/>
            <a:pathLst>
              <a:path w="170687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70687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706879" h="114300">
                <a:moveTo>
                  <a:pt x="170662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706626" y="76200"/>
                </a:lnTo>
                <a:lnTo>
                  <a:pt x="1706626" y="3810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17">
            <a:extLst>
              <a:ext uri="{FF2B5EF4-FFF2-40B4-BE49-F238E27FC236}">
                <a16:creationId xmlns:a16="http://schemas.microsoft.com/office/drawing/2014/main" id="{F22E4BE1-E9D0-D5E2-3D02-0E30F1F99CE3}"/>
              </a:ext>
            </a:extLst>
          </p:cNvPr>
          <p:cNvGrpSpPr/>
          <p:nvPr/>
        </p:nvGrpSpPr>
        <p:grpSpPr>
          <a:xfrm>
            <a:off x="9465564" y="2221738"/>
            <a:ext cx="1160145" cy="660400"/>
            <a:chOff x="9465564" y="2221738"/>
            <a:chExt cx="1160145" cy="660400"/>
          </a:xfrm>
        </p:grpSpPr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56E75063-446D-F063-6A18-558EAAC8AB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3136" y="2224913"/>
              <a:ext cx="1130913" cy="617474"/>
            </a:xfrm>
            <a:prstGeom prst="rect">
              <a:avLst/>
            </a:prstGeom>
          </p:spPr>
        </p:pic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01FE526F-C8D0-8098-D6EA-1B8B8DB72A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5564" y="2269197"/>
              <a:ext cx="1159751" cy="612686"/>
            </a:xfrm>
            <a:prstGeom prst="rect">
              <a:avLst/>
            </a:prstGeom>
          </p:spPr>
        </p:pic>
        <p:sp>
          <p:nvSpPr>
            <p:cNvPr id="35" name="object 20">
              <a:extLst>
                <a:ext uri="{FF2B5EF4-FFF2-40B4-BE49-F238E27FC236}">
                  <a16:creationId xmlns:a16="http://schemas.microsoft.com/office/drawing/2014/main" id="{C7296DA4-9F1F-1635-EB20-0362AB413116}"/>
                </a:ext>
              </a:extLst>
            </p:cNvPr>
            <p:cNvSpPr/>
            <p:nvPr/>
          </p:nvSpPr>
          <p:spPr>
            <a:xfrm>
              <a:off x="9514332" y="2228088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1046988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957072" y="539496"/>
                  </a:lnTo>
                  <a:lnTo>
                    <a:pt x="1046988" y="449579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1">
              <a:extLst>
                <a:ext uri="{FF2B5EF4-FFF2-40B4-BE49-F238E27FC236}">
                  <a16:creationId xmlns:a16="http://schemas.microsoft.com/office/drawing/2014/main" id="{F5CC69F4-4B03-4534-DDC4-731686ABB5DA}"/>
                </a:ext>
              </a:extLst>
            </p:cNvPr>
            <p:cNvSpPr/>
            <p:nvPr/>
          </p:nvSpPr>
          <p:spPr>
            <a:xfrm>
              <a:off x="10471404" y="2677668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69">
                  <a:moveTo>
                    <a:pt x="89916" y="0"/>
                  </a:moveTo>
                  <a:lnTo>
                    <a:pt x="18034" y="18034"/>
                  </a:lnTo>
                  <a:lnTo>
                    <a:pt x="0" y="89916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22">
              <a:extLst>
                <a:ext uri="{FF2B5EF4-FFF2-40B4-BE49-F238E27FC236}">
                  <a16:creationId xmlns:a16="http://schemas.microsoft.com/office/drawing/2014/main" id="{2E02A08D-54FE-71D6-212B-0A5F2E4B7EC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7982" y="2221738"/>
              <a:ext cx="1067816" cy="572515"/>
            </a:xfrm>
            <a:prstGeom prst="rect">
              <a:avLst/>
            </a:prstGeom>
          </p:spPr>
        </p:pic>
      </p:grpSp>
      <p:pic>
        <p:nvPicPr>
          <p:cNvPr id="38" name="object 24">
            <a:extLst>
              <a:ext uri="{FF2B5EF4-FFF2-40B4-BE49-F238E27FC236}">
                <a16:creationId xmlns:a16="http://schemas.microsoft.com/office/drawing/2014/main" id="{080AD762-5FE0-C3B8-FA92-CC934AA3D84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61347" y="1973579"/>
            <a:ext cx="505968" cy="507491"/>
          </a:xfrm>
          <a:prstGeom prst="rect">
            <a:avLst/>
          </a:prstGeom>
        </p:spPr>
      </p:pic>
      <p:sp>
        <p:nvSpPr>
          <p:cNvPr id="46" name="object 23">
            <a:extLst>
              <a:ext uri="{FF2B5EF4-FFF2-40B4-BE49-F238E27FC236}">
                <a16:creationId xmlns:a16="http://schemas.microsoft.com/office/drawing/2014/main" id="{99C643FC-C0AC-6625-FE12-919E5EB691DD}"/>
              </a:ext>
            </a:extLst>
          </p:cNvPr>
          <p:cNvSpPr txBox="1"/>
          <p:nvPr/>
        </p:nvSpPr>
        <p:spPr>
          <a:xfrm>
            <a:off x="9649459" y="2332101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nsolas"/>
                <a:cs typeface="Consolas"/>
              </a:rPr>
              <a:t>SWITCH</a:t>
            </a:r>
            <a:endParaRPr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50586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Opérateurs et conditions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conditions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L'instruction 'cas parmi' – partie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22" name="object 14">
            <a:extLst>
              <a:ext uri="{FF2B5EF4-FFF2-40B4-BE49-F238E27FC236}">
                <a16:creationId xmlns:a16="http://schemas.microsoft.com/office/drawing/2014/main" id="{019EC4E5-B0C9-9892-4458-6CC333DA3F2A}"/>
              </a:ext>
            </a:extLst>
          </p:cNvPr>
          <p:cNvSpPr txBox="1"/>
          <p:nvPr/>
        </p:nvSpPr>
        <p:spPr>
          <a:xfrm>
            <a:off x="8132464" y="5687195"/>
            <a:ext cx="2232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L'instruction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est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optionnelle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BE712C0-AC8A-928D-6D3C-1136A075D05A}"/>
              </a:ext>
            </a:extLst>
          </p:cNvPr>
          <p:cNvSpPr txBox="1"/>
          <p:nvPr/>
        </p:nvSpPr>
        <p:spPr>
          <a:xfrm>
            <a:off x="1299370" y="280778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endParaRPr lang="fr-FR" sz="1800" b="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input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break;</a:t>
            </a: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F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</a:t>
            </a:r>
            <a:r>
              <a:rPr lang="fr-FR" sz="18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something</a:t>
            </a:r>
            <a:r>
              <a:rPr lang="fr-FR" sz="18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break;</a:t>
            </a:r>
          </a:p>
          <a:p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</a:endParaRPr>
          </a:p>
        </p:txBody>
      </p:sp>
      <p:grpSp>
        <p:nvGrpSpPr>
          <p:cNvPr id="12" name="object 5">
            <a:extLst>
              <a:ext uri="{FF2B5EF4-FFF2-40B4-BE49-F238E27FC236}">
                <a16:creationId xmlns:a16="http://schemas.microsoft.com/office/drawing/2014/main" id="{03E5F264-D28E-CC33-CB08-9B4DE8C6D742}"/>
              </a:ext>
            </a:extLst>
          </p:cNvPr>
          <p:cNvGrpSpPr/>
          <p:nvPr/>
        </p:nvGrpSpPr>
        <p:grpSpPr>
          <a:xfrm>
            <a:off x="7395370" y="4214621"/>
            <a:ext cx="3496945" cy="1018540"/>
            <a:chOff x="6714490" y="3544570"/>
            <a:chExt cx="3496945" cy="1018540"/>
          </a:xfrm>
        </p:grpSpPr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F7B75A5E-4FF0-EB76-E966-FAB964FF5624}"/>
                </a:ext>
              </a:extLst>
            </p:cNvPr>
            <p:cNvSpPr/>
            <p:nvPr/>
          </p:nvSpPr>
          <p:spPr>
            <a:xfrm>
              <a:off x="6720840" y="3550920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39">
                  <a:moveTo>
                    <a:pt x="3316224" y="0"/>
                  </a:moveTo>
                  <a:lnTo>
                    <a:pt x="167639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199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39" y="1005839"/>
                  </a:lnTo>
                  <a:lnTo>
                    <a:pt x="3316224" y="1005839"/>
                  </a:lnTo>
                  <a:lnTo>
                    <a:pt x="3360788" y="999851"/>
                  </a:lnTo>
                  <a:lnTo>
                    <a:pt x="3400834" y="982951"/>
                  </a:lnTo>
                  <a:lnTo>
                    <a:pt x="3434762" y="956738"/>
                  </a:lnTo>
                  <a:lnTo>
                    <a:pt x="3460975" y="922810"/>
                  </a:lnTo>
                  <a:lnTo>
                    <a:pt x="3477875" y="882764"/>
                  </a:lnTo>
                  <a:lnTo>
                    <a:pt x="3483863" y="838199"/>
                  </a:lnTo>
                  <a:lnTo>
                    <a:pt x="3483863" y="167639"/>
                  </a:lnTo>
                  <a:lnTo>
                    <a:pt x="3477875" y="123075"/>
                  </a:lnTo>
                  <a:lnTo>
                    <a:pt x="3460975" y="83029"/>
                  </a:lnTo>
                  <a:lnTo>
                    <a:pt x="3434762" y="49101"/>
                  </a:lnTo>
                  <a:lnTo>
                    <a:pt x="3400834" y="22888"/>
                  </a:lnTo>
                  <a:lnTo>
                    <a:pt x="3360788" y="5988"/>
                  </a:lnTo>
                  <a:lnTo>
                    <a:pt x="33162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D25ACF15-4035-2914-AFB9-2EAD0CDCF873}"/>
                </a:ext>
              </a:extLst>
            </p:cNvPr>
            <p:cNvSpPr/>
            <p:nvPr/>
          </p:nvSpPr>
          <p:spPr>
            <a:xfrm>
              <a:off x="6720840" y="3550920"/>
              <a:ext cx="3484245" cy="1005840"/>
            </a:xfrm>
            <a:custGeom>
              <a:avLst/>
              <a:gdLst/>
              <a:ahLst/>
              <a:cxnLst/>
              <a:rect l="l" t="t" r="r" b="b"/>
              <a:pathLst>
                <a:path w="3484245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39" y="0"/>
                  </a:lnTo>
                  <a:lnTo>
                    <a:pt x="3316224" y="0"/>
                  </a:lnTo>
                  <a:lnTo>
                    <a:pt x="3360788" y="5988"/>
                  </a:lnTo>
                  <a:lnTo>
                    <a:pt x="3400834" y="22888"/>
                  </a:lnTo>
                  <a:lnTo>
                    <a:pt x="3434762" y="49101"/>
                  </a:lnTo>
                  <a:lnTo>
                    <a:pt x="3460975" y="83029"/>
                  </a:lnTo>
                  <a:lnTo>
                    <a:pt x="3477875" y="123075"/>
                  </a:lnTo>
                  <a:lnTo>
                    <a:pt x="3483863" y="167639"/>
                  </a:lnTo>
                  <a:lnTo>
                    <a:pt x="3483863" y="838199"/>
                  </a:lnTo>
                  <a:lnTo>
                    <a:pt x="3477875" y="882764"/>
                  </a:lnTo>
                  <a:lnTo>
                    <a:pt x="3460975" y="922810"/>
                  </a:lnTo>
                  <a:lnTo>
                    <a:pt x="3434762" y="956738"/>
                  </a:lnTo>
                  <a:lnTo>
                    <a:pt x="3400834" y="982951"/>
                  </a:lnTo>
                  <a:lnTo>
                    <a:pt x="3360788" y="999851"/>
                  </a:lnTo>
                  <a:lnTo>
                    <a:pt x="3316224" y="1005839"/>
                  </a:lnTo>
                  <a:lnTo>
                    <a:pt x="167639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199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A3D47E3D-3FE7-AF35-BBB5-13221BD851E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1772" y="3703332"/>
              <a:ext cx="838962" cy="511289"/>
            </a:xfrm>
            <a:prstGeom prst="rect">
              <a:avLst/>
            </a:prstGeom>
          </p:spPr>
        </p:pic>
        <p:pic>
          <p:nvPicPr>
            <p:cNvPr id="16" name="object 9">
              <a:extLst>
                <a:ext uri="{FF2B5EF4-FFF2-40B4-BE49-F238E27FC236}">
                  <a16:creationId xmlns:a16="http://schemas.microsoft.com/office/drawing/2014/main" id="{4AD8B486-432B-041E-7053-5136B6BE78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8932" y="4012750"/>
              <a:ext cx="564642" cy="46550"/>
            </a:xfrm>
            <a:prstGeom prst="rect">
              <a:avLst/>
            </a:prstGeom>
          </p:spPr>
        </p:pic>
      </p:grpSp>
      <p:sp>
        <p:nvSpPr>
          <p:cNvPr id="17" name="object 10">
            <a:extLst>
              <a:ext uri="{FF2B5EF4-FFF2-40B4-BE49-F238E27FC236}">
                <a16:creationId xmlns:a16="http://schemas.microsoft.com/office/drawing/2014/main" id="{A5A1DC7C-2887-5C46-4DE1-C86B90456516}"/>
              </a:ext>
            </a:extLst>
          </p:cNvPr>
          <p:cNvSpPr txBox="1"/>
          <p:nvPr/>
        </p:nvSpPr>
        <p:spPr>
          <a:xfrm>
            <a:off x="7692296" y="4422901"/>
            <a:ext cx="2903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L'instruction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when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permet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une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supplémentaire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EB3E49DB-91FC-F0C1-1703-576CCD828FA7}"/>
              </a:ext>
            </a:extLst>
          </p:cNvPr>
          <p:cNvSpPr/>
          <p:nvPr/>
        </p:nvSpPr>
        <p:spPr>
          <a:xfrm>
            <a:off x="5701697" y="4647945"/>
            <a:ext cx="1694814" cy="320040"/>
          </a:xfrm>
          <a:custGeom>
            <a:avLst/>
            <a:gdLst/>
            <a:ahLst/>
            <a:cxnLst/>
            <a:rect l="l" t="t" r="r" b="b"/>
            <a:pathLst>
              <a:path w="1694815" h="320039">
                <a:moveTo>
                  <a:pt x="104267" y="206882"/>
                </a:moveTo>
                <a:lnTo>
                  <a:pt x="0" y="280796"/>
                </a:lnTo>
                <a:lnTo>
                  <a:pt x="121666" y="319785"/>
                </a:lnTo>
                <a:lnTo>
                  <a:pt x="116323" y="285114"/>
                </a:lnTo>
                <a:lnTo>
                  <a:pt x="97028" y="285114"/>
                </a:lnTo>
                <a:lnTo>
                  <a:pt x="91186" y="247395"/>
                </a:lnTo>
                <a:lnTo>
                  <a:pt x="110059" y="244473"/>
                </a:lnTo>
                <a:lnTo>
                  <a:pt x="104267" y="206882"/>
                </a:lnTo>
                <a:close/>
              </a:path>
              <a:path w="1694815" h="320039">
                <a:moveTo>
                  <a:pt x="110059" y="244473"/>
                </a:moveTo>
                <a:lnTo>
                  <a:pt x="91186" y="247395"/>
                </a:lnTo>
                <a:lnTo>
                  <a:pt x="97028" y="285114"/>
                </a:lnTo>
                <a:lnTo>
                  <a:pt x="115873" y="282195"/>
                </a:lnTo>
                <a:lnTo>
                  <a:pt x="110059" y="244473"/>
                </a:lnTo>
                <a:close/>
              </a:path>
              <a:path w="1694815" h="320039">
                <a:moveTo>
                  <a:pt x="115873" y="282195"/>
                </a:moveTo>
                <a:lnTo>
                  <a:pt x="97028" y="285114"/>
                </a:lnTo>
                <a:lnTo>
                  <a:pt x="116323" y="285114"/>
                </a:lnTo>
                <a:lnTo>
                  <a:pt x="115873" y="282195"/>
                </a:lnTo>
                <a:close/>
              </a:path>
              <a:path w="1694815" h="320039">
                <a:moveTo>
                  <a:pt x="1688718" y="0"/>
                </a:moveTo>
                <a:lnTo>
                  <a:pt x="110059" y="244473"/>
                </a:lnTo>
                <a:lnTo>
                  <a:pt x="115873" y="282195"/>
                </a:lnTo>
                <a:lnTo>
                  <a:pt x="1694561" y="37591"/>
                </a:lnTo>
                <a:lnTo>
                  <a:pt x="16887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0486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Troisième partie</a:t>
            </a: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1317</Words>
  <Application>Microsoft Office PowerPoint</Application>
  <PresentationFormat>Grand écran</PresentationFormat>
  <Paragraphs>320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Segoe UI</vt:lpstr>
      <vt:lpstr>Trebuchet MS</vt:lpstr>
      <vt:lpstr>Thème Office</vt:lpstr>
      <vt:lpstr>Bases du C# - partie 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39</cp:revision>
  <dcterms:created xsi:type="dcterms:W3CDTF">2021-02-04T09:09:06Z</dcterms:created>
  <dcterms:modified xsi:type="dcterms:W3CDTF">2024-09-03T20:26:43Z</dcterms:modified>
</cp:coreProperties>
</file>