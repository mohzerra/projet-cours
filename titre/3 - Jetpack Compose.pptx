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421" r:id="rId2"/>
    <p:sldId id="425" r:id="rId3"/>
    <p:sldId id="470" r:id="rId4"/>
    <p:sldId id="497" r:id="rId5"/>
    <p:sldId id="473" r:id="rId6"/>
    <p:sldId id="474" r:id="rId7"/>
    <p:sldId id="476" r:id="rId8"/>
    <p:sldId id="495" r:id="rId9"/>
    <p:sldId id="496" r:id="rId10"/>
    <p:sldId id="478" r:id="rId11"/>
    <p:sldId id="477" r:id="rId12"/>
    <p:sldId id="481" r:id="rId13"/>
    <p:sldId id="483" r:id="rId14"/>
    <p:sldId id="485" r:id="rId15"/>
    <p:sldId id="486" r:id="rId16"/>
    <p:sldId id="487" r:id="rId17"/>
    <p:sldId id="484" r:id="rId18"/>
    <p:sldId id="488" r:id="rId19"/>
    <p:sldId id="490" r:id="rId20"/>
    <p:sldId id="489" r:id="rId21"/>
    <p:sldId id="491" r:id="rId22"/>
    <p:sldId id="420" r:id="rId23"/>
    <p:sldId id="492" r:id="rId24"/>
    <p:sldId id="494" r:id="rId25"/>
    <p:sldId id="498" r:id="rId26"/>
    <p:sldId id="499" r:id="rId27"/>
    <p:sldId id="500" r:id="rId28"/>
    <p:sldId id="502" r:id="rId29"/>
    <p:sldId id="503" r:id="rId30"/>
    <p:sldId id="504" r:id="rId31"/>
    <p:sldId id="505" r:id="rId32"/>
    <p:sldId id="506" r:id="rId33"/>
    <p:sldId id="507" r:id="rId34"/>
    <p:sldId id="508" r:id="rId35"/>
    <p:sldId id="509" r:id="rId36"/>
    <p:sldId id="513" r:id="rId37"/>
    <p:sldId id="510" r:id="rId38"/>
    <p:sldId id="512" r:id="rId39"/>
    <p:sldId id="514" r:id="rId40"/>
    <p:sldId id="511" r:id="rId41"/>
    <p:sldId id="493" r:id="rId42"/>
    <p:sldId id="409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26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6327"/>
  </p:normalViewPr>
  <p:slideViewPr>
    <p:cSldViewPr snapToGrid="0">
      <p:cViewPr varScale="1">
        <p:scale>
          <a:sx n="104" d="100"/>
          <a:sy n="104" d="100"/>
        </p:scale>
        <p:origin x="23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FF607C-DDD0-F74B-A76A-64E77860D927}" type="datetimeFigureOut">
              <a:rPr lang="fr-FR" smtClean="0"/>
              <a:t>23/01/2023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E1B1F1-E7D9-164C-BD92-E03F9D8C07A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6104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© SUPINFO</a:t>
            </a:r>
          </a:p>
          <a:p>
            <a:r>
              <a:rPr lang="fr-FR" dirty="0"/>
              <a:t>Auteur : Alexandre Gressier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11333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048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0" dirty="0"/>
              <a:t>Image extraite du livre « </a:t>
            </a:r>
            <a:r>
              <a:rPr lang="en-US" b="0" i="0" dirty="0">
                <a:solidFill>
                  <a:srgbClr val="333333"/>
                </a:solidFill>
                <a:effectLst/>
                <a:latin typeface="Merriweather" pitchFamily="2" charset="77"/>
              </a:rPr>
              <a:t>Jetpack Compose By Tutorials</a:t>
            </a:r>
            <a:r>
              <a:rPr lang="fr-FR" b="0" i="0" dirty="0">
                <a:solidFill>
                  <a:srgbClr val="333333"/>
                </a:solidFill>
                <a:effectLst/>
                <a:latin typeface="Merriweather" pitchFamily="2" charset="77"/>
              </a:rPr>
              <a:t> », par Tino Balint et Denis </a:t>
            </a:r>
            <a:r>
              <a:rPr lang="fr-FR" b="0" i="0" dirty="0" err="1">
                <a:solidFill>
                  <a:srgbClr val="333333"/>
                </a:solidFill>
                <a:effectLst/>
                <a:latin typeface="Merriweather" pitchFamily="2" charset="77"/>
              </a:rPr>
              <a:t>Buketa</a:t>
            </a:r>
            <a:r>
              <a:rPr lang="fr-FR" b="0" i="0" dirty="0">
                <a:solidFill>
                  <a:srgbClr val="333333"/>
                </a:solidFill>
                <a:effectLst/>
                <a:latin typeface="Merriweather" pitchFamily="2" charset="77"/>
              </a:rPr>
              <a:t>, 2021, </a:t>
            </a:r>
            <a:r>
              <a:rPr lang="fr-FR" b="0" i="0" dirty="0" err="1">
                <a:solidFill>
                  <a:srgbClr val="333333"/>
                </a:solidFill>
                <a:effectLst/>
                <a:latin typeface="Merriweather" pitchFamily="2" charset="77"/>
              </a:rPr>
              <a:t>Razeware</a:t>
            </a:r>
            <a:endParaRPr lang="en-US" b="0" i="0" dirty="0">
              <a:solidFill>
                <a:srgbClr val="333333"/>
              </a:solidFill>
              <a:effectLst/>
              <a:latin typeface="Merriweather" pitchFamily="2" charset="7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97876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37250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91232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52095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0" dirty="0"/>
              <a:t>Image extraite du livre « </a:t>
            </a:r>
            <a:r>
              <a:rPr lang="en-US" b="0" i="0" dirty="0">
                <a:solidFill>
                  <a:srgbClr val="333333"/>
                </a:solidFill>
                <a:effectLst/>
                <a:latin typeface="Merriweather" pitchFamily="2" charset="77"/>
              </a:rPr>
              <a:t>Jetpack Compose By Tutorials</a:t>
            </a:r>
            <a:r>
              <a:rPr lang="fr-FR" b="0" i="0" dirty="0">
                <a:solidFill>
                  <a:srgbClr val="333333"/>
                </a:solidFill>
                <a:effectLst/>
                <a:latin typeface="Merriweather" pitchFamily="2" charset="77"/>
              </a:rPr>
              <a:t> », par Tino Balint et Denis </a:t>
            </a:r>
            <a:r>
              <a:rPr lang="fr-FR" b="0" i="0" dirty="0" err="1">
                <a:solidFill>
                  <a:srgbClr val="333333"/>
                </a:solidFill>
                <a:effectLst/>
                <a:latin typeface="Merriweather" pitchFamily="2" charset="77"/>
              </a:rPr>
              <a:t>Buketa</a:t>
            </a:r>
            <a:r>
              <a:rPr lang="fr-FR" b="0" i="0" dirty="0">
                <a:solidFill>
                  <a:srgbClr val="333333"/>
                </a:solidFill>
                <a:effectLst/>
                <a:latin typeface="Merriweather" pitchFamily="2" charset="77"/>
              </a:rPr>
              <a:t>, 2021, </a:t>
            </a:r>
            <a:r>
              <a:rPr lang="fr-FR" b="0" i="0" dirty="0" err="1">
                <a:solidFill>
                  <a:srgbClr val="333333"/>
                </a:solidFill>
                <a:effectLst/>
                <a:latin typeface="Merriweather" pitchFamily="2" charset="77"/>
              </a:rPr>
              <a:t>Razeware</a:t>
            </a:r>
            <a:endParaRPr lang="en-US" b="0" i="0" dirty="0">
              <a:solidFill>
                <a:srgbClr val="333333"/>
              </a:solidFill>
              <a:effectLst/>
              <a:latin typeface="Merriweather" pitchFamily="2" charset="7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1650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0" dirty="0"/>
              <a:t>Image extraite du livre « </a:t>
            </a:r>
            <a:r>
              <a:rPr lang="en-US" b="0" i="0" dirty="0">
                <a:solidFill>
                  <a:srgbClr val="333333"/>
                </a:solidFill>
                <a:effectLst/>
                <a:latin typeface="Merriweather" pitchFamily="2" charset="77"/>
              </a:rPr>
              <a:t>Jetpack Compose By Tutorials</a:t>
            </a:r>
            <a:r>
              <a:rPr lang="fr-FR" b="0" i="0" dirty="0">
                <a:solidFill>
                  <a:srgbClr val="333333"/>
                </a:solidFill>
                <a:effectLst/>
                <a:latin typeface="Merriweather" pitchFamily="2" charset="77"/>
              </a:rPr>
              <a:t> », par Tino Balint et Denis </a:t>
            </a:r>
            <a:r>
              <a:rPr lang="fr-FR" b="0" i="0" dirty="0" err="1">
                <a:solidFill>
                  <a:srgbClr val="333333"/>
                </a:solidFill>
                <a:effectLst/>
                <a:latin typeface="Merriweather" pitchFamily="2" charset="77"/>
              </a:rPr>
              <a:t>Buketa</a:t>
            </a:r>
            <a:r>
              <a:rPr lang="fr-FR" b="0" i="0" dirty="0">
                <a:solidFill>
                  <a:srgbClr val="333333"/>
                </a:solidFill>
                <a:effectLst/>
                <a:latin typeface="Merriweather" pitchFamily="2" charset="77"/>
              </a:rPr>
              <a:t>, 2021, </a:t>
            </a:r>
            <a:r>
              <a:rPr lang="fr-FR" b="0" i="0" dirty="0" err="1">
                <a:solidFill>
                  <a:srgbClr val="333333"/>
                </a:solidFill>
                <a:effectLst/>
                <a:latin typeface="Merriweather" pitchFamily="2" charset="77"/>
              </a:rPr>
              <a:t>Razeware</a:t>
            </a:r>
            <a:endParaRPr lang="en-US" b="0" i="0" dirty="0">
              <a:solidFill>
                <a:srgbClr val="333333"/>
              </a:solidFill>
              <a:effectLst/>
              <a:latin typeface="Merriweather" pitchFamily="2" charset="7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51083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91751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05543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15161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48710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44429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7705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69025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27160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89456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63193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39488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76866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60101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8191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61537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87624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00942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34256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35466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7324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41793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18586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312790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2745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76397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65965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605503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472818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618718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610000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293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8FC4F-8B03-012F-6FB6-C7CC7428D2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0998C8-F753-0CD0-6A9C-D8E362A44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FCB5F-2371-5B50-EA06-77026516C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49A71-C632-7D49-BABA-85290A9CCC0F}" type="datetimeFigureOut">
              <a:rPr lang="fr-FR" smtClean="0"/>
              <a:t>23/01/2023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3D248-819A-EEAF-46F3-336D7B9BD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2A7EE-F147-B5E1-E437-670398F83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17883-D1CD-7040-9734-68D2950A920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4004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DD98F-2F98-4395-EBAA-A26A90BCC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8FD9D-4CFE-10E5-FD10-D30478AAC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ED4C3-36FE-C0A4-E2CC-907D89C2D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49A71-C632-7D49-BABA-85290A9CCC0F}" type="datetimeFigureOut">
              <a:rPr lang="fr-FR" smtClean="0"/>
              <a:t>23/01/2023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AB915-5381-DAF4-2A10-9155123AF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F98C5-235F-E728-2152-0D12E257D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17883-D1CD-7040-9734-68D2950A920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6818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1DAE4-80EC-BA8B-9119-52795EE38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08864-01E8-0C28-2EDD-A5A87EC4B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6F7D7-6FFF-3ADF-59E0-273909E5A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49A71-C632-7D49-BABA-85290A9CCC0F}" type="datetimeFigureOut">
              <a:rPr lang="fr-FR" smtClean="0"/>
              <a:t>23/01/2023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1FD2F-5848-B6E5-000C-C7C8FF68C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14093-B1C0-E416-7815-95136429F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17883-D1CD-7040-9734-68D2950A920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139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A1C12-2B1F-CBA0-F203-19E4313D9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A3CA6-949D-6C18-777B-208D7CA38A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6BBB5E-E747-A99E-8B15-181F37A410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A0BFB3-553A-FB39-D276-DC5E07B46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49A71-C632-7D49-BABA-85290A9CCC0F}" type="datetimeFigureOut">
              <a:rPr lang="fr-FR" smtClean="0"/>
              <a:t>23/01/2023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1A5F16-8C18-B894-87A0-7F8C7C843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9B78A2-D86D-81A3-A9A4-B1272BC06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17883-D1CD-7040-9734-68D2950A920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738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74022-5C9E-BD0E-E4EA-2F56FA9FF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E1C899-05B9-C193-D497-F8299C70B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19D5BC-42DA-ECF8-6C08-DE46988750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CB039B-5734-A7A9-C21C-9753983FDA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4AFB81-AD36-F3AA-2B89-454B3A3A10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AD72DD-66D4-925B-1E5C-B68F47318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49A71-C632-7D49-BABA-85290A9CCC0F}" type="datetimeFigureOut">
              <a:rPr lang="fr-FR" smtClean="0"/>
              <a:t>23/01/2023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91D26B-5C15-30C9-D083-FC06F01E2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97EF7-B35A-3765-04D4-A4786EE19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17883-D1CD-7040-9734-68D2950A920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7957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54B01-22A1-6168-119E-DBB6858E6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F160CC-C56D-E597-497B-114576918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49A71-C632-7D49-BABA-85290A9CCC0F}" type="datetimeFigureOut">
              <a:rPr lang="fr-FR" smtClean="0"/>
              <a:t>23/01/2023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5C2A2C-07B7-391F-C3EF-4F3D60153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A6F697-1869-B61D-091B-9BD180ACB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17883-D1CD-7040-9734-68D2950A920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5889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DA9B9E-D39D-33A4-65CD-41FA4E6A6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49A71-C632-7D49-BABA-85290A9CCC0F}" type="datetimeFigureOut">
              <a:rPr lang="fr-FR" smtClean="0"/>
              <a:t>23/01/2023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C18CAF-2420-5997-9E44-CB8C4ABE6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86457-8315-B8DA-9C3C-02265DC44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17883-D1CD-7040-9734-68D2950A920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0972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AC7EC-D690-194F-71FA-1A45E2171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B6ECD-C28B-32D6-16A7-D73F90FF0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EC61B9-F95D-EF51-4E28-3653A1E3B2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785E6A-C1AE-594E-4AE4-0501FF703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49A71-C632-7D49-BABA-85290A9CCC0F}" type="datetimeFigureOut">
              <a:rPr lang="fr-FR" smtClean="0"/>
              <a:t>23/01/2023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49F3E5-6A5F-012C-1E49-D070A13E7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C09BD-CE38-F8A6-557F-FD0CDF9E4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17883-D1CD-7040-9734-68D2950A920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250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B03A8-15BB-7CB0-AF50-852EFA17C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A6472-2045-6561-1A7C-CC89282262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A937E5-6C60-18CC-0441-99D75A1528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8C348-0B0F-D11B-7EC1-F7B4969AD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49A71-C632-7D49-BABA-85290A9CCC0F}" type="datetimeFigureOut">
              <a:rPr lang="fr-FR" smtClean="0"/>
              <a:t>23/01/2023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1AA63-64B1-B961-342A-67406DB18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D02BDA-76F6-8D32-0D3A-1015D30F7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17883-D1CD-7040-9734-68D2950A920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4220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65165-42A3-7281-73B6-6D0C545A4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F3208D-260B-34C4-5035-4C944CCA4D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B2BEB-B9B2-5358-2321-93C29B069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49A71-C632-7D49-BABA-85290A9CCC0F}" type="datetimeFigureOut">
              <a:rPr lang="fr-FR" smtClean="0"/>
              <a:t>23/01/2023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D46E2-BF98-D188-F5BF-252B54F50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FE227C-7126-F076-F1C8-551011FCF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17883-D1CD-7040-9734-68D2950A920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777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2403F7-E54F-0C74-EF8A-3379057A2C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FE4832-CB91-79EE-2C00-4F7129109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4BE17-A0B4-1E59-5271-7D7758C83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49A71-C632-7D49-BABA-85290A9CCC0F}" type="datetimeFigureOut">
              <a:rPr lang="fr-FR" smtClean="0"/>
              <a:t>23/01/2023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A4D99-2BE8-F9E6-C653-852D715C7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DFE8F-A1CA-C366-7108-54660FCF5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17883-D1CD-7040-9734-68D2950A920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8101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DC6697-E9ED-4748-05AC-DF138C490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066098-3C92-E313-65D0-B719D91D5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05181-5BCB-0E56-F956-8FAE587A2D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49A71-C632-7D49-BABA-85290A9CCC0F}" type="datetimeFigureOut">
              <a:rPr lang="fr-FR" smtClean="0"/>
              <a:t>23/01/2023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A1FB08-6750-5A43-CBA5-5BA5257008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DA55F-A3FC-639B-B751-A1E0060EBD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017883-D1CD-7040-9734-68D2950A920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8929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F8221A-BD6C-D743-8F79-B5CC237B7B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3 – Jetpack Compose</a:t>
            </a: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76B8DA83-B860-924D-B9FE-FE02FD8A3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5983"/>
            <a:ext cx="9144000" cy="1655762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3ANDM - Développeur d’application Android mobile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5A1A31C-D020-0B43-A654-BC830BBC2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200" y="5454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645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2554564"/>
            <a:ext cx="10515600" cy="233239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indent="-742950">
              <a:buAutoNum type="arabicPeriod"/>
            </a:pPr>
            <a:r>
              <a:rPr lang="fr-FR" sz="3600" dirty="0">
                <a:solidFill>
                  <a:schemeClr val="bg1"/>
                </a:solidFill>
              </a:rPr>
              <a:t>Aperçu général</a:t>
            </a:r>
          </a:p>
          <a:p>
            <a:pPr marL="742950" indent="-742950">
              <a:buAutoNum type="arabicPeriod"/>
            </a:pPr>
            <a:r>
              <a:rPr lang="fr-FR" sz="3600" dirty="0">
                <a:solidFill>
                  <a:schemeClr val="bg1"/>
                </a:solidFill>
              </a:rPr>
              <a:t>Éléments UI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E19DB8DF-56A9-C146-8CC5-1A72BBF66B41}"/>
              </a:ext>
            </a:extLst>
          </p:cNvPr>
          <p:cNvSpPr txBox="1">
            <a:spLocks/>
          </p:cNvSpPr>
          <p:nvPr/>
        </p:nvSpPr>
        <p:spPr>
          <a:xfrm>
            <a:off x="4994689" y="402196"/>
            <a:ext cx="2189922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i="1">
                <a:solidFill>
                  <a:schemeClr val="bg1"/>
                </a:solidFill>
              </a:rPr>
              <a:t>Sommaire</a:t>
            </a:r>
          </a:p>
        </p:txBody>
      </p:sp>
      <p:pic>
        <p:nvPicPr>
          <p:cNvPr id="6" name="Graphique 5" descr="Menu avec un remplissage uni">
            <a:extLst>
              <a:ext uri="{FF2B5EF4-FFF2-40B4-BE49-F238E27FC236}">
                <a16:creationId xmlns:a16="http://schemas.microsoft.com/office/drawing/2014/main" id="{F3640D13-DDD0-8D47-9978-9A138749BA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40000" y="5040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45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Aperçu général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7" y="1431230"/>
            <a:ext cx="525117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Jetpack Compose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0" i="0" dirty="0">
                <a:solidFill>
                  <a:srgbClr val="374151"/>
                </a:solidFill>
                <a:effectLst/>
                <a:latin typeface="Söhne"/>
              </a:rPr>
              <a:t>Nouvelle manière de concevoir des interfaces utilisateurs Android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0" i="0" dirty="0">
                <a:solidFill>
                  <a:srgbClr val="374151"/>
                </a:solidFill>
                <a:effectLst/>
                <a:latin typeface="Söhne"/>
              </a:rPr>
              <a:t>Utilise </a:t>
            </a:r>
            <a:r>
              <a:rPr lang="fr-FR" sz="2400" dirty="0">
                <a:solidFill>
                  <a:srgbClr val="374151"/>
                </a:solidFill>
                <a:latin typeface="Söhne"/>
              </a:rPr>
              <a:t>un paradigme déclaratif plutôt qu’impératif</a:t>
            </a:r>
            <a:endParaRPr lang="fr-FR" sz="24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374151"/>
                </a:solidFill>
                <a:latin typeface="Söhne"/>
              </a:rPr>
              <a:t>Remplace progressivement les fichiers XML utilisés jusqu’alors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374151"/>
                </a:solidFill>
                <a:latin typeface="Söhne"/>
              </a:rPr>
              <a:t>Conçu pour Android en premier, mais aussi utilisable pour des applications ordinateur et web</a:t>
            </a:r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F2339AC1-6A13-78D0-6BEF-B1D063698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0110" y="2005021"/>
            <a:ext cx="3387090" cy="3376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041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Aperçu général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7" y="1431230"/>
            <a:ext cx="5251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Jetpack Compose - Écosystème</a:t>
            </a:r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E08542D4-D9AE-8007-E6FB-FB75915AA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051" y="2150110"/>
            <a:ext cx="5541897" cy="421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420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Aperçu général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7" y="1431230"/>
            <a:ext cx="5251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Jetpack Compose – Exemple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E671B8-0D06-15F2-D75C-A7859AA76B3D}"/>
              </a:ext>
            </a:extLst>
          </p:cNvPr>
          <p:cNvSpPr txBox="1"/>
          <p:nvPr/>
        </p:nvSpPr>
        <p:spPr>
          <a:xfrm>
            <a:off x="844827" y="2102382"/>
            <a:ext cx="811629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@Composable</a:t>
            </a:r>
            <a:br>
              <a:rPr lang="en-US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US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JetpackCompose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noProof="1">
                <a:solidFill>
                  <a:srgbClr val="00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Card </a:t>
            </a:r>
            <a: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expanded </a:t>
            </a: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by </a:t>
            </a:r>
            <a:r>
              <a:rPr lang="en-US" noProof="1">
                <a:solidFill>
                  <a:srgbClr val="00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remember </a:t>
            </a:r>
            <a: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mutableStateOf(</a:t>
            </a: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b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noProof="1">
                <a:solidFill>
                  <a:srgbClr val="00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Column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Modifier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i="1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clickable </a:t>
            </a:r>
            <a: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expanded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= !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expanded </a:t>
            </a:r>
            <a: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Image(</a:t>
            </a:r>
            <a:r>
              <a:rPr lang="en-US" noProof="1">
                <a:solidFill>
                  <a:srgbClr val="00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painterResource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(R.drawable.jetpack_compose))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        AnimatedVisibility(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expanded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Text(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-US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text = </a:t>
            </a:r>
            <a:r>
              <a:rPr lang="en-US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"Jetpack Compose"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-US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style = 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MaterialTheme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.typography.bodyLarge,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            )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  <a:b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EEBA1471-D88A-322E-7069-3819A9F71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0660" y="1431230"/>
            <a:ext cx="2667000" cy="477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684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Aperçu général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7" y="1431230"/>
            <a:ext cx="5251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Jetpack Compose – Exemple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E671B8-0D06-15F2-D75C-A7859AA76B3D}"/>
              </a:ext>
            </a:extLst>
          </p:cNvPr>
          <p:cNvSpPr txBox="1"/>
          <p:nvPr/>
        </p:nvSpPr>
        <p:spPr>
          <a:xfrm>
            <a:off x="844827" y="2102382"/>
            <a:ext cx="811629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@Composable</a:t>
            </a:r>
            <a:br>
              <a:rPr lang="en-US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US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JetpackCompose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noProof="1">
                <a:solidFill>
                  <a:srgbClr val="00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Card </a:t>
            </a:r>
            <a: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expanded </a:t>
            </a: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by </a:t>
            </a:r>
            <a:r>
              <a:rPr lang="en-US" noProof="1">
                <a:solidFill>
                  <a:srgbClr val="00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remember </a:t>
            </a:r>
            <a: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mutableStateOf(</a:t>
            </a: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b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noProof="1">
                <a:solidFill>
                  <a:srgbClr val="00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Column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Modifier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i="1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clickable </a:t>
            </a:r>
            <a: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expanded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= !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expanded </a:t>
            </a:r>
            <a: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Image(</a:t>
            </a:r>
            <a:r>
              <a:rPr lang="en-US" noProof="1">
                <a:solidFill>
                  <a:srgbClr val="00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painterResource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(R.drawable.jetpack_compose))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        AnimatedVisibility(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expanded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Text(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-US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text = </a:t>
            </a:r>
            <a:r>
              <a:rPr lang="en-US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"Jetpack Compose"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-US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style = 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MaterialTheme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.typography.bodyLarge,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            )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  <a:b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pic>
        <p:nvPicPr>
          <p:cNvPr id="5" name="Picture 4" descr="Company name&#10;&#10;Description automatically generated with low confidence">
            <a:extLst>
              <a:ext uri="{FF2B5EF4-FFF2-40B4-BE49-F238E27FC236}">
                <a16:creationId xmlns:a16="http://schemas.microsoft.com/office/drawing/2014/main" id="{5B50865A-987E-284F-19C6-5BDF93FE7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0500" y="1431230"/>
            <a:ext cx="2667000" cy="477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581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Aperçu général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7477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Jetpack Compose – Exemple :</a:t>
            </a:r>
          </a:p>
          <a:p>
            <a:r>
              <a:rPr lang="fr-FR" sz="2400" dirty="0"/>
              <a:t>Une fonction qui affiche de l’UI est annotée avec 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@Composable </a:t>
            </a:r>
            <a:r>
              <a:rPr lang="fr-FR" sz="2400" dirty="0"/>
              <a:t>et ne renvoie rien (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Unit</a:t>
            </a:r>
            <a:r>
              <a:rPr lang="fr-FR" sz="2400" dirty="0"/>
              <a:t>). Par convention, elles portent un nom </a:t>
            </a:r>
            <a:r>
              <a:rPr lang="fr-FR" sz="2400" i="1" dirty="0" err="1"/>
              <a:t>UpperCamelCase</a:t>
            </a:r>
            <a:r>
              <a:rPr lang="fr-FR" sz="2400" dirty="0"/>
              <a:t>.</a:t>
            </a:r>
            <a:endParaRPr lang="fr-FR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E671B8-0D06-15F2-D75C-A7859AA76B3D}"/>
              </a:ext>
            </a:extLst>
          </p:cNvPr>
          <p:cNvSpPr txBox="1"/>
          <p:nvPr/>
        </p:nvSpPr>
        <p:spPr>
          <a:xfrm>
            <a:off x="844826" y="2826127"/>
            <a:ext cx="811629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@Composable</a:t>
            </a:r>
            <a:br>
              <a:rPr lang="en-US" sz="1600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US" sz="1600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JetpackCompose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Card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expanded by remember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mutableStateOf(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Column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Modifier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i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clickable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expanded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!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expanded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Image(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painterResource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(R.drawable.jetpack_compose))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AnimatedVisibility(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expanded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Text(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text = "Jetpack Compose"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style = MaterialTheme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.typography.bodyLarge,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)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04840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Aperçu général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7" y="1431230"/>
            <a:ext cx="5251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L’UI comme résultat d’un état</a:t>
            </a:r>
          </a:p>
        </p:txBody>
      </p:sp>
      <p:pic>
        <p:nvPicPr>
          <p:cNvPr id="10" name="Picture 9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D325D28C-D1E0-9059-F4E8-0D889F45D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000" y="2379907"/>
            <a:ext cx="7717616" cy="331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346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Aperçu général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7" y="1431230"/>
            <a:ext cx="5251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i="1" dirty="0" err="1"/>
              <a:t>Unidirectional</a:t>
            </a:r>
            <a:r>
              <a:rPr lang="fr-FR" sz="2400" b="1" i="1" dirty="0"/>
              <a:t> Data Flow</a:t>
            </a:r>
          </a:p>
        </p:txBody>
      </p:sp>
      <p:pic>
        <p:nvPicPr>
          <p:cNvPr id="5" name="Picture 4" descr="Diagram, schematic&#10;&#10;Description automatically generated">
            <a:extLst>
              <a:ext uri="{FF2B5EF4-FFF2-40B4-BE49-F238E27FC236}">
                <a16:creationId xmlns:a16="http://schemas.microsoft.com/office/drawing/2014/main" id="{6EC942E6-8413-1255-12E5-C2FEC3F7F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1397" y="2085266"/>
            <a:ext cx="3649205" cy="35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98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Aperçu général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7477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Jetpack Compose – Exemple :</a:t>
            </a:r>
          </a:p>
          <a:p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Card</a:t>
            </a:r>
            <a:r>
              <a:rPr lang="fr-FR" sz="2400" dirty="0"/>
              <a:t> est une fonction composable avec pour seul paramètre obligatoire une autre fonction composable, qui est le contenu de la carte affichée (blanche par défaut).</a:t>
            </a:r>
            <a:endParaRPr lang="fr-FR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E671B8-0D06-15F2-D75C-A7859AA76B3D}"/>
              </a:ext>
            </a:extLst>
          </p:cNvPr>
          <p:cNvSpPr txBox="1"/>
          <p:nvPr/>
        </p:nvSpPr>
        <p:spPr>
          <a:xfrm>
            <a:off x="844826" y="2826127"/>
            <a:ext cx="811629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@Composable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JetpackCompose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noProof="1">
                <a:solidFill>
                  <a:srgbClr val="00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Card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expanded by remember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mutableStateOf(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Column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Modifier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i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clickable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expanded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!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expanded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Image(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painterResource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(R.drawable.jetpack_compose))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AnimatedVisibility(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expanded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Text(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text = "Jetpack Compose"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style = MaterialTheme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.typography.bodyLarge,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)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22161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Aperçu général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7477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Jetpack Compose – Exemple :</a:t>
            </a:r>
          </a:p>
          <a:p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Column</a:t>
            </a:r>
            <a:r>
              <a:rPr lang="fr-FR" sz="2400" dirty="0"/>
              <a:t> est une fonction composable de mise en page. Elle n’affiche rien elle-même, mais les composables qu’elle contient seront alignés sur un axe vertical.</a:t>
            </a:r>
            <a:endParaRPr lang="fr-FR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E671B8-0D06-15F2-D75C-A7859AA76B3D}"/>
              </a:ext>
            </a:extLst>
          </p:cNvPr>
          <p:cNvSpPr txBox="1"/>
          <p:nvPr/>
        </p:nvSpPr>
        <p:spPr>
          <a:xfrm>
            <a:off x="844826" y="2826127"/>
            <a:ext cx="811629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@Composable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JetpackCompose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Card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expanded by remember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mutableStateOf(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rgbClr val="00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Column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Modifier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i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clickable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expanded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!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expanded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Image(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painterResource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(R.drawable.jetpack_compose))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AnimatedVisibility(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expanded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Text(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text = "Jetpack Compose"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style = MaterialTheme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.typography.bodyLarge,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)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95690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Aperçu général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7477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Jetpack Compose – Exemple :</a:t>
            </a:r>
          </a:p>
          <a:p>
            <a:r>
              <a:rPr lang="fr-FR" sz="2400" dirty="0"/>
              <a:t>Comme la plupart des composables, </a:t>
            </a: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Column</a:t>
            </a:r>
            <a:r>
              <a:rPr lang="fr-FR" sz="2400" dirty="0"/>
              <a:t> prend un paramètre 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modifier</a:t>
            </a:r>
            <a:r>
              <a:rPr lang="fr-FR" sz="2400" dirty="0"/>
              <a:t> qui permet d’ajuster son comportement ou apparence. Ici, </a:t>
            </a: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Column</a:t>
            </a:r>
            <a:r>
              <a:rPr lang="fr-FR" sz="2400" dirty="0"/>
              <a:t> est rendue cliquable.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E671B8-0D06-15F2-D75C-A7859AA76B3D}"/>
              </a:ext>
            </a:extLst>
          </p:cNvPr>
          <p:cNvSpPr txBox="1"/>
          <p:nvPr/>
        </p:nvSpPr>
        <p:spPr>
          <a:xfrm>
            <a:off x="844826" y="2826127"/>
            <a:ext cx="811629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@Composable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JetpackCompose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Card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expanded by remember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mutableStateOf(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rgbClr val="00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Column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Modifier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i="1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clickable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expanded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!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expanded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Image(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painterResource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(R.drawable.jetpack_compose))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AnimatedVisibility(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expanded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Text(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text = "Jetpack Compose"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style = MaterialTheme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.typography.bodyLarge,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)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37571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Aperçu général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7477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Jetpack Compose – Exemple :</a:t>
            </a:r>
          </a:p>
          <a:p>
            <a:r>
              <a:rPr lang="fr-FR" sz="2400" dirty="0"/>
              <a:t>Le </a:t>
            </a:r>
            <a:r>
              <a:rPr lang="fr-FR" sz="2400" i="1" dirty="0"/>
              <a:t>modifier</a:t>
            </a:r>
            <a:r>
              <a:rPr lang="fr-FR" sz="2400" dirty="0"/>
              <a:t> </a:t>
            </a: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clickable</a:t>
            </a:r>
            <a:r>
              <a:rPr lang="fr-FR" sz="2400" dirty="0"/>
              <a:t> prend en paramètre une fonction qui est exécutée lors de chaque touché.</a:t>
            </a:r>
            <a:endParaRPr lang="fr-FR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E671B8-0D06-15F2-D75C-A7859AA76B3D}"/>
              </a:ext>
            </a:extLst>
          </p:cNvPr>
          <p:cNvSpPr txBox="1"/>
          <p:nvPr/>
        </p:nvSpPr>
        <p:spPr>
          <a:xfrm>
            <a:off x="844826" y="2826127"/>
            <a:ext cx="811629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@Composable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JetpackCompose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Card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expanded by remember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mutableStateOf(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Column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Modifier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i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clickable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expanded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= !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expanded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Image(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painterResource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(R.drawable.jetpack_compose))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AnimatedVisibility(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expanded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Text(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text = "Jetpack Compose"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style = MaterialTheme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.typography.bodyLarge,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)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97839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Aperçu général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7477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Jetpack Compose – Exemple :</a:t>
            </a:r>
          </a:p>
          <a:p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expanded</a:t>
            </a:r>
            <a:r>
              <a:rPr lang="fr-FR" sz="2400" dirty="0"/>
              <a:t> est une variable booléenne muable qui représente l’état de la carte affichée actuellement (</a:t>
            </a:r>
            <a:r>
              <a:rPr lang="fr-FR" sz="2400" dirty="0">
                <a:sym typeface="Wingdings" pitchFamily="2" charset="2"/>
              </a:rPr>
              <a:t></a:t>
            </a:r>
            <a:r>
              <a:rPr lang="fr-FR" sz="2400" dirty="0"/>
              <a:t> étendue ou non)</a:t>
            </a:r>
            <a:endParaRPr lang="fr-FR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E671B8-0D06-15F2-D75C-A7859AA76B3D}"/>
              </a:ext>
            </a:extLst>
          </p:cNvPr>
          <p:cNvSpPr txBox="1"/>
          <p:nvPr/>
        </p:nvSpPr>
        <p:spPr>
          <a:xfrm>
            <a:off x="844826" y="2826127"/>
            <a:ext cx="811629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@Composable</a:t>
            </a:r>
            <a:br>
              <a:rPr lang="en-US" sz="1600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US" sz="1600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JetpackCompose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noProof="1">
                <a:solidFill>
                  <a:srgbClr val="00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Card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expanded </a:t>
            </a:r>
            <a: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by </a:t>
            </a:r>
            <a:r>
              <a:rPr lang="en-US" sz="1600" noProof="1">
                <a:solidFill>
                  <a:srgbClr val="00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remember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mutableStateOf(</a:t>
            </a:r>
            <a: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rgbClr val="00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Column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Modifier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i="1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clickable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expanded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= !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expanded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Image(</a:t>
            </a:r>
            <a:r>
              <a:rPr lang="en-US" sz="1600" noProof="1">
                <a:solidFill>
                  <a:srgbClr val="00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painterResource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(R.drawable.jetpack_compose))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    AnimatedVisibility(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expanded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Text(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text = </a:t>
            </a:r>
            <a:r>
              <a:rPr lang="en-US" sz="1600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"Jetpack Compose"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style = 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MaterialTheme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.typography.bodyLarge,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        )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23974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Aperçu général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7477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Jetpack Compose – Exemple :</a:t>
            </a:r>
          </a:p>
          <a:p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Pourquoi ne pas avoir écrit simplement : </a:t>
            </a:r>
            <a:endParaRPr lang="fr-FR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E671B8-0D06-15F2-D75C-A7859AA76B3D}"/>
              </a:ext>
            </a:extLst>
          </p:cNvPr>
          <p:cNvSpPr txBox="1"/>
          <p:nvPr/>
        </p:nvSpPr>
        <p:spPr>
          <a:xfrm>
            <a:off x="844826" y="2410685"/>
            <a:ext cx="8116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expanded </a:t>
            </a: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 false</a:t>
            </a:r>
            <a: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endParaRPr lang="en-US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6A338063-4AB0-9814-8B8E-6557EA9C3F9A}"/>
              </a:ext>
            </a:extLst>
          </p:cNvPr>
          <p:cNvSpPr txBox="1"/>
          <p:nvPr/>
        </p:nvSpPr>
        <p:spPr>
          <a:xfrm>
            <a:off x="838200" y="2910622"/>
            <a:ext cx="1074773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L’ensemble des fonctions composables d’une application forment une hiérarchie, représentable sous forme d’arbre.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La corps d’une fonction composable est </a:t>
            </a:r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exécuté de manière imprévisible</a:t>
            </a: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. Il est impossible de savoir à l’avance combien de fois et à quel moment le moteur de rendu choisira d’exécuter celle-ci.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Avec le code ci-dessus, une nouvelle variable </a:t>
            </a: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expanded</a:t>
            </a: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 est allouée et désallouée dès que la prochaine recomposition a lieu. 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by </a:t>
            </a: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remember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 { } </a:t>
            </a: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permet de sauvegarder un état au travers des recompositions.</a:t>
            </a:r>
          </a:p>
        </p:txBody>
      </p:sp>
    </p:spTree>
    <p:extLst>
      <p:ext uri="{BB962C8B-B14F-4D97-AF65-F5344CB8AC3E}">
        <p14:creationId xmlns:p14="http://schemas.microsoft.com/office/powerpoint/2010/main" val="2473706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Aperçu général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7477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Jetpack Compose – Exemple :</a:t>
            </a:r>
          </a:p>
          <a:p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Pourquoi ne pas avoir écrit : </a:t>
            </a:r>
            <a:endParaRPr lang="fr-FR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E671B8-0D06-15F2-D75C-A7859AA76B3D}"/>
              </a:ext>
            </a:extLst>
          </p:cNvPr>
          <p:cNvSpPr txBox="1"/>
          <p:nvPr/>
        </p:nvSpPr>
        <p:spPr>
          <a:xfrm>
            <a:off x="844826" y="2410685"/>
            <a:ext cx="8116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sz="18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expanded </a:t>
            </a:r>
            <a:r>
              <a:rPr lang="en-US" sz="18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by </a:t>
            </a:r>
            <a:r>
              <a:rPr lang="en-US" sz="1800" noProof="1">
                <a:solidFill>
                  <a:srgbClr val="00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remember </a:t>
            </a:r>
            <a:r>
              <a:rPr lang="en-US" sz="18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sz="18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en-US" sz="1800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6A338063-4AB0-9814-8B8E-6557EA9C3F9A}"/>
              </a:ext>
            </a:extLst>
          </p:cNvPr>
          <p:cNvSpPr txBox="1"/>
          <p:nvPr/>
        </p:nvSpPr>
        <p:spPr>
          <a:xfrm>
            <a:off x="838200" y="2910622"/>
            <a:ext cx="1074773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Car le moteur de rendu n’a aucun moyen d’être informé des changements de la variable </a:t>
            </a: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expanded</a:t>
            </a: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. C’est le rôle de </a:t>
            </a: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mutableStateOf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().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Un changement au sein de </a:t>
            </a: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mutableStateOf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fr-FR" sz="2400" dirty="0">
                <a:cs typeface="Consolas" panose="020B0609020204030204" pitchFamily="49" charset="0"/>
              </a:rPr>
              <a:t>notifie le moteur de rendu qu’il doit recalculer les composables inférieurs dans la hiérarchie.</a:t>
            </a:r>
          </a:p>
        </p:txBody>
      </p:sp>
    </p:spTree>
    <p:extLst>
      <p:ext uri="{BB962C8B-B14F-4D97-AF65-F5344CB8AC3E}">
        <p14:creationId xmlns:p14="http://schemas.microsoft.com/office/powerpoint/2010/main" val="11200402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Aperçu général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7477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Jetpack Compose – Exemple :</a:t>
            </a:r>
          </a:p>
          <a:p>
            <a:r>
              <a:rPr lang="fr-FR" sz="2400" dirty="0"/>
              <a:t>Ainsi, </a:t>
            </a: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clickable</a:t>
            </a:r>
            <a:r>
              <a:rPr lang="fr-FR" sz="2400" dirty="0"/>
              <a:t> assigne la valeur booléenne opposée à </a:t>
            </a: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expanded</a:t>
            </a:r>
            <a:r>
              <a:rPr lang="fr-FR" sz="2400" dirty="0"/>
              <a:t> lors de chaque touché, ce qui a pour effet de réduire ou d’agrandir la carte selon son état actuel.</a:t>
            </a:r>
            <a:endParaRPr lang="fr-FR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E671B8-0D06-15F2-D75C-A7859AA76B3D}"/>
              </a:ext>
            </a:extLst>
          </p:cNvPr>
          <p:cNvSpPr txBox="1"/>
          <p:nvPr/>
        </p:nvSpPr>
        <p:spPr>
          <a:xfrm>
            <a:off x="844826" y="2826127"/>
            <a:ext cx="811629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@Composable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JetpackCompose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Card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expanded </a:t>
            </a:r>
            <a: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by </a:t>
            </a:r>
            <a:r>
              <a:rPr lang="en-US" sz="1600" noProof="1">
                <a:solidFill>
                  <a:srgbClr val="00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remember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mutableStateOf(</a:t>
            </a:r>
            <a: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Column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Modifier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i="1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clickable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expanded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= !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expanded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Image(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painterResource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(R.drawable.jetpack_compose))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AnimatedVisibility(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expanded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Text(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text = "Jetpack Compose"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style = MaterialTheme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.typography.bodyLarge,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)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45748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Aperçu général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7477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Jetpack Compose – Exemple :</a:t>
            </a:r>
          </a:p>
          <a:p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Image</a:t>
            </a:r>
            <a:r>
              <a:rPr lang="fr-FR" sz="2400" dirty="0"/>
              <a:t> est un composable qui affiche une image disponible dans les ressources de l’application. C’est ce que signifie 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fr-FR" sz="2400" dirty="0"/>
              <a:t>.</a:t>
            </a:r>
            <a:endParaRPr lang="fr-FR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E671B8-0D06-15F2-D75C-A7859AA76B3D}"/>
              </a:ext>
            </a:extLst>
          </p:cNvPr>
          <p:cNvSpPr txBox="1"/>
          <p:nvPr/>
        </p:nvSpPr>
        <p:spPr>
          <a:xfrm>
            <a:off x="844826" y="2826127"/>
            <a:ext cx="811629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@Composable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JetpackCompose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Card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expanded by remember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mutableStateOf(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Column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Modifier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i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clickable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expanded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!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expanded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Image(</a:t>
            </a:r>
            <a:r>
              <a:rPr lang="en-US" sz="1600" noProof="1">
                <a:solidFill>
                  <a:srgbClr val="00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painterResource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(R.drawable.jetpack_compose))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AnimatedVisibility(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expanded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Text(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text = "Jetpack Compose"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style = MaterialTheme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.typography.bodyLarge,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)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729968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Aperçu général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7477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Jetpack Compose – Exemple :</a:t>
            </a:r>
          </a:p>
          <a:p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fr-FR" sz="2400" dirty="0"/>
              <a:t> est un composable qui affiche du texte. Le paramètre 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style</a:t>
            </a:r>
            <a:r>
              <a:rPr lang="fr-FR" sz="2400" dirty="0"/>
              <a:t> est une abstraction sur les tailles de polices prédéfinies dans Android.</a:t>
            </a:r>
            <a:endParaRPr lang="fr-FR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E671B8-0D06-15F2-D75C-A7859AA76B3D}"/>
              </a:ext>
            </a:extLst>
          </p:cNvPr>
          <p:cNvSpPr txBox="1"/>
          <p:nvPr/>
        </p:nvSpPr>
        <p:spPr>
          <a:xfrm>
            <a:off x="844826" y="2826127"/>
            <a:ext cx="811629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@Composable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JetpackCompose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Card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expanded by remember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mutableStateOf(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Column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Modifier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i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clickable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expanded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!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expanded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Image(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painterResource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(R.drawable.jetpack_compose))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AnimatedVisibility(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expanded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Text(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text = </a:t>
            </a:r>
            <a:r>
              <a:rPr lang="en-US" sz="1600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"Jetpack Compose"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style = 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MaterialTheme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.typography.bodyLarge,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        )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26631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Aperçu général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7477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Jetpack Compose – Exemple :</a:t>
            </a:r>
          </a:p>
          <a:p>
            <a:r>
              <a:rPr lang="fr-FR" sz="2400" dirty="0"/>
              <a:t>Enfin, </a:t>
            </a: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AnimatedVisibility</a:t>
            </a:r>
            <a:r>
              <a:rPr lang="fr-FR" sz="2400" dirty="0"/>
              <a:t> est identique à une expression if, à ceci près que son contenu apparaît ou disparaît selon une animation prédéfinie.</a:t>
            </a:r>
            <a:endParaRPr lang="fr-FR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E671B8-0D06-15F2-D75C-A7859AA76B3D}"/>
              </a:ext>
            </a:extLst>
          </p:cNvPr>
          <p:cNvSpPr txBox="1"/>
          <p:nvPr/>
        </p:nvSpPr>
        <p:spPr>
          <a:xfrm>
            <a:off x="844826" y="2826127"/>
            <a:ext cx="811629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@Composable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JetpackCompose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Card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expanded by remember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mutableStateOf(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Column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Modifier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i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clickable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expanded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!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expanded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Image(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painterResource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(R.drawable.jetpack_compose))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    AnimatedVisibility(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expanded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Text(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text = "Jetpack Compose"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style = MaterialTheme</a:t>
            </a: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.typography.bodyLarge,</a:t>
            </a:r>
            <a:b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)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en-US" sz="1600" b="1" noProof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187648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Aperçu général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7" y="1431230"/>
            <a:ext cx="5251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Jetpack Compose – Exemple :</a:t>
            </a:r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EEBA1471-D88A-322E-7069-3819A9F71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0820" y="1991360"/>
            <a:ext cx="2354161" cy="4215070"/>
          </a:xfrm>
          <a:prstGeom prst="rect">
            <a:avLst/>
          </a:prstGeom>
        </p:spPr>
      </p:pic>
      <p:pic>
        <p:nvPicPr>
          <p:cNvPr id="4" name="Picture 3" descr="Company name&#10;&#10;Description automatically generated with low confidence">
            <a:extLst>
              <a:ext uri="{FF2B5EF4-FFF2-40B4-BE49-F238E27FC236}">
                <a16:creationId xmlns:a16="http://schemas.microsoft.com/office/drawing/2014/main" id="{B4DE9A04-1C33-3454-7B18-CBA644BD72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4182" y="1991360"/>
            <a:ext cx="2354161" cy="4215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9167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bg1"/>
                </a:solidFill>
              </a:rPr>
              <a:t>1. Aperçu général</a:t>
            </a:r>
          </a:p>
        </p:txBody>
      </p:sp>
    </p:spTree>
    <p:extLst>
      <p:ext uri="{BB962C8B-B14F-4D97-AF65-F5344CB8AC3E}">
        <p14:creationId xmlns:p14="http://schemas.microsoft.com/office/powerpoint/2010/main" val="38527877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12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5400" dirty="0"/>
          </a:p>
          <a:p>
            <a:endParaRPr lang="fr-FR" sz="5400" dirty="0"/>
          </a:p>
          <a:p>
            <a:endParaRPr lang="fr-FR" sz="5400" dirty="0"/>
          </a:p>
          <a:p>
            <a:r>
              <a:rPr lang="fr-FR" sz="5400" dirty="0">
                <a:solidFill>
                  <a:schemeClr val="bg1"/>
                </a:solidFill>
              </a:rPr>
              <a:t>2. Éléments UI</a:t>
            </a:r>
          </a:p>
        </p:txBody>
      </p:sp>
    </p:spTree>
    <p:extLst>
      <p:ext uri="{BB962C8B-B14F-4D97-AF65-F5344CB8AC3E}">
        <p14:creationId xmlns:p14="http://schemas.microsoft.com/office/powerpoint/2010/main" val="26415021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Éléments UI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747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Text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B5EF81-5BEC-C16E-8895-915489D574C7}"/>
              </a:ext>
            </a:extLst>
          </p:cNvPr>
          <p:cNvSpPr txBox="1"/>
          <p:nvPr/>
        </p:nvSpPr>
        <p:spPr>
          <a:xfrm>
            <a:off x="838200" y="1997839"/>
            <a:ext cx="79146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@Composable</a:t>
            </a:r>
            <a:br>
              <a:rPr lang="en-US" sz="1600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US" sz="1600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MyText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Text(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text =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stringResource(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id =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R.string.jetpack_compose),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fontStyle =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FontStyle.Italic,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color =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colorResource(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id =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R.color.colorPrimary),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fontSize = </a:t>
            </a:r>
            <a:r>
              <a:rPr lang="en-US" sz="1600" noProof="1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30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.sp,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fontWeight =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FontWeight.Bold,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)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533637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Éléments UI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747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Text Field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B5EF81-5BEC-C16E-8895-915489D574C7}"/>
              </a:ext>
            </a:extLst>
          </p:cNvPr>
          <p:cNvSpPr txBox="1"/>
          <p:nvPr/>
        </p:nvSpPr>
        <p:spPr>
          <a:xfrm>
            <a:off x="838200" y="1997839"/>
            <a:ext cx="791464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@Composable</a:t>
            </a:r>
            <a:br>
              <a:rPr lang="en-US" sz="1600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US" sz="1600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MyTextField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 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textValue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1600" noProof="1">
                <a:solidFill>
                  <a:srgbClr val="00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remember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sz="1600" i="1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mutableStateOf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""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TextField(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value = 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textValue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noProof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value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onValueChange =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textValue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noProof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value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= it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label =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{}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pic>
        <p:nvPicPr>
          <p:cNvPr id="6" name="Picture 5" descr="Shape, rectangle&#10;&#10;Description automatically generated">
            <a:extLst>
              <a:ext uri="{FF2B5EF4-FFF2-40B4-BE49-F238E27FC236}">
                <a16:creationId xmlns:a16="http://schemas.microsoft.com/office/drawing/2014/main" id="{B7115655-94A3-16C0-1F4E-ED741F7A7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700" y="3312706"/>
            <a:ext cx="3086100" cy="77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1348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Éléments UI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747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Button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B5EF81-5BEC-C16E-8895-915489D574C7}"/>
              </a:ext>
            </a:extLst>
          </p:cNvPr>
          <p:cNvSpPr txBox="1"/>
          <p:nvPr/>
        </p:nvSpPr>
        <p:spPr>
          <a:xfrm>
            <a:off x="838200" y="1997839"/>
            <a:ext cx="791464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@Composable</a:t>
            </a:r>
            <a:br>
              <a:rPr lang="en-US" sz="1600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US" sz="1600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MyButton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Button(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onClick =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{}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colors = 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ButtonDefaults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noProof="1">
                <a:solidFill>
                  <a:srgbClr val="00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buttonColors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backgroundColor =</a:t>
            </a:r>
            <a:b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colorResource(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id =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R.color.colorPrimary)),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border =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BorderStroke(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600" noProof="1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i="1" noProof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dp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color =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colorResource(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id =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R.color.colorPrimaryDark)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)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)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Text(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text =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stringResource(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id =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R.string.button_text),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color =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Color.White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)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pic>
        <p:nvPicPr>
          <p:cNvPr id="6" name="Picture 5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B57E4236-5AD5-DDE8-151A-BC185AE1A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3040" y="3586842"/>
            <a:ext cx="2270760" cy="71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4106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Éléments UI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747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Radio Button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B5EF81-5BEC-C16E-8895-915489D574C7}"/>
              </a:ext>
            </a:extLst>
          </p:cNvPr>
          <p:cNvSpPr txBox="1"/>
          <p:nvPr/>
        </p:nvSpPr>
        <p:spPr>
          <a:xfrm>
            <a:off x="838200" y="1892895"/>
            <a:ext cx="1063244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@Composable</a:t>
            </a:r>
            <a:br>
              <a:rPr lang="en-US" sz="1600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US" sz="1600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MyRadioGroup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 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radioButtons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1600" i="1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listOf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noProof="1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noProof="1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noProof="1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 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selectedButton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1600" noProof="1">
                <a:solidFill>
                  <a:srgbClr val="00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remember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sz="1600" i="1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mutableStateOf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radioButtons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i="1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first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())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noProof="1">
                <a:solidFill>
                  <a:srgbClr val="00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Column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radioButtons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i="1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forEach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index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 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isSelected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index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== 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selectedButton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noProof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value</a:t>
            </a:r>
            <a:br>
              <a:rPr lang="en-US" sz="1600" noProof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 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colors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= RadioButtonDefaults.colors(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selectedColor =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colorResource(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id =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R.color.colorPrimary),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unselectedColor =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colorResource(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id =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R.color.colorPrimaryDark),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disabledColor =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Color.LightGray,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    )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    RadioButton(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colors = 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colors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selected = 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isSelected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onClick =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selectedButton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noProof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value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index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5B31E7C2-2EAF-840A-E858-52262AB46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6220" y="3047312"/>
            <a:ext cx="74930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0313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Éléments UI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747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Icon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B5EF81-5BEC-C16E-8895-915489D574C7}"/>
              </a:ext>
            </a:extLst>
          </p:cNvPr>
          <p:cNvSpPr txBox="1"/>
          <p:nvPr/>
        </p:nvSpPr>
        <p:spPr>
          <a:xfrm>
            <a:off x="838200" y="1892895"/>
            <a:ext cx="1063244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@Composable</a:t>
            </a:r>
            <a:br>
              <a:rPr lang="en-US" sz="1600" dirty="0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US" sz="1600" dirty="0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Icon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imageVector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ImageVector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contentDescription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 String?,</a:t>
            </a: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modifier: Modifier = Modifier,</a:t>
            </a: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tint: Color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LocalContentColor.current.copy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alpha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LocalContentAlpha.current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en-US" sz="16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6548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Éléments UI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747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Floating Action Button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B5EF81-5BEC-C16E-8895-915489D574C7}"/>
              </a:ext>
            </a:extLst>
          </p:cNvPr>
          <p:cNvSpPr txBox="1"/>
          <p:nvPr/>
        </p:nvSpPr>
        <p:spPr>
          <a:xfrm>
            <a:off x="838200" y="1892895"/>
            <a:ext cx="1063244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@Composable</a:t>
            </a:r>
            <a:br>
              <a:rPr lang="en-US" sz="1600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US" sz="1600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MyFloatingActionButton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FloatingActionButton(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onClick =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{}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backgroundColor =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colorResource(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id =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R.color.colorPrimary),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contentColor =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Color.White,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content =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Icon(Icons.Filled.Favorite,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contentDescription = </a:t>
            </a:r>
            <a:r>
              <a:rPr lang="en-US" sz="1600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"Test FAB"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EE499C4A-AFEC-D824-EC8C-9F1FBED57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0" y="3031490"/>
            <a:ext cx="1447800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9571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Éléments UI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747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Progress Indicators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B5EF81-5BEC-C16E-8895-915489D574C7}"/>
              </a:ext>
            </a:extLst>
          </p:cNvPr>
          <p:cNvSpPr txBox="1"/>
          <p:nvPr/>
        </p:nvSpPr>
        <p:spPr>
          <a:xfrm>
            <a:off x="838200" y="1892895"/>
            <a:ext cx="1063244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1">
                <a:solidFill>
                  <a:srgbClr val="00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Column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modifier = 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Modifier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.fillMaxSize(),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horizontalAlignment = 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Alignment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noProof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CenterHorizontally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verticalArrangement =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Arrangement.Center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CircularProgressIndicator(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color =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colorResource(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id =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R.color.colorPrimary),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strokeWidth = </a:t>
            </a:r>
            <a:r>
              <a:rPr lang="en-US" sz="1600" noProof="1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i="1" noProof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dp</a:t>
            </a:r>
            <a:br>
              <a:rPr lang="en-US" sz="1600" i="1" noProof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i="1" noProof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LinearProgressIndicator(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progress = </a:t>
            </a:r>
            <a:r>
              <a:rPr lang="en-US" sz="1600" noProof="1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0.5f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600" noProof="1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3E3AEC6B-98DD-1C5D-FE86-32C1E6BCF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1180" y="2871409"/>
            <a:ext cx="3299460" cy="1115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0513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Éléments UI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747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Alert Dialog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B5EF81-5BEC-C16E-8895-915489D574C7}"/>
              </a:ext>
            </a:extLst>
          </p:cNvPr>
          <p:cNvSpPr txBox="1"/>
          <p:nvPr/>
        </p:nvSpPr>
        <p:spPr>
          <a:xfrm>
            <a:off x="838200" y="1892895"/>
            <a:ext cx="1063244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@Composable</a:t>
            </a:r>
            <a:br>
              <a:rPr lang="en-US" sz="1600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US" sz="1600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MyAlertDialog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 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shouldShowDialog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1600" noProof="1">
                <a:solidFill>
                  <a:srgbClr val="00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remember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sz="1600" i="1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mutableStateOf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shouldShowDialog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noProof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value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AlertDialog(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onDismissRequest =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shouldShowDialog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noProof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value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b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navigateTo(Screen.Navigation)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title =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Text(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text =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stringResource(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id =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R.string.alert_dialog_title))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text =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Text(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text =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stringResource(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id =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R.string.alert_dialog_text))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r>
              <a:rPr lang="en-US" sz="1600" i="1" dirty="0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  <a:endParaRPr lang="en-US" sz="1600" noProof="1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6" name="Picture 5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4056B9CF-E4A0-5C5E-F5B3-9CCDB7B7E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3870" y="1892895"/>
            <a:ext cx="2462530" cy="1774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299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Éléments UI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747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Alert Dialog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B5EF81-5BEC-C16E-8895-915489D574C7}"/>
              </a:ext>
            </a:extLst>
          </p:cNvPr>
          <p:cNvSpPr txBox="1"/>
          <p:nvPr/>
        </p:nvSpPr>
        <p:spPr>
          <a:xfrm>
            <a:off x="838200" y="1892895"/>
            <a:ext cx="1063244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i="1" noProof="1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  <a:br>
              <a:rPr lang="en-US" sz="1600" i="1" noProof="1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i="1" noProof="1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confirmButton =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Button(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colors = 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ButtonDefaults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.buttonColors(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backgroundColor =</a:t>
            </a:r>
            <a:b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colorResource(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id =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R.color.colorPrimary)),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onClick =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            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shouldShowDialog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noProof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value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b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           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navigateTo(Screen.Navigation)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Text(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        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text =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stringResource(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id =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R.string.confirm),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        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color =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Color.White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            )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}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600" noProof="1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6" name="Picture 5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A318CC6F-2694-0210-1340-4D892C33C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3870" y="1892895"/>
            <a:ext cx="2462530" cy="1774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6034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Éléments UI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747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Row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B5EF81-5BEC-C16E-8895-915489D574C7}"/>
              </a:ext>
            </a:extLst>
          </p:cNvPr>
          <p:cNvSpPr txBox="1"/>
          <p:nvPr/>
        </p:nvSpPr>
        <p:spPr>
          <a:xfrm>
            <a:off x="838200" y="1892895"/>
            <a:ext cx="1063244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@Composable</a:t>
            </a:r>
            <a:br>
              <a:rPr lang="en-US" sz="1600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US" sz="1600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MyRow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noProof="1">
                <a:solidFill>
                  <a:srgbClr val="00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Row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verticalAlignment = 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Alignment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noProof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CenterVertically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horizontalArrangement =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Arrangement.SpaceEvenly,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modifier = 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Modifier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.fillMaxSize())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THREE_ELEMENT_LIST.forEach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textResId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Text(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text =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stringResource(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id =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textResId),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fontSize = </a:t>
            </a:r>
            <a:r>
              <a:rPr lang="en-US" sz="1600" noProof="1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18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.sp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    )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600" noProof="1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7" name="Picture 6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7C05C0DF-41DA-2733-5656-E26F2DFEA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4080" y="3149600"/>
            <a:ext cx="25400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559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Éléments UI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747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Column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B5EF81-5BEC-C16E-8895-915489D574C7}"/>
              </a:ext>
            </a:extLst>
          </p:cNvPr>
          <p:cNvSpPr txBox="1"/>
          <p:nvPr/>
        </p:nvSpPr>
        <p:spPr>
          <a:xfrm>
            <a:off x="838200" y="1892895"/>
            <a:ext cx="106324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@Composable</a:t>
            </a:r>
            <a:br>
              <a:rPr lang="en-US" sz="1600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US" sz="1600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MyColumn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noProof="1">
                <a:solidFill>
                  <a:srgbClr val="00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Column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horizontalAlignment = 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Alignment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noProof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CenterHorizontally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verticalArrangement =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Arrangement.SpaceEvenly,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modifier = 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Modifier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.fillMaxSize()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)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THREE_ELEMENT_LIST.forEach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textResId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Text(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text =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stringResource(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id =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textResId),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fontSize = </a:t>
            </a:r>
            <a:r>
              <a:rPr lang="en-US" sz="1600" noProof="1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22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.sp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    )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600" noProof="1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6" name="Picture 5" descr="Radar chart&#10;&#10;Description automatically generated with medium confidence">
            <a:extLst>
              <a:ext uri="{FF2B5EF4-FFF2-40B4-BE49-F238E27FC236}">
                <a16:creationId xmlns:a16="http://schemas.microsoft.com/office/drawing/2014/main" id="{CBB05759-76BD-177D-E16E-64563AF59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5991" y="2378524"/>
            <a:ext cx="1397073" cy="2814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8835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Éléments UI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747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Box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B5EF81-5BEC-C16E-8895-915489D574C7}"/>
              </a:ext>
            </a:extLst>
          </p:cNvPr>
          <p:cNvSpPr txBox="1"/>
          <p:nvPr/>
        </p:nvSpPr>
        <p:spPr>
          <a:xfrm>
            <a:off x="838200" y="1892895"/>
            <a:ext cx="1063244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@Composable</a:t>
            </a:r>
            <a:br>
              <a:rPr lang="en-US" sz="1600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US" sz="1600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MySurface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(modifier: 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Modifier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Surface(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modifier =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modifier.</a:t>
            </a:r>
            <a:r>
              <a:rPr lang="en-US" sz="1600" i="1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size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noProof="1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100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i="1" noProof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dp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color =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Color.LightGray,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contentColor =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colorResource(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id =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R.color.colorPrimary),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elevation = </a:t>
            </a:r>
            <a:r>
              <a:rPr lang="en-US" sz="1600" noProof="1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i="1" noProof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dp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border =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BorderStroke(</a:t>
            </a:r>
            <a:r>
              <a:rPr lang="en-US" sz="1600" noProof="1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i="1" noProof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dp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, Color.Black)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)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MyColumn()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600" noProof="1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1" name="Picture 10" descr="Text&#10;&#10;Description automatically generated">
            <a:extLst>
              <a:ext uri="{FF2B5EF4-FFF2-40B4-BE49-F238E27FC236}">
                <a16:creationId xmlns:a16="http://schemas.microsoft.com/office/drawing/2014/main" id="{ECDC223A-5D72-BD8B-408F-2E0038D6A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5770" y="2623749"/>
            <a:ext cx="1667510" cy="1610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3377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Aperçu général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7477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i="1" dirty="0" err="1"/>
              <a:t>Lazy</a:t>
            </a:r>
            <a:r>
              <a:rPr lang="fr-FR" sz="2400" b="1" i="1" dirty="0"/>
              <a:t> </a:t>
            </a:r>
            <a:r>
              <a:rPr lang="fr-FR" sz="2400" b="1" i="1" dirty="0" err="1"/>
              <a:t>Column</a:t>
            </a:r>
            <a:r>
              <a:rPr lang="fr-FR" sz="2400" b="1" dirty="0"/>
              <a:t> et </a:t>
            </a:r>
            <a:r>
              <a:rPr lang="fr-FR" sz="2400" b="1" i="1" dirty="0"/>
              <a:t>Row</a:t>
            </a:r>
          </a:p>
          <a:p>
            <a:endParaRPr lang="fr-FR" sz="2400" b="1" i="1" dirty="0"/>
          </a:p>
          <a:p>
            <a:r>
              <a:rPr lang="fr-FR" sz="2400" b="0" i="1" dirty="0" err="1">
                <a:solidFill>
                  <a:srgbClr val="374151"/>
                </a:solidFill>
                <a:effectLst/>
                <a:latin typeface="Söhne"/>
              </a:rPr>
              <a:t>Lazy</a:t>
            </a:r>
            <a:r>
              <a:rPr lang="fr-FR" sz="2400" b="0" i="0" dirty="0">
                <a:solidFill>
                  <a:srgbClr val="374151"/>
                </a:solidFill>
                <a:effectLst/>
                <a:latin typeface="Söhne"/>
              </a:rPr>
              <a:t> signifie ici que les enfants ne sont pas rendus tant qu'ils ne sont pas visibles à l'écran, ce qui permet d'améliorer les performances de l'application en réduisant la quantité de calculs effectués pour le rendu</a:t>
            </a: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38814116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Éléments UI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747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Lazy Column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B5EF81-5BEC-C16E-8895-915489D574C7}"/>
              </a:ext>
            </a:extLst>
          </p:cNvPr>
          <p:cNvSpPr txBox="1"/>
          <p:nvPr/>
        </p:nvSpPr>
        <p:spPr>
          <a:xfrm>
            <a:off x="838200" y="1892895"/>
            <a:ext cx="1063244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@Composable</a:t>
            </a:r>
            <a:br>
              <a:rPr lang="en-US" sz="1600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US" sz="1600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LazyColumn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modifier: Modifier = Modifier,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state: LazyListState = rememberLazyListState(),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contentPadding: PaddingValues = PaddingValues(</a:t>
            </a:r>
            <a:r>
              <a:rPr lang="en-US" sz="1600" noProof="1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.dp),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reverseLayout: Boolean = </a:t>
            </a:r>
            <a: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verticalArrangement: Arrangement.Vertical =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(!reverseLayout) Arrangement.Top </a:t>
            </a:r>
            <a: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else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Arrangement.Bottom,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horizontalAlignment: Alignment.Horizontal = Alignment.Start,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flingBehavior: FlingBehavior = ScrollableDefaults.flingBehavior(),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content: LazyListScope.() -&gt; Unit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en-US" sz="1600" noProof="1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08918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Éléments UI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747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Lazy Row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B5EF81-5BEC-C16E-8895-915489D574C7}"/>
              </a:ext>
            </a:extLst>
          </p:cNvPr>
          <p:cNvSpPr txBox="1"/>
          <p:nvPr/>
        </p:nvSpPr>
        <p:spPr>
          <a:xfrm>
            <a:off x="838200" y="1892895"/>
            <a:ext cx="1063244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@Composable</a:t>
            </a:r>
            <a:br>
              <a:rPr lang="en-US" sz="1600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US" sz="1600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LazyRow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modifier: Modifier = Modifier,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state: LazyListState = rememberLazyListState(),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contentPadding: PaddingValues = PaddingValues(</a:t>
            </a:r>
            <a:r>
              <a:rPr lang="en-US" sz="1600" noProof="1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.dp),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reverseLayout: Boolean = </a:t>
            </a:r>
            <a: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horizontalArrangement: Arrangement.Horizontal =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(!reverseLayout) Arrangement.Start </a:t>
            </a:r>
            <a: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else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Arrangement.End,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verticalAlignment: Alignment.Vertical = Alignment.Top,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flingBehavior: FlingBehavior = ScrollableDefaults.flingBehavior(),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content: LazyListScope.() -&gt; Unit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en-US" sz="1600" noProof="1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17086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Aperçu général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7477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i="1" dirty="0" err="1"/>
              <a:t>Scaffold</a:t>
            </a:r>
            <a:endParaRPr lang="fr-FR" sz="2400" b="1" i="1" dirty="0"/>
          </a:p>
          <a:p>
            <a:endParaRPr lang="fr-FR" sz="2400" b="1" i="1" dirty="0"/>
          </a:p>
          <a:p>
            <a:r>
              <a:rPr lang="fr-FR" sz="2400" dirty="0">
                <a:solidFill>
                  <a:srgbClr val="374151"/>
                </a:solidFill>
                <a:latin typeface="Söhne"/>
              </a:rPr>
              <a:t>S</a:t>
            </a:r>
            <a:r>
              <a:rPr lang="fr-FR" sz="2400" b="0" i="0" dirty="0">
                <a:solidFill>
                  <a:srgbClr val="374151"/>
                </a:solidFill>
                <a:effectLst/>
                <a:latin typeface="Söhne"/>
              </a:rPr>
              <a:t>ert de base pour construire l'interface utilisateur d'une application Android. Il fournit une structure pour les écrans qui comprennent une barre de navigation, un contenu principal et une barre d'état.</a:t>
            </a: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33559037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Éléments UI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747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Scaffold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B5EF81-5BEC-C16E-8895-915489D574C7}"/>
              </a:ext>
            </a:extLst>
          </p:cNvPr>
          <p:cNvSpPr txBox="1"/>
          <p:nvPr/>
        </p:nvSpPr>
        <p:spPr>
          <a:xfrm>
            <a:off x="838200" y="1892895"/>
            <a:ext cx="1063244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@Composable</a:t>
            </a:r>
            <a:br>
              <a:rPr lang="en-US" sz="1600" dirty="0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US" sz="1600" dirty="0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Scaffold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modifier: Modifier = Modifier,</a:t>
            </a: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scaffoldState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ScaffoldState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rememberScaffoldState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(),</a:t>
            </a: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topBar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 @Composable () -&gt; Unit = </a:t>
            </a:r>
            <a:r>
              <a:rPr lang="en-US" sz="1600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{}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bottomBar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 @Composable () -&gt; Unit = </a:t>
            </a:r>
            <a:r>
              <a:rPr lang="en-US" sz="1600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{}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floatingActionButton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 @Composable () -&gt; Unit = </a:t>
            </a:r>
            <a:r>
              <a:rPr lang="en-US" sz="1600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{}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floatingActionButtonPosition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FabPosition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FabPosition.End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isFloatingActionButtonDocked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 Boolean = </a:t>
            </a:r>
            <a:r>
              <a:rPr lang="en-US" sz="1600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drawerContent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 @Composable (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ColumnScope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.() -&gt; Unit)? = </a:t>
            </a:r>
            <a:r>
              <a:rPr lang="en-US" sz="1600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null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drawerShape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 Shape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MaterialTheme.shapes.large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drawerElevation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Dp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DrawerDefaults.Elevation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drawerBackgroundColor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 Color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MaterialTheme.colors.surface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drawerContentColor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 Color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contentColorFor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drawerBackgroundColor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drawerScrimColor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 Color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DrawerDefaults.scrimColor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backgroundColor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 Color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MaterialTheme.colors.background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contentColor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 Color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contentColorFor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backgroundColor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content: @Composable (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PaddingValues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) -&gt; Unit,</a:t>
            </a: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en-US" sz="1600" noProof="1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8" name="Picture 7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5AF1E2DA-26FE-219D-EAA4-06490BCB1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1261" y="1384784"/>
            <a:ext cx="2534499" cy="510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9010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bg1"/>
                </a:solidFill>
              </a:rPr>
              <a:t>2. Éléments UI</a:t>
            </a:r>
          </a:p>
        </p:txBody>
      </p:sp>
    </p:spTree>
    <p:extLst>
      <p:ext uri="{BB962C8B-B14F-4D97-AF65-F5344CB8AC3E}">
        <p14:creationId xmlns:p14="http://schemas.microsoft.com/office/powerpoint/2010/main" val="13834893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Drapeau de course avec un remplissage uni">
            <a:extLst>
              <a:ext uri="{FF2B5EF4-FFF2-40B4-BE49-F238E27FC236}">
                <a16:creationId xmlns:a16="http://schemas.microsoft.com/office/drawing/2014/main" id="{31EA9D4C-4724-F749-BAC8-105B32CB0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968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3420</Words>
  <Application>Microsoft Macintosh PowerPoint</Application>
  <PresentationFormat>Widescreen</PresentationFormat>
  <Paragraphs>183</Paragraphs>
  <Slides>42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Arial</vt:lpstr>
      <vt:lpstr>Calibri</vt:lpstr>
      <vt:lpstr>Calibri Light</vt:lpstr>
      <vt:lpstr>Consolas</vt:lpstr>
      <vt:lpstr>Merriweather</vt:lpstr>
      <vt:lpstr>Söhne</vt:lpstr>
      <vt:lpstr>Office Theme</vt:lpstr>
      <vt:lpstr>3 – Jetpack Compose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 – Jetpack Compose</dc:title>
  <dc:creator>Alexandre Gressier</dc:creator>
  <cp:lastModifiedBy>Alexandre Gressier</cp:lastModifiedBy>
  <cp:revision>1</cp:revision>
  <dcterms:created xsi:type="dcterms:W3CDTF">2023-01-23T07:09:50Z</dcterms:created>
  <dcterms:modified xsi:type="dcterms:W3CDTF">2023-01-23T07:10:56Z</dcterms:modified>
</cp:coreProperties>
</file>