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c221b284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c221b284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c221b2847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c221b2847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c221b2847e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c221b2847e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c221b2847e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c221b2847e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c221b2847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c221b2847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c221b2847e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c221b2847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fr"/>
              <a:t>Both SCRUM and kanban emphasize the importance of visualizing work and tracking progress through the use of a board or other visual tool.</a:t>
            </a:r>
            <a:endParaRPr/>
          </a:p>
          <a:p>
            <a:pPr indent="-298450" lvl="0" marL="457200" rtl="0" algn="l">
              <a:lnSpc>
                <a:spcPct val="115000"/>
              </a:lnSpc>
              <a:spcBef>
                <a:spcPts val="0"/>
              </a:spcBef>
              <a:spcAft>
                <a:spcPts val="0"/>
              </a:spcAft>
              <a:buClr>
                <a:schemeClr val="dk1"/>
              </a:buClr>
              <a:buSzPts val="1100"/>
              <a:buChar char="●"/>
            </a:pPr>
            <a:r>
              <a:rPr lang="fr"/>
              <a:t>Both SCRUM and kanban use iterative and incremental development, with a focus on delivering small increments of work frequently.</a:t>
            </a:r>
            <a:endParaRPr/>
          </a:p>
          <a:p>
            <a:pPr indent="-298450" lvl="0" marL="457200" rtl="0" algn="l">
              <a:lnSpc>
                <a:spcPct val="115000"/>
              </a:lnSpc>
              <a:spcBef>
                <a:spcPts val="0"/>
              </a:spcBef>
              <a:spcAft>
                <a:spcPts val="0"/>
              </a:spcAft>
              <a:buClr>
                <a:schemeClr val="dk1"/>
              </a:buClr>
              <a:buSzPts val="1100"/>
              <a:buChar char="●"/>
            </a:pPr>
            <a:r>
              <a:rPr lang="fr"/>
              <a:t>Both SCRUM and kanban involve regular review and optimization of the process to identify and address bottlenecks and improve efficiency.</a:t>
            </a:r>
            <a:endParaRPr/>
          </a:p>
          <a:p>
            <a:pPr indent="-298450" lvl="0" marL="457200" rtl="0" algn="l">
              <a:lnSpc>
                <a:spcPct val="115000"/>
              </a:lnSpc>
              <a:spcBef>
                <a:spcPts val="0"/>
              </a:spcBef>
              <a:spcAft>
                <a:spcPts val="0"/>
              </a:spcAft>
              <a:buClr>
                <a:schemeClr val="dk1"/>
              </a:buClr>
              <a:buSzPts val="1100"/>
              <a:buChar char="●"/>
            </a:pPr>
            <a:r>
              <a:rPr lang="fr"/>
              <a:t>Both SCRUM and kanban place a strong emphasis on teamwork and collaboration, and involve regular meetings and communication among team members.</a:t>
            </a:r>
            <a:endParaRPr/>
          </a:p>
          <a:p>
            <a:pPr indent="0" lvl="0" marL="0" rtl="0" algn="l">
              <a:spcBef>
                <a:spcPts val="1200"/>
              </a:spcBef>
              <a:spcAft>
                <a:spcPts val="0"/>
              </a:spcAft>
              <a:buNone/>
            </a:pPr>
            <a:r>
              <a:rPr lang="fr"/>
              <a:t>WIP Limitation -&gt; Planning poker, complexity evaluation &amp; Sprint Backlog</a:t>
            </a:r>
            <a:endParaRPr/>
          </a:p>
          <a:p>
            <a:pPr indent="0" lvl="0" marL="0" rtl="0" algn="l">
              <a:spcBef>
                <a:spcPts val="0"/>
              </a:spcBef>
              <a:spcAft>
                <a:spcPts val="0"/>
              </a:spcAft>
              <a:buNone/>
            </a:pPr>
            <a:r>
              <a:rPr lang="fr"/>
              <a:t>Pull System : Product &amp; Sprint backlog, Sprint Planning</a:t>
            </a:r>
            <a:endParaRPr/>
          </a:p>
          <a:p>
            <a:pPr indent="0" lvl="0" marL="0" rtl="0" algn="l">
              <a:spcBef>
                <a:spcPts val="0"/>
              </a:spcBef>
              <a:spcAft>
                <a:spcPts val="0"/>
              </a:spcAft>
              <a:buNone/>
            </a:pPr>
            <a:r>
              <a:rPr lang="fr"/>
              <a:t>Continuous </a:t>
            </a:r>
            <a:r>
              <a:rPr lang="fr"/>
              <a:t>improvement</a:t>
            </a:r>
            <a:r>
              <a:rPr lang="fr"/>
              <a:t> : Sprint retrospective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c221b2847e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c221b2847e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c221b2847e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c221b2847e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c221b2847e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c221b2847e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c221b2847e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c221b2847e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Here, it’s critical to ensure that each group is invested in </a:t>
            </a:r>
            <a:r>
              <a:rPr lang="fr"/>
              <a:t>creating a solid board. You can take some time at the beginning of the exercise to present some key fuctionalities. They aime here is to have them try to optimise / automate / simplify their project management as much as possible, as tool they can use both in there personal/student and professional lives.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c221b2847e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c221b2847e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c221b2847e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c221b2847e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c221b2847e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c221b2847e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c221b2847e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c221b2847e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fr"/>
              <a:t>Define value from the customer's perspective</a:t>
            </a:r>
            <a:r>
              <a:rPr lang="fr"/>
              <a:t>: In lean, value is defined as anything that the customer is willing to pay for. It is important to identify and understand the customer's needs and preferences in order to deliver value effectively.</a:t>
            </a:r>
            <a:endParaRPr/>
          </a:p>
          <a:p>
            <a:pPr indent="-298450" lvl="0" marL="457200" rtl="0" algn="l">
              <a:lnSpc>
                <a:spcPct val="115000"/>
              </a:lnSpc>
              <a:spcBef>
                <a:spcPts val="0"/>
              </a:spcBef>
              <a:spcAft>
                <a:spcPts val="0"/>
              </a:spcAft>
              <a:buClr>
                <a:schemeClr val="dk1"/>
              </a:buClr>
              <a:buSzPts val="1100"/>
              <a:buAutoNum type="arabicPeriod"/>
            </a:pPr>
            <a:r>
              <a:rPr b="1" lang="fr"/>
              <a:t>Identify and eliminate waste</a:t>
            </a:r>
            <a:r>
              <a:rPr lang="fr"/>
              <a:t>: Lean is based on the idea of continuous improvement and the elimination of waste. Waste can take many forms, including overproduction, waiting, defects, excess inventory, excess motion, unnecessary processing, and unused talent. Lean principles aim to identify and eliminate these types of waste in order to increase efficiency and reduce costs.</a:t>
            </a:r>
            <a:endParaRPr/>
          </a:p>
          <a:p>
            <a:pPr indent="-298450" lvl="0" marL="457200" rtl="0" algn="l">
              <a:lnSpc>
                <a:spcPct val="115000"/>
              </a:lnSpc>
              <a:spcBef>
                <a:spcPts val="0"/>
              </a:spcBef>
              <a:spcAft>
                <a:spcPts val="0"/>
              </a:spcAft>
              <a:buClr>
                <a:schemeClr val="dk1"/>
              </a:buClr>
              <a:buSzPts val="1100"/>
              <a:buAutoNum type="arabicPeriod"/>
            </a:pPr>
            <a:r>
              <a:rPr b="1" lang="fr"/>
              <a:t>Create flow in the value stream: </a:t>
            </a:r>
            <a:r>
              <a:rPr lang="fr"/>
              <a:t>Flow refers to the smooth and efficient flow of value through the production process. Lean principles aim to create flow by identifying and eliminating bottlenecks and other disruptions in the process.</a:t>
            </a:r>
            <a:endParaRPr/>
          </a:p>
          <a:p>
            <a:pPr indent="-298450" lvl="0" marL="457200" rtl="0" algn="l">
              <a:lnSpc>
                <a:spcPct val="115000"/>
              </a:lnSpc>
              <a:spcBef>
                <a:spcPts val="0"/>
              </a:spcBef>
              <a:spcAft>
                <a:spcPts val="0"/>
              </a:spcAft>
              <a:buClr>
                <a:schemeClr val="dk1"/>
              </a:buClr>
              <a:buSzPts val="1100"/>
              <a:buAutoNum type="arabicPeriod"/>
            </a:pPr>
            <a:r>
              <a:rPr b="1" lang="fr"/>
              <a:t>Use pull systems to trigger production: </a:t>
            </a:r>
            <a:r>
              <a:rPr lang="fr"/>
              <a:t>In a pull system, production is triggered by demand from the customer, rather than being pushed through the process based on a predetermined schedule. This allows the organization to be more responsive to changing customer needs and reduce excess inventory.</a:t>
            </a:r>
            <a:endParaRPr/>
          </a:p>
          <a:p>
            <a:pPr indent="-298450" lvl="0" marL="457200" rtl="0" algn="l">
              <a:lnSpc>
                <a:spcPct val="115000"/>
              </a:lnSpc>
              <a:spcBef>
                <a:spcPts val="0"/>
              </a:spcBef>
              <a:spcAft>
                <a:spcPts val="0"/>
              </a:spcAft>
              <a:buClr>
                <a:schemeClr val="dk1"/>
              </a:buClr>
              <a:buSzPts val="1100"/>
              <a:buAutoNum type="arabicPeriod"/>
            </a:pPr>
            <a:r>
              <a:rPr b="1" lang="fr"/>
              <a:t>Strive for perfection:</a:t>
            </a:r>
            <a:r>
              <a:rPr lang="fr"/>
              <a:t> Lean principles encourage organizations to continuously improve and strive for perfection by identifying and addressing problems and defects as they arise, and by regularly reviewing and optimizing processes.</a:t>
            </a:r>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c221b2847e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c221b2847e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fr"/>
              <a:t>Value stream mapping: Value stream mapping is a visual representation of the flow of value from the customer's perspective, including all the activities and steps involved in producing and delivering a product or service. It is used to identify and eliminate waste in the process.</a:t>
            </a:r>
            <a:endParaRPr/>
          </a:p>
          <a:p>
            <a:pPr indent="-298450" lvl="0" marL="457200" rtl="0" algn="l">
              <a:lnSpc>
                <a:spcPct val="115000"/>
              </a:lnSpc>
              <a:spcBef>
                <a:spcPts val="0"/>
              </a:spcBef>
              <a:spcAft>
                <a:spcPts val="0"/>
              </a:spcAft>
              <a:buClr>
                <a:schemeClr val="dk1"/>
              </a:buClr>
              <a:buSzPts val="1100"/>
              <a:buChar char="●"/>
            </a:pPr>
            <a:r>
              <a:rPr lang="fr"/>
              <a:t>Six Sigma: Six Sigma is a methodology for improving processes by identifying and eliminating defects and variability. It uses statistical analysis and data-driven problem-solving to identify root causes and implement solutions.</a:t>
            </a:r>
            <a:endParaRPr/>
          </a:p>
          <a:p>
            <a:pPr indent="-298450" lvl="0" marL="457200" rtl="0" algn="l">
              <a:lnSpc>
                <a:spcPct val="115000"/>
              </a:lnSpc>
              <a:spcBef>
                <a:spcPts val="0"/>
              </a:spcBef>
              <a:spcAft>
                <a:spcPts val="0"/>
              </a:spcAft>
              <a:buClr>
                <a:schemeClr val="dk1"/>
              </a:buClr>
              <a:buSzPts val="1100"/>
              <a:buChar char="●"/>
            </a:pPr>
            <a:r>
              <a:rPr lang="fr"/>
              <a:t>Kanban: Kanban is a method for managing and improving workflows that was developed by Toyota in the 1950s. It is based on the principles of just-in-time (JIT) production and aims to increase efficiency and reduce waste by visualizing work, limiting work-in-progress, and continuously improving processes.</a:t>
            </a:r>
            <a:endParaRPr/>
          </a:p>
          <a:p>
            <a:pPr indent="-298450" lvl="0" marL="457200" rtl="0" algn="l">
              <a:lnSpc>
                <a:spcPct val="115000"/>
              </a:lnSpc>
              <a:spcBef>
                <a:spcPts val="0"/>
              </a:spcBef>
              <a:spcAft>
                <a:spcPts val="0"/>
              </a:spcAft>
              <a:buClr>
                <a:schemeClr val="dk1"/>
              </a:buClr>
              <a:buSzPts val="1100"/>
              <a:buChar char="●"/>
            </a:pPr>
            <a:r>
              <a:rPr lang="fr"/>
              <a:t>5S: 5S is a methodology for organizing and maintaining a clean, efficient, and safe work environment. It involves sorting, straightening, shining, standardizing, and sustaining (the "5S's") in order to create a visual and orderly workplace.</a:t>
            </a:r>
            <a:endParaRPr/>
          </a:p>
          <a:p>
            <a:pPr indent="-298450" lvl="0" marL="457200" rtl="0" algn="l">
              <a:lnSpc>
                <a:spcPct val="115000"/>
              </a:lnSpc>
              <a:spcBef>
                <a:spcPts val="0"/>
              </a:spcBef>
              <a:spcAft>
                <a:spcPts val="0"/>
              </a:spcAft>
              <a:buClr>
                <a:schemeClr val="dk1"/>
              </a:buClr>
              <a:buSzPts val="1100"/>
              <a:buChar char="●"/>
            </a:pPr>
            <a:r>
              <a:rPr lang="fr"/>
              <a:t>Standardized work: Standardized work is a systematic approach to documenting and improving work processes. It involves identifying and documenting the most efficient and effective way to perform a task, and then using this standard as a basis for continuous improvement.</a:t>
            </a:r>
            <a:endParaRPr/>
          </a:p>
          <a:p>
            <a:pPr indent="-298450" lvl="0" marL="457200" rtl="0" algn="l">
              <a:lnSpc>
                <a:spcPct val="115000"/>
              </a:lnSpc>
              <a:spcBef>
                <a:spcPts val="0"/>
              </a:spcBef>
              <a:spcAft>
                <a:spcPts val="0"/>
              </a:spcAft>
              <a:buClr>
                <a:schemeClr val="dk1"/>
              </a:buClr>
              <a:buSzPts val="1100"/>
              <a:buChar char="●"/>
            </a:pPr>
            <a:r>
              <a:rPr lang="fr"/>
              <a:t>Visual management: Visual management is a lean technique that uses visual aids, such as charts, graphs, and other visual displays, to communicate information and improve communication and collaboration within an organization.</a:t>
            </a:r>
            <a:endParaRPr/>
          </a:p>
          <a:p>
            <a:pPr indent="-298450" lvl="0" marL="457200" rtl="0" algn="l">
              <a:lnSpc>
                <a:spcPct val="115000"/>
              </a:lnSpc>
              <a:spcBef>
                <a:spcPts val="0"/>
              </a:spcBef>
              <a:spcAft>
                <a:spcPts val="0"/>
              </a:spcAft>
              <a:buClr>
                <a:schemeClr val="dk1"/>
              </a:buClr>
              <a:buSzPts val="1100"/>
              <a:buChar char="●"/>
            </a:pPr>
            <a:r>
              <a:rPr lang="fr"/>
              <a:t>Root cause analysis: Root cause analysis is a problem-solving method that aims to identify the underlying causes of problems or defects, rather than just treating the symptoms. It is used to prevent problems from recurring by addressing the root causes of issues.</a:t>
            </a:r>
            <a:endParaRPr/>
          </a:p>
          <a:p>
            <a:pPr indent="-298450" lvl="0" marL="457200" rtl="0" algn="l">
              <a:lnSpc>
                <a:spcPct val="115000"/>
              </a:lnSpc>
              <a:spcBef>
                <a:spcPts val="0"/>
              </a:spcBef>
              <a:spcAft>
                <a:spcPts val="0"/>
              </a:spcAft>
              <a:buClr>
                <a:schemeClr val="dk1"/>
              </a:buClr>
              <a:buSzPts val="1100"/>
              <a:buChar char="●"/>
            </a:pPr>
            <a:r>
              <a:rPr lang="fr"/>
              <a:t>Kaizen events: Kaizen events, also known as "rapid improvement events," are focused improvement activities that involve a cross-functional team working intensively to identify and address problems or opportunities for improvement over a short period of time.</a:t>
            </a:r>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c221b2847e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c221b2847e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c221b2847e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c221b2847e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c221b2847e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c221b2847e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c221b2847e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c221b2847e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c221b2847e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c221b2847e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fr"/>
              <a:t>Pair programming: Pair programming is a software development technique in which two programmers work together at a single workstation, with one person writing code and the other reviewing and providing feedback in real-time.</a:t>
            </a:r>
            <a:endParaRPr/>
          </a:p>
          <a:p>
            <a:pPr indent="-298450" lvl="0" marL="457200" rtl="0" algn="l">
              <a:lnSpc>
                <a:spcPct val="115000"/>
              </a:lnSpc>
              <a:spcBef>
                <a:spcPts val="0"/>
              </a:spcBef>
              <a:spcAft>
                <a:spcPts val="0"/>
              </a:spcAft>
              <a:buClr>
                <a:schemeClr val="dk1"/>
              </a:buClr>
              <a:buSzPts val="1100"/>
              <a:buChar char="●"/>
            </a:pPr>
            <a:r>
              <a:rPr lang="fr"/>
              <a:t>Test-driven development (TDD): In TDD, developers write automated tests for new code before writing the code itself, in order to ensure that the code is testable and meets the desired requirements.</a:t>
            </a:r>
            <a:endParaRPr/>
          </a:p>
          <a:p>
            <a:pPr indent="-298450" lvl="0" marL="457200" rtl="0" algn="l">
              <a:lnSpc>
                <a:spcPct val="115000"/>
              </a:lnSpc>
              <a:spcBef>
                <a:spcPts val="0"/>
              </a:spcBef>
              <a:spcAft>
                <a:spcPts val="0"/>
              </a:spcAft>
              <a:buClr>
                <a:schemeClr val="dk1"/>
              </a:buClr>
              <a:buSzPts val="1100"/>
              <a:buChar char="●"/>
            </a:pPr>
            <a:r>
              <a:rPr lang="fr"/>
              <a:t>Continuous integration: Continuous integration is the practice of integrating code changes into a shared repository frequently, in order to detect and resolve conflicts early.</a:t>
            </a:r>
            <a:endParaRPr/>
          </a:p>
          <a:p>
            <a:pPr indent="-298450" lvl="0" marL="457200" rtl="0" algn="l">
              <a:lnSpc>
                <a:spcPct val="115000"/>
              </a:lnSpc>
              <a:spcBef>
                <a:spcPts val="0"/>
              </a:spcBef>
              <a:spcAft>
                <a:spcPts val="0"/>
              </a:spcAft>
              <a:buClr>
                <a:schemeClr val="dk1"/>
              </a:buClr>
              <a:buSzPts val="1100"/>
              <a:buChar char="●"/>
            </a:pPr>
            <a:r>
              <a:rPr lang="fr"/>
              <a:t>Continuous delivery: Continuous delivery is the practice of automating the build, test, and deployment process in order to deliver new features to users as quickly and safely as possible.</a:t>
            </a:r>
            <a:endParaRPr/>
          </a:p>
          <a:p>
            <a:pPr indent="-298450" lvl="0" marL="457200" rtl="0" algn="l">
              <a:lnSpc>
                <a:spcPct val="115000"/>
              </a:lnSpc>
              <a:spcBef>
                <a:spcPts val="0"/>
              </a:spcBef>
              <a:spcAft>
                <a:spcPts val="0"/>
              </a:spcAft>
              <a:buClr>
                <a:schemeClr val="dk1"/>
              </a:buClr>
              <a:buSzPts val="1100"/>
              <a:buChar char="●"/>
            </a:pPr>
            <a:r>
              <a:rPr lang="fr"/>
              <a:t>Collective ownership: Collective ownership is the practice of encouraging all team members to contribute to and take responsibility for the codebase.</a:t>
            </a:r>
            <a:endParaRPr/>
          </a:p>
          <a:p>
            <a:pPr indent="-298450" lvl="0" marL="457200" rtl="0" algn="l">
              <a:lnSpc>
                <a:spcPct val="115000"/>
              </a:lnSpc>
              <a:spcBef>
                <a:spcPts val="0"/>
              </a:spcBef>
              <a:spcAft>
                <a:spcPts val="0"/>
              </a:spcAft>
              <a:buClr>
                <a:schemeClr val="dk1"/>
              </a:buClr>
              <a:buSzPts val="1100"/>
              <a:buChar char="●"/>
            </a:pPr>
            <a:r>
              <a:rPr lang="fr"/>
              <a:t>Customer collaboration: XP emphasizes the importance of frequent and open communication with the customer in order to ensure that the product meets their needs and expectations.</a:t>
            </a:r>
            <a:endParaRPr/>
          </a:p>
          <a:p>
            <a:pPr indent="0" lvl="0" marL="0" rtl="0" algn="l">
              <a:spcBef>
                <a:spcPts val="120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c221b2847e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c221b2847e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c221b2847e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c221b2847e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a:t>def test_search_products(self):</a:t>
            </a:r>
            <a:endParaRPr/>
          </a:p>
          <a:p>
            <a:pPr indent="0" lvl="0" marL="0" rtl="0" algn="l">
              <a:spcBef>
                <a:spcPts val="0"/>
              </a:spcBef>
              <a:spcAft>
                <a:spcPts val="0"/>
              </a:spcAft>
              <a:buClr>
                <a:schemeClr val="dk1"/>
              </a:buClr>
              <a:buSzPts val="1100"/>
              <a:buFont typeface="Arial"/>
              <a:buNone/>
            </a:pPr>
            <a:r>
              <a:rPr lang="fr"/>
              <a:t>	# Search for products with the keyword "phone"</a:t>
            </a:r>
            <a:endParaRPr/>
          </a:p>
          <a:p>
            <a:pPr indent="0" lvl="0" marL="0" rtl="0" algn="l">
              <a:spcBef>
                <a:spcPts val="0"/>
              </a:spcBef>
              <a:spcAft>
                <a:spcPts val="0"/>
              </a:spcAft>
              <a:buClr>
                <a:schemeClr val="dk1"/>
              </a:buClr>
              <a:buSzPts val="1100"/>
              <a:buFont typeface="Arial"/>
              <a:buNone/>
            </a:pPr>
            <a:r>
              <a:rPr lang="fr"/>
              <a:t>	results = search_products("phone")</a:t>
            </a:r>
            <a:endParaRPr/>
          </a:p>
          <a:p>
            <a:pPr indent="0" lvl="0" marL="0" rtl="0" algn="l">
              <a:spcBef>
                <a:spcPts val="0"/>
              </a:spcBef>
              <a:spcAft>
                <a:spcPts val="0"/>
              </a:spcAft>
              <a:buClr>
                <a:schemeClr val="dk1"/>
              </a:buClr>
              <a:buSzPts val="1100"/>
              <a:buFont typeface="Arial"/>
              <a:buNone/>
            </a:pPr>
            <a:r>
              <a:rPr lang="fr"/>
              <a:t>    </a:t>
            </a:r>
            <a:endParaRPr/>
          </a:p>
          <a:p>
            <a:pPr indent="0" lvl="0" marL="0" rtl="0" algn="l">
              <a:spcBef>
                <a:spcPts val="0"/>
              </a:spcBef>
              <a:spcAft>
                <a:spcPts val="0"/>
              </a:spcAft>
              <a:buClr>
                <a:schemeClr val="dk1"/>
              </a:buClr>
              <a:buSzPts val="1100"/>
              <a:buFont typeface="Arial"/>
              <a:buNone/>
            </a:pPr>
            <a:r>
              <a:rPr lang="fr"/>
              <a:t>	# Verify that the correct products are returned</a:t>
            </a:r>
            <a:endParaRPr/>
          </a:p>
          <a:p>
            <a:pPr indent="0" lvl="0" marL="0" rtl="0" algn="l">
              <a:spcBef>
                <a:spcPts val="0"/>
              </a:spcBef>
              <a:spcAft>
                <a:spcPts val="0"/>
              </a:spcAft>
              <a:buClr>
                <a:schemeClr val="dk1"/>
              </a:buClr>
              <a:buSzPts val="1100"/>
              <a:buFont typeface="Arial"/>
              <a:buNone/>
            </a:pPr>
            <a:r>
              <a:rPr lang="fr"/>
              <a:t>	self.assertEqual(len(results), 2)</a:t>
            </a:r>
            <a:endParaRPr/>
          </a:p>
          <a:p>
            <a:pPr indent="0" lvl="0" marL="0" rtl="0" algn="l">
              <a:spcBef>
                <a:spcPts val="0"/>
              </a:spcBef>
              <a:spcAft>
                <a:spcPts val="0"/>
              </a:spcAft>
              <a:buClr>
                <a:schemeClr val="dk1"/>
              </a:buClr>
              <a:buSzPts val="1100"/>
              <a:buFont typeface="Arial"/>
              <a:buNone/>
            </a:pPr>
            <a:r>
              <a:rPr lang="fr"/>
              <a:t>	self.assertIn("iPhone", results)</a:t>
            </a:r>
            <a:endParaRPr/>
          </a:p>
          <a:p>
            <a:pPr indent="0" lvl="0" marL="0" rtl="0" algn="l">
              <a:spcBef>
                <a:spcPts val="0"/>
              </a:spcBef>
              <a:spcAft>
                <a:spcPts val="0"/>
              </a:spcAft>
              <a:buClr>
                <a:schemeClr val="dk1"/>
              </a:buClr>
              <a:buSzPts val="1100"/>
              <a:buFont typeface="Arial"/>
              <a:buNone/>
            </a:pPr>
            <a:r>
              <a:rPr lang="fr"/>
              <a:t>	self.assertIn("Android phone", results)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c221b2847e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c221b2847e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c221b2847e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c221b2847e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def search_products(keyword):</a:t>
            </a:r>
            <a:endParaRPr/>
          </a:p>
          <a:p>
            <a:pPr indent="0" lvl="0" marL="0" rtl="0" algn="l">
              <a:spcBef>
                <a:spcPts val="0"/>
              </a:spcBef>
              <a:spcAft>
                <a:spcPts val="0"/>
              </a:spcAft>
              <a:buNone/>
            </a:pPr>
            <a:r>
              <a:rPr lang="fr"/>
              <a:t>    products = ["iPhone", "Android phone", "Laptop", "Tablet"]</a:t>
            </a:r>
            <a:endParaRPr/>
          </a:p>
          <a:p>
            <a:pPr indent="0" lvl="0" marL="0" rtl="0" algn="l">
              <a:spcBef>
                <a:spcPts val="0"/>
              </a:spcBef>
              <a:spcAft>
                <a:spcPts val="0"/>
              </a:spcAft>
              <a:buNone/>
            </a:pPr>
            <a:r>
              <a:rPr lang="fr"/>
              <a:t>    return [product for product in products if keyword in product]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c221b2847e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c221b2847e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c221b2847e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c221b2847e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c221b2847e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c221b2847e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c221b2847e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c221b2847e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c221b2847e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c221b2847e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c221b2847e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c221b2847e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c221b2847e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c221b2847e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c221b2847e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c221b2847e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c221b2847e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c221b2847e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c221b2847e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c221b2847e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c221b2847e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1c221b2847e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c221b2847e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c221b2847e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sp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sp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sp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sp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1785600"/>
          </a:xfrm>
          <a:prstGeom prst="rect">
            <a:avLst/>
          </a:prstGeom>
        </p:spPr>
        <p:txBody>
          <a:bodyPr anchorCtr="0" anchor="b" bIns="91425" lIns="91425" spcFirstLastPara="1" rIns="91425" wrap="square" tIns="91425">
            <a:spAutoFit/>
          </a:bodyPr>
          <a:lstStyle/>
          <a:p>
            <a:pPr indent="0" lvl="0" marL="0" rtl="0" algn="ctr">
              <a:spcBef>
                <a:spcPts val="0"/>
              </a:spcBef>
              <a:spcAft>
                <a:spcPts val="0"/>
              </a:spcAft>
              <a:buNone/>
            </a:pPr>
            <a:r>
              <a:rPr lang="fr"/>
              <a:t>Kanban &amp; General considerations </a:t>
            </a:r>
            <a:endParaRPr/>
          </a:p>
        </p:txBody>
      </p:sp>
      <p:sp>
        <p:nvSpPr>
          <p:cNvPr id="55" name="Google Shape;55;p13"/>
          <p:cNvSpPr txBox="1"/>
          <p:nvPr>
            <p:ph idx="1" type="subTitle"/>
          </p:nvPr>
        </p:nvSpPr>
        <p:spPr>
          <a:xfrm>
            <a:off x="311700" y="2834125"/>
            <a:ext cx="8520600" cy="6156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fr"/>
              <a:t>3AGIL - Day 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Course Summary</a:t>
            </a:r>
            <a:endParaRPr/>
          </a:p>
        </p:txBody>
      </p:sp>
      <p:sp>
        <p:nvSpPr>
          <p:cNvPr id="61" name="Google Shape;61;p14"/>
          <p:cNvSpPr txBox="1"/>
          <p:nvPr>
            <p:ph idx="1" type="body"/>
          </p:nvPr>
        </p:nvSpPr>
        <p:spPr>
          <a:xfrm>
            <a:off x="311700" y="1152475"/>
            <a:ext cx="8520600" cy="26568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AutoNum type="arabicParenR"/>
            </a:pPr>
            <a:r>
              <a:rPr lang="fr"/>
              <a:t>Kanban (30’)</a:t>
            </a:r>
            <a:endParaRPr/>
          </a:p>
          <a:p>
            <a:pPr indent="-342900" lvl="0" marL="457200" rtl="0" algn="l">
              <a:spcBef>
                <a:spcPts val="0"/>
              </a:spcBef>
              <a:spcAft>
                <a:spcPts val="0"/>
              </a:spcAft>
              <a:buSzPts val="1800"/>
              <a:buAutoNum type="arabicParenR"/>
            </a:pPr>
            <a:r>
              <a:rPr lang="fr"/>
              <a:t>Trello (2h)</a:t>
            </a:r>
            <a:endParaRPr/>
          </a:p>
          <a:p>
            <a:pPr indent="-342900" lvl="0" marL="457200" rtl="0" algn="l">
              <a:spcBef>
                <a:spcPts val="0"/>
              </a:spcBef>
              <a:spcAft>
                <a:spcPts val="0"/>
              </a:spcAft>
              <a:buSzPts val="1800"/>
              <a:buAutoNum type="arabicParenR"/>
            </a:pPr>
            <a:r>
              <a:rPr lang="fr"/>
              <a:t>General considerations (4h)</a:t>
            </a:r>
            <a:endParaRPr/>
          </a:p>
          <a:p>
            <a:pPr indent="-317500" lvl="1" marL="914400" rtl="0" algn="l">
              <a:spcBef>
                <a:spcPts val="0"/>
              </a:spcBef>
              <a:spcAft>
                <a:spcPts val="0"/>
              </a:spcAft>
              <a:buSzPts val="1400"/>
              <a:buAutoNum type="alphaLcParenR"/>
            </a:pPr>
            <a:r>
              <a:rPr lang="fr"/>
              <a:t>Lean</a:t>
            </a:r>
            <a:endParaRPr/>
          </a:p>
          <a:p>
            <a:pPr indent="-317500" lvl="1" marL="914400" rtl="0" algn="l">
              <a:spcBef>
                <a:spcPts val="0"/>
              </a:spcBef>
              <a:spcAft>
                <a:spcPts val="0"/>
              </a:spcAft>
              <a:buSzPts val="1400"/>
              <a:buAutoNum type="alphaLcParenR"/>
            </a:pPr>
            <a:r>
              <a:rPr lang="fr"/>
              <a:t>Scaling Scrum</a:t>
            </a:r>
            <a:endParaRPr/>
          </a:p>
          <a:p>
            <a:pPr indent="-317500" lvl="1" marL="914400" rtl="0" algn="l">
              <a:spcBef>
                <a:spcPts val="0"/>
              </a:spcBef>
              <a:spcAft>
                <a:spcPts val="0"/>
              </a:spcAft>
              <a:buSzPts val="1400"/>
              <a:buAutoNum type="alphaLcParenR"/>
            </a:pPr>
            <a:r>
              <a:rPr lang="fr"/>
              <a:t>XP</a:t>
            </a:r>
            <a:endParaRPr/>
          </a:p>
          <a:p>
            <a:pPr indent="-317500" lvl="1" marL="914400" rtl="0" algn="l">
              <a:spcBef>
                <a:spcPts val="0"/>
              </a:spcBef>
              <a:spcAft>
                <a:spcPts val="0"/>
              </a:spcAft>
              <a:buSzPts val="1400"/>
              <a:buAutoNum type="alphaLcParenR"/>
            </a:pPr>
            <a:r>
              <a:rPr lang="fr"/>
              <a:t>Test-driven development</a:t>
            </a:r>
            <a:endParaRPr/>
          </a:p>
          <a:p>
            <a:pPr indent="-317500" lvl="1" marL="914400" rtl="0" algn="l">
              <a:spcBef>
                <a:spcPts val="0"/>
              </a:spcBef>
              <a:spcAft>
                <a:spcPts val="0"/>
              </a:spcAft>
              <a:buSzPts val="1400"/>
              <a:buAutoNum type="alphaLcParenR"/>
            </a:pPr>
            <a:r>
              <a:rPr lang="fr"/>
              <a:t>CI/CD</a:t>
            </a:r>
            <a:endParaRPr/>
          </a:p>
          <a:p>
            <a:pPr indent="-342900" lvl="0" marL="457200" rtl="0" algn="l">
              <a:spcBef>
                <a:spcPts val="0"/>
              </a:spcBef>
              <a:spcAft>
                <a:spcPts val="0"/>
              </a:spcAft>
              <a:buSzPts val="1800"/>
              <a:buAutoNum type="arabicParenR"/>
            </a:pPr>
            <a:r>
              <a:rPr lang="fr"/>
              <a:t>DevOps (30’)</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2150850"/>
            <a:ext cx="8520600" cy="7389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fr"/>
              <a:t>Kanban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Definition</a:t>
            </a:r>
            <a:endParaRPr/>
          </a:p>
        </p:txBody>
      </p:sp>
      <p:sp>
        <p:nvSpPr>
          <p:cNvPr id="72" name="Google Shape;72;p16"/>
          <p:cNvSpPr txBox="1"/>
          <p:nvPr>
            <p:ph idx="1" type="body"/>
          </p:nvPr>
        </p:nvSpPr>
        <p:spPr>
          <a:xfrm>
            <a:off x="311700" y="1152475"/>
            <a:ext cx="8520600" cy="2835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Kanban is a method for managing and improving workflows that was developed by Toyota in the 1950s. </a:t>
            </a:r>
            <a:endParaRPr/>
          </a:p>
          <a:p>
            <a:pPr indent="0" lvl="0" marL="0" rtl="0" algn="l">
              <a:spcBef>
                <a:spcPts val="1200"/>
              </a:spcBef>
              <a:spcAft>
                <a:spcPts val="0"/>
              </a:spcAft>
              <a:buNone/>
            </a:pPr>
            <a:r>
              <a:rPr lang="fr"/>
              <a:t>It is based on the principles of </a:t>
            </a:r>
            <a:r>
              <a:rPr b="1" lang="fr"/>
              <a:t>just-in-time</a:t>
            </a:r>
            <a:r>
              <a:rPr lang="fr"/>
              <a:t> (JIT) </a:t>
            </a:r>
            <a:r>
              <a:rPr b="1" lang="fr"/>
              <a:t>production</a:t>
            </a:r>
            <a:r>
              <a:rPr lang="fr"/>
              <a:t> </a:t>
            </a:r>
            <a:endParaRPr/>
          </a:p>
          <a:p>
            <a:pPr indent="0" lvl="0" marL="0" rtl="0" algn="l">
              <a:spcBef>
                <a:spcPts val="1200"/>
              </a:spcBef>
              <a:spcAft>
                <a:spcPts val="0"/>
              </a:spcAft>
              <a:buNone/>
            </a:pPr>
            <a:r>
              <a:rPr lang="fr"/>
              <a:t>Aims to increase efficiency and reduce waste by : </a:t>
            </a:r>
            <a:endParaRPr/>
          </a:p>
          <a:p>
            <a:pPr indent="-342900" lvl="0" marL="457200" rtl="0" algn="l">
              <a:spcBef>
                <a:spcPts val="1200"/>
              </a:spcBef>
              <a:spcAft>
                <a:spcPts val="0"/>
              </a:spcAft>
              <a:buSzPts val="1800"/>
              <a:buChar char="-"/>
            </a:pPr>
            <a:r>
              <a:rPr lang="fr"/>
              <a:t>visualizing work </a:t>
            </a:r>
            <a:endParaRPr/>
          </a:p>
          <a:p>
            <a:pPr indent="-342900" lvl="0" marL="457200" rtl="0" algn="l">
              <a:spcBef>
                <a:spcPts val="0"/>
              </a:spcBef>
              <a:spcAft>
                <a:spcPts val="0"/>
              </a:spcAft>
              <a:buSzPts val="1800"/>
              <a:buChar char="-"/>
            </a:pPr>
            <a:r>
              <a:rPr lang="fr"/>
              <a:t>limiting work-in-progress </a:t>
            </a:r>
            <a:endParaRPr/>
          </a:p>
          <a:p>
            <a:pPr indent="-342900" lvl="0" marL="457200" rtl="0" algn="l">
              <a:spcBef>
                <a:spcPts val="0"/>
              </a:spcBef>
              <a:spcAft>
                <a:spcPts val="0"/>
              </a:spcAft>
              <a:buSzPts val="1800"/>
              <a:buChar char="-"/>
            </a:pPr>
            <a:r>
              <a:rPr lang="fr"/>
              <a:t>continuously improving processes.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V</a:t>
            </a:r>
            <a:r>
              <a:rPr lang="fr"/>
              <a:t>isualizing</a:t>
            </a:r>
            <a:r>
              <a:rPr lang="fr"/>
              <a:t> work </a:t>
            </a:r>
            <a:endParaRPr/>
          </a:p>
        </p:txBody>
      </p:sp>
      <p:sp>
        <p:nvSpPr>
          <p:cNvPr id="78" name="Google Shape;78;p17"/>
          <p:cNvSpPr txBox="1"/>
          <p:nvPr>
            <p:ph idx="1" type="body"/>
          </p:nvPr>
        </p:nvSpPr>
        <p:spPr>
          <a:xfrm>
            <a:off x="311700" y="1152475"/>
            <a:ext cx="8520600" cy="780300"/>
          </a:xfrm>
          <a:prstGeom prst="rect">
            <a:avLst/>
          </a:prstGeom>
        </p:spPr>
        <p:txBody>
          <a:bodyPr anchorCtr="0" anchor="t" bIns="91425" lIns="91425" spcFirstLastPara="1" rIns="91425" wrap="square" tIns="91425">
            <a:spAutoFit/>
          </a:bodyPr>
          <a:lstStyle/>
          <a:p>
            <a:pPr indent="0" lvl="0" marL="0" rtl="0" algn="l">
              <a:spcBef>
                <a:spcPts val="1200"/>
              </a:spcBef>
              <a:spcAft>
                <a:spcPts val="1200"/>
              </a:spcAft>
              <a:buNone/>
            </a:pPr>
            <a:r>
              <a:rPr lang="fr"/>
              <a:t>Kanban board: A </a:t>
            </a:r>
            <a:r>
              <a:rPr lang="fr">
                <a:solidFill>
                  <a:srgbClr val="6AA84F"/>
                </a:solidFill>
              </a:rPr>
              <a:t>visual</a:t>
            </a:r>
            <a:r>
              <a:rPr lang="fr"/>
              <a:t> representation of the work process, showing the </a:t>
            </a:r>
            <a:r>
              <a:rPr lang="fr">
                <a:solidFill>
                  <a:srgbClr val="E69138"/>
                </a:solidFill>
              </a:rPr>
              <a:t>status</a:t>
            </a:r>
            <a:r>
              <a:rPr lang="fr"/>
              <a:t> of each task or item as it </a:t>
            </a:r>
            <a:r>
              <a:rPr lang="fr">
                <a:solidFill>
                  <a:srgbClr val="674EA7"/>
                </a:solidFill>
              </a:rPr>
              <a:t>moves through the workflow</a:t>
            </a:r>
            <a:r>
              <a:rPr lang="fr"/>
              <a:t>.</a:t>
            </a:r>
            <a:endParaRPr/>
          </a:p>
        </p:txBody>
      </p:sp>
      <p:pic>
        <p:nvPicPr>
          <p:cNvPr id="79" name="Google Shape;79;p17"/>
          <p:cNvPicPr preferRelativeResize="0"/>
          <p:nvPr/>
        </p:nvPicPr>
        <p:blipFill>
          <a:blip r:embed="rId3">
            <a:alphaModFix/>
          </a:blip>
          <a:stretch>
            <a:fillRect/>
          </a:stretch>
        </p:blipFill>
        <p:spPr>
          <a:xfrm>
            <a:off x="1766813" y="2024625"/>
            <a:ext cx="5610372" cy="2905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Kanban Best Practices</a:t>
            </a:r>
            <a:endParaRPr/>
          </a:p>
        </p:txBody>
      </p:sp>
      <p:sp>
        <p:nvSpPr>
          <p:cNvPr id="85" name="Google Shape;85;p18"/>
          <p:cNvSpPr txBox="1"/>
          <p:nvPr>
            <p:ph idx="1" type="body"/>
          </p:nvPr>
        </p:nvSpPr>
        <p:spPr>
          <a:xfrm>
            <a:off x="311700" y="1152475"/>
            <a:ext cx="8520600" cy="31647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Char char="●"/>
            </a:pPr>
            <a:r>
              <a:rPr b="1" lang="fr"/>
              <a:t>Work-in-progress (WIP) limits:</a:t>
            </a:r>
            <a:r>
              <a:rPr lang="fr"/>
              <a:t> </a:t>
            </a:r>
            <a:r>
              <a:rPr lang="fr">
                <a:solidFill>
                  <a:srgbClr val="6AA84F"/>
                </a:solidFill>
              </a:rPr>
              <a:t>Maximum number of tasks</a:t>
            </a:r>
            <a:r>
              <a:rPr lang="fr"/>
              <a:t> that can be in progress at </a:t>
            </a:r>
            <a:r>
              <a:rPr lang="fr">
                <a:solidFill>
                  <a:srgbClr val="E69138"/>
                </a:solidFill>
              </a:rPr>
              <a:t>each stage </a:t>
            </a:r>
            <a:r>
              <a:rPr lang="fr"/>
              <a:t>of the workflow, to prevent overloading and bottlenecking.</a:t>
            </a:r>
            <a:endParaRPr/>
          </a:p>
          <a:p>
            <a:pPr indent="-298450" lvl="0" marL="457200" rtl="0" algn="l">
              <a:spcBef>
                <a:spcPts val="0"/>
              </a:spcBef>
              <a:spcAft>
                <a:spcPts val="0"/>
              </a:spcAft>
              <a:buClr>
                <a:schemeClr val="dk1"/>
              </a:buClr>
              <a:buSzPts val="1100"/>
              <a:buChar char="●"/>
            </a:pPr>
            <a:r>
              <a:rPr b="1" lang="fr"/>
              <a:t>Pull system</a:t>
            </a:r>
            <a:r>
              <a:rPr lang="fr"/>
              <a:t>: A system in which work is only started when there is capacity to complete it, rather than pushing work through the process regardless of capacity.</a:t>
            </a:r>
            <a:endParaRPr/>
          </a:p>
          <a:p>
            <a:pPr indent="-298450" lvl="0" marL="457200" rtl="0" algn="l">
              <a:spcBef>
                <a:spcPts val="0"/>
              </a:spcBef>
              <a:spcAft>
                <a:spcPts val="0"/>
              </a:spcAft>
              <a:buClr>
                <a:schemeClr val="dk1"/>
              </a:buClr>
              <a:buSzPts val="1100"/>
              <a:buChar char="●"/>
            </a:pPr>
            <a:r>
              <a:rPr b="1" lang="fr"/>
              <a:t>Continuous improvement</a:t>
            </a:r>
            <a:r>
              <a:rPr lang="fr"/>
              <a:t>: Regular review and optimization of the workflow to identify and address bottlenecks, improve efficiency, and reduce waste.</a:t>
            </a:r>
            <a:endParaRPr/>
          </a:p>
          <a:p>
            <a:pPr indent="0" lvl="0" marL="0" rtl="0" algn="l">
              <a:spcBef>
                <a:spcPts val="1200"/>
              </a:spcBef>
              <a:spcAft>
                <a:spcPts val="1200"/>
              </a:spcAft>
              <a:buNone/>
            </a:pPr>
            <a:r>
              <a:rPr lang="fr"/>
              <a:t>All in all : Agile best practices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Pop-quizz ! (10’)</a:t>
            </a:r>
            <a:endParaRPr/>
          </a:p>
        </p:txBody>
      </p:sp>
      <p:sp>
        <p:nvSpPr>
          <p:cNvPr id="91" name="Google Shape;91;p19"/>
          <p:cNvSpPr txBox="1"/>
          <p:nvPr>
            <p:ph idx="1" type="body"/>
          </p:nvPr>
        </p:nvSpPr>
        <p:spPr>
          <a:xfrm>
            <a:off x="311700" y="1152475"/>
            <a:ext cx="8520600" cy="1571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Alone or in pairs, try and link Kanban best practices to SCRUM’s ceremonies, roles and artifacts. Everything isn’t supposed to fit, but there are obvious overlaps !</a:t>
            </a:r>
            <a:endParaRPr/>
          </a:p>
          <a:p>
            <a:pPr indent="0" lvl="0" marL="0" rtl="0" algn="l">
              <a:spcBef>
                <a:spcPts val="1200"/>
              </a:spcBef>
              <a:spcAft>
                <a:spcPts val="1200"/>
              </a:spcAft>
              <a:buNone/>
            </a:pPr>
            <a:r>
              <a:rPr lang="fr"/>
              <a:t>Take the time to share your results and explain why you linked them.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2150850"/>
            <a:ext cx="8520600" cy="7389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fr"/>
              <a:t>Trello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Introduction</a:t>
            </a:r>
            <a:endParaRPr/>
          </a:p>
        </p:txBody>
      </p:sp>
      <p:sp>
        <p:nvSpPr>
          <p:cNvPr id="102" name="Google Shape;102;p21"/>
          <p:cNvSpPr txBox="1"/>
          <p:nvPr>
            <p:ph idx="1" type="body"/>
          </p:nvPr>
        </p:nvSpPr>
        <p:spPr>
          <a:xfrm>
            <a:off x="311700" y="1152475"/>
            <a:ext cx="8520600" cy="172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Trello is a project management tool that helps teams organize and prioritize their work by using a visual, flexible system of boards, lists, and cards.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fr"/>
              <a:t>Basically : a Kanban board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Key components</a:t>
            </a:r>
            <a:endParaRPr/>
          </a:p>
        </p:txBody>
      </p:sp>
      <p:sp>
        <p:nvSpPr>
          <p:cNvPr id="108" name="Google Shape;108;p22"/>
          <p:cNvSpPr txBox="1"/>
          <p:nvPr>
            <p:ph idx="1" type="body"/>
          </p:nvPr>
        </p:nvSpPr>
        <p:spPr>
          <a:xfrm>
            <a:off x="311700" y="1152475"/>
            <a:ext cx="8520600" cy="34833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Char char="●"/>
            </a:pPr>
            <a:r>
              <a:rPr b="1" lang="fr"/>
              <a:t>Boards</a:t>
            </a:r>
            <a:r>
              <a:rPr lang="fr"/>
              <a:t>: A board is a visual representation of a project or workflow, and can contain lists and cards.</a:t>
            </a:r>
            <a:endParaRPr/>
          </a:p>
          <a:p>
            <a:pPr indent="-298450" lvl="0" marL="457200" rtl="0" algn="l">
              <a:spcBef>
                <a:spcPts val="0"/>
              </a:spcBef>
              <a:spcAft>
                <a:spcPts val="0"/>
              </a:spcAft>
              <a:buClr>
                <a:schemeClr val="dk1"/>
              </a:buClr>
              <a:buSzPts val="1100"/>
              <a:buChar char="●"/>
            </a:pPr>
            <a:r>
              <a:rPr b="1" lang="fr"/>
              <a:t>Lists</a:t>
            </a:r>
            <a:r>
              <a:rPr lang="fr"/>
              <a:t>: A list is a column on a board that contains cards, which represent tasks or items.</a:t>
            </a:r>
            <a:endParaRPr/>
          </a:p>
          <a:p>
            <a:pPr indent="-298450" lvl="0" marL="457200" rtl="0" algn="l">
              <a:spcBef>
                <a:spcPts val="0"/>
              </a:spcBef>
              <a:spcAft>
                <a:spcPts val="0"/>
              </a:spcAft>
              <a:buClr>
                <a:schemeClr val="dk1"/>
              </a:buClr>
              <a:buSzPts val="1100"/>
              <a:buChar char="●"/>
            </a:pPr>
            <a:r>
              <a:rPr b="1" lang="fr"/>
              <a:t>Cards</a:t>
            </a:r>
            <a:r>
              <a:rPr lang="fr"/>
              <a:t>: A card is a representation of a task or item, and can contain details, attachments, and comments.</a:t>
            </a:r>
            <a:endParaRPr/>
          </a:p>
          <a:p>
            <a:pPr indent="-298450" lvl="0" marL="457200" rtl="0" algn="l">
              <a:spcBef>
                <a:spcPts val="0"/>
              </a:spcBef>
              <a:spcAft>
                <a:spcPts val="0"/>
              </a:spcAft>
              <a:buClr>
                <a:schemeClr val="dk1"/>
              </a:buClr>
              <a:buSzPts val="1100"/>
              <a:buChar char="●"/>
            </a:pPr>
            <a:r>
              <a:rPr b="1" lang="fr"/>
              <a:t>Labels</a:t>
            </a:r>
            <a:r>
              <a:rPr lang="fr"/>
              <a:t>: Labels are tags that can be used to categorize and prioritize cards.</a:t>
            </a:r>
            <a:endParaRPr/>
          </a:p>
          <a:p>
            <a:pPr indent="-298450" lvl="0" marL="457200" rtl="0" algn="l">
              <a:spcBef>
                <a:spcPts val="0"/>
              </a:spcBef>
              <a:spcAft>
                <a:spcPts val="0"/>
              </a:spcAft>
              <a:buClr>
                <a:schemeClr val="dk1"/>
              </a:buClr>
              <a:buSzPts val="1100"/>
              <a:buChar char="●"/>
            </a:pPr>
            <a:r>
              <a:rPr b="1" lang="fr"/>
              <a:t>Checklists</a:t>
            </a:r>
            <a:r>
              <a:rPr lang="fr"/>
              <a:t>: Checklists are lists of tasks or items within a card that can be checked off as they are completed.</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3"/>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Exercise (1h30+) - Same Groups as yesterday</a:t>
            </a:r>
            <a:endParaRPr/>
          </a:p>
        </p:txBody>
      </p:sp>
      <p:sp>
        <p:nvSpPr>
          <p:cNvPr id="114" name="Google Shape;114;p23"/>
          <p:cNvSpPr txBox="1"/>
          <p:nvPr>
            <p:ph idx="1" type="body"/>
          </p:nvPr>
        </p:nvSpPr>
        <p:spPr>
          <a:xfrm>
            <a:off x="311700" y="1152475"/>
            <a:ext cx="8520600" cy="3872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Go to Trello.com, create an account.</a:t>
            </a:r>
            <a:endParaRPr/>
          </a:p>
          <a:p>
            <a:pPr indent="-342900" lvl="0" marL="457200" rtl="0" algn="l">
              <a:spcBef>
                <a:spcPts val="1200"/>
              </a:spcBef>
              <a:spcAft>
                <a:spcPts val="0"/>
              </a:spcAft>
              <a:buSzPts val="1800"/>
              <a:buAutoNum type="arabicPeriod"/>
            </a:pPr>
            <a:r>
              <a:rPr lang="fr"/>
              <a:t>Create a board, have your group connect to the same board</a:t>
            </a:r>
            <a:endParaRPr/>
          </a:p>
          <a:p>
            <a:pPr indent="-342900" lvl="0" marL="457200" rtl="0" algn="l">
              <a:spcBef>
                <a:spcPts val="0"/>
              </a:spcBef>
              <a:spcAft>
                <a:spcPts val="0"/>
              </a:spcAft>
              <a:buSzPts val="1800"/>
              <a:buAutoNum type="arabicPeriod"/>
            </a:pPr>
            <a:r>
              <a:rPr lang="fr"/>
              <a:t>Create and organise the board to manage your work :</a:t>
            </a:r>
            <a:endParaRPr/>
          </a:p>
          <a:p>
            <a:pPr indent="-317500" lvl="1" marL="914400" rtl="0" algn="l">
              <a:spcBef>
                <a:spcPts val="0"/>
              </a:spcBef>
              <a:spcAft>
                <a:spcPts val="0"/>
              </a:spcAft>
              <a:buSzPts val="1400"/>
              <a:buAutoNum type="alphaLcPeriod"/>
            </a:pPr>
            <a:r>
              <a:rPr lang="fr"/>
              <a:t>Use your product/sprint backlog</a:t>
            </a:r>
            <a:endParaRPr/>
          </a:p>
          <a:p>
            <a:pPr indent="-317500" lvl="1" marL="914400" rtl="0" algn="l">
              <a:spcBef>
                <a:spcPts val="0"/>
              </a:spcBef>
              <a:spcAft>
                <a:spcPts val="0"/>
              </a:spcAft>
              <a:buSzPts val="1400"/>
              <a:buAutoNum type="alphaLcPeriod"/>
            </a:pPr>
            <a:r>
              <a:rPr lang="fr"/>
              <a:t>Use your definition of done</a:t>
            </a:r>
            <a:endParaRPr/>
          </a:p>
          <a:p>
            <a:pPr indent="-317500" lvl="1" marL="914400" rtl="0" algn="l">
              <a:spcBef>
                <a:spcPts val="0"/>
              </a:spcBef>
              <a:spcAft>
                <a:spcPts val="0"/>
              </a:spcAft>
              <a:buSzPts val="1400"/>
              <a:buAutoNum type="alphaLcPeriod"/>
            </a:pPr>
            <a:r>
              <a:rPr lang="fr"/>
              <a:t>Create as many lists as you feel should be needed </a:t>
            </a:r>
            <a:endParaRPr/>
          </a:p>
          <a:p>
            <a:pPr indent="-317500" lvl="1" marL="914400" rtl="0" algn="l">
              <a:spcBef>
                <a:spcPts val="0"/>
              </a:spcBef>
              <a:spcAft>
                <a:spcPts val="0"/>
              </a:spcAft>
              <a:buSzPts val="1400"/>
              <a:buAutoNum type="alphaLcPeriod"/>
            </a:pPr>
            <a:r>
              <a:rPr lang="fr"/>
              <a:t>Inspire yourself from Kanban AND Scrum</a:t>
            </a:r>
            <a:endParaRPr/>
          </a:p>
          <a:p>
            <a:pPr indent="-317500" lvl="1" marL="914400" rtl="0" algn="l">
              <a:spcBef>
                <a:spcPts val="0"/>
              </a:spcBef>
              <a:spcAft>
                <a:spcPts val="0"/>
              </a:spcAft>
              <a:buSzPts val="1400"/>
              <a:buAutoNum type="alphaLcPeriod"/>
            </a:pPr>
            <a:r>
              <a:rPr lang="fr"/>
              <a:t>Create template for your cards</a:t>
            </a:r>
            <a:endParaRPr/>
          </a:p>
          <a:p>
            <a:pPr indent="-317500" lvl="1" marL="914400" rtl="0" algn="l">
              <a:spcBef>
                <a:spcPts val="0"/>
              </a:spcBef>
              <a:spcAft>
                <a:spcPts val="0"/>
              </a:spcAft>
              <a:buSzPts val="1400"/>
              <a:buAutoNum type="alphaLcPeriod"/>
            </a:pPr>
            <a:r>
              <a:rPr lang="fr"/>
              <a:t>Automate your cards</a:t>
            </a:r>
            <a:endParaRPr/>
          </a:p>
          <a:p>
            <a:pPr indent="-317500" lvl="1" marL="914400" rtl="0" algn="l">
              <a:spcBef>
                <a:spcPts val="0"/>
              </a:spcBef>
              <a:spcAft>
                <a:spcPts val="0"/>
              </a:spcAft>
              <a:buSzPts val="1400"/>
              <a:buAutoNum type="alphaLcPeriod"/>
            </a:pPr>
            <a:r>
              <a:rPr lang="fr"/>
              <a:t>Use Checklists to track work</a:t>
            </a:r>
            <a:endParaRPr/>
          </a:p>
          <a:p>
            <a:pPr indent="-317500" lvl="1" marL="914400" rtl="0" algn="l">
              <a:spcBef>
                <a:spcPts val="0"/>
              </a:spcBef>
              <a:spcAft>
                <a:spcPts val="0"/>
              </a:spcAft>
              <a:buSzPts val="1400"/>
              <a:buAutoNum type="alphaLcPeriod"/>
            </a:pPr>
            <a:r>
              <a:rPr lang="fr"/>
              <a:t>Fill your board with your Product/Sprint backlog content</a:t>
            </a:r>
            <a:endParaRPr/>
          </a:p>
          <a:p>
            <a:pPr indent="-342900" lvl="0" marL="457200" rtl="0" algn="l">
              <a:spcBef>
                <a:spcPts val="0"/>
              </a:spcBef>
              <a:spcAft>
                <a:spcPts val="0"/>
              </a:spcAft>
              <a:buSzPts val="1800"/>
              <a:buAutoNum type="arabicPeriod"/>
            </a:pPr>
            <a:r>
              <a:rPr lang="fr"/>
              <a:t>Take the time to present and review your board with other groups : inspire yourself from others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4"/>
          <p:cNvSpPr txBox="1"/>
          <p:nvPr>
            <p:ph type="title"/>
          </p:nvPr>
        </p:nvSpPr>
        <p:spPr>
          <a:xfrm>
            <a:off x="311700" y="2150850"/>
            <a:ext cx="8520600" cy="7389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fr"/>
              <a:t>What else is Agile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5"/>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Lean</a:t>
            </a:r>
            <a:endParaRPr/>
          </a:p>
        </p:txBody>
      </p:sp>
      <p:sp>
        <p:nvSpPr>
          <p:cNvPr id="125" name="Google Shape;125;p25"/>
          <p:cNvSpPr txBox="1"/>
          <p:nvPr>
            <p:ph idx="1" type="body"/>
          </p:nvPr>
        </p:nvSpPr>
        <p:spPr>
          <a:xfrm>
            <a:off x="311700" y="1152475"/>
            <a:ext cx="8520600" cy="10989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fr"/>
              <a:t>Lean is a business philosophy that focuses on maximizing customer value while minimizing waste. It is based on the principles of continuous improvement, respect for people, and a focus on delivering value to the customer.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6"/>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Key Component of Lean</a:t>
            </a:r>
            <a:endParaRPr/>
          </a:p>
        </p:txBody>
      </p:sp>
      <p:sp>
        <p:nvSpPr>
          <p:cNvPr id="131" name="Google Shape;131;p26"/>
          <p:cNvSpPr txBox="1"/>
          <p:nvPr>
            <p:ph idx="1" type="body"/>
          </p:nvPr>
        </p:nvSpPr>
        <p:spPr>
          <a:xfrm>
            <a:off x="311700" y="1152475"/>
            <a:ext cx="8520600" cy="38019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Char char="●"/>
            </a:pPr>
            <a:r>
              <a:rPr b="1" lang="fr"/>
              <a:t>Value stream mapping</a:t>
            </a:r>
            <a:r>
              <a:rPr lang="fr"/>
              <a:t>: Identifying and analyzing the flow of value from the customer's perspective, in order to identify and eliminate waste.</a:t>
            </a:r>
            <a:endParaRPr/>
          </a:p>
          <a:p>
            <a:pPr indent="-298450" lvl="0" marL="457200" rtl="0" algn="l">
              <a:spcBef>
                <a:spcPts val="0"/>
              </a:spcBef>
              <a:spcAft>
                <a:spcPts val="0"/>
              </a:spcAft>
              <a:buClr>
                <a:schemeClr val="dk1"/>
              </a:buClr>
              <a:buSzPts val="1100"/>
              <a:buChar char="●"/>
            </a:pPr>
            <a:r>
              <a:rPr b="1" lang="fr"/>
              <a:t>Continuous improvement</a:t>
            </a:r>
            <a:r>
              <a:rPr lang="fr"/>
              <a:t>: Regularly identifying and addressing opportunities for improvement in order to increase efficiency and reduce waste.</a:t>
            </a:r>
            <a:endParaRPr/>
          </a:p>
          <a:p>
            <a:pPr indent="-298450" lvl="0" marL="457200" rtl="0" algn="l">
              <a:spcBef>
                <a:spcPts val="0"/>
              </a:spcBef>
              <a:spcAft>
                <a:spcPts val="0"/>
              </a:spcAft>
              <a:buClr>
                <a:schemeClr val="dk1"/>
              </a:buClr>
              <a:buSzPts val="1100"/>
              <a:buChar char="●"/>
            </a:pPr>
            <a:r>
              <a:rPr b="1" lang="fr"/>
              <a:t>Respect for people</a:t>
            </a:r>
            <a:r>
              <a:rPr lang="fr"/>
              <a:t>: Recognizing the value and potential of all team members and creating an environment that empowers and enables them to contribute.</a:t>
            </a:r>
            <a:endParaRPr/>
          </a:p>
          <a:p>
            <a:pPr indent="-298450" lvl="0" marL="457200" rtl="0" algn="l">
              <a:spcBef>
                <a:spcPts val="0"/>
              </a:spcBef>
              <a:spcAft>
                <a:spcPts val="0"/>
              </a:spcAft>
              <a:buClr>
                <a:schemeClr val="dk1"/>
              </a:buClr>
              <a:buSzPts val="1100"/>
              <a:buChar char="●"/>
            </a:pPr>
            <a:r>
              <a:rPr b="1" lang="fr"/>
              <a:t>Customer focus</a:t>
            </a:r>
            <a:r>
              <a:rPr lang="fr"/>
              <a:t>: Focusing on delivering value to the customer, and using customer feedback to guide decision-making and improvement efforts.</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7"/>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Lean Principles	</a:t>
            </a:r>
            <a:endParaRPr/>
          </a:p>
        </p:txBody>
      </p:sp>
      <p:sp>
        <p:nvSpPr>
          <p:cNvPr id="137" name="Google Shape;137;p27"/>
          <p:cNvSpPr txBox="1"/>
          <p:nvPr>
            <p:ph idx="1" type="body"/>
          </p:nvPr>
        </p:nvSpPr>
        <p:spPr>
          <a:xfrm>
            <a:off x="311700" y="1152475"/>
            <a:ext cx="8520600" cy="2824500"/>
          </a:xfrm>
          <a:prstGeom prst="rect">
            <a:avLst/>
          </a:prstGeom>
        </p:spPr>
        <p:txBody>
          <a:bodyPr anchorCtr="0" anchor="t" bIns="91425" lIns="91425" spcFirstLastPara="1" rIns="91425" wrap="square" tIns="91425">
            <a:spAutoFit/>
          </a:bodyPr>
          <a:lstStyle/>
          <a:p>
            <a:pPr indent="0" lvl="0" marL="0" rtl="0" algn="l">
              <a:spcBef>
                <a:spcPts val="1200"/>
              </a:spcBef>
              <a:spcAft>
                <a:spcPts val="0"/>
              </a:spcAft>
              <a:buNone/>
            </a:pPr>
            <a:r>
              <a:rPr lang="fr"/>
              <a:t>Define value from the </a:t>
            </a:r>
            <a:r>
              <a:rPr b="1" lang="fr"/>
              <a:t>customer's perspective</a:t>
            </a:r>
            <a:endParaRPr b="1"/>
          </a:p>
          <a:p>
            <a:pPr indent="0" lvl="0" marL="0" rtl="0" algn="l">
              <a:spcBef>
                <a:spcPts val="1200"/>
              </a:spcBef>
              <a:spcAft>
                <a:spcPts val="0"/>
              </a:spcAft>
              <a:buNone/>
            </a:pPr>
            <a:r>
              <a:rPr lang="fr"/>
              <a:t>Identify and eliminate </a:t>
            </a:r>
            <a:r>
              <a:rPr b="1" lang="fr"/>
              <a:t>waste</a:t>
            </a:r>
            <a:endParaRPr b="1"/>
          </a:p>
          <a:p>
            <a:pPr indent="0" lvl="0" marL="0" rtl="0" algn="l">
              <a:spcBef>
                <a:spcPts val="1200"/>
              </a:spcBef>
              <a:spcAft>
                <a:spcPts val="0"/>
              </a:spcAft>
              <a:buNone/>
            </a:pPr>
            <a:r>
              <a:rPr lang="fr"/>
              <a:t>Create </a:t>
            </a:r>
            <a:r>
              <a:rPr b="1" lang="fr"/>
              <a:t>flow</a:t>
            </a:r>
            <a:r>
              <a:rPr lang="fr"/>
              <a:t> in the value </a:t>
            </a:r>
            <a:r>
              <a:rPr b="1" lang="fr"/>
              <a:t>stream</a:t>
            </a:r>
            <a:endParaRPr b="1"/>
          </a:p>
          <a:p>
            <a:pPr indent="0" lvl="0" marL="0" rtl="0" algn="l">
              <a:spcBef>
                <a:spcPts val="1200"/>
              </a:spcBef>
              <a:spcAft>
                <a:spcPts val="0"/>
              </a:spcAft>
              <a:buNone/>
            </a:pPr>
            <a:r>
              <a:rPr lang="fr"/>
              <a:t>Use</a:t>
            </a:r>
            <a:r>
              <a:rPr b="1" lang="fr"/>
              <a:t> pull systems</a:t>
            </a:r>
            <a:r>
              <a:rPr lang="fr"/>
              <a:t> to trigger production</a:t>
            </a:r>
            <a:endParaRPr/>
          </a:p>
          <a:p>
            <a:pPr indent="0" lvl="0" marL="0" rtl="0" algn="l">
              <a:spcBef>
                <a:spcPts val="1200"/>
              </a:spcBef>
              <a:spcAft>
                <a:spcPts val="0"/>
              </a:spcAft>
              <a:buNone/>
            </a:pPr>
            <a:r>
              <a:rPr lang="fr"/>
              <a:t>Strive for </a:t>
            </a:r>
            <a:r>
              <a:rPr b="1" lang="fr"/>
              <a:t>perfection</a:t>
            </a:r>
            <a:endParaRPr b="1"/>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8"/>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Lean Tools and Techniques</a:t>
            </a:r>
            <a:endParaRPr/>
          </a:p>
        </p:txBody>
      </p:sp>
      <p:sp>
        <p:nvSpPr>
          <p:cNvPr id="143" name="Google Shape;143;p28"/>
          <p:cNvSpPr txBox="1"/>
          <p:nvPr>
            <p:ph idx="1" type="body"/>
          </p:nvPr>
        </p:nvSpPr>
        <p:spPr>
          <a:xfrm>
            <a:off x="311700" y="1152475"/>
            <a:ext cx="8520600" cy="31647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Char char="●"/>
            </a:pPr>
            <a:r>
              <a:rPr lang="fr"/>
              <a:t>Value stream mapping</a:t>
            </a:r>
            <a:endParaRPr/>
          </a:p>
          <a:p>
            <a:pPr indent="-298450" lvl="0" marL="457200" rtl="0" algn="l">
              <a:spcBef>
                <a:spcPts val="0"/>
              </a:spcBef>
              <a:spcAft>
                <a:spcPts val="0"/>
              </a:spcAft>
              <a:buClr>
                <a:schemeClr val="dk1"/>
              </a:buClr>
              <a:buSzPts val="1100"/>
              <a:buChar char="●"/>
            </a:pPr>
            <a:r>
              <a:rPr lang="fr"/>
              <a:t>Six Sigma</a:t>
            </a:r>
            <a:endParaRPr/>
          </a:p>
          <a:p>
            <a:pPr indent="-298450" lvl="0" marL="457200" rtl="0" algn="l">
              <a:spcBef>
                <a:spcPts val="0"/>
              </a:spcBef>
              <a:spcAft>
                <a:spcPts val="0"/>
              </a:spcAft>
              <a:buClr>
                <a:schemeClr val="dk1"/>
              </a:buClr>
              <a:buSzPts val="1100"/>
              <a:buChar char="●"/>
            </a:pPr>
            <a:r>
              <a:rPr b="1" lang="fr"/>
              <a:t>Kanban</a:t>
            </a:r>
            <a:endParaRPr b="1"/>
          </a:p>
          <a:p>
            <a:pPr indent="-298450" lvl="0" marL="457200" rtl="0" algn="l">
              <a:spcBef>
                <a:spcPts val="0"/>
              </a:spcBef>
              <a:spcAft>
                <a:spcPts val="0"/>
              </a:spcAft>
              <a:buClr>
                <a:schemeClr val="dk1"/>
              </a:buClr>
              <a:buSzPts val="1100"/>
              <a:buChar char="●"/>
            </a:pPr>
            <a:r>
              <a:rPr lang="fr"/>
              <a:t>5S</a:t>
            </a:r>
            <a:endParaRPr/>
          </a:p>
          <a:p>
            <a:pPr indent="-298450" lvl="0" marL="457200" rtl="0" algn="l">
              <a:spcBef>
                <a:spcPts val="0"/>
              </a:spcBef>
              <a:spcAft>
                <a:spcPts val="0"/>
              </a:spcAft>
              <a:buClr>
                <a:schemeClr val="dk1"/>
              </a:buClr>
              <a:buSzPts val="1100"/>
              <a:buChar char="●"/>
            </a:pPr>
            <a:r>
              <a:rPr lang="fr"/>
              <a:t>Standardized work</a:t>
            </a:r>
            <a:endParaRPr/>
          </a:p>
          <a:p>
            <a:pPr indent="-298450" lvl="0" marL="457200" rtl="0" algn="l">
              <a:spcBef>
                <a:spcPts val="0"/>
              </a:spcBef>
              <a:spcAft>
                <a:spcPts val="0"/>
              </a:spcAft>
              <a:buClr>
                <a:schemeClr val="dk1"/>
              </a:buClr>
              <a:buSzPts val="1100"/>
              <a:buChar char="●"/>
            </a:pPr>
            <a:r>
              <a:rPr lang="fr"/>
              <a:t>Visual management</a:t>
            </a:r>
            <a:endParaRPr/>
          </a:p>
          <a:p>
            <a:pPr indent="-298450" lvl="0" marL="457200" rtl="0" algn="l">
              <a:spcBef>
                <a:spcPts val="0"/>
              </a:spcBef>
              <a:spcAft>
                <a:spcPts val="0"/>
              </a:spcAft>
              <a:buClr>
                <a:schemeClr val="dk1"/>
              </a:buClr>
              <a:buSzPts val="1100"/>
              <a:buChar char="●"/>
            </a:pPr>
            <a:r>
              <a:rPr lang="fr"/>
              <a:t>Root cause analysis</a:t>
            </a:r>
            <a:endParaRPr/>
          </a:p>
          <a:p>
            <a:pPr indent="-298450" lvl="0" marL="457200" rtl="0" algn="l">
              <a:spcBef>
                <a:spcPts val="0"/>
              </a:spcBef>
              <a:spcAft>
                <a:spcPts val="0"/>
              </a:spcAft>
              <a:buClr>
                <a:schemeClr val="dk1"/>
              </a:buClr>
              <a:buSzPts val="1100"/>
              <a:buChar char="●"/>
            </a:pPr>
            <a:r>
              <a:rPr lang="fr"/>
              <a:t>Kaizen events</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9"/>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Scaling Scrum</a:t>
            </a:r>
            <a:endParaRPr/>
          </a:p>
        </p:txBody>
      </p:sp>
      <p:sp>
        <p:nvSpPr>
          <p:cNvPr id="149" name="Google Shape;149;p29"/>
          <p:cNvSpPr txBox="1"/>
          <p:nvPr>
            <p:ph idx="1" type="body"/>
          </p:nvPr>
        </p:nvSpPr>
        <p:spPr>
          <a:xfrm>
            <a:off x="311700" y="1152475"/>
            <a:ext cx="8520600" cy="780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fr"/>
              <a:t>Scaling SCRUM is the process of adapting the SCRUM framework to meet the needs of large, complex projects or organizations.</a:t>
            </a:r>
            <a:endParaRPr/>
          </a:p>
        </p:txBody>
      </p:sp>
      <p:pic>
        <p:nvPicPr>
          <p:cNvPr id="150" name="Google Shape;150;p29"/>
          <p:cNvPicPr preferRelativeResize="0"/>
          <p:nvPr/>
        </p:nvPicPr>
        <p:blipFill>
          <a:blip r:embed="rId3">
            <a:alphaModFix/>
          </a:blip>
          <a:stretch>
            <a:fillRect/>
          </a:stretch>
        </p:blipFill>
        <p:spPr>
          <a:xfrm>
            <a:off x="1988950" y="2067550"/>
            <a:ext cx="5166090" cy="29059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0"/>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How is SCRUM generally scaled ?</a:t>
            </a:r>
            <a:endParaRPr/>
          </a:p>
        </p:txBody>
      </p:sp>
      <p:sp>
        <p:nvSpPr>
          <p:cNvPr id="156" name="Google Shape;156;p30"/>
          <p:cNvSpPr txBox="1"/>
          <p:nvPr>
            <p:ph idx="1" type="body"/>
          </p:nvPr>
        </p:nvSpPr>
        <p:spPr>
          <a:xfrm>
            <a:off x="311700" y="1152475"/>
            <a:ext cx="8520600" cy="34833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Char char="●"/>
            </a:pPr>
            <a:r>
              <a:rPr lang="fr"/>
              <a:t>Multiple SCRUM teams: Using multiple SCRUM teams to work on different parts of a large project or product.</a:t>
            </a:r>
            <a:endParaRPr/>
          </a:p>
          <a:p>
            <a:pPr indent="-298450" lvl="0" marL="457200" rtl="0" algn="l">
              <a:spcBef>
                <a:spcPts val="0"/>
              </a:spcBef>
              <a:spcAft>
                <a:spcPts val="0"/>
              </a:spcAft>
              <a:buClr>
                <a:schemeClr val="dk1"/>
              </a:buClr>
              <a:buSzPts val="1100"/>
              <a:buChar char="●"/>
            </a:pPr>
            <a:r>
              <a:rPr lang="fr"/>
              <a:t>SCRUM of SCRUMs: Using a SCRUM-like process to coordinate and align the work of multiple SCRUM teams.</a:t>
            </a:r>
            <a:endParaRPr/>
          </a:p>
          <a:p>
            <a:pPr indent="-298450" lvl="0" marL="457200" rtl="0" algn="l">
              <a:spcBef>
                <a:spcPts val="0"/>
              </a:spcBef>
              <a:spcAft>
                <a:spcPts val="0"/>
              </a:spcAft>
              <a:buClr>
                <a:schemeClr val="dk1"/>
              </a:buClr>
              <a:buSzPts val="1100"/>
              <a:buChar char="●"/>
            </a:pPr>
            <a:r>
              <a:rPr lang="fr"/>
              <a:t>Product owners and product backlogs: Using a dedicated product owner and product backlog to represent the needs and priorities of the organization as a whole.</a:t>
            </a:r>
            <a:endParaRPr/>
          </a:p>
          <a:p>
            <a:pPr indent="-298450" lvl="0" marL="457200" rtl="0" algn="l">
              <a:spcBef>
                <a:spcPts val="0"/>
              </a:spcBef>
              <a:spcAft>
                <a:spcPts val="0"/>
              </a:spcAft>
              <a:buClr>
                <a:schemeClr val="dk1"/>
              </a:buClr>
              <a:buSzPts val="1100"/>
              <a:buChar char="●"/>
            </a:pPr>
            <a:r>
              <a:rPr lang="fr"/>
              <a:t>Release and sprint planning: Planning releases and sprints at the organizational level, rather than at the team level.</a:t>
            </a:r>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1"/>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Several Scaling SCRUM Frameworks</a:t>
            </a:r>
            <a:endParaRPr/>
          </a:p>
        </p:txBody>
      </p:sp>
      <p:sp>
        <p:nvSpPr>
          <p:cNvPr id="162" name="Google Shape;162;p31"/>
          <p:cNvSpPr txBox="1"/>
          <p:nvPr>
            <p:ph idx="1" type="body"/>
          </p:nvPr>
        </p:nvSpPr>
        <p:spPr>
          <a:xfrm>
            <a:off x="311700" y="1152475"/>
            <a:ext cx="8520600" cy="18903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Char char="●"/>
            </a:pPr>
            <a:r>
              <a:rPr lang="fr"/>
              <a:t>Large-Scale Scrum (LeSS)</a:t>
            </a:r>
            <a:endParaRPr/>
          </a:p>
          <a:p>
            <a:pPr indent="-298450" lvl="0" marL="457200" rtl="0" algn="l">
              <a:spcBef>
                <a:spcPts val="0"/>
              </a:spcBef>
              <a:spcAft>
                <a:spcPts val="0"/>
              </a:spcAft>
              <a:buClr>
                <a:schemeClr val="dk1"/>
              </a:buClr>
              <a:buSzPts val="1100"/>
              <a:buChar char="●"/>
            </a:pPr>
            <a:r>
              <a:rPr lang="fr"/>
              <a:t>Scaled Agile Framework (SAFe)</a:t>
            </a:r>
            <a:endParaRPr/>
          </a:p>
          <a:p>
            <a:pPr indent="-298450" lvl="0" marL="457200" rtl="0" algn="l">
              <a:spcBef>
                <a:spcPts val="0"/>
              </a:spcBef>
              <a:spcAft>
                <a:spcPts val="0"/>
              </a:spcAft>
              <a:buClr>
                <a:schemeClr val="dk1"/>
              </a:buClr>
              <a:buSzPts val="1100"/>
              <a:buChar char="●"/>
            </a:pPr>
            <a:r>
              <a:rPr lang="fr"/>
              <a:t>Nexus</a:t>
            </a:r>
            <a:endParaRPr/>
          </a:p>
          <a:p>
            <a:pPr indent="-298450" lvl="0" marL="457200" rtl="0" algn="l">
              <a:spcBef>
                <a:spcPts val="0"/>
              </a:spcBef>
              <a:spcAft>
                <a:spcPts val="0"/>
              </a:spcAft>
              <a:buClr>
                <a:schemeClr val="dk1"/>
              </a:buClr>
              <a:buSzPts val="1100"/>
              <a:buChar char="●"/>
            </a:pPr>
            <a:r>
              <a:rPr lang="fr"/>
              <a:t>Scrum@Scale</a:t>
            </a:r>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2"/>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Exercise (1h30’+) - Groups of 3-5</a:t>
            </a:r>
            <a:endParaRPr/>
          </a:p>
        </p:txBody>
      </p:sp>
      <p:sp>
        <p:nvSpPr>
          <p:cNvPr id="168" name="Google Shape;168;p32"/>
          <p:cNvSpPr txBox="1"/>
          <p:nvPr>
            <p:ph idx="1" type="body"/>
          </p:nvPr>
        </p:nvSpPr>
        <p:spPr>
          <a:xfrm>
            <a:off x="311700" y="1152475"/>
            <a:ext cx="8520600" cy="2989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Write a 5-6 slide presentation about one of the Scaling Scrum Framework.</a:t>
            </a:r>
            <a:endParaRPr/>
          </a:p>
          <a:p>
            <a:pPr indent="0" lvl="0" marL="0" rtl="0" algn="l">
              <a:spcBef>
                <a:spcPts val="1200"/>
              </a:spcBef>
              <a:spcAft>
                <a:spcPts val="0"/>
              </a:spcAft>
              <a:buNone/>
            </a:pPr>
            <a:r>
              <a:rPr lang="fr"/>
              <a:t>Present it to the class.</a:t>
            </a:r>
            <a:endParaRPr/>
          </a:p>
          <a:p>
            <a:pPr indent="0" lvl="0" marL="0" rtl="0" algn="l">
              <a:spcBef>
                <a:spcPts val="1200"/>
              </a:spcBef>
              <a:spcAft>
                <a:spcPts val="0"/>
              </a:spcAft>
              <a:buNone/>
            </a:pPr>
            <a:r>
              <a:rPr lang="fr"/>
              <a:t>Your goal is to make sure they have an understanding of how the framework works.</a:t>
            </a:r>
            <a:endParaRPr/>
          </a:p>
          <a:p>
            <a:pPr indent="0" lvl="0" marL="0" rtl="0" algn="l">
              <a:spcBef>
                <a:spcPts val="1200"/>
              </a:spcBef>
              <a:spcAft>
                <a:spcPts val="0"/>
              </a:spcAft>
              <a:buNone/>
            </a:pPr>
            <a:r>
              <a:rPr lang="fr"/>
              <a:t>If needed, use a whiteboard to outline the workflow.</a:t>
            </a:r>
            <a:endParaRPr/>
          </a:p>
          <a:p>
            <a:pPr indent="0" lvl="0" marL="0" rtl="0" algn="l">
              <a:spcBef>
                <a:spcPts val="1200"/>
              </a:spcBef>
              <a:spcAft>
                <a:spcPts val="1200"/>
              </a:spcAft>
              <a:buNone/>
            </a:pPr>
            <a:r>
              <a:rPr lang="fr"/>
              <a:t>Take some time to research, understand, illustrate, and outline </a:t>
            </a:r>
            <a:r>
              <a:rPr lang="fr"/>
              <a:t>similarities</a:t>
            </a:r>
            <a:r>
              <a:rPr lang="fr"/>
              <a:t> with information you already have.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3"/>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eXtrem Programming</a:t>
            </a:r>
            <a:endParaRPr/>
          </a:p>
        </p:txBody>
      </p:sp>
      <p:sp>
        <p:nvSpPr>
          <p:cNvPr id="174" name="Google Shape;174;p33"/>
          <p:cNvSpPr txBox="1"/>
          <p:nvPr>
            <p:ph idx="1" type="body"/>
          </p:nvPr>
        </p:nvSpPr>
        <p:spPr>
          <a:xfrm>
            <a:off x="311700" y="1152475"/>
            <a:ext cx="8520600" cy="252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Key component :</a:t>
            </a:r>
            <a:endParaRPr/>
          </a:p>
          <a:p>
            <a:pPr indent="-342900" lvl="0" marL="457200" rtl="0" algn="l">
              <a:spcBef>
                <a:spcPts val="1200"/>
              </a:spcBef>
              <a:spcAft>
                <a:spcPts val="0"/>
              </a:spcAft>
              <a:buSzPts val="1800"/>
              <a:buChar char="-"/>
            </a:pPr>
            <a:r>
              <a:rPr lang="fr"/>
              <a:t>Pair Programming</a:t>
            </a:r>
            <a:endParaRPr/>
          </a:p>
          <a:p>
            <a:pPr indent="-342900" lvl="0" marL="457200" rtl="0" algn="l">
              <a:spcBef>
                <a:spcPts val="0"/>
              </a:spcBef>
              <a:spcAft>
                <a:spcPts val="0"/>
              </a:spcAft>
              <a:buSzPts val="1800"/>
              <a:buChar char="-"/>
            </a:pPr>
            <a:r>
              <a:rPr lang="fr"/>
              <a:t>Test-driven development (TDD)</a:t>
            </a:r>
            <a:endParaRPr/>
          </a:p>
          <a:p>
            <a:pPr indent="-342900" lvl="0" marL="457200" rtl="0" algn="l">
              <a:spcBef>
                <a:spcPts val="0"/>
              </a:spcBef>
              <a:spcAft>
                <a:spcPts val="0"/>
              </a:spcAft>
              <a:buSzPts val="1800"/>
              <a:buChar char="-"/>
            </a:pPr>
            <a:r>
              <a:rPr lang="fr"/>
              <a:t>Continuous integration</a:t>
            </a:r>
            <a:endParaRPr/>
          </a:p>
          <a:p>
            <a:pPr indent="-342900" lvl="0" marL="457200" rtl="0" algn="l">
              <a:spcBef>
                <a:spcPts val="0"/>
              </a:spcBef>
              <a:spcAft>
                <a:spcPts val="0"/>
              </a:spcAft>
              <a:buSzPts val="1800"/>
              <a:buChar char="-"/>
            </a:pPr>
            <a:r>
              <a:rPr lang="fr"/>
              <a:t>Continuous delivery</a:t>
            </a:r>
            <a:endParaRPr/>
          </a:p>
          <a:p>
            <a:pPr indent="-342900" lvl="0" marL="457200" rtl="0" algn="l">
              <a:spcBef>
                <a:spcPts val="0"/>
              </a:spcBef>
              <a:spcAft>
                <a:spcPts val="0"/>
              </a:spcAft>
              <a:buSzPts val="1800"/>
              <a:buChar char="-"/>
            </a:pPr>
            <a:r>
              <a:rPr lang="fr"/>
              <a:t>Collective ownership</a:t>
            </a:r>
            <a:endParaRPr/>
          </a:p>
          <a:p>
            <a:pPr indent="-342900" lvl="0" marL="457200" rtl="0" algn="l">
              <a:spcBef>
                <a:spcPts val="0"/>
              </a:spcBef>
              <a:spcAft>
                <a:spcPts val="0"/>
              </a:spcAft>
              <a:buSzPts val="1800"/>
              <a:buChar char="-"/>
            </a:pPr>
            <a:r>
              <a:rPr lang="fr"/>
              <a:t>Customer </a:t>
            </a:r>
            <a:r>
              <a:rPr lang="fr"/>
              <a:t>collaboration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4"/>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Test-driven development</a:t>
            </a:r>
            <a:endParaRPr/>
          </a:p>
        </p:txBody>
      </p:sp>
      <p:sp>
        <p:nvSpPr>
          <p:cNvPr id="180" name="Google Shape;180;p34"/>
          <p:cNvSpPr txBox="1"/>
          <p:nvPr>
            <p:ph idx="1" type="body"/>
          </p:nvPr>
        </p:nvSpPr>
        <p:spPr>
          <a:xfrm>
            <a:off x="311700" y="1152475"/>
            <a:ext cx="8520600" cy="2853600"/>
          </a:xfrm>
          <a:prstGeom prst="rect">
            <a:avLst/>
          </a:prstGeom>
        </p:spPr>
        <p:txBody>
          <a:bodyPr anchorCtr="0" anchor="t" bIns="91425" lIns="91425" spcFirstLastPara="1" rIns="91425" wrap="square" tIns="91425">
            <a:spAutoFit/>
          </a:bodyPr>
          <a:lstStyle/>
          <a:p>
            <a:pPr indent="-292100" lvl="0" marL="457200" rtl="0" algn="l">
              <a:spcBef>
                <a:spcPts val="1200"/>
              </a:spcBef>
              <a:spcAft>
                <a:spcPts val="0"/>
              </a:spcAft>
              <a:buClr>
                <a:schemeClr val="dk1"/>
              </a:buClr>
              <a:buSzPts val="1000"/>
              <a:buChar char="●"/>
            </a:pPr>
            <a:r>
              <a:rPr lang="fr" sz="1700"/>
              <a:t>TDD is a software development methodology in which developers write automated tests for new code </a:t>
            </a:r>
            <a:r>
              <a:rPr b="1" lang="fr" sz="1700"/>
              <a:t>before</a:t>
            </a:r>
            <a:r>
              <a:rPr lang="fr" sz="1700"/>
              <a:t> writing the code itself.</a:t>
            </a:r>
            <a:endParaRPr sz="1700"/>
          </a:p>
          <a:p>
            <a:pPr indent="-292100" lvl="0" marL="457200" rtl="0" algn="l">
              <a:spcBef>
                <a:spcPts val="0"/>
              </a:spcBef>
              <a:spcAft>
                <a:spcPts val="0"/>
              </a:spcAft>
              <a:buClr>
                <a:schemeClr val="dk1"/>
              </a:buClr>
              <a:buSzPts val="1000"/>
              <a:buChar char="●"/>
            </a:pPr>
            <a:r>
              <a:rPr lang="fr" sz="1700"/>
              <a:t>The tests are used to define the desired behavior and requirements for the code, and are run after the code is written to ensure that it is working as expected.</a:t>
            </a:r>
            <a:endParaRPr/>
          </a:p>
          <a:p>
            <a:pPr indent="-292100" lvl="0" marL="457200" rtl="0" algn="l">
              <a:spcBef>
                <a:spcPts val="0"/>
              </a:spcBef>
              <a:spcAft>
                <a:spcPts val="0"/>
              </a:spcAft>
              <a:buClr>
                <a:schemeClr val="dk1"/>
              </a:buClr>
              <a:buSzPts val="1000"/>
              <a:buChar char="●"/>
            </a:pPr>
            <a:r>
              <a:rPr lang="fr" sz="1700"/>
              <a:t>To practice TDD, developers follow a specific process called the "test-driven development cycle," which consists of writing a test, running the test and confirming that it fails, writing the code to make the test pass, running the test again to ensure that it passes with the new code, and refactoring the code as needed.</a:t>
            </a:r>
            <a:endParaRPr sz="17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5"/>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TDD : Example</a:t>
            </a:r>
            <a:endParaRPr/>
          </a:p>
        </p:txBody>
      </p:sp>
      <p:sp>
        <p:nvSpPr>
          <p:cNvPr id="186" name="Google Shape;186;p35"/>
          <p:cNvSpPr txBox="1"/>
          <p:nvPr>
            <p:ph idx="1" type="body"/>
          </p:nvPr>
        </p:nvSpPr>
        <p:spPr>
          <a:xfrm>
            <a:off x="311700" y="1152475"/>
            <a:ext cx="8520600" cy="1571400"/>
          </a:xfrm>
          <a:prstGeom prst="rect">
            <a:avLst/>
          </a:prstGeom>
        </p:spPr>
        <p:txBody>
          <a:bodyPr anchorCtr="0" anchor="t" bIns="91425" lIns="91425" spcFirstLastPara="1" rIns="91425" wrap="square" tIns="91425">
            <a:spAutoFit/>
          </a:bodyPr>
          <a:lstStyle/>
          <a:p>
            <a:pPr indent="0" lvl="0" marL="0" rtl="0" algn="l">
              <a:spcBef>
                <a:spcPts val="1200"/>
              </a:spcBef>
              <a:spcAft>
                <a:spcPts val="0"/>
              </a:spcAft>
              <a:buClr>
                <a:schemeClr val="dk1"/>
              </a:buClr>
              <a:buSzPts val="1100"/>
              <a:buFont typeface="Arial"/>
              <a:buNone/>
            </a:pPr>
            <a:r>
              <a:rPr lang="fr"/>
              <a:t>Let's say we are developing a new feature for a website that allows users to search for products. The feature should search for products based on keywords and return a list of matching products.</a:t>
            </a:r>
            <a:endParaRPr/>
          </a:p>
          <a:p>
            <a:pPr indent="0" lvl="0" marL="0" rtl="0" algn="l">
              <a:spcBef>
                <a:spcPts val="1200"/>
              </a:spcBef>
              <a:spcAft>
                <a:spcPts val="1200"/>
              </a:spcAft>
              <a:buNone/>
            </a:pPr>
            <a:r>
              <a:rPr lang="fr"/>
              <a:t>Step 1: Write a test that defines the desired behavior or functionality of the code.</a:t>
            </a:r>
            <a:endParaRPr/>
          </a:p>
        </p:txBody>
      </p:sp>
      <p:pic>
        <p:nvPicPr>
          <p:cNvPr id="187" name="Google Shape;187;p35"/>
          <p:cNvPicPr preferRelativeResize="0"/>
          <p:nvPr/>
        </p:nvPicPr>
        <p:blipFill>
          <a:blip r:embed="rId3">
            <a:alphaModFix/>
          </a:blip>
          <a:stretch>
            <a:fillRect/>
          </a:stretch>
        </p:blipFill>
        <p:spPr>
          <a:xfrm>
            <a:off x="2235625" y="2723875"/>
            <a:ext cx="4672756" cy="2114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6"/>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TDD : Example (2)</a:t>
            </a:r>
            <a:endParaRPr/>
          </a:p>
        </p:txBody>
      </p:sp>
      <p:sp>
        <p:nvSpPr>
          <p:cNvPr id="193" name="Google Shape;193;p36"/>
          <p:cNvSpPr txBox="1"/>
          <p:nvPr>
            <p:ph idx="1" type="body"/>
          </p:nvPr>
        </p:nvSpPr>
        <p:spPr>
          <a:xfrm>
            <a:off x="311700" y="1152475"/>
            <a:ext cx="8520600" cy="2044200"/>
          </a:xfrm>
          <a:prstGeom prst="rect">
            <a:avLst/>
          </a:prstGeom>
        </p:spPr>
        <p:txBody>
          <a:bodyPr anchorCtr="0" anchor="t" bIns="91425" lIns="91425" spcFirstLastPara="1" rIns="91425" wrap="square" tIns="91425">
            <a:spAutoFit/>
          </a:bodyPr>
          <a:lstStyle/>
          <a:p>
            <a:pPr indent="0" lvl="0" marL="0" rtl="0" algn="l">
              <a:spcBef>
                <a:spcPts val="1200"/>
              </a:spcBef>
              <a:spcAft>
                <a:spcPts val="0"/>
              </a:spcAft>
              <a:buClr>
                <a:schemeClr val="dk1"/>
              </a:buClr>
              <a:buSzPts val="1100"/>
              <a:buFont typeface="Arial"/>
              <a:buNone/>
            </a:pPr>
            <a:r>
              <a:rPr lang="fr"/>
              <a:t>Step 2: Run the test and confirm that it fails, since the code has not yet been written.</a:t>
            </a:r>
            <a:endParaRPr/>
          </a:p>
          <a:p>
            <a:pPr indent="0" lvl="0" marL="0" rtl="0" algn="l">
              <a:spcBef>
                <a:spcPts val="1200"/>
              </a:spcBef>
              <a:spcAft>
                <a:spcPts val="0"/>
              </a:spcAft>
              <a:buClr>
                <a:schemeClr val="dk1"/>
              </a:buClr>
              <a:buSzPts val="1100"/>
              <a:buFont typeface="Arial"/>
              <a:buNone/>
            </a:pPr>
            <a:r>
              <a:rPr lang="fr"/>
              <a:t>Since we have not yet written the code for the search_products function, running the test at this point should result in an error.</a:t>
            </a:r>
            <a:endParaRPr/>
          </a:p>
          <a:p>
            <a:pPr indent="0" lvl="0" marL="0" rtl="0" algn="l">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7"/>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TDD : Example (3)</a:t>
            </a:r>
            <a:endParaRPr/>
          </a:p>
        </p:txBody>
      </p:sp>
      <p:sp>
        <p:nvSpPr>
          <p:cNvPr id="199" name="Google Shape;199;p37"/>
          <p:cNvSpPr txBox="1"/>
          <p:nvPr>
            <p:ph idx="1" type="body"/>
          </p:nvPr>
        </p:nvSpPr>
        <p:spPr>
          <a:xfrm>
            <a:off x="311700" y="1152475"/>
            <a:ext cx="8520600" cy="2044200"/>
          </a:xfrm>
          <a:prstGeom prst="rect">
            <a:avLst/>
          </a:prstGeom>
        </p:spPr>
        <p:txBody>
          <a:bodyPr anchorCtr="0" anchor="t" bIns="91425" lIns="91425" spcFirstLastPara="1" rIns="91425" wrap="square" tIns="91425">
            <a:spAutoFit/>
          </a:bodyPr>
          <a:lstStyle/>
          <a:p>
            <a:pPr indent="0" lvl="0" marL="0" rtl="0" algn="l">
              <a:spcBef>
                <a:spcPts val="1200"/>
              </a:spcBef>
              <a:spcAft>
                <a:spcPts val="0"/>
              </a:spcAft>
              <a:buClr>
                <a:schemeClr val="dk1"/>
              </a:buClr>
              <a:buSzPts val="1100"/>
              <a:buFont typeface="Arial"/>
              <a:buNone/>
            </a:pPr>
            <a:r>
              <a:rPr lang="fr"/>
              <a:t>Step 3: Write the minimum amount of code necessary to make the test pass.</a:t>
            </a:r>
            <a:endParaRPr/>
          </a:p>
          <a:p>
            <a:pPr indent="0" lvl="0" marL="0" rtl="0" algn="l">
              <a:spcBef>
                <a:spcPts val="1200"/>
              </a:spcBef>
              <a:spcAft>
                <a:spcPts val="0"/>
              </a:spcAft>
              <a:buClr>
                <a:schemeClr val="dk1"/>
              </a:buClr>
              <a:buSzPts val="1100"/>
              <a:buFont typeface="Arial"/>
              <a:buNone/>
            </a:pPr>
            <a:r>
              <a:rPr lang="fr"/>
              <a:t>To make the test pass, we need to write the search_products function. The function should search for products with the given keyword and return a list of matching products. The code might look something like this:</a:t>
            </a:r>
            <a:endParaRPr/>
          </a:p>
          <a:p>
            <a:pPr indent="0" lvl="0" marL="0" rtl="0" algn="l">
              <a:spcBef>
                <a:spcPts val="1200"/>
              </a:spcBef>
              <a:spcAft>
                <a:spcPts val="1200"/>
              </a:spcAft>
              <a:buNone/>
            </a:pPr>
            <a:r>
              <a:t/>
            </a:r>
            <a:endParaRPr/>
          </a:p>
        </p:txBody>
      </p:sp>
      <p:pic>
        <p:nvPicPr>
          <p:cNvPr id="200" name="Google Shape;200;p37"/>
          <p:cNvPicPr preferRelativeResize="0"/>
          <p:nvPr/>
        </p:nvPicPr>
        <p:blipFill>
          <a:blip r:embed="rId3">
            <a:alphaModFix/>
          </a:blip>
          <a:stretch>
            <a:fillRect/>
          </a:stretch>
        </p:blipFill>
        <p:spPr>
          <a:xfrm>
            <a:off x="373988" y="3040750"/>
            <a:ext cx="8396016" cy="16420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8"/>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TDD : Example (4)</a:t>
            </a:r>
            <a:endParaRPr/>
          </a:p>
        </p:txBody>
      </p:sp>
      <p:sp>
        <p:nvSpPr>
          <p:cNvPr id="206" name="Google Shape;206;p38"/>
          <p:cNvSpPr txBox="1"/>
          <p:nvPr>
            <p:ph idx="1" type="body"/>
          </p:nvPr>
        </p:nvSpPr>
        <p:spPr>
          <a:xfrm>
            <a:off x="311700" y="1152475"/>
            <a:ext cx="8520600" cy="3945000"/>
          </a:xfrm>
          <a:prstGeom prst="rect">
            <a:avLst/>
          </a:prstGeom>
        </p:spPr>
        <p:txBody>
          <a:bodyPr anchorCtr="0" anchor="t" bIns="91425" lIns="91425" spcFirstLastPara="1" rIns="91425" wrap="square" tIns="91425">
            <a:spAutoFit/>
          </a:bodyPr>
          <a:lstStyle/>
          <a:p>
            <a:pPr indent="0" lvl="0" marL="0" rtl="0" algn="l">
              <a:spcBef>
                <a:spcPts val="1200"/>
              </a:spcBef>
              <a:spcAft>
                <a:spcPts val="0"/>
              </a:spcAft>
              <a:buClr>
                <a:schemeClr val="dk1"/>
              </a:buClr>
              <a:buSzPts val="1100"/>
              <a:buFont typeface="Arial"/>
              <a:buNone/>
            </a:pPr>
            <a:r>
              <a:rPr lang="fr"/>
              <a:t>Step 4: Run the test again to ensure that it passes with the new code.</a:t>
            </a:r>
            <a:endParaRPr/>
          </a:p>
          <a:p>
            <a:pPr indent="0" lvl="0" marL="0" rtl="0" algn="l">
              <a:spcBef>
                <a:spcPts val="1200"/>
              </a:spcBef>
              <a:spcAft>
                <a:spcPts val="0"/>
              </a:spcAft>
              <a:buClr>
                <a:schemeClr val="dk1"/>
              </a:buClr>
              <a:buSzPts val="1100"/>
              <a:buFont typeface="Arial"/>
              <a:buNone/>
            </a:pPr>
            <a:r>
              <a:rPr lang="fr"/>
              <a:t>Now that we have written the search_products function, running the test again should result in the test passing.</a:t>
            </a:r>
            <a:endParaRPr/>
          </a:p>
          <a:p>
            <a:pPr indent="0" lvl="0" marL="0" rtl="0" algn="l">
              <a:spcBef>
                <a:spcPts val="1200"/>
              </a:spcBef>
              <a:spcAft>
                <a:spcPts val="0"/>
              </a:spcAft>
              <a:buClr>
                <a:schemeClr val="dk1"/>
              </a:buClr>
              <a:buSzPts val="1100"/>
              <a:buFont typeface="Arial"/>
              <a:buNone/>
            </a:pPr>
            <a:r>
              <a:rPr lang="fr"/>
              <a:t>Step 5: Refactor the code as needed to improve its design or performance, while ensuring that the test continues to pass.</a:t>
            </a:r>
            <a:endParaRPr/>
          </a:p>
          <a:p>
            <a:pPr indent="0" lvl="0" marL="0" rtl="0" algn="l">
              <a:spcBef>
                <a:spcPts val="1200"/>
              </a:spcBef>
              <a:spcAft>
                <a:spcPts val="0"/>
              </a:spcAft>
              <a:buClr>
                <a:schemeClr val="dk1"/>
              </a:buClr>
              <a:buSzPts val="1100"/>
              <a:buFont typeface="Arial"/>
              <a:buNone/>
            </a:pPr>
            <a:r>
              <a:rPr lang="fr"/>
              <a:t>If we want to further improve the search_products function, we might refactor the code to optimize the search algorithm or add additional functionality. We should ensure that the test continues to pass after any refactoring to ensure that the desired behavior and requirements are still being met.</a:t>
            </a:r>
            <a:endParaRPr/>
          </a:p>
          <a:p>
            <a:pPr indent="0" lvl="0" marL="0" rtl="0" algn="l">
              <a:spcBef>
                <a:spcPts val="120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9"/>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TDD Exercise (30’+)</a:t>
            </a:r>
            <a:endParaRPr/>
          </a:p>
        </p:txBody>
      </p:sp>
      <p:sp>
        <p:nvSpPr>
          <p:cNvPr id="212" name="Google Shape;212;p39"/>
          <p:cNvSpPr txBox="1"/>
          <p:nvPr>
            <p:ph idx="1" type="body"/>
          </p:nvPr>
        </p:nvSpPr>
        <p:spPr>
          <a:xfrm>
            <a:off x="311700" y="1152475"/>
            <a:ext cx="8520600" cy="172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Take 1 to 3 user stories in your product backlog, and write the algorithmic version of the test for it (depending on complexity)</a:t>
            </a:r>
            <a:endParaRPr/>
          </a:p>
          <a:p>
            <a:pPr indent="0" lvl="0" marL="0" rtl="0" algn="l">
              <a:spcBef>
                <a:spcPts val="1200"/>
              </a:spcBef>
              <a:spcAft>
                <a:spcPts val="0"/>
              </a:spcAft>
              <a:buNone/>
            </a:pPr>
            <a:r>
              <a:rPr lang="fr"/>
              <a:t>Then write the code to answer the test.</a:t>
            </a:r>
            <a:endParaRPr/>
          </a:p>
          <a:p>
            <a:pPr indent="0" lvl="0" marL="0" rtl="0" algn="l">
              <a:spcBef>
                <a:spcPts val="1200"/>
              </a:spcBef>
              <a:spcAft>
                <a:spcPts val="1200"/>
              </a:spcAft>
              <a:buNone/>
            </a:pPr>
            <a:r>
              <a:rPr lang="fr"/>
              <a:t>If needed, break down the US in smaller chunks of code.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0"/>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Continuous Integration (CI)</a:t>
            </a:r>
            <a:endParaRPr/>
          </a:p>
        </p:txBody>
      </p:sp>
      <p:sp>
        <p:nvSpPr>
          <p:cNvPr id="218" name="Google Shape;218;p40"/>
          <p:cNvSpPr txBox="1"/>
          <p:nvPr>
            <p:ph idx="1" type="body"/>
          </p:nvPr>
        </p:nvSpPr>
        <p:spPr>
          <a:xfrm>
            <a:off x="311700" y="1152475"/>
            <a:ext cx="8520600" cy="14175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fr"/>
              <a:t>software development practice in which developers integrate code changes into a shared repository frequently, typically several times a day</a:t>
            </a:r>
            <a:endParaRPr/>
          </a:p>
          <a:p>
            <a:pPr indent="-342900" lvl="0" marL="457200" rtl="0" algn="l">
              <a:spcBef>
                <a:spcPts val="0"/>
              </a:spcBef>
              <a:spcAft>
                <a:spcPts val="0"/>
              </a:spcAft>
              <a:buSzPts val="1800"/>
              <a:buChar char="●"/>
            </a:pPr>
            <a:r>
              <a:rPr lang="fr"/>
              <a:t>detect and resolve conflicts early</a:t>
            </a:r>
            <a:endParaRPr/>
          </a:p>
          <a:p>
            <a:pPr indent="-342900" lvl="0" marL="457200" rtl="0" algn="l">
              <a:spcBef>
                <a:spcPts val="0"/>
              </a:spcBef>
              <a:spcAft>
                <a:spcPts val="0"/>
              </a:spcAft>
              <a:buSzPts val="1800"/>
              <a:buChar char="●"/>
            </a:pPr>
            <a:r>
              <a:rPr lang="fr"/>
              <a:t>ensure that the codebase is always in a stable and deployable state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1"/>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Benefit of CI</a:t>
            </a:r>
            <a:endParaRPr/>
          </a:p>
        </p:txBody>
      </p:sp>
      <p:sp>
        <p:nvSpPr>
          <p:cNvPr id="224" name="Google Shape;224;p41"/>
          <p:cNvSpPr txBox="1"/>
          <p:nvPr>
            <p:ph idx="1" type="body"/>
          </p:nvPr>
        </p:nvSpPr>
        <p:spPr>
          <a:xfrm>
            <a:off x="311700" y="1152475"/>
            <a:ext cx="8520600" cy="3983400"/>
          </a:xfrm>
          <a:prstGeom prst="rect">
            <a:avLst/>
          </a:prstGeom>
        </p:spPr>
        <p:txBody>
          <a:bodyPr anchorCtr="0" anchor="t" bIns="91425" lIns="91425" spcFirstLastPara="1" rIns="91425" wrap="square" tIns="91425">
            <a:spAutoFit/>
          </a:bodyPr>
          <a:lstStyle/>
          <a:p>
            <a:pPr indent="-285750" lvl="0" marL="457200" rtl="0" algn="l">
              <a:spcBef>
                <a:spcPts val="1200"/>
              </a:spcBef>
              <a:spcAft>
                <a:spcPts val="0"/>
              </a:spcAft>
              <a:buClr>
                <a:schemeClr val="dk1"/>
              </a:buClr>
              <a:buSzPts val="900"/>
              <a:buChar char="●"/>
            </a:pPr>
            <a:r>
              <a:rPr b="1" lang="fr" sz="1600"/>
              <a:t>Improved quality and reliability of software</a:t>
            </a:r>
            <a:r>
              <a:rPr lang="fr" sz="1600"/>
              <a:t>: By integrating code changes frequently, developers can catch and fix defects early on, which can help to reduce the number of bugs in the codebase and improve the overall quality of the software.</a:t>
            </a:r>
            <a:endParaRPr sz="1600"/>
          </a:p>
          <a:p>
            <a:pPr indent="-285750" lvl="0" marL="457200" rtl="0" algn="l">
              <a:spcBef>
                <a:spcPts val="0"/>
              </a:spcBef>
              <a:spcAft>
                <a:spcPts val="0"/>
              </a:spcAft>
              <a:buClr>
                <a:schemeClr val="dk1"/>
              </a:buClr>
              <a:buSzPts val="900"/>
              <a:buChar char="●"/>
            </a:pPr>
            <a:r>
              <a:rPr b="1" lang="fr" sz="1600"/>
              <a:t>Faster delivery of new features</a:t>
            </a:r>
            <a:r>
              <a:rPr lang="fr" sz="1600"/>
              <a:t>: By integrating code changes frequently, developers can deploy new features more quickly, which can help to increase the speed at which new functionality is delivered to users.</a:t>
            </a:r>
            <a:endParaRPr sz="1600"/>
          </a:p>
          <a:p>
            <a:pPr indent="-285750" lvl="0" marL="457200" rtl="0" algn="l">
              <a:spcBef>
                <a:spcPts val="0"/>
              </a:spcBef>
              <a:spcAft>
                <a:spcPts val="0"/>
              </a:spcAft>
              <a:buClr>
                <a:schemeClr val="dk1"/>
              </a:buClr>
              <a:buSzPts val="900"/>
              <a:buChar char="●"/>
            </a:pPr>
            <a:r>
              <a:rPr b="1" lang="fr" sz="1600"/>
              <a:t>Increased collaboration and communication within the team</a:t>
            </a:r>
            <a:r>
              <a:rPr lang="fr" sz="1600"/>
              <a:t>: Continuous integration encourages developers to work closely together and communicate regularly, which can help to improve collaboration and coordination within the team.</a:t>
            </a:r>
            <a:endParaRPr sz="1600"/>
          </a:p>
          <a:p>
            <a:pPr indent="-285750" lvl="0" marL="457200" rtl="0" algn="l">
              <a:spcBef>
                <a:spcPts val="0"/>
              </a:spcBef>
              <a:spcAft>
                <a:spcPts val="0"/>
              </a:spcAft>
              <a:buClr>
                <a:schemeClr val="dk1"/>
              </a:buClr>
              <a:buSzPts val="900"/>
              <a:buChar char="●"/>
            </a:pPr>
            <a:r>
              <a:rPr b="1" lang="fr" sz="1600"/>
              <a:t>Greater visibility of progress</a:t>
            </a:r>
            <a:r>
              <a:rPr lang="fr" sz="1600"/>
              <a:t>: By integrating code changes frequently, developers can track progress more accurately and identify any issues or blockers that may be affecting the project.</a:t>
            </a:r>
            <a:endParaRPr sz="1600"/>
          </a:p>
          <a:p>
            <a:pPr indent="0" lvl="0" marL="0" rtl="0" algn="l">
              <a:spcBef>
                <a:spcPts val="1200"/>
              </a:spcBef>
              <a:spcAft>
                <a:spcPts val="1200"/>
              </a:spcAft>
              <a:buNone/>
            </a:pPr>
            <a:r>
              <a:t/>
            </a:r>
            <a:endParaRPr sz="16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2"/>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CI Tooling </a:t>
            </a:r>
            <a:endParaRPr/>
          </a:p>
        </p:txBody>
      </p:sp>
      <p:sp>
        <p:nvSpPr>
          <p:cNvPr id="230" name="Google Shape;230;p42"/>
          <p:cNvSpPr txBox="1"/>
          <p:nvPr>
            <p:ph idx="1" type="body"/>
          </p:nvPr>
        </p:nvSpPr>
        <p:spPr>
          <a:xfrm>
            <a:off x="311700" y="1152475"/>
            <a:ext cx="8520600" cy="3161700"/>
          </a:xfrm>
          <a:prstGeom prst="rect">
            <a:avLst/>
          </a:prstGeom>
        </p:spPr>
        <p:txBody>
          <a:bodyPr anchorCtr="0" anchor="t" bIns="91425" lIns="91425" spcFirstLastPara="1" rIns="91425" wrap="square" tIns="91425">
            <a:spAutoFit/>
          </a:bodyPr>
          <a:lstStyle/>
          <a:p>
            <a:pPr indent="-292100" lvl="0" marL="457200" rtl="0" algn="l">
              <a:spcBef>
                <a:spcPts val="1200"/>
              </a:spcBef>
              <a:spcAft>
                <a:spcPts val="0"/>
              </a:spcAft>
              <a:buClr>
                <a:schemeClr val="dk1"/>
              </a:buClr>
              <a:buSzPts val="1000"/>
              <a:buChar char="-"/>
            </a:pPr>
            <a:r>
              <a:rPr lang="fr" sz="1700"/>
              <a:t>Jenkins: Open-source automation server for building, deploying, and automating projects.</a:t>
            </a:r>
            <a:endParaRPr sz="1700"/>
          </a:p>
          <a:p>
            <a:pPr indent="-292100" lvl="0" marL="457200" rtl="0" algn="l">
              <a:spcBef>
                <a:spcPts val="0"/>
              </a:spcBef>
              <a:spcAft>
                <a:spcPts val="0"/>
              </a:spcAft>
              <a:buClr>
                <a:schemeClr val="dk1"/>
              </a:buClr>
              <a:buSzPts val="1000"/>
              <a:buChar char="-"/>
            </a:pPr>
            <a:r>
              <a:rPr lang="fr" sz="1700"/>
              <a:t>Travis CI: Cloud-based CI platform for testing and deploying software projects.</a:t>
            </a:r>
            <a:endParaRPr sz="1700"/>
          </a:p>
          <a:p>
            <a:pPr indent="-292100" lvl="0" marL="457200" rtl="0" algn="l">
              <a:spcBef>
                <a:spcPts val="0"/>
              </a:spcBef>
              <a:spcAft>
                <a:spcPts val="0"/>
              </a:spcAft>
              <a:buClr>
                <a:schemeClr val="dk1"/>
              </a:buClr>
              <a:buSzPts val="1000"/>
              <a:buChar char="-"/>
            </a:pPr>
            <a:r>
              <a:rPr lang="fr" sz="1700"/>
              <a:t>CircleCI: Cloud-based CI platform for building, testing, and deploying software.</a:t>
            </a:r>
            <a:endParaRPr sz="1700"/>
          </a:p>
          <a:p>
            <a:pPr indent="-292100" lvl="0" marL="457200" rtl="0" algn="l">
              <a:spcBef>
                <a:spcPts val="0"/>
              </a:spcBef>
              <a:spcAft>
                <a:spcPts val="0"/>
              </a:spcAft>
              <a:buClr>
                <a:schemeClr val="dk1"/>
              </a:buClr>
              <a:buSzPts val="1000"/>
              <a:buChar char="-"/>
            </a:pPr>
            <a:r>
              <a:rPr lang="fr" sz="1700"/>
              <a:t>GitLab CI: Built-in CI/CD platform for GitLab, a web-based Git repository manager.</a:t>
            </a:r>
            <a:endParaRPr sz="1700"/>
          </a:p>
          <a:p>
            <a:pPr indent="0" lvl="0" marL="0" rtl="0" algn="l">
              <a:spcBef>
                <a:spcPts val="1200"/>
              </a:spcBef>
              <a:spcAft>
                <a:spcPts val="0"/>
              </a:spcAft>
              <a:buNone/>
            </a:pPr>
            <a:r>
              <a:rPr lang="fr" sz="1700"/>
              <a:t>Monitors the code repository for changes, automatically runs series of tests and checks when code is committed. </a:t>
            </a:r>
            <a:endParaRPr sz="1700"/>
          </a:p>
          <a:p>
            <a:pPr indent="0" lvl="0" marL="0" rtl="0" algn="l">
              <a:spcBef>
                <a:spcPts val="1200"/>
              </a:spcBef>
              <a:spcAft>
                <a:spcPts val="1200"/>
              </a:spcAft>
              <a:buNone/>
            </a:pPr>
            <a:r>
              <a:rPr lang="fr" sz="1700"/>
              <a:t>If the tests and checks pass, the code is integrated into the repository. If any issues, alert the team on what needs to be fixed.</a:t>
            </a:r>
            <a:endParaRPr sz="17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3"/>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Continuous Delivery (CD)</a:t>
            </a:r>
            <a:endParaRPr/>
          </a:p>
        </p:txBody>
      </p:sp>
      <p:sp>
        <p:nvSpPr>
          <p:cNvPr id="236" name="Google Shape;236;p43"/>
          <p:cNvSpPr txBox="1"/>
          <p:nvPr>
            <p:ph idx="1" type="body"/>
          </p:nvPr>
        </p:nvSpPr>
        <p:spPr>
          <a:xfrm>
            <a:off x="311700" y="1152475"/>
            <a:ext cx="8520600" cy="10989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fr"/>
              <a:t>software development practice in which the build, test, and deployment process is automated, allowing developers to </a:t>
            </a:r>
            <a:r>
              <a:rPr lang="fr">
                <a:solidFill>
                  <a:srgbClr val="6AA84F"/>
                </a:solidFill>
              </a:rPr>
              <a:t>deliver new features</a:t>
            </a:r>
            <a:r>
              <a:rPr lang="fr"/>
              <a:t> to </a:t>
            </a:r>
            <a:r>
              <a:rPr lang="fr">
                <a:solidFill>
                  <a:srgbClr val="E69138"/>
                </a:solidFill>
              </a:rPr>
              <a:t>users </a:t>
            </a:r>
            <a:r>
              <a:rPr lang="fr"/>
              <a:t>as </a:t>
            </a:r>
            <a:r>
              <a:rPr lang="fr">
                <a:solidFill>
                  <a:srgbClr val="3D85C6"/>
                </a:solidFill>
              </a:rPr>
              <a:t>quickly and safely</a:t>
            </a:r>
            <a:r>
              <a:rPr lang="fr"/>
              <a:t> as possible.</a:t>
            </a:r>
            <a:endParaRPr/>
          </a:p>
        </p:txBody>
      </p:sp>
      <p:pic>
        <p:nvPicPr>
          <p:cNvPr id="237" name="Google Shape;237;p43"/>
          <p:cNvPicPr preferRelativeResize="0"/>
          <p:nvPr/>
        </p:nvPicPr>
        <p:blipFill>
          <a:blip r:embed="rId3">
            <a:alphaModFix/>
          </a:blip>
          <a:stretch>
            <a:fillRect/>
          </a:stretch>
        </p:blipFill>
        <p:spPr>
          <a:xfrm>
            <a:off x="1947388" y="2343225"/>
            <a:ext cx="4879227" cy="258732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4"/>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Time to market </a:t>
            </a:r>
            <a:endParaRPr/>
          </a:p>
        </p:txBody>
      </p:sp>
      <p:sp>
        <p:nvSpPr>
          <p:cNvPr id="243" name="Google Shape;243;p44"/>
          <p:cNvSpPr txBox="1"/>
          <p:nvPr>
            <p:ph idx="1" type="body"/>
          </p:nvPr>
        </p:nvSpPr>
        <p:spPr>
          <a:xfrm>
            <a:off x="311700" y="1152475"/>
            <a:ext cx="8520600" cy="23736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Char char="●"/>
            </a:pPr>
            <a:r>
              <a:rPr lang="fr"/>
              <a:t>Time to market is an important consideration for businesses, as it can impact their ability to compete and capture market share.</a:t>
            </a:r>
            <a:endParaRPr/>
          </a:p>
          <a:p>
            <a:pPr indent="-298450" lvl="0" marL="457200" rtl="0" algn="l">
              <a:spcBef>
                <a:spcPts val="0"/>
              </a:spcBef>
              <a:spcAft>
                <a:spcPts val="0"/>
              </a:spcAft>
              <a:buClr>
                <a:schemeClr val="dk1"/>
              </a:buClr>
              <a:buSzPts val="1100"/>
              <a:buChar char="●"/>
            </a:pPr>
            <a:r>
              <a:rPr lang="fr"/>
              <a:t>Shorter time to market can be an advantage, as it allows businesses to respond more quickly to market demand and customer needs.</a:t>
            </a:r>
            <a:endParaRPr/>
          </a:p>
          <a:p>
            <a:pPr indent="-298450" lvl="0" marL="457200" rtl="0" algn="l">
              <a:spcBef>
                <a:spcPts val="0"/>
              </a:spcBef>
              <a:spcAft>
                <a:spcPts val="0"/>
              </a:spcAft>
              <a:buClr>
                <a:schemeClr val="dk1"/>
              </a:buClr>
              <a:buSzPts val="1100"/>
              <a:buChar char="●"/>
            </a:pPr>
            <a:r>
              <a:rPr lang="fr"/>
              <a:t>There are a number of factors that can impact time to market, including the complexity of the product or service, the efficiency of the development process, and the availability of resources.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5"/>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DevOps</a:t>
            </a:r>
            <a:endParaRPr/>
          </a:p>
        </p:txBody>
      </p:sp>
      <p:sp>
        <p:nvSpPr>
          <p:cNvPr id="249" name="Google Shape;249;p45"/>
          <p:cNvSpPr txBox="1"/>
          <p:nvPr>
            <p:ph idx="1" type="body"/>
          </p:nvPr>
        </p:nvSpPr>
        <p:spPr>
          <a:xfrm>
            <a:off x="311700" y="1152475"/>
            <a:ext cx="8520600" cy="10989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fr"/>
              <a:t>S</a:t>
            </a:r>
            <a:r>
              <a:rPr lang="fr"/>
              <a:t>et of practices and principles that aim to improve collaboration and communication between development and operations teams, and to accelerate the delivery of software and services.</a:t>
            </a:r>
            <a:endParaRPr/>
          </a:p>
        </p:txBody>
      </p:sp>
      <p:pic>
        <p:nvPicPr>
          <p:cNvPr id="250" name="Google Shape;250;p45"/>
          <p:cNvPicPr preferRelativeResize="0"/>
          <p:nvPr/>
        </p:nvPicPr>
        <p:blipFill>
          <a:blip r:embed="rId3">
            <a:alphaModFix/>
          </a:blip>
          <a:stretch>
            <a:fillRect/>
          </a:stretch>
        </p:blipFill>
        <p:spPr>
          <a:xfrm>
            <a:off x="2272150" y="2343225"/>
            <a:ext cx="4599688" cy="258732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6"/>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DevOps component</a:t>
            </a:r>
            <a:endParaRPr/>
          </a:p>
        </p:txBody>
      </p:sp>
      <p:sp>
        <p:nvSpPr>
          <p:cNvPr id="256" name="Google Shape;256;p46"/>
          <p:cNvSpPr txBox="1"/>
          <p:nvPr>
            <p:ph idx="1" type="body"/>
          </p:nvPr>
        </p:nvSpPr>
        <p:spPr>
          <a:xfrm>
            <a:off x="311700" y="1152475"/>
            <a:ext cx="8520600" cy="41205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Char char="●"/>
            </a:pPr>
            <a:r>
              <a:rPr lang="fr"/>
              <a:t>Continuous integration and continuous delivery (CI/CD): Automating the build, test, and deployment process to enable frequent and reliable releases of software and services.</a:t>
            </a:r>
            <a:endParaRPr/>
          </a:p>
          <a:p>
            <a:pPr indent="-298450" lvl="0" marL="457200" rtl="0" algn="l">
              <a:spcBef>
                <a:spcPts val="0"/>
              </a:spcBef>
              <a:spcAft>
                <a:spcPts val="0"/>
              </a:spcAft>
              <a:buClr>
                <a:schemeClr val="dk1"/>
              </a:buClr>
              <a:buSzPts val="1100"/>
              <a:buChar char="●"/>
            </a:pPr>
            <a:r>
              <a:rPr lang="fr"/>
              <a:t>Infrastructure as code: Using code and automation to manage and configure infrastructure, rather than manual processes.</a:t>
            </a:r>
            <a:endParaRPr/>
          </a:p>
          <a:p>
            <a:pPr indent="-298450" lvl="0" marL="457200" rtl="0" algn="l">
              <a:spcBef>
                <a:spcPts val="0"/>
              </a:spcBef>
              <a:spcAft>
                <a:spcPts val="0"/>
              </a:spcAft>
              <a:buClr>
                <a:schemeClr val="dk1"/>
              </a:buClr>
              <a:buSzPts val="1100"/>
              <a:buChar char="●"/>
            </a:pPr>
            <a:r>
              <a:rPr lang="fr"/>
              <a:t>Monitoring and observability: Using tools and techniques to monitor the performance and behavior of systems in real-time, and to quickly identify and resolve issues.</a:t>
            </a:r>
            <a:endParaRPr/>
          </a:p>
          <a:p>
            <a:pPr indent="-298450" lvl="0" marL="457200" rtl="0" algn="l">
              <a:spcBef>
                <a:spcPts val="0"/>
              </a:spcBef>
              <a:spcAft>
                <a:spcPts val="0"/>
              </a:spcAft>
              <a:buClr>
                <a:schemeClr val="dk1"/>
              </a:buClr>
              <a:buSzPts val="1100"/>
              <a:buChar char="●"/>
            </a:pPr>
            <a:r>
              <a:rPr lang="fr"/>
              <a:t>Collaboration and communication: Encouraging collaboration and communication between development and operations teams, and promoting a culture of shared responsibility for the success of the product or service.</a:t>
            </a:r>
            <a:endParaRPr/>
          </a:p>
          <a:p>
            <a:pPr indent="0" lvl="0" marL="0" rtl="0" algn="l">
              <a:spcBef>
                <a:spcPts val="120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7"/>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Benefits of DevOps</a:t>
            </a:r>
            <a:endParaRPr/>
          </a:p>
        </p:txBody>
      </p:sp>
      <p:sp>
        <p:nvSpPr>
          <p:cNvPr id="262" name="Google Shape;262;p47"/>
          <p:cNvSpPr txBox="1"/>
          <p:nvPr>
            <p:ph idx="1" type="body"/>
          </p:nvPr>
        </p:nvSpPr>
        <p:spPr>
          <a:xfrm>
            <a:off x="311700" y="1152475"/>
            <a:ext cx="8520600" cy="22089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Char char="●"/>
            </a:pPr>
            <a:r>
              <a:rPr lang="fr"/>
              <a:t>Improved software quality and reliability</a:t>
            </a:r>
            <a:endParaRPr/>
          </a:p>
          <a:p>
            <a:pPr indent="-298450" lvl="0" marL="457200" rtl="0" algn="l">
              <a:spcBef>
                <a:spcPts val="0"/>
              </a:spcBef>
              <a:spcAft>
                <a:spcPts val="0"/>
              </a:spcAft>
              <a:buClr>
                <a:schemeClr val="dk1"/>
              </a:buClr>
              <a:buSzPts val="1100"/>
              <a:buChar char="●"/>
            </a:pPr>
            <a:r>
              <a:rPr lang="fr"/>
              <a:t>Faster delivery of new features and updates</a:t>
            </a:r>
            <a:endParaRPr/>
          </a:p>
          <a:p>
            <a:pPr indent="-298450" lvl="0" marL="457200" rtl="0" algn="l">
              <a:spcBef>
                <a:spcPts val="0"/>
              </a:spcBef>
              <a:spcAft>
                <a:spcPts val="0"/>
              </a:spcAft>
              <a:buClr>
                <a:schemeClr val="dk1"/>
              </a:buClr>
              <a:buSzPts val="1100"/>
              <a:buChar char="●"/>
            </a:pPr>
            <a:r>
              <a:rPr lang="fr"/>
              <a:t>Increased efficiency and productivity</a:t>
            </a:r>
            <a:endParaRPr/>
          </a:p>
          <a:p>
            <a:pPr indent="-298450" lvl="0" marL="457200" rtl="0" algn="l">
              <a:spcBef>
                <a:spcPts val="0"/>
              </a:spcBef>
              <a:spcAft>
                <a:spcPts val="0"/>
              </a:spcAft>
              <a:buClr>
                <a:schemeClr val="dk1"/>
              </a:buClr>
              <a:buSzPts val="1100"/>
              <a:buChar char="●"/>
            </a:pPr>
            <a:r>
              <a:rPr lang="fr"/>
              <a:t>Greater agility and flexibility</a:t>
            </a:r>
            <a:endParaRPr/>
          </a:p>
          <a:p>
            <a:pPr indent="-298450" lvl="0" marL="457200" rtl="0" algn="l">
              <a:spcBef>
                <a:spcPts val="0"/>
              </a:spcBef>
              <a:spcAft>
                <a:spcPts val="0"/>
              </a:spcAft>
              <a:buClr>
                <a:schemeClr val="dk1"/>
              </a:buClr>
              <a:buSzPts val="1100"/>
              <a:buChar char="●"/>
            </a:pPr>
            <a:r>
              <a:rPr lang="fr"/>
              <a:t>Enhanced collaboration and communication within the team</a:t>
            </a:r>
            <a:endParaRPr/>
          </a:p>
          <a:p>
            <a:pPr indent="0" lvl="0" marL="0" rtl="0" algn="l">
              <a:spcBef>
                <a:spcPts val="1200"/>
              </a:spcBef>
              <a:spcAft>
                <a:spcPts val="12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8"/>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Challenges of Devops</a:t>
            </a:r>
            <a:endParaRPr/>
          </a:p>
        </p:txBody>
      </p:sp>
      <p:sp>
        <p:nvSpPr>
          <p:cNvPr id="268" name="Google Shape;268;p48"/>
          <p:cNvSpPr txBox="1"/>
          <p:nvPr>
            <p:ph idx="1" type="body"/>
          </p:nvPr>
        </p:nvSpPr>
        <p:spPr>
          <a:xfrm>
            <a:off x="311700" y="1152475"/>
            <a:ext cx="8520600" cy="15714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Char char="●"/>
            </a:pPr>
            <a:r>
              <a:rPr lang="fr"/>
              <a:t>Requires a significant cultural shift for some organizations</a:t>
            </a:r>
            <a:endParaRPr/>
          </a:p>
          <a:p>
            <a:pPr indent="-298450" lvl="0" marL="457200" rtl="0" algn="l">
              <a:spcBef>
                <a:spcPts val="0"/>
              </a:spcBef>
              <a:spcAft>
                <a:spcPts val="0"/>
              </a:spcAft>
              <a:buClr>
                <a:schemeClr val="dk1"/>
              </a:buClr>
              <a:buSzPts val="1100"/>
              <a:buChar char="●"/>
            </a:pPr>
            <a:r>
              <a:rPr lang="fr"/>
              <a:t>May require a high level of discipline and commitment from team members</a:t>
            </a:r>
            <a:endParaRPr/>
          </a:p>
          <a:p>
            <a:pPr indent="-298450" lvl="0" marL="457200" rtl="0" algn="l">
              <a:spcBef>
                <a:spcPts val="0"/>
              </a:spcBef>
              <a:spcAft>
                <a:spcPts val="0"/>
              </a:spcAft>
              <a:buClr>
                <a:schemeClr val="dk1"/>
              </a:buClr>
              <a:buSzPts val="1100"/>
              <a:buChar char="●"/>
            </a:pPr>
            <a:r>
              <a:rPr lang="fr"/>
              <a:t>Can be difficult to implement in a large or complex organization</a:t>
            </a:r>
            <a:endParaRPr/>
          </a:p>
          <a:p>
            <a:pPr indent="0" lvl="0" marL="0" rtl="0" algn="l">
              <a:spcBef>
                <a:spcPts val="1200"/>
              </a:spcBef>
              <a:spcAft>
                <a:spcPts val="12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9"/>
          <p:cNvSpPr txBox="1"/>
          <p:nvPr>
            <p:ph type="title"/>
          </p:nvPr>
        </p:nvSpPr>
        <p:spPr>
          <a:xfrm>
            <a:off x="311700" y="2150850"/>
            <a:ext cx="8520600" cy="7389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fr"/>
              <a:t>Knowledge Check (10’)</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