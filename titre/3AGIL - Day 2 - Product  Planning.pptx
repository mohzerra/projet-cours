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EA0D05-0EAC-4FEA-BAA0-C04098B8F6CB}">
  <a:tblStyle styleId="{08EA0D05-0EAC-4FEA-BAA0-C04098B8F6C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bf65f522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bf65f522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bf65f522e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bf65f522e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bf65f522e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bf65f522e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bf65f522e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bf65f522e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bf65f522e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bf65f522e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54000" lvl="0" marL="457200" rtl="0" algn="l">
              <a:lnSpc>
                <a:spcPct val="115000"/>
              </a:lnSpc>
              <a:spcBef>
                <a:spcPts val="1200"/>
              </a:spcBef>
              <a:spcAft>
                <a:spcPts val="0"/>
              </a:spcAft>
              <a:buClr>
                <a:schemeClr val="dk1"/>
              </a:buClr>
              <a:buSzPts val="400"/>
              <a:buAutoNum type="arabicPeriod"/>
            </a:pPr>
            <a:r>
              <a:rPr lang="fr">
                <a:solidFill>
                  <a:srgbClr val="595959"/>
                </a:solidFill>
              </a:rPr>
              <a:t>Define and communicate the product vision: helps define the long-term vision and strategy for the product, and communicating this vision to stakeholders and cross-functional teams.</a:t>
            </a:r>
            <a:endParaRPr>
              <a:solidFill>
                <a:srgbClr val="595959"/>
              </a:solidFill>
            </a:endParaRPr>
          </a:p>
          <a:p>
            <a:pPr indent="-254000" lvl="0" marL="457200" rtl="0" algn="l">
              <a:lnSpc>
                <a:spcPct val="115000"/>
              </a:lnSpc>
              <a:spcBef>
                <a:spcPts val="0"/>
              </a:spcBef>
              <a:spcAft>
                <a:spcPts val="0"/>
              </a:spcAft>
              <a:buClr>
                <a:schemeClr val="dk1"/>
              </a:buClr>
              <a:buSzPts val="400"/>
              <a:buAutoNum type="arabicPeriod"/>
            </a:pPr>
            <a:r>
              <a:rPr lang="fr">
                <a:solidFill>
                  <a:srgbClr val="595959"/>
                </a:solidFill>
              </a:rPr>
              <a:t>Prioritize and manage the product backlog: prioritizing the features and capabilities that will be included in the product, based on the value they will provide to the customer and the business.</a:t>
            </a:r>
            <a:endParaRPr>
              <a:solidFill>
                <a:srgbClr val="595959"/>
              </a:solidFill>
            </a:endParaRPr>
          </a:p>
          <a:p>
            <a:pPr indent="-254000" lvl="0" marL="457200" rtl="0" algn="l">
              <a:lnSpc>
                <a:spcPct val="115000"/>
              </a:lnSpc>
              <a:spcBef>
                <a:spcPts val="0"/>
              </a:spcBef>
              <a:spcAft>
                <a:spcPts val="0"/>
              </a:spcAft>
              <a:buClr>
                <a:schemeClr val="dk1"/>
              </a:buClr>
              <a:buSzPts val="400"/>
              <a:buAutoNum type="arabicPeriod"/>
            </a:pPr>
            <a:r>
              <a:rPr lang="fr">
                <a:solidFill>
                  <a:srgbClr val="595959"/>
                </a:solidFill>
              </a:rPr>
              <a:t>Collaborate with cross-functional teams: works closely with design, engineering, QA, and other teams to ensure that the product is delivered on time and to a high quality.</a:t>
            </a:r>
            <a:endParaRPr>
              <a:solidFill>
                <a:srgbClr val="595959"/>
              </a:solidFill>
            </a:endParaRPr>
          </a:p>
          <a:p>
            <a:pPr indent="-254000" lvl="0" marL="457200" rtl="0" algn="l">
              <a:lnSpc>
                <a:spcPct val="115000"/>
              </a:lnSpc>
              <a:spcBef>
                <a:spcPts val="0"/>
              </a:spcBef>
              <a:spcAft>
                <a:spcPts val="0"/>
              </a:spcAft>
              <a:buClr>
                <a:schemeClr val="dk1"/>
              </a:buClr>
              <a:buSzPts val="400"/>
              <a:buAutoNum type="arabicPeriod"/>
            </a:pPr>
            <a:r>
              <a:rPr lang="fr">
                <a:solidFill>
                  <a:srgbClr val="595959"/>
                </a:solidFill>
              </a:rPr>
              <a:t>Communicate progress and updates to stakeholders: responsible for keeping stakeholders informed of progress on the product, and for managing expectations around timelines and deliverables.</a:t>
            </a:r>
            <a:endParaRPr>
              <a:solidFill>
                <a:srgbClr val="595959"/>
              </a:solidFill>
            </a:endParaRPr>
          </a:p>
          <a:p>
            <a:pPr indent="0" lvl="0" marL="0" rtl="0" algn="l">
              <a:spcBef>
                <a:spcPts val="1200"/>
              </a:spcBef>
              <a:spcAft>
                <a:spcPts val="0"/>
              </a:spcAft>
              <a:buNone/>
            </a:pPr>
            <a:r>
              <a:t/>
            </a:r>
            <a:endParaRPr sz="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bf65f522e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bf65f522e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bf65f525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bf65f525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bf65f525d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bf65f525d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1" marL="914400" rtl="0" algn="l">
              <a:lnSpc>
                <a:spcPct val="115000"/>
              </a:lnSpc>
              <a:spcBef>
                <a:spcPts val="1200"/>
              </a:spcBef>
              <a:spcAft>
                <a:spcPts val="0"/>
              </a:spcAft>
              <a:buClr>
                <a:schemeClr val="dk1"/>
              </a:buClr>
              <a:buSzPts val="1100"/>
              <a:buAutoNum type="arabicPeriod"/>
            </a:pPr>
            <a:r>
              <a:rPr lang="fr" sz="1400">
                <a:solidFill>
                  <a:srgbClr val="595959"/>
                </a:solidFill>
              </a:rPr>
              <a:t>Identify the target market and customer needs: Start by understanding the needs and pain points of your target market, and what they are looking for in a product.</a:t>
            </a:r>
            <a:endParaRPr sz="1400">
              <a:solidFill>
                <a:srgbClr val="595959"/>
              </a:solidFill>
            </a:endParaRPr>
          </a:p>
          <a:p>
            <a:pPr indent="-298450" lvl="1" marL="914400" rtl="0" algn="l">
              <a:lnSpc>
                <a:spcPct val="115000"/>
              </a:lnSpc>
              <a:spcBef>
                <a:spcPts val="0"/>
              </a:spcBef>
              <a:spcAft>
                <a:spcPts val="0"/>
              </a:spcAft>
              <a:buClr>
                <a:schemeClr val="dk1"/>
              </a:buClr>
              <a:buSzPts val="1100"/>
              <a:buAutoNum type="arabicPeriod"/>
            </a:pPr>
            <a:r>
              <a:rPr lang="fr" sz="1400">
                <a:solidFill>
                  <a:srgbClr val="595959"/>
                </a:solidFill>
              </a:rPr>
              <a:t>Determine the value proposition: Next, define the unique value that your product will offer to customers, and how it will solve their needs and problems.</a:t>
            </a:r>
            <a:endParaRPr sz="1400">
              <a:solidFill>
                <a:srgbClr val="595959"/>
              </a:solidFill>
            </a:endParaRPr>
          </a:p>
          <a:p>
            <a:pPr indent="-298450" lvl="1" marL="914400" rtl="0" algn="l">
              <a:lnSpc>
                <a:spcPct val="115000"/>
              </a:lnSpc>
              <a:spcBef>
                <a:spcPts val="0"/>
              </a:spcBef>
              <a:spcAft>
                <a:spcPts val="0"/>
              </a:spcAft>
              <a:buClr>
                <a:schemeClr val="dk1"/>
              </a:buClr>
              <a:buSzPts val="1100"/>
              <a:buAutoNum type="arabicPeriod"/>
            </a:pPr>
            <a:r>
              <a:rPr lang="fr" sz="1400">
                <a:solidFill>
                  <a:srgbClr val="595959"/>
                </a:solidFill>
              </a:rPr>
              <a:t>Define the product vision statement: Use this information to create a clear and concise statement that captures the essence of your product and its value proposition.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bf65f525d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bf65f525d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bf65f525d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bf65f525d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bf65f525d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bf65f525d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bf65f525d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bf65f525d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Student can use Powerpoint, Lucidchart or Diagram.net to drawn their roadmap.</a:t>
            </a:r>
            <a:endParaRPr/>
          </a:p>
          <a:p>
            <a:pPr indent="0" lvl="0" marL="0" rtl="0" algn="l">
              <a:spcBef>
                <a:spcPts val="0"/>
              </a:spcBef>
              <a:spcAft>
                <a:spcPts val="0"/>
              </a:spcAft>
              <a:buNone/>
            </a:pPr>
            <a:r>
              <a:rPr lang="fr"/>
              <a:t>Have them understand the correct level of breakdown needed at roadmap level : not too detailed, not technical yet : focused on </a:t>
            </a:r>
            <a:r>
              <a:rPr lang="fr"/>
              <a:t>features and business value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bf65f525d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bf65f525d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bf65f525d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bf65f525d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bf65f525d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bf65f525d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1200"/>
              </a:spcBef>
              <a:spcAft>
                <a:spcPts val="0"/>
              </a:spcAft>
              <a:buClr>
                <a:schemeClr val="dk1"/>
              </a:buClr>
              <a:buSzPts val="1100"/>
              <a:buFont typeface="Arial"/>
              <a:buNone/>
            </a:pPr>
            <a:r>
              <a:rPr lang="fr" sz="1800">
                <a:solidFill>
                  <a:srgbClr val="595959"/>
                </a:solidFill>
              </a:rPr>
              <a:t>Share this link to your students and have them read this : </a:t>
            </a:r>
            <a:r>
              <a:rPr lang="fr" sz="1800">
                <a:solidFill>
                  <a:srgbClr val="595959"/>
                </a:solidFill>
              </a:rPr>
              <a:t>https://jtbd.info/replacing-the-user-story-with-the-job-story-af7cdee10c27</a:t>
            </a:r>
            <a:endParaRPr sz="1800">
              <a:solidFill>
                <a:srgbClr val="595959"/>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bf65f525d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bf65f525d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bf65f525d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bf65f525d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bf65f525d7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bf65f525d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Definition of done can be different from team to team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bf65f525d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bf65f525d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bf65f525d7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bf65f525d7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bf65f525d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bf65f525d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bf65f525d7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bf65f525d7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bf65f525d7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bf65f525d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lang="fr"/>
              <a:t>Involve the right people: Make sure to include all relevant stakeholders in the planning poker session, such as product owners, developers, and QA team members.</a:t>
            </a:r>
            <a:endParaRPr/>
          </a:p>
          <a:p>
            <a:pPr indent="-298450" lvl="0" marL="457200" rtl="0" algn="l">
              <a:lnSpc>
                <a:spcPct val="115000"/>
              </a:lnSpc>
              <a:spcBef>
                <a:spcPts val="0"/>
              </a:spcBef>
              <a:spcAft>
                <a:spcPts val="0"/>
              </a:spcAft>
              <a:buClr>
                <a:schemeClr val="dk1"/>
              </a:buClr>
              <a:buSzPts val="1100"/>
              <a:buAutoNum type="arabicPeriod"/>
            </a:pPr>
            <a:r>
              <a:rPr lang="fr"/>
              <a:t>Clearly define the user story or task: Make sure that the user story or task being estimated is clearly defined and understood by all participants.</a:t>
            </a:r>
            <a:endParaRPr/>
          </a:p>
          <a:p>
            <a:pPr indent="-298450" lvl="0" marL="457200" rtl="0" algn="l">
              <a:lnSpc>
                <a:spcPct val="115000"/>
              </a:lnSpc>
              <a:spcBef>
                <a:spcPts val="0"/>
              </a:spcBef>
              <a:spcAft>
                <a:spcPts val="0"/>
              </a:spcAft>
              <a:buClr>
                <a:schemeClr val="dk1"/>
              </a:buClr>
              <a:buSzPts val="1100"/>
              <a:buAutoNum type="arabicPeriod"/>
            </a:pPr>
            <a:r>
              <a:rPr lang="fr"/>
              <a:t>Use relative estimation: Rather than trying to come up with an exact estimate, use the cards to compare the relative size and complexity of the user story or task to others.</a:t>
            </a:r>
            <a:endParaRPr/>
          </a:p>
          <a:p>
            <a:pPr indent="-298450" lvl="0" marL="457200" rtl="0" algn="l">
              <a:lnSpc>
                <a:spcPct val="115000"/>
              </a:lnSpc>
              <a:spcBef>
                <a:spcPts val="0"/>
              </a:spcBef>
              <a:spcAft>
                <a:spcPts val="0"/>
              </a:spcAft>
              <a:buClr>
                <a:schemeClr val="dk1"/>
              </a:buClr>
              <a:buSzPts val="1100"/>
              <a:buAutoNum type="arabicPeriod"/>
            </a:pPr>
            <a:r>
              <a:rPr lang="fr"/>
              <a:t>Encourage open discussion and collaboration: Encourage participants to ask questions and share their reasoning behind their estimates. This can help to identify any misunderstandings or assumptions and improve the accuracy of the estimate.</a:t>
            </a:r>
            <a:endParaRPr/>
          </a:p>
          <a:p>
            <a:pPr indent="-298450" lvl="0" marL="457200" rtl="0" algn="l">
              <a:lnSpc>
                <a:spcPct val="115000"/>
              </a:lnSpc>
              <a:spcBef>
                <a:spcPts val="0"/>
              </a:spcBef>
              <a:spcAft>
                <a:spcPts val="0"/>
              </a:spcAft>
              <a:buClr>
                <a:schemeClr val="dk1"/>
              </a:buClr>
              <a:buSzPts val="1100"/>
              <a:buAutoNum type="arabicPeriod"/>
            </a:pPr>
            <a:r>
              <a:rPr lang="fr"/>
              <a:t>Avoid anchoring: Avoid letting one person's estimate influence the others. Encourage each participant to come up with their own estimate independently.</a:t>
            </a:r>
            <a:endParaRPr/>
          </a:p>
          <a:p>
            <a:pPr indent="-298450" lvl="0" marL="457200" rtl="0" algn="l">
              <a:lnSpc>
                <a:spcPct val="115000"/>
              </a:lnSpc>
              <a:spcBef>
                <a:spcPts val="0"/>
              </a:spcBef>
              <a:spcAft>
                <a:spcPts val="0"/>
              </a:spcAft>
              <a:buClr>
                <a:schemeClr val="dk1"/>
              </a:buClr>
              <a:buSzPts val="1100"/>
              <a:buAutoNum type="arabicPeriod"/>
            </a:pPr>
            <a:r>
              <a:rPr lang="fr"/>
              <a:t>Use a facilitator: Consider having a facilitator to lead the planning poker session and ensure that it runs smoothly and efficiently.</a:t>
            </a:r>
            <a:endParaRPr/>
          </a:p>
          <a:p>
            <a:pPr indent="0" lvl="0" marL="0" rtl="0" algn="l">
              <a:spcBef>
                <a:spcPts val="12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bf65f525d7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bf65f525d7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bf65f525d7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bf65f525d7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bf65f525d7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bf65f525d7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bf65f525d7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bf65f525d7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lang="fr"/>
              <a:t>Identify the core value proposition: What is the unique value that your product will offer to customers, and how will it solve their needs and problems? Focus on the features that are most critical to delivering this value.</a:t>
            </a:r>
            <a:endParaRPr/>
          </a:p>
          <a:p>
            <a:pPr indent="-298450" lvl="0" marL="457200" rtl="0" algn="l">
              <a:lnSpc>
                <a:spcPct val="115000"/>
              </a:lnSpc>
              <a:spcBef>
                <a:spcPts val="0"/>
              </a:spcBef>
              <a:spcAft>
                <a:spcPts val="0"/>
              </a:spcAft>
              <a:buClr>
                <a:schemeClr val="dk1"/>
              </a:buClr>
              <a:buSzPts val="1100"/>
              <a:buAutoNum type="arabicPeriod"/>
            </a:pPr>
            <a:r>
              <a:rPr lang="fr"/>
              <a:t>Prioritize based on customer needs: Consider what features and capabilities are most important to your target customers and prioritize those in the MVP.</a:t>
            </a:r>
            <a:endParaRPr/>
          </a:p>
          <a:p>
            <a:pPr indent="-298450" lvl="0" marL="457200" rtl="0" algn="l">
              <a:lnSpc>
                <a:spcPct val="115000"/>
              </a:lnSpc>
              <a:spcBef>
                <a:spcPts val="0"/>
              </a:spcBef>
              <a:spcAft>
                <a:spcPts val="0"/>
              </a:spcAft>
              <a:buClr>
                <a:schemeClr val="dk1"/>
              </a:buClr>
              <a:buSzPts val="1100"/>
              <a:buAutoNum type="arabicPeriod"/>
            </a:pPr>
            <a:r>
              <a:rPr lang="fr"/>
              <a:t>Consider feasibility: Make sure that the MVP is feasible to build within the given time and resources.</a:t>
            </a:r>
            <a:endParaRPr/>
          </a:p>
          <a:p>
            <a:pPr indent="-298450" lvl="0" marL="457200" rtl="0" algn="l">
              <a:lnSpc>
                <a:spcPct val="115000"/>
              </a:lnSpc>
              <a:spcBef>
                <a:spcPts val="0"/>
              </a:spcBef>
              <a:spcAft>
                <a:spcPts val="0"/>
              </a:spcAft>
              <a:buClr>
                <a:schemeClr val="dk1"/>
              </a:buClr>
              <a:buSzPts val="1100"/>
              <a:buAutoNum type="arabicPeriod"/>
            </a:pPr>
            <a:r>
              <a:rPr lang="fr"/>
              <a:t>Balance risk and reward: Consider the potential impact and benefit of each feature, as well as the risk and effort required to implement it. Focus on the features that offer the most value with the least risk.</a:t>
            </a:r>
            <a:endParaRPr/>
          </a:p>
          <a:p>
            <a:pPr indent="-298450" lvl="0" marL="457200" rtl="0" algn="l">
              <a:lnSpc>
                <a:spcPct val="115000"/>
              </a:lnSpc>
              <a:spcBef>
                <a:spcPts val="0"/>
              </a:spcBef>
              <a:spcAft>
                <a:spcPts val="0"/>
              </a:spcAft>
              <a:buClr>
                <a:schemeClr val="dk1"/>
              </a:buClr>
              <a:buSzPts val="1100"/>
              <a:buAutoNum type="arabicPeriod"/>
            </a:pPr>
            <a:r>
              <a:rPr lang="fr"/>
              <a:t>Gather feedback: Engage with customers and stakeholders early in the process to gather feedback and validate your assumptions about what should be included in the MVP.</a:t>
            </a:r>
            <a:endParaRPr/>
          </a:p>
          <a:p>
            <a:pPr indent="0" lvl="0" marL="0" rtl="0" algn="l">
              <a:spcBef>
                <a:spcPts val="120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bf65f525d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bf65f525d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bf65f525d7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bf65f525d7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9852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fr"/>
              <a:t>Product &amp; Planning</a:t>
            </a:r>
            <a:endParaRPr/>
          </a:p>
        </p:txBody>
      </p:sp>
      <p:sp>
        <p:nvSpPr>
          <p:cNvPr id="55" name="Google Shape;55;p13"/>
          <p:cNvSpPr txBox="1"/>
          <p:nvPr>
            <p:ph idx="1" type="subTitle"/>
          </p:nvPr>
        </p:nvSpPr>
        <p:spPr>
          <a:xfrm>
            <a:off x="311700" y="2834125"/>
            <a:ext cx="8520600" cy="6156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fr"/>
              <a:t>3AGIL - Day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Course Summary</a:t>
            </a:r>
            <a:endParaRPr/>
          </a:p>
        </p:txBody>
      </p:sp>
      <p:sp>
        <p:nvSpPr>
          <p:cNvPr id="61" name="Google Shape;61;p14"/>
          <p:cNvSpPr txBox="1"/>
          <p:nvPr>
            <p:ph idx="1" type="body"/>
          </p:nvPr>
        </p:nvSpPr>
        <p:spPr>
          <a:xfrm>
            <a:off x="311700" y="1152475"/>
            <a:ext cx="8520600" cy="17361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Clr>
                <a:srgbClr val="595959"/>
              </a:buClr>
              <a:buSzPts val="1800"/>
              <a:buAutoNum type="arabicParenR"/>
            </a:pPr>
            <a:r>
              <a:rPr lang="fr">
                <a:solidFill>
                  <a:srgbClr val="595959"/>
                </a:solidFill>
              </a:rPr>
              <a:t>Product Ownership (45’)</a:t>
            </a:r>
            <a:endParaRPr>
              <a:solidFill>
                <a:srgbClr val="595959"/>
              </a:solidFill>
            </a:endParaRPr>
          </a:p>
          <a:p>
            <a:pPr indent="-342900" lvl="0" marL="457200" rtl="0" algn="l">
              <a:spcBef>
                <a:spcPts val="0"/>
              </a:spcBef>
              <a:spcAft>
                <a:spcPts val="0"/>
              </a:spcAft>
              <a:buClr>
                <a:srgbClr val="595959"/>
              </a:buClr>
              <a:buSzPts val="1800"/>
              <a:buAutoNum type="arabicParenR"/>
            </a:pPr>
            <a:r>
              <a:rPr lang="fr">
                <a:solidFill>
                  <a:srgbClr val="595959"/>
                </a:solidFill>
              </a:rPr>
              <a:t>Product Vision &amp; strategy (3h)</a:t>
            </a:r>
            <a:endParaRPr>
              <a:solidFill>
                <a:srgbClr val="595959"/>
              </a:solidFill>
            </a:endParaRPr>
          </a:p>
          <a:p>
            <a:pPr indent="-342900" lvl="0" marL="457200" rtl="0" algn="l">
              <a:spcBef>
                <a:spcPts val="0"/>
              </a:spcBef>
              <a:spcAft>
                <a:spcPts val="0"/>
              </a:spcAft>
              <a:buClr>
                <a:srgbClr val="595959"/>
              </a:buClr>
              <a:buSzPts val="1800"/>
              <a:buAutoNum type="arabicParenR"/>
            </a:pPr>
            <a:r>
              <a:rPr lang="fr">
                <a:solidFill>
                  <a:srgbClr val="595959"/>
                </a:solidFill>
              </a:rPr>
              <a:t>User Stories &amp; Priorisation (2h)</a:t>
            </a:r>
            <a:endParaRPr>
              <a:solidFill>
                <a:srgbClr val="595959"/>
              </a:solidFill>
            </a:endParaRPr>
          </a:p>
          <a:p>
            <a:pPr indent="-342900" lvl="0" marL="457200" rtl="0" algn="l">
              <a:spcBef>
                <a:spcPts val="0"/>
              </a:spcBef>
              <a:spcAft>
                <a:spcPts val="0"/>
              </a:spcAft>
              <a:buClr>
                <a:srgbClr val="595959"/>
              </a:buClr>
              <a:buSzPts val="1800"/>
              <a:buAutoNum type="arabicParenR"/>
            </a:pPr>
            <a:r>
              <a:rPr lang="fr">
                <a:solidFill>
                  <a:srgbClr val="595959"/>
                </a:solidFill>
              </a:rPr>
              <a:t>Planning Poker (1h)</a:t>
            </a:r>
            <a:endParaRPr>
              <a:solidFill>
                <a:srgbClr val="595959"/>
              </a:solidFill>
            </a:endParaRPr>
          </a:p>
          <a:p>
            <a:pPr indent="-342900" lvl="0" marL="457200" rtl="0" algn="l">
              <a:spcBef>
                <a:spcPts val="0"/>
              </a:spcBef>
              <a:spcAft>
                <a:spcPts val="0"/>
              </a:spcAft>
              <a:buClr>
                <a:srgbClr val="595959"/>
              </a:buClr>
              <a:buSzPts val="1800"/>
              <a:buAutoNum type="arabicParenR"/>
            </a:pPr>
            <a:r>
              <a:rPr lang="fr">
                <a:solidFill>
                  <a:srgbClr val="595959"/>
                </a:solidFill>
              </a:rPr>
              <a:t>Knowledge Check (15’)</a:t>
            </a:r>
            <a:endParaRPr>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150850"/>
            <a:ext cx="8520600" cy="738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Product Ownership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What is product ownership ? </a:t>
            </a:r>
            <a:endParaRPr/>
          </a:p>
        </p:txBody>
      </p:sp>
      <p:sp>
        <p:nvSpPr>
          <p:cNvPr id="72" name="Google Shape;72;p16"/>
          <p:cNvSpPr txBox="1"/>
          <p:nvPr>
            <p:ph idx="1" type="body"/>
          </p:nvPr>
        </p:nvSpPr>
        <p:spPr>
          <a:xfrm>
            <a:off x="311700" y="1152475"/>
            <a:ext cx="8520600" cy="2681400"/>
          </a:xfrm>
          <a:prstGeom prst="rect">
            <a:avLst/>
          </a:prstGeom>
        </p:spPr>
        <p:txBody>
          <a:bodyPr anchorCtr="0" anchor="t" bIns="91425" lIns="91425" spcFirstLastPara="1" rIns="91425" wrap="square" tIns="91425">
            <a:spAutoFit/>
          </a:bodyPr>
          <a:lstStyle/>
          <a:p>
            <a:pPr indent="0" lvl="0" marL="0" rtl="0" algn="ctr">
              <a:spcBef>
                <a:spcPts val="1200"/>
              </a:spcBef>
              <a:spcAft>
                <a:spcPts val="0"/>
              </a:spcAft>
              <a:buNone/>
            </a:pPr>
            <a:r>
              <a:rPr lang="fr"/>
              <a:t>“D</a:t>
            </a:r>
            <a:r>
              <a:rPr lang="fr"/>
              <a:t>efining, prioritizing, and </a:t>
            </a:r>
            <a:r>
              <a:rPr lang="fr"/>
              <a:t>communicating the features and capabilities of a product to ensure that it meets the needs and expectations of customers and stakeholders.”</a:t>
            </a:r>
            <a:endParaRPr/>
          </a:p>
          <a:p>
            <a:pPr indent="0" lvl="0" marL="0" rtl="0" algn="ctr">
              <a:spcBef>
                <a:spcPts val="1200"/>
              </a:spcBef>
              <a:spcAft>
                <a:spcPts val="0"/>
              </a:spcAft>
              <a:buNone/>
            </a:pPr>
            <a:r>
              <a:t/>
            </a:r>
            <a:endParaRPr/>
          </a:p>
          <a:p>
            <a:pPr indent="0" lvl="0" marL="0" rtl="0" algn="l">
              <a:spcBef>
                <a:spcPts val="1200"/>
              </a:spcBef>
              <a:spcAft>
                <a:spcPts val="1200"/>
              </a:spcAft>
              <a:buNone/>
            </a:pPr>
            <a:r>
              <a:rPr lang="fr"/>
              <a:t>Critical in agile development methodologies because it helps to ensure that the </a:t>
            </a:r>
            <a:r>
              <a:rPr lang="fr"/>
              <a:t>p</a:t>
            </a:r>
            <a:r>
              <a:rPr lang="fr"/>
              <a:t>roduct is delivered on time, to a high quality, and with maximum value to the customer.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Role of a Product Owner</a:t>
            </a:r>
            <a:endParaRPr/>
          </a:p>
        </p:txBody>
      </p:sp>
      <p:sp>
        <p:nvSpPr>
          <p:cNvPr id="78" name="Google Shape;78;p17"/>
          <p:cNvSpPr txBox="1"/>
          <p:nvPr>
            <p:ph idx="1" type="body"/>
          </p:nvPr>
        </p:nvSpPr>
        <p:spPr>
          <a:xfrm>
            <a:off x="311700" y="1152475"/>
            <a:ext cx="8520600" cy="2362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The product owner is responsible for representing the interests of the customer and setting the strategic direction for the product. </a:t>
            </a:r>
            <a:endParaRPr/>
          </a:p>
          <a:p>
            <a:pPr indent="0" lvl="0" marL="0" rtl="0" algn="l">
              <a:spcBef>
                <a:spcPts val="1200"/>
              </a:spcBef>
              <a:spcAft>
                <a:spcPts val="0"/>
              </a:spcAft>
              <a:buNone/>
            </a:pPr>
            <a:r>
              <a:rPr lang="fr"/>
              <a:t>This includes :</a:t>
            </a:r>
            <a:endParaRPr/>
          </a:p>
          <a:p>
            <a:pPr indent="-342900" lvl="0" marL="457200" rtl="0" algn="l">
              <a:spcBef>
                <a:spcPts val="1200"/>
              </a:spcBef>
              <a:spcAft>
                <a:spcPts val="0"/>
              </a:spcAft>
              <a:buSzPts val="1800"/>
              <a:buChar char="-"/>
            </a:pPr>
            <a:r>
              <a:rPr lang="fr"/>
              <a:t>defining the product vision, roadmap, and release plan,</a:t>
            </a:r>
            <a:endParaRPr/>
          </a:p>
          <a:p>
            <a:pPr indent="-342900" lvl="0" marL="457200" rtl="0" algn="l">
              <a:spcBef>
                <a:spcPts val="0"/>
              </a:spcBef>
              <a:spcAft>
                <a:spcPts val="0"/>
              </a:spcAft>
              <a:buSzPts val="1800"/>
              <a:buChar char="-"/>
            </a:pPr>
            <a:r>
              <a:rPr lang="fr"/>
              <a:t>prioritizing the product backlog to ensure that the most valuable features are delivered first.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Responsibilities of a PO</a:t>
            </a:r>
            <a:endParaRPr/>
          </a:p>
        </p:txBody>
      </p:sp>
      <p:sp>
        <p:nvSpPr>
          <p:cNvPr id="84" name="Google Shape;84;p18"/>
          <p:cNvSpPr txBox="1"/>
          <p:nvPr>
            <p:ph idx="1" type="body"/>
          </p:nvPr>
        </p:nvSpPr>
        <p:spPr>
          <a:xfrm>
            <a:off x="311700" y="1154250"/>
            <a:ext cx="8520600" cy="14175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AutoNum type="arabicPeriod"/>
            </a:pPr>
            <a:r>
              <a:rPr lang="fr"/>
              <a:t>Define and communicate the product vision </a:t>
            </a:r>
            <a:endParaRPr/>
          </a:p>
          <a:p>
            <a:pPr indent="-298450" lvl="0" marL="457200" rtl="0" algn="l">
              <a:spcBef>
                <a:spcPts val="0"/>
              </a:spcBef>
              <a:spcAft>
                <a:spcPts val="0"/>
              </a:spcAft>
              <a:buClr>
                <a:schemeClr val="dk1"/>
              </a:buClr>
              <a:buSzPts val="1100"/>
              <a:buAutoNum type="arabicPeriod"/>
            </a:pPr>
            <a:r>
              <a:rPr lang="fr"/>
              <a:t>Prioritize and manage the product backlog</a:t>
            </a:r>
            <a:endParaRPr/>
          </a:p>
          <a:p>
            <a:pPr indent="-298450" lvl="0" marL="457200" rtl="0" algn="l">
              <a:spcBef>
                <a:spcPts val="0"/>
              </a:spcBef>
              <a:spcAft>
                <a:spcPts val="0"/>
              </a:spcAft>
              <a:buClr>
                <a:schemeClr val="dk1"/>
              </a:buClr>
              <a:buSzPts val="1100"/>
              <a:buAutoNum type="arabicPeriod"/>
            </a:pPr>
            <a:r>
              <a:rPr lang="fr"/>
              <a:t>Collaborate with cross-functional teams</a:t>
            </a:r>
            <a:endParaRPr/>
          </a:p>
          <a:p>
            <a:pPr indent="-298450" lvl="0" marL="457200" rtl="0" algn="l">
              <a:spcBef>
                <a:spcPts val="0"/>
              </a:spcBef>
              <a:spcAft>
                <a:spcPts val="0"/>
              </a:spcAft>
              <a:buClr>
                <a:schemeClr val="dk1"/>
              </a:buClr>
              <a:buSzPts val="1100"/>
              <a:buAutoNum type="arabicPeriod"/>
            </a:pPr>
            <a:r>
              <a:rPr lang="fr"/>
              <a:t>Communicate progress and updates to stakeholders</a:t>
            </a:r>
            <a:endParaRPr/>
          </a:p>
        </p:txBody>
      </p:sp>
      <p:pic>
        <p:nvPicPr>
          <p:cNvPr id="85" name="Google Shape;85;p18"/>
          <p:cNvPicPr preferRelativeResize="0"/>
          <p:nvPr/>
        </p:nvPicPr>
        <p:blipFill>
          <a:blip r:embed="rId3">
            <a:alphaModFix/>
          </a:blip>
          <a:stretch>
            <a:fillRect/>
          </a:stretch>
        </p:blipFill>
        <p:spPr>
          <a:xfrm>
            <a:off x="3438525" y="2665375"/>
            <a:ext cx="2266950" cy="2266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Product Owner vs. Project Manager ?</a:t>
            </a:r>
            <a:endParaRPr/>
          </a:p>
        </p:txBody>
      </p:sp>
      <p:sp>
        <p:nvSpPr>
          <p:cNvPr id="91" name="Google Shape;91;p19"/>
          <p:cNvSpPr txBox="1"/>
          <p:nvPr>
            <p:ph idx="1" type="body"/>
          </p:nvPr>
        </p:nvSpPr>
        <p:spPr>
          <a:xfrm>
            <a:off x="311700" y="1152475"/>
            <a:ext cx="8520600" cy="31647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Product owners are responsible for defining the product vision and strategy, and for prioritizing and managing the product backlog.</a:t>
            </a:r>
            <a:endParaRPr/>
          </a:p>
          <a:p>
            <a:pPr indent="-298450" lvl="0" marL="457200" rtl="0" algn="l">
              <a:spcBef>
                <a:spcPts val="0"/>
              </a:spcBef>
              <a:spcAft>
                <a:spcPts val="0"/>
              </a:spcAft>
              <a:buClr>
                <a:schemeClr val="dk1"/>
              </a:buClr>
              <a:buSzPts val="1100"/>
              <a:buChar char="●"/>
            </a:pPr>
            <a:r>
              <a:rPr lang="fr"/>
              <a:t>Project managers are responsible for planning and executing projects, and for managing resources and budgets to ensure that projects are completed on time and within scope.</a:t>
            </a:r>
            <a:endParaRPr/>
          </a:p>
          <a:p>
            <a:pPr indent="-298450" lvl="0" marL="457200" rtl="0" algn="l">
              <a:spcBef>
                <a:spcPts val="0"/>
              </a:spcBef>
              <a:spcAft>
                <a:spcPts val="0"/>
              </a:spcAft>
              <a:buClr>
                <a:schemeClr val="dk1"/>
              </a:buClr>
              <a:buSzPts val="1100"/>
              <a:buChar char="●"/>
            </a:pPr>
            <a:r>
              <a:rPr lang="fr"/>
              <a:t>Both product owners and project managers need strong leadership, communication, and problem-solving skills, but they have different areas of focus and responsibility.</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2150850"/>
            <a:ext cx="8520600" cy="738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Product vision &amp; strategy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Defining the product vision	</a:t>
            </a:r>
            <a:endParaRPr/>
          </a:p>
        </p:txBody>
      </p:sp>
      <p:sp>
        <p:nvSpPr>
          <p:cNvPr id="102" name="Google Shape;102;p21"/>
          <p:cNvSpPr txBox="1"/>
          <p:nvPr>
            <p:ph idx="1" type="body"/>
          </p:nvPr>
        </p:nvSpPr>
        <p:spPr>
          <a:xfrm>
            <a:off x="311700" y="1152475"/>
            <a:ext cx="8520600" cy="27336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lang="fr"/>
              <a:t>“</a:t>
            </a:r>
            <a:r>
              <a:rPr lang="fr"/>
              <a:t>A product vision provides a long-term direction for the product and helps to align stakeholders and cross-functional teams around a common goal.”</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fr"/>
              <a:t>Steps for defining the product vision:</a:t>
            </a:r>
            <a:endParaRPr/>
          </a:p>
          <a:p>
            <a:pPr indent="-311150" lvl="1" marL="914400" rtl="0" algn="l">
              <a:spcBef>
                <a:spcPts val="1200"/>
              </a:spcBef>
              <a:spcAft>
                <a:spcPts val="0"/>
              </a:spcAft>
              <a:buClr>
                <a:schemeClr val="dk1"/>
              </a:buClr>
              <a:buSzPts val="1300"/>
              <a:buAutoNum type="arabicPeriod"/>
            </a:pPr>
            <a:r>
              <a:rPr lang="fr" sz="1600"/>
              <a:t>Identify the target market and customer needs</a:t>
            </a:r>
            <a:endParaRPr sz="1600"/>
          </a:p>
          <a:p>
            <a:pPr indent="-311150" lvl="1" marL="914400" rtl="0" algn="l">
              <a:spcBef>
                <a:spcPts val="0"/>
              </a:spcBef>
              <a:spcAft>
                <a:spcPts val="0"/>
              </a:spcAft>
              <a:buClr>
                <a:schemeClr val="dk1"/>
              </a:buClr>
              <a:buSzPts val="1300"/>
              <a:buAutoNum type="arabicPeriod"/>
            </a:pPr>
            <a:r>
              <a:rPr lang="fr" sz="1600"/>
              <a:t>Determine the value proposition</a:t>
            </a:r>
            <a:endParaRPr sz="1600"/>
          </a:p>
          <a:p>
            <a:pPr indent="-311150" lvl="1" marL="914400" rtl="0" algn="l">
              <a:spcBef>
                <a:spcPts val="0"/>
              </a:spcBef>
              <a:spcAft>
                <a:spcPts val="0"/>
              </a:spcAft>
              <a:buClr>
                <a:schemeClr val="dk1"/>
              </a:buClr>
              <a:buSzPts val="1300"/>
              <a:buAutoNum type="arabicPeriod"/>
            </a:pPr>
            <a:r>
              <a:rPr lang="fr" sz="1600"/>
              <a:t>Define the product vision statement</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Product Roadmap</a:t>
            </a:r>
            <a:endParaRPr/>
          </a:p>
        </p:txBody>
      </p:sp>
      <p:sp>
        <p:nvSpPr>
          <p:cNvPr id="108" name="Google Shape;108;p22"/>
          <p:cNvSpPr txBox="1"/>
          <p:nvPr>
            <p:ph idx="1" type="body"/>
          </p:nvPr>
        </p:nvSpPr>
        <p:spPr>
          <a:xfrm>
            <a:off x="311700" y="1152475"/>
            <a:ext cx="8520600" cy="40035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lang="fr"/>
              <a:t>A product roadmap is a high-level overview of the features and capabilities that will be included in the product over time. It helps to align stakeholders and cross-functional teams around a common vision and provides a clear direction for development.</a:t>
            </a:r>
            <a:endParaRPr/>
          </a:p>
          <a:p>
            <a:pPr indent="0" lvl="0" marL="0" rtl="0" algn="l">
              <a:spcBef>
                <a:spcPts val="1200"/>
              </a:spcBef>
              <a:spcAft>
                <a:spcPts val="0"/>
              </a:spcAft>
              <a:buNone/>
            </a:pPr>
            <a:r>
              <a:rPr lang="fr"/>
              <a:t>Steps for developing a product roadmap:</a:t>
            </a:r>
            <a:endParaRPr/>
          </a:p>
          <a:p>
            <a:pPr indent="-298450" lvl="1" marL="914400" rtl="0" algn="l">
              <a:spcBef>
                <a:spcPts val="1200"/>
              </a:spcBef>
              <a:spcAft>
                <a:spcPts val="0"/>
              </a:spcAft>
              <a:buClr>
                <a:schemeClr val="dk1"/>
              </a:buClr>
              <a:buSzPts val="1100"/>
              <a:buAutoNum type="arabicPeriod"/>
            </a:pPr>
            <a:r>
              <a:rPr lang="fr"/>
              <a:t>Define the long-term goals and objectives for the product: What do you want to achieve with the product, and how will it benefit the customer and the business?</a:t>
            </a:r>
            <a:endParaRPr/>
          </a:p>
          <a:p>
            <a:pPr indent="-298450" lvl="1" marL="914400" rtl="0" algn="l">
              <a:spcBef>
                <a:spcPts val="0"/>
              </a:spcBef>
              <a:spcAft>
                <a:spcPts val="0"/>
              </a:spcAft>
              <a:buClr>
                <a:schemeClr val="dk1"/>
              </a:buClr>
              <a:buSzPts val="1100"/>
              <a:buAutoNum type="arabicPeriod"/>
            </a:pPr>
            <a:r>
              <a:rPr lang="fr"/>
              <a:t>Break down the goals into smaller, more manageable chunks: Divide the long-term goals into smaller, more achievable objectives that can be accomplished over shorter time periods.</a:t>
            </a:r>
            <a:endParaRPr/>
          </a:p>
          <a:p>
            <a:pPr indent="-298450" lvl="1" marL="914400" rtl="0" algn="l">
              <a:spcBef>
                <a:spcPts val="0"/>
              </a:spcBef>
              <a:spcAft>
                <a:spcPts val="0"/>
              </a:spcAft>
              <a:buClr>
                <a:schemeClr val="dk1"/>
              </a:buClr>
              <a:buSzPts val="1100"/>
              <a:buAutoNum type="arabicPeriod"/>
            </a:pPr>
            <a:r>
              <a:rPr lang="fr"/>
              <a:t>Prioritize the objectives: Determine which objectives are most important and should be tackled first, and which can wait for future releases.</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Priorisation</a:t>
            </a:r>
            <a:endParaRPr/>
          </a:p>
        </p:txBody>
      </p:sp>
      <p:sp>
        <p:nvSpPr>
          <p:cNvPr id="114" name="Google Shape;114;p23"/>
          <p:cNvSpPr txBox="1"/>
          <p:nvPr>
            <p:ph idx="1" type="body"/>
          </p:nvPr>
        </p:nvSpPr>
        <p:spPr>
          <a:xfrm>
            <a:off x="311700" y="1152475"/>
            <a:ext cx="8520600" cy="38619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lang="fr"/>
              <a:t>Prioritization is critical in product development because it helps to ensure that the most valuable features are delivered first and that resources are used efficiently.</a:t>
            </a:r>
            <a:endParaRPr/>
          </a:p>
          <a:p>
            <a:pPr indent="0" lvl="0" marL="0" rtl="0" algn="l">
              <a:spcBef>
                <a:spcPts val="1200"/>
              </a:spcBef>
              <a:spcAft>
                <a:spcPts val="0"/>
              </a:spcAft>
              <a:buNone/>
            </a:pPr>
            <a:r>
              <a:rPr lang="fr"/>
              <a:t>Techniques for prioritizing the product backlog:</a:t>
            </a:r>
            <a:endParaRPr/>
          </a:p>
          <a:p>
            <a:pPr indent="-298450" lvl="1" marL="914400" rtl="0" algn="l">
              <a:spcBef>
                <a:spcPts val="1200"/>
              </a:spcBef>
              <a:spcAft>
                <a:spcPts val="0"/>
              </a:spcAft>
              <a:buClr>
                <a:schemeClr val="dk1"/>
              </a:buClr>
              <a:buSzPts val="1100"/>
              <a:buAutoNum type="arabicPeriod"/>
            </a:pPr>
            <a:r>
              <a:rPr lang="fr"/>
              <a:t>Value vs. effort matrix: Plot each feature on a matrix based on its value to the customer and the effort required to implement it. This can help to prioritize features based on their potential impact and feasibility.</a:t>
            </a:r>
            <a:endParaRPr/>
          </a:p>
          <a:p>
            <a:pPr indent="-298450" lvl="1" marL="914400" rtl="0" algn="l">
              <a:spcBef>
                <a:spcPts val="0"/>
              </a:spcBef>
              <a:spcAft>
                <a:spcPts val="0"/>
              </a:spcAft>
              <a:buClr>
                <a:schemeClr val="dk1"/>
              </a:buClr>
              <a:buSzPts val="1100"/>
              <a:buAutoNum type="arabicPeriod"/>
            </a:pPr>
            <a:r>
              <a:rPr lang="fr"/>
              <a:t>Kano analysis: This technique involves grouping features into categories based on how they affect customer satisfaction. High-impact features (such as "delighters") should be prioritized over lower-impact features (such as "must-haves").</a:t>
            </a:r>
            <a:endParaRPr/>
          </a:p>
          <a:p>
            <a:pPr indent="-298450" lvl="1" marL="914400" rtl="0" algn="l">
              <a:spcBef>
                <a:spcPts val="0"/>
              </a:spcBef>
              <a:spcAft>
                <a:spcPts val="0"/>
              </a:spcAft>
              <a:buClr>
                <a:schemeClr val="dk1"/>
              </a:buClr>
              <a:buSzPts val="1100"/>
              <a:buAutoNum type="arabicPeriod"/>
            </a:pPr>
            <a:r>
              <a:rPr lang="fr"/>
              <a:t>MoSCoW method: This method involves prioritizing features as "must-haves," "should-haves," "could-haves," or "won't-haves" based on their importance and feasibility.</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What does it look like ? </a:t>
            </a:r>
            <a:endParaRPr/>
          </a:p>
        </p:txBody>
      </p:sp>
      <p:pic>
        <p:nvPicPr>
          <p:cNvPr id="120" name="Google Shape;120;p24"/>
          <p:cNvPicPr preferRelativeResize="0"/>
          <p:nvPr/>
        </p:nvPicPr>
        <p:blipFill rotWithShape="1">
          <a:blip r:embed="rId3">
            <a:alphaModFix/>
          </a:blip>
          <a:srcRect b="12254" l="4529" r="4337" t="7333"/>
          <a:stretch/>
        </p:blipFill>
        <p:spPr>
          <a:xfrm>
            <a:off x="953625" y="1060625"/>
            <a:ext cx="7236750" cy="3864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Exercise time (1h30’) - Groups of 3-5</a:t>
            </a:r>
            <a:endParaRPr/>
          </a:p>
        </p:txBody>
      </p:sp>
      <p:sp>
        <p:nvSpPr>
          <p:cNvPr id="126" name="Google Shape;126;p25"/>
          <p:cNvSpPr txBox="1"/>
          <p:nvPr>
            <p:ph idx="1" type="body"/>
          </p:nvPr>
        </p:nvSpPr>
        <p:spPr>
          <a:xfrm>
            <a:off x="311700" y="1152475"/>
            <a:ext cx="8520600" cy="3838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Choose an app / product / website you know quite well (ex : AirBnb, Instagram, Lydia, etc.)</a:t>
            </a:r>
            <a:endParaRPr/>
          </a:p>
          <a:p>
            <a:pPr indent="0" lvl="0" marL="0" rtl="0" algn="l">
              <a:spcBef>
                <a:spcPts val="1200"/>
              </a:spcBef>
              <a:spcAft>
                <a:spcPts val="0"/>
              </a:spcAft>
              <a:buNone/>
            </a:pPr>
            <a:r>
              <a:rPr lang="fr"/>
              <a:t>Follow the steps for creating a </a:t>
            </a:r>
            <a:r>
              <a:rPr lang="fr"/>
              <a:t>roadmap</a:t>
            </a:r>
            <a:r>
              <a:rPr lang="fr"/>
              <a:t> : </a:t>
            </a:r>
            <a:endParaRPr/>
          </a:p>
          <a:p>
            <a:pPr indent="-298450" lvl="1" marL="914400" rtl="0" algn="l">
              <a:spcBef>
                <a:spcPts val="1200"/>
              </a:spcBef>
              <a:spcAft>
                <a:spcPts val="0"/>
              </a:spcAft>
              <a:buClr>
                <a:schemeClr val="dk1"/>
              </a:buClr>
              <a:buSzPts val="1100"/>
              <a:buAutoNum type="arabicPeriod"/>
            </a:pPr>
            <a:r>
              <a:rPr lang="fr"/>
              <a:t>Define the long-term goals and objectives for the product: What do you want to achieve with the product, and how will it benefit the customer and the business?</a:t>
            </a:r>
            <a:endParaRPr/>
          </a:p>
          <a:p>
            <a:pPr indent="-298450" lvl="1" marL="914400" rtl="0" algn="l">
              <a:spcBef>
                <a:spcPts val="0"/>
              </a:spcBef>
              <a:spcAft>
                <a:spcPts val="0"/>
              </a:spcAft>
              <a:buClr>
                <a:schemeClr val="dk1"/>
              </a:buClr>
              <a:buSzPts val="1100"/>
              <a:buAutoNum type="arabicPeriod"/>
            </a:pPr>
            <a:r>
              <a:rPr lang="fr"/>
              <a:t>Break down the goals into smaller, more manageable chunks: Divide the long-term goals into smaller, more achievable objectives that can be accomplished over shorter time periods.</a:t>
            </a:r>
            <a:endParaRPr/>
          </a:p>
          <a:p>
            <a:pPr indent="-298450" lvl="1" marL="914400" rtl="0" algn="l">
              <a:spcBef>
                <a:spcPts val="0"/>
              </a:spcBef>
              <a:spcAft>
                <a:spcPts val="0"/>
              </a:spcAft>
              <a:buClr>
                <a:schemeClr val="dk1"/>
              </a:buClr>
              <a:buSzPts val="1100"/>
              <a:buAutoNum type="arabicPeriod"/>
            </a:pPr>
            <a:r>
              <a:rPr lang="fr"/>
              <a:t>Prioritize the objectives: Determine which objectives are most important and should be tackled first, and which can wait for future releases.</a:t>
            </a:r>
            <a:endParaRPr/>
          </a:p>
          <a:p>
            <a:pPr indent="0" lvl="0" marL="0" rtl="0" algn="l">
              <a:spcBef>
                <a:spcPts val="1200"/>
              </a:spcBef>
              <a:spcAft>
                <a:spcPts val="0"/>
              </a:spcAft>
              <a:buNone/>
            </a:pPr>
            <a:r>
              <a:rPr lang="fr"/>
              <a:t>Build the roadmap !</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2150850"/>
            <a:ext cx="8520600" cy="738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User Stories &amp; Priorisation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What are user stories ?</a:t>
            </a:r>
            <a:endParaRPr/>
          </a:p>
        </p:txBody>
      </p:sp>
      <p:sp>
        <p:nvSpPr>
          <p:cNvPr id="137" name="Google Shape;137;p27"/>
          <p:cNvSpPr txBox="1"/>
          <p:nvPr>
            <p:ph idx="1" type="body"/>
          </p:nvPr>
        </p:nvSpPr>
        <p:spPr>
          <a:xfrm>
            <a:off x="311700" y="1228675"/>
            <a:ext cx="8520600" cy="3780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User stories are short, simple descriptions of a feature or capability from the perspective of the user. They are used in agile development methodologies to capture the requirements for a product and to help guide development efforts.</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fr"/>
              <a:t>Usual format : </a:t>
            </a:r>
            <a:r>
              <a:rPr lang="fr"/>
              <a:t>As a [user], I want [feature or capability], so that [benefit].</a:t>
            </a:r>
            <a:endParaRPr/>
          </a:p>
          <a:p>
            <a:pPr indent="0" lvl="0" marL="45720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fr"/>
              <a:t>Acceptance criteria: A set of specific, measurable criteria that must be met in order for the user story to be considered complete.</a:t>
            </a:r>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(Read)(20’) Alternative : the Job Story</a:t>
            </a:r>
            <a:endParaRPr/>
          </a:p>
        </p:txBody>
      </p:sp>
      <p:sp>
        <p:nvSpPr>
          <p:cNvPr id="143" name="Google Shape;143;p28"/>
          <p:cNvSpPr txBox="1"/>
          <p:nvPr>
            <p:ph idx="1" type="body"/>
          </p:nvPr>
        </p:nvSpPr>
        <p:spPr>
          <a:xfrm>
            <a:off x="311700" y="1152475"/>
            <a:ext cx="8520600" cy="461700"/>
          </a:xfrm>
          <a:prstGeom prst="rect">
            <a:avLst/>
          </a:prstGeom>
        </p:spPr>
        <p:txBody>
          <a:bodyPr anchorCtr="0" anchor="t" bIns="91425" lIns="91425" spcFirstLastPara="1" rIns="91425" wrap="square" tIns="91425">
            <a:spAutoFit/>
          </a:bodyPr>
          <a:lstStyle/>
          <a:p>
            <a:pPr indent="0" lvl="0" marL="457200" rtl="0" algn="l">
              <a:spcBef>
                <a:spcPts val="1200"/>
              </a:spcBef>
              <a:spcAft>
                <a:spcPts val="1200"/>
              </a:spcAft>
              <a:buNone/>
            </a:pPr>
            <a:r>
              <a:t/>
            </a:r>
            <a:endParaRPr/>
          </a:p>
        </p:txBody>
      </p:sp>
      <p:pic>
        <p:nvPicPr>
          <p:cNvPr id="144" name="Google Shape;144;p28"/>
          <p:cNvPicPr preferRelativeResize="0"/>
          <p:nvPr/>
        </p:nvPicPr>
        <p:blipFill>
          <a:blip r:embed="rId3">
            <a:alphaModFix/>
          </a:blip>
          <a:stretch>
            <a:fillRect/>
          </a:stretch>
        </p:blipFill>
        <p:spPr>
          <a:xfrm>
            <a:off x="1135325" y="1739200"/>
            <a:ext cx="6873349" cy="2752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9"/>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Benefit of User stories</a:t>
            </a:r>
            <a:endParaRPr/>
          </a:p>
        </p:txBody>
      </p:sp>
      <p:sp>
        <p:nvSpPr>
          <p:cNvPr id="150" name="Google Shape;150;p29"/>
          <p:cNvSpPr txBox="1"/>
          <p:nvPr>
            <p:ph idx="1" type="body"/>
          </p:nvPr>
        </p:nvSpPr>
        <p:spPr>
          <a:xfrm>
            <a:off x="311700" y="1152475"/>
            <a:ext cx="8520600" cy="20550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fr"/>
              <a:t>User stories help to focus on the needs and goals of the user, rather than on technical details.</a:t>
            </a:r>
            <a:endParaRPr/>
          </a:p>
          <a:p>
            <a:pPr indent="-342900" lvl="0" marL="457200" rtl="0" algn="l">
              <a:spcBef>
                <a:spcPts val="0"/>
              </a:spcBef>
              <a:spcAft>
                <a:spcPts val="0"/>
              </a:spcAft>
              <a:buSzPts val="1800"/>
              <a:buChar char="●"/>
            </a:pPr>
            <a:r>
              <a:rPr lang="fr"/>
              <a:t>User stories facilitate collaboration and communication between product owners, developers, and other stakeholders.</a:t>
            </a:r>
            <a:endParaRPr/>
          </a:p>
          <a:p>
            <a:pPr indent="-342900" lvl="0" marL="457200" rtl="0" algn="l">
              <a:spcBef>
                <a:spcPts val="0"/>
              </a:spcBef>
              <a:spcAft>
                <a:spcPts val="0"/>
              </a:spcAft>
              <a:buSzPts val="1800"/>
              <a:buChar char="●"/>
            </a:pPr>
            <a:r>
              <a:rPr lang="fr"/>
              <a:t>User stories provide a flexible and adaptable way to capture and prioritize requirements.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Tips on writing User Stories</a:t>
            </a:r>
            <a:endParaRPr/>
          </a:p>
        </p:txBody>
      </p:sp>
      <p:sp>
        <p:nvSpPr>
          <p:cNvPr id="156" name="Google Shape;156;p30"/>
          <p:cNvSpPr txBox="1"/>
          <p:nvPr>
            <p:ph idx="1" type="body"/>
          </p:nvPr>
        </p:nvSpPr>
        <p:spPr>
          <a:xfrm>
            <a:off x="311700" y="1152475"/>
            <a:ext cx="8520600" cy="2738400"/>
          </a:xfrm>
          <a:prstGeom prst="rect">
            <a:avLst/>
          </a:prstGeom>
        </p:spPr>
        <p:txBody>
          <a:bodyPr anchorCtr="0" anchor="t" bIns="91425" lIns="91425" spcFirstLastPara="1" rIns="91425" wrap="square" tIns="91425">
            <a:spAutoFit/>
          </a:bodyPr>
          <a:lstStyle/>
          <a:p>
            <a:pPr indent="-361950" lvl="0" marL="457200" rtl="0" algn="l">
              <a:spcBef>
                <a:spcPts val="0"/>
              </a:spcBef>
              <a:spcAft>
                <a:spcPts val="0"/>
              </a:spcAft>
              <a:buSzPts val="2100"/>
              <a:buChar char="●"/>
            </a:pPr>
            <a:r>
              <a:rPr lang="fr" sz="2100"/>
              <a:t>Make sure the user story is clear and concise.</a:t>
            </a:r>
            <a:endParaRPr sz="2100"/>
          </a:p>
          <a:p>
            <a:pPr indent="-361950" lvl="0" marL="457200" rtl="0" algn="l">
              <a:spcBef>
                <a:spcPts val="0"/>
              </a:spcBef>
              <a:spcAft>
                <a:spcPts val="0"/>
              </a:spcAft>
              <a:buSzPts val="2100"/>
              <a:buChar char="●"/>
            </a:pPr>
            <a:r>
              <a:rPr lang="fr" sz="2100"/>
              <a:t>Make sure the user story has a clear value proposition for the user.</a:t>
            </a:r>
            <a:endParaRPr sz="2100"/>
          </a:p>
          <a:p>
            <a:pPr indent="-361950" lvl="0" marL="457200" rtl="0" algn="l">
              <a:spcBef>
                <a:spcPts val="0"/>
              </a:spcBef>
              <a:spcAft>
                <a:spcPts val="0"/>
              </a:spcAft>
              <a:buSzPts val="2100"/>
              <a:buChar char="●"/>
            </a:pPr>
            <a:r>
              <a:rPr lang="fr" sz="2100"/>
              <a:t>Make sure the acceptance criteria are specific and measurable.</a:t>
            </a:r>
            <a:endParaRPr sz="2100"/>
          </a:p>
          <a:p>
            <a:pPr indent="-361950" lvl="0" marL="457200" rtl="0" algn="l">
              <a:spcBef>
                <a:spcPts val="0"/>
              </a:spcBef>
              <a:spcAft>
                <a:spcPts val="0"/>
              </a:spcAft>
              <a:buSzPts val="2100"/>
              <a:buChar char="●"/>
            </a:pPr>
            <a:r>
              <a:rPr lang="fr" sz="2100"/>
              <a:t>Use examples and scenarios to illustrate the user story.</a:t>
            </a:r>
            <a:endParaRPr sz="2100"/>
          </a:p>
          <a:p>
            <a:pPr indent="-361950" lvl="0" marL="457200" rtl="0" algn="l">
              <a:spcBef>
                <a:spcPts val="0"/>
              </a:spcBef>
              <a:spcAft>
                <a:spcPts val="0"/>
              </a:spcAft>
              <a:buSzPts val="2100"/>
              <a:buChar char="●"/>
            </a:pPr>
            <a:r>
              <a:rPr lang="fr" sz="2100"/>
              <a:t>Collaborate with cross-functional teams to ensure that the user story is feasible and can be implemented in the given time frame.</a:t>
            </a:r>
            <a:endParaRPr sz="2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Definition of done	</a:t>
            </a:r>
            <a:endParaRPr/>
          </a:p>
        </p:txBody>
      </p:sp>
      <p:sp>
        <p:nvSpPr>
          <p:cNvPr id="162" name="Google Shape;162;p31"/>
          <p:cNvSpPr txBox="1"/>
          <p:nvPr>
            <p:ph idx="1" type="body"/>
          </p:nvPr>
        </p:nvSpPr>
        <p:spPr>
          <a:xfrm>
            <a:off x="311700" y="1152475"/>
            <a:ext cx="8520600" cy="3996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sz="2100"/>
              <a:t>S</a:t>
            </a:r>
            <a:r>
              <a:rPr lang="fr" sz="2100"/>
              <a:t>et of </a:t>
            </a:r>
            <a:r>
              <a:rPr lang="fr" sz="2100">
                <a:solidFill>
                  <a:srgbClr val="6AA84F"/>
                </a:solidFill>
              </a:rPr>
              <a:t>specific criteria</a:t>
            </a:r>
            <a:r>
              <a:rPr lang="fr" sz="2100"/>
              <a:t> that must be met in order for a </a:t>
            </a:r>
            <a:r>
              <a:rPr lang="fr" sz="2100">
                <a:solidFill>
                  <a:srgbClr val="3C78D8"/>
                </a:solidFill>
              </a:rPr>
              <a:t>user story</a:t>
            </a:r>
            <a:r>
              <a:rPr lang="fr" sz="2100"/>
              <a:t> or product feature to be </a:t>
            </a:r>
            <a:r>
              <a:rPr lang="fr" sz="2100">
                <a:solidFill>
                  <a:srgbClr val="E69138"/>
                </a:solidFill>
              </a:rPr>
              <a:t>considered complete</a:t>
            </a:r>
            <a:r>
              <a:rPr lang="fr" sz="2100"/>
              <a:t>. </a:t>
            </a:r>
            <a:endParaRPr sz="2100"/>
          </a:p>
          <a:p>
            <a:pPr indent="0" lvl="0" marL="0" rtl="0" algn="l">
              <a:spcBef>
                <a:spcPts val="1200"/>
              </a:spcBef>
              <a:spcAft>
                <a:spcPts val="0"/>
              </a:spcAft>
              <a:buClr>
                <a:schemeClr val="dk1"/>
              </a:buClr>
              <a:buSzPts val="1100"/>
              <a:buFont typeface="Arial"/>
              <a:buNone/>
            </a:pPr>
            <a:r>
              <a:rPr lang="fr" sz="2100"/>
              <a:t>List of key components that may be included in the definition of done:</a:t>
            </a:r>
            <a:endParaRPr sz="2100"/>
          </a:p>
          <a:p>
            <a:pPr indent="-279400" lvl="0" marL="457200" rtl="0" algn="l">
              <a:spcBef>
                <a:spcPts val="1200"/>
              </a:spcBef>
              <a:spcAft>
                <a:spcPts val="0"/>
              </a:spcAft>
              <a:buClr>
                <a:schemeClr val="dk1"/>
              </a:buClr>
              <a:buSzPts val="800"/>
              <a:buAutoNum type="arabicPeriod"/>
            </a:pPr>
            <a:r>
              <a:rPr lang="fr"/>
              <a:t>Code has been reviewed and is of high quality.</a:t>
            </a:r>
            <a:endParaRPr/>
          </a:p>
          <a:p>
            <a:pPr indent="-279400" lvl="0" marL="457200" rtl="0" algn="l">
              <a:spcBef>
                <a:spcPts val="0"/>
              </a:spcBef>
              <a:spcAft>
                <a:spcPts val="0"/>
              </a:spcAft>
              <a:buClr>
                <a:schemeClr val="dk1"/>
              </a:buClr>
              <a:buSzPts val="800"/>
              <a:buAutoNum type="arabicPeriod"/>
            </a:pPr>
            <a:r>
              <a:rPr lang="fr"/>
              <a:t>Unit tests and automated tests have been created and run successfully.</a:t>
            </a:r>
            <a:endParaRPr/>
          </a:p>
          <a:p>
            <a:pPr indent="-279400" lvl="0" marL="457200" rtl="0" algn="l">
              <a:spcBef>
                <a:spcPts val="0"/>
              </a:spcBef>
              <a:spcAft>
                <a:spcPts val="0"/>
              </a:spcAft>
              <a:buClr>
                <a:schemeClr val="dk1"/>
              </a:buClr>
              <a:buSzPts val="800"/>
              <a:buAutoNum type="arabicPeriod"/>
            </a:pPr>
            <a:r>
              <a:rPr lang="fr"/>
              <a:t>User documentation has been created and reviewed.</a:t>
            </a:r>
            <a:endParaRPr/>
          </a:p>
          <a:p>
            <a:pPr indent="-279400" lvl="0" marL="457200" rtl="0" algn="l">
              <a:spcBef>
                <a:spcPts val="0"/>
              </a:spcBef>
              <a:spcAft>
                <a:spcPts val="0"/>
              </a:spcAft>
              <a:buClr>
                <a:schemeClr val="dk1"/>
              </a:buClr>
              <a:buSzPts val="800"/>
              <a:buAutoNum type="arabicPeriod"/>
            </a:pPr>
            <a:r>
              <a:rPr lang="fr"/>
              <a:t>Feature has been tested by the QA team and any issues have been resolved.</a:t>
            </a:r>
            <a:endParaRPr/>
          </a:p>
          <a:p>
            <a:pPr indent="-279400" lvl="0" marL="457200" rtl="0" algn="l">
              <a:spcBef>
                <a:spcPts val="0"/>
              </a:spcBef>
              <a:spcAft>
                <a:spcPts val="0"/>
              </a:spcAft>
              <a:buClr>
                <a:schemeClr val="dk1"/>
              </a:buClr>
              <a:buSzPts val="800"/>
              <a:buAutoNum type="arabicPeriod"/>
            </a:pPr>
            <a:r>
              <a:rPr lang="fr"/>
              <a:t>Feature has been reviewed by the product owner and stakeholders and has received approval for release.</a:t>
            </a:r>
            <a:endParaRPr/>
          </a:p>
          <a:p>
            <a:pPr indent="0" lvl="0" marL="0" rtl="0" algn="l">
              <a:spcBef>
                <a:spcPts val="1200"/>
              </a:spcBef>
              <a:spcAft>
                <a:spcPts val="1200"/>
              </a:spcAft>
              <a:buNone/>
            </a:pPr>
            <a:r>
              <a:t/>
            </a:r>
            <a:endParaRPr sz="2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2"/>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Product backlog</a:t>
            </a:r>
            <a:endParaRPr/>
          </a:p>
        </p:txBody>
      </p:sp>
      <p:sp>
        <p:nvSpPr>
          <p:cNvPr id="168" name="Google Shape;168;p32"/>
          <p:cNvSpPr txBox="1"/>
          <p:nvPr>
            <p:ph idx="1" type="body"/>
          </p:nvPr>
        </p:nvSpPr>
        <p:spPr>
          <a:xfrm>
            <a:off x="311700" y="1152475"/>
            <a:ext cx="8520600" cy="780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fr">
                <a:solidFill>
                  <a:srgbClr val="6AA84F"/>
                </a:solidFill>
              </a:rPr>
              <a:t>P</a:t>
            </a:r>
            <a:r>
              <a:rPr lang="fr">
                <a:solidFill>
                  <a:srgbClr val="6AA84F"/>
                </a:solidFill>
              </a:rPr>
              <a:t>rioritized</a:t>
            </a:r>
            <a:r>
              <a:rPr lang="fr"/>
              <a:t> </a:t>
            </a:r>
            <a:r>
              <a:rPr lang="fr">
                <a:solidFill>
                  <a:srgbClr val="E69138"/>
                </a:solidFill>
              </a:rPr>
              <a:t>list</a:t>
            </a:r>
            <a:r>
              <a:rPr lang="fr"/>
              <a:t> of </a:t>
            </a:r>
            <a:r>
              <a:rPr i="1" lang="fr"/>
              <a:t>features</a:t>
            </a:r>
            <a:r>
              <a:rPr lang="fr"/>
              <a:t>, </a:t>
            </a:r>
            <a:r>
              <a:rPr i="1" lang="fr"/>
              <a:t>capabilities</a:t>
            </a:r>
            <a:r>
              <a:rPr lang="fr"/>
              <a:t>, and </a:t>
            </a:r>
            <a:r>
              <a:rPr i="1" lang="fr"/>
              <a:t>enhancements</a:t>
            </a:r>
            <a:r>
              <a:rPr lang="fr"/>
              <a:t> that are </a:t>
            </a:r>
            <a:r>
              <a:rPr lang="fr">
                <a:solidFill>
                  <a:srgbClr val="3C78D8"/>
                </a:solidFill>
              </a:rPr>
              <a:t>planned</a:t>
            </a:r>
            <a:r>
              <a:rPr lang="fr"/>
              <a:t> for a product.</a:t>
            </a:r>
            <a:endParaRPr/>
          </a:p>
        </p:txBody>
      </p:sp>
      <p:pic>
        <p:nvPicPr>
          <p:cNvPr id="169" name="Google Shape;169;p32"/>
          <p:cNvPicPr preferRelativeResize="0"/>
          <p:nvPr/>
        </p:nvPicPr>
        <p:blipFill>
          <a:blip r:embed="rId3">
            <a:alphaModFix/>
          </a:blip>
          <a:stretch>
            <a:fillRect/>
          </a:stretch>
        </p:blipFill>
        <p:spPr>
          <a:xfrm>
            <a:off x="3624796" y="2024625"/>
            <a:ext cx="1894400" cy="1894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Example of Product Backlog</a:t>
            </a:r>
            <a:endParaRPr/>
          </a:p>
        </p:txBody>
      </p:sp>
      <p:graphicFrame>
        <p:nvGraphicFramePr>
          <p:cNvPr id="175" name="Google Shape;175;p33"/>
          <p:cNvGraphicFramePr/>
          <p:nvPr/>
        </p:nvGraphicFramePr>
        <p:xfrm>
          <a:off x="183600" y="1239195"/>
          <a:ext cx="3000000" cy="3000000"/>
        </p:xfrm>
        <a:graphic>
          <a:graphicData uri="http://schemas.openxmlformats.org/drawingml/2006/table">
            <a:tbl>
              <a:tblPr>
                <a:noFill/>
                <a:tableStyleId>{08EA0D05-0EAC-4FEA-BAA0-C04098B8F6CB}</a:tableStyleId>
              </a:tblPr>
              <a:tblGrid>
                <a:gridCol w="457200"/>
                <a:gridCol w="400050"/>
                <a:gridCol w="695325"/>
                <a:gridCol w="7096125"/>
              </a:tblGrid>
              <a:tr h="397700">
                <a:tc>
                  <a:txBody>
                    <a:bodyPr/>
                    <a:lstStyle/>
                    <a:p>
                      <a:pPr indent="0" lvl="0" marL="0" rtl="0" algn="l">
                        <a:lnSpc>
                          <a:spcPct val="115000"/>
                        </a:lnSpc>
                        <a:spcBef>
                          <a:spcPts val="0"/>
                        </a:spcBef>
                        <a:spcAft>
                          <a:spcPts val="0"/>
                        </a:spcAft>
                        <a:buNone/>
                      </a:pPr>
                      <a:r>
                        <a:rPr lang="fr" sz="1000"/>
                        <a:t>Priority</a:t>
                      </a:r>
                      <a:endParaRPr sz="1000"/>
                    </a:p>
                  </a:txBody>
                  <a:tcPr marT="19050" marB="19050" marR="28575" marL="28575" anchor="b"/>
                </a:tc>
                <a:tc>
                  <a:txBody>
                    <a:bodyPr/>
                    <a:lstStyle/>
                    <a:p>
                      <a:pPr indent="0" lvl="0" marL="0" rtl="0" algn="l">
                        <a:lnSpc>
                          <a:spcPct val="115000"/>
                        </a:lnSpc>
                        <a:spcBef>
                          <a:spcPts val="0"/>
                        </a:spcBef>
                        <a:spcAft>
                          <a:spcPts val="0"/>
                        </a:spcAft>
                        <a:buNone/>
                      </a:pPr>
                      <a:r>
                        <a:rPr lang="fr" sz="1000"/>
                        <a:t>Sprint</a:t>
                      </a:r>
                      <a:endParaRPr sz="1000"/>
                    </a:p>
                  </a:txBody>
                  <a:tcPr marT="19050" marB="19050" marR="28575" marL="28575" anchor="b"/>
                </a:tc>
                <a:tc>
                  <a:txBody>
                    <a:bodyPr/>
                    <a:lstStyle/>
                    <a:p>
                      <a:pPr indent="0" lvl="0" marL="0" rtl="0" algn="l">
                        <a:lnSpc>
                          <a:spcPct val="115000"/>
                        </a:lnSpc>
                        <a:spcBef>
                          <a:spcPts val="0"/>
                        </a:spcBef>
                        <a:spcAft>
                          <a:spcPts val="0"/>
                        </a:spcAft>
                        <a:buNone/>
                      </a:pPr>
                      <a:r>
                        <a:rPr lang="fr" sz="1000"/>
                        <a:t>Complexity</a:t>
                      </a:r>
                      <a:endParaRPr sz="1000"/>
                    </a:p>
                  </a:txBody>
                  <a:tcPr marT="19050" marB="19050" marR="28575" marL="28575" anchor="b"/>
                </a:tc>
                <a:tc>
                  <a:txBody>
                    <a:bodyPr/>
                    <a:lstStyle/>
                    <a:p>
                      <a:pPr indent="0" lvl="0" marL="0" rtl="0" algn="l">
                        <a:lnSpc>
                          <a:spcPct val="115000"/>
                        </a:lnSpc>
                        <a:spcBef>
                          <a:spcPts val="0"/>
                        </a:spcBef>
                        <a:spcAft>
                          <a:spcPts val="0"/>
                        </a:spcAft>
                        <a:buNone/>
                      </a:pPr>
                      <a:r>
                        <a:rPr lang="fr" sz="1000"/>
                        <a:t>User Story</a:t>
                      </a:r>
                      <a:endParaRPr sz="1000"/>
                    </a:p>
                  </a:txBody>
                  <a:tcPr marT="19050" marB="19050" marR="28575" marL="28575" anchor="b"/>
                </a:tc>
              </a:tr>
              <a:tr h="429950">
                <a:tc>
                  <a:txBody>
                    <a:bodyPr/>
                    <a:lstStyle/>
                    <a:p>
                      <a:pPr indent="0" lvl="0" marL="0" rtl="0" algn="l">
                        <a:lnSpc>
                          <a:spcPct val="115000"/>
                        </a:lnSpc>
                        <a:spcBef>
                          <a:spcPts val="0"/>
                        </a:spcBef>
                        <a:spcAft>
                          <a:spcPts val="0"/>
                        </a:spcAft>
                        <a:buNone/>
                      </a:pPr>
                      <a:r>
                        <a:rPr lang="fr" sz="1000"/>
                        <a:t>P0</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1</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8</a:t>
                      </a:r>
                      <a:endParaRPr sz="1000"/>
                    </a:p>
                  </a:txBody>
                  <a:tcPr marT="19050" marB="19050" marR="28575" marL="28575" anchor="b"/>
                </a:tc>
                <a:tc>
                  <a:txBody>
                    <a:bodyPr/>
                    <a:lstStyle/>
                    <a:p>
                      <a:pPr indent="0" lvl="0" marL="0" rtl="0" algn="l">
                        <a:lnSpc>
                          <a:spcPct val="115000"/>
                        </a:lnSpc>
                        <a:spcBef>
                          <a:spcPts val="0"/>
                        </a:spcBef>
                        <a:spcAft>
                          <a:spcPts val="0"/>
                        </a:spcAft>
                        <a:buNone/>
                      </a:pPr>
                      <a:r>
                        <a:rPr lang="fr" sz="1000"/>
                        <a:t>As a user, I want to be able to view a feed of user-generated content, including photos and videos, so that I can discover new and interesting content.</a:t>
                      </a:r>
                      <a:endParaRPr sz="1000"/>
                    </a:p>
                  </a:txBody>
                  <a:tcPr marT="19050" marB="19050" marR="28575" marL="28575" anchor="b"/>
                </a:tc>
              </a:tr>
              <a:tr h="429950">
                <a:tc>
                  <a:txBody>
                    <a:bodyPr/>
                    <a:lstStyle/>
                    <a:p>
                      <a:pPr indent="0" lvl="0" marL="0" rtl="0" algn="l">
                        <a:lnSpc>
                          <a:spcPct val="115000"/>
                        </a:lnSpc>
                        <a:spcBef>
                          <a:spcPts val="0"/>
                        </a:spcBef>
                        <a:spcAft>
                          <a:spcPts val="0"/>
                        </a:spcAft>
                        <a:buNone/>
                      </a:pPr>
                      <a:r>
                        <a:rPr lang="fr" sz="1000"/>
                        <a:t>P0</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1</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5</a:t>
                      </a:r>
                      <a:endParaRPr sz="1000"/>
                    </a:p>
                  </a:txBody>
                  <a:tcPr marT="19050" marB="19050" marR="28575" marL="28575" anchor="b"/>
                </a:tc>
                <a:tc>
                  <a:txBody>
                    <a:bodyPr/>
                    <a:lstStyle/>
                    <a:p>
                      <a:pPr indent="0" lvl="0" marL="0" rtl="0" algn="l">
                        <a:lnSpc>
                          <a:spcPct val="115000"/>
                        </a:lnSpc>
                        <a:spcBef>
                          <a:spcPts val="0"/>
                        </a:spcBef>
                        <a:spcAft>
                          <a:spcPts val="0"/>
                        </a:spcAft>
                        <a:buNone/>
                      </a:pPr>
                      <a:r>
                        <a:rPr lang="fr" sz="1000"/>
                        <a:t>As a user, I want to be able to follow other users and view their content in a single feed, so that I can keep up with the content that I am interested in.</a:t>
                      </a:r>
                      <a:endParaRPr sz="1000"/>
                    </a:p>
                  </a:txBody>
                  <a:tcPr marT="19050" marB="19050" marR="28575" marL="28575" anchor="b"/>
                </a:tc>
              </a:tr>
              <a:tr h="236475">
                <a:tc>
                  <a:txBody>
                    <a:bodyPr/>
                    <a:lstStyle/>
                    <a:p>
                      <a:pPr indent="0" lvl="0" marL="0" rtl="0" algn="l">
                        <a:lnSpc>
                          <a:spcPct val="115000"/>
                        </a:lnSpc>
                        <a:spcBef>
                          <a:spcPts val="0"/>
                        </a:spcBef>
                        <a:spcAft>
                          <a:spcPts val="0"/>
                        </a:spcAft>
                        <a:buNone/>
                      </a:pPr>
                      <a:r>
                        <a:rPr lang="fr" sz="1000"/>
                        <a:t>P0</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1</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3</a:t>
                      </a:r>
                      <a:endParaRPr sz="1000"/>
                    </a:p>
                  </a:txBody>
                  <a:tcPr marT="19050" marB="19050" marR="28575" marL="28575" anchor="b"/>
                </a:tc>
                <a:tc>
                  <a:txBody>
                    <a:bodyPr/>
                    <a:lstStyle/>
                    <a:p>
                      <a:pPr indent="0" lvl="0" marL="0" rtl="0" algn="l">
                        <a:lnSpc>
                          <a:spcPct val="115000"/>
                        </a:lnSpc>
                        <a:spcBef>
                          <a:spcPts val="0"/>
                        </a:spcBef>
                        <a:spcAft>
                          <a:spcPts val="0"/>
                        </a:spcAft>
                        <a:buNone/>
                      </a:pPr>
                      <a:r>
                        <a:rPr lang="fr" sz="1000"/>
                        <a:t>As a user, I want to be able to like and comment on posts, so that I can interact with the content and the community.</a:t>
                      </a:r>
                      <a:endParaRPr sz="1000"/>
                    </a:p>
                  </a:txBody>
                  <a:tcPr marT="19050" marB="19050" marR="28575" marL="28575" anchor="b"/>
                </a:tc>
              </a:tr>
              <a:tr h="429950">
                <a:tc>
                  <a:txBody>
                    <a:bodyPr/>
                    <a:lstStyle/>
                    <a:p>
                      <a:pPr indent="0" lvl="0" marL="0" rtl="0" algn="l">
                        <a:lnSpc>
                          <a:spcPct val="115000"/>
                        </a:lnSpc>
                        <a:spcBef>
                          <a:spcPts val="0"/>
                        </a:spcBef>
                        <a:spcAft>
                          <a:spcPts val="0"/>
                        </a:spcAft>
                        <a:buNone/>
                      </a:pPr>
                      <a:r>
                        <a:rPr lang="fr" sz="1000"/>
                        <a:t>P0</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2</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5</a:t>
                      </a:r>
                      <a:endParaRPr sz="1000"/>
                    </a:p>
                  </a:txBody>
                  <a:tcPr marT="19050" marB="19050" marR="28575" marL="28575" anchor="b"/>
                </a:tc>
                <a:tc>
                  <a:txBody>
                    <a:bodyPr/>
                    <a:lstStyle/>
                    <a:p>
                      <a:pPr indent="0" lvl="0" marL="0" rtl="0" algn="l">
                        <a:lnSpc>
                          <a:spcPct val="115000"/>
                        </a:lnSpc>
                        <a:spcBef>
                          <a:spcPts val="0"/>
                        </a:spcBef>
                        <a:spcAft>
                          <a:spcPts val="0"/>
                        </a:spcAft>
                        <a:buNone/>
                      </a:pPr>
                      <a:r>
                        <a:rPr lang="fr" sz="1000"/>
                        <a:t>As a user, I want to be able to search for other users and specific hashtags, so that I can find and connect with people and content that interests me.</a:t>
                      </a:r>
                      <a:endParaRPr sz="1000"/>
                    </a:p>
                  </a:txBody>
                  <a:tcPr marT="19050" marB="19050" marR="28575" marL="28575" anchor="b"/>
                </a:tc>
              </a:tr>
              <a:tr h="429950">
                <a:tc>
                  <a:txBody>
                    <a:bodyPr/>
                    <a:lstStyle/>
                    <a:p>
                      <a:pPr indent="0" lvl="0" marL="0" rtl="0" algn="l">
                        <a:lnSpc>
                          <a:spcPct val="115000"/>
                        </a:lnSpc>
                        <a:spcBef>
                          <a:spcPts val="0"/>
                        </a:spcBef>
                        <a:spcAft>
                          <a:spcPts val="0"/>
                        </a:spcAft>
                        <a:buNone/>
                      </a:pPr>
                      <a:r>
                        <a:rPr lang="fr" sz="1000"/>
                        <a:t>P0</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2</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8</a:t>
                      </a:r>
                      <a:endParaRPr sz="1000"/>
                    </a:p>
                  </a:txBody>
                  <a:tcPr marT="19050" marB="19050" marR="28575" marL="28575" anchor="b"/>
                </a:tc>
                <a:tc>
                  <a:txBody>
                    <a:bodyPr/>
                    <a:lstStyle/>
                    <a:p>
                      <a:pPr indent="0" lvl="0" marL="0" rtl="0" algn="l">
                        <a:lnSpc>
                          <a:spcPct val="115000"/>
                        </a:lnSpc>
                        <a:spcBef>
                          <a:spcPts val="0"/>
                        </a:spcBef>
                        <a:spcAft>
                          <a:spcPts val="0"/>
                        </a:spcAft>
                        <a:buNone/>
                      </a:pPr>
                      <a:r>
                        <a:rPr lang="fr" sz="1000"/>
                        <a:t>As a user, I want to be able to create and manage my own profile, including the ability to add a profile picture and bio, so that I can represent myself on the app.</a:t>
                      </a:r>
                      <a:endParaRPr sz="1000"/>
                    </a:p>
                  </a:txBody>
                  <a:tcPr marT="19050" marB="19050" marR="28575" marL="28575" anchor="b"/>
                </a:tc>
              </a:tr>
              <a:tr h="429950">
                <a:tc>
                  <a:txBody>
                    <a:bodyPr/>
                    <a:lstStyle/>
                    <a:p>
                      <a:pPr indent="0" lvl="0" marL="0" rtl="0" algn="l">
                        <a:lnSpc>
                          <a:spcPct val="115000"/>
                        </a:lnSpc>
                        <a:spcBef>
                          <a:spcPts val="0"/>
                        </a:spcBef>
                        <a:spcAft>
                          <a:spcPts val="0"/>
                        </a:spcAft>
                        <a:buNone/>
                      </a:pPr>
                      <a:r>
                        <a:rPr lang="fr" sz="1000"/>
                        <a:t>P1</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2</a:t>
                      </a:r>
                      <a:endParaRPr sz="1000"/>
                    </a:p>
                  </a:txBody>
                  <a:tcPr marT="19050" marB="19050" marR="28575" marL="28575" anchor="b"/>
                </a:tc>
                <a:tc>
                  <a:txBody>
                    <a:bodyPr/>
                    <a:lstStyle/>
                    <a:p>
                      <a:pPr indent="0" lvl="0" marL="0" rtl="0" algn="r">
                        <a:lnSpc>
                          <a:spcPct val="115000"/>
                        </a:lnSpc>
                        <a:spcBef>
                          <a:spcPts val="0"/>
                        </a:spcBef>
                        <a:spcAft>
                          <a:spcPts val="0"/>
                        </a:spcAft>
                        <a:buNone/>
                      </a:pPr>
                      <a:r>
                        <a:rPr lang="fr" sz="1000"/>
                        <a:t>8</a:t>
                      </a:r>
                      <a:endParaRPr sz="1000"/>
                    </a:p>
                  </a:txBody>
                  <a:tcPr marT="19050" marB="19050" marR="28575" marL="28575" anchor="b"/>
                </a:tc>
                <a:tc>
                  <a:txBody>
                    <a:bodyPr/>
                    <a:lstStyle/>
                    <a:p>
                      <a:pPr indent="0" lvl="0" marL="0" rtl="0" algn="l">
                        <a:lnSpc>
                          <a:spcPct val="115000"/>
                        </a:lnSpc>
                        <a:spcBef>
                          <a:spcPts val="0"/>
                        </a:spcBef>
                        <a:spcAft>
                          <a:spcPts val="0"/>
                        </a:spcAft>
                        <a:buNone/>
                      </a:pPr>
                      <a:r>
                        <a:rPr lang="fr" sz="1000"/>
                        <a:t>As a user, I want to be able to edit and filter my photos, so that I can improve their appearance and share them more effectively.</a:t>
                      </a:r>
                      <a:endParaRPr sz="1000"/>
                    </a:p>
                  </a:txBody>
                  <a:tcPr marT="19050" marB="19050" marR="28575" marL="28575" anchor="b"/>
                </a:tc>
              </a:tr>
              <a:tr h="283775">
                <a:tc>
                  <a:txBody>
                    <a:bodyPr/>
                    <a:lstStyle/>
                    <a:p>
                      <a:pPr indent="0" lvl="0" marL="0" rtl="0" algn="l">
                        <a:lnSpc>
                          <a:spcPct val="115000"/>
                        </a:lnSpc>
                        <a:spcBef>
                          <a:spcPts val="0"/>
                        </a:spcBef>
                        <a:spcAft>
                          <a:spcPts val="0"/>
                        </a:spcAft>
                        <a:buNone/>
                      </a:pPr>
                      <a:r>
                        <a:rPr lang="fr" sz="1000"/>
                        <a:t>P1</a:t>
                      </a:r>
                      <a:endParaRPr sz="1000"/>
                    </a:p>
                  </a:txBody>
                  <a:tcPr marT="19050" marB="19050" marR="28575" marL="28575" anchor="b"/>
                </a:tc>
                <a:tc>
                  <a:txBody>
                    <a:bodyPr/>
                    <a:lstStyle/>
                    <a:p>
                      <a:pPr indent="0" lvl="0" marL="0" rtl="0" algn="l">
                        <a:spcBef>
                          <a:spcPts val="0"/>
                        </a:spcBef>
                        <a:spcAft>
                          <a:spcPts val="0"/>
                        </a:spcAft>
                        <a:buNone/>
                      </a:pPr>
                      <a:r>
                        <a:t/>
                      </a:r>
                      <a:endParaRPr/>
                    </a:p>
                  </a:txBody>
                  <a:tcPr marT="19050" marB="19050" marR="28575" marL="28575" anchor="b"/>
                </a:tc>
                <a:tc>
                  <a:txBody>
                    <a:bodyPr/>
                    <a:lstStyle/>
                    <a:p>
                      <a:pPr indent="0" lvl="0" marL="0" rtl="0" algn="r">
                        <a:lnSpc>
                          <a:spcPct val="115000"/>
                        </a:lnSpc>
                        <a:spcBef>
                          <a:spcPts val="0"/>
                        </a:spcBef>
                        <a:spcAft>
                          <a:spcPts val="0"/>
                        </a:spcAft>
                        <a:buNone/>
                      </a:pPr>
                      <a:r>
                        <a:rPr lang="fr" sz="1000"/>
                        <a:t>5</a:t>
                      </a:r>
                      <a:endParaRPr sz="1000"/>
                    </a:p>
                  </a:txBody>
                  <a:tcPr marT="19050" marB="19050" marR="28575" marL="28575" anchor="b"/>
                </a:tc>
                <a:tc>
                  <a:txBody>
                    <a:bodyPr/>
                    <a:lstStyle/>
                    <a:p>
                      <a:pPr indent="0" lvl="0" marL="0" rtl="0" algn="l">
                        <a:lnSpc>
                          <a:spcPct val="115000"/>
                        </a:lnSpc>
                        <a:spcBef>
                          <a:spcPts val="0"/>
                        </a:spcBef>
                        <a:spcAft>
                          <a:spcPts val="0"/>
                        </a:spcAft>
                        <a:buNone/>
                      </a:pPr>
                      <a:r>
                        <a:rPr lang="fr" sz="1000"/>
                        <a:t>As a user, I want to be able to tag other users in my posts, so that I can credit them and share content with them.</a:t>
                      </a:r>
                      <a:endParaRPr sz="1000"/>
                    </a:p>
                  </a:txBody>
                  <a:tcPr marT="19050" marB="19050" marR="28575" marL="28575" anchor="b"/>
                </a:tc>
              </a:tr>
              <a:tr h="283775">
                <a:tc>
                  <a:txBody>
                    <a:bodyPr/>
                    <a:lstStyle/>
                    <a:p>
                      <a:pPr indent="0" lvl="0" marL="0" rtl="0" algn="l">
                        <a:lnSpc>
                          <a:spcPct val="115000"/>
                        </a:lnSpc>
                        <a:spcBef>
                          <a:spcPts val="0"/>
                        </a:spcBef>
                        <a:spcAft>
                          <a:spcPts val="0"/>
                        </a:spcAft>
                        <a:buNone/>
                      </a:pPr>
                      <a:r>
                        <a:rPr lang="fr" sz="1000"/>
                        <a:t>P1</a:t>
                      </a:r>
                      <a:endParaRPr sz="1000"/>
                    </a:p>
                  </a:txBody>
                  <a:tcPr marT="19050" marB="19050" marR="28575" marL="28575" anchor="b"/>
                </a:tc>
                <a:tc>
                  <a:txBody>
                    <a:bodyPr/>
                    <a:lstStyle/>
                    <a:p>
                      <a:pPr indent="0" lvl="0" marL="0" rtl="0" algn="l">
                        <a:spcBef>
                          <a:spcPts val="0"/>
                        </a:spcBef>
                        <a:spcAft>
                          <a:spcPts val="0"/>
                        </a:spcAft>
                        <a:buNone/>
                      </a:pPr>
                      <a:r>
                        <a:t/>
                      </a:r>
                      <a:endParaRPr/>
                    </a:p>
                  </a:txBody>
                  <a:tcPr marT="19050" marB="19050" marR="28575" marL="28575" anchor="b"/>
                </a:tc>
                <a:tc>
                  <a:txBody>
                    <a:bodyPr/>
                    <a:lstStyle/>
                    <a:p>
                      <a:pPr indent="0" lvl="0" marL="0" rtl="0" algn="r">
                        <a:lnSpc>
                          <a:spcPct val="115000"/>
                        </a:lnSpc>
                        <a:spcBef>
                          <a:spcPts val="0"/>
                        </a:spcBef>
                        <a:spcAft>
                          <a:spcPts val="0"/>
                        </a:spcAft>
                        <a:buNone/>
                      </a:pPr>
                      <a:r>
                        <a:rPr lang="fr" sz="1000"/>
                        <a:t>16</a:t>
                      </a:r>
                      <a:endParaRPr sz="1000"/>
                    </a:p>
                  </a:txBody>
                  <a:tcPr marT="19050" marB="19050" marR="28575" marL="28575" anchor="b"/>
                </a:tc>
                <a:tc>
                  <a:txBody>
                    <a:bodyPr/>
                    <a:lstStyle/>
                    <a:p>
                      <a:pPr indent="0" lvl="0" marL="0" rtl="0" algn="l">
                        <a:lnSpc>
                          <a:spcPct val="115000"/>
                        </a:lnSpc>
                        <a:spcBef>
                          <a:spcPts val="0"/>
                        </a:spcBef>
                        <a:spcAft>
                          <a:spcPts val="0"/>
                        </a:spcAft>
                        <a:buNone/>
                      </a:pPr>
                      <a:r>
                        <a:rPr lang="fr" sz="1000"/>
                        <a:t>As a user, I want to be able to direct message other users, so that I can communicate with them privately.</a:t>
                      </a:r>
                      <a:endParaRPr sz="1000"/>
                    </a:p>
                  </a:txBody>
                  <a:tcPr marT="19050" marB="19050" marR="28575" marL="28575" anchor="b"/>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Exercise (1h+) </a:t>
            </a:r>
            <a:r>
              <a:rPr lang="fr"/>
              <a:t> - Same Groups</a:t>
            </a:r>
            <a:endParaRPr/>
          </a:p>
        </p:txBody>
      </p:sp>
      <p:sp>
        <p:nvSpPr>
          <p:cNvPr id="181" name="Google Shape;181;p34"/>
          <p:cNvSpPr txBox="1"/>
          <p:nvPr>
            <p:ph idx="1" type="body"/>
          </p:nvPr>
        </p:nvSpPr>
        <p:spPr>
          <a:xfrm>
            <a:off x="311700" y="1152475"/>
            <a:ext cx="8520600" cy="2989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Go back to your previously created roadmap.</a:t>
            </a:r>
            <a:endParaRPr/>
          </a:p>
          <a:p>
            <a:pPr indent="0" lvl="0" marL="0" rtl="0" algn="l">
              <a:spcBef>
                <a:spcPts val="1200"/>
              </a:spcBef>
              <a:spcAft>
                <a:spcPts val="0"/>
              </a:spcAft>
              <a:buNone/>
            </a:pPr>
            <a:r>
              <a:rPr lang="fr"/>
              <a:t>Break down each roadmap blocks into features (try to get about 30-40 features)</a:t>
            </a:r>
            <a:endParaRPr/>
          </a:p>
          <a:p>
            <a:pPr indent="0" lvl="0" marL="0" rtl="0" algn="l">
              <a:spcBef>
                <a:spcPts val="1200"/>
              </a:spcBef>
              <a:spcAft>
                <a:spcPts val="0"/>
              </a:spcAft>
              <a:buNone/>
            </a:pPr>
            <a:r>
              <a:rPr lang="fr"/>
              <a:t>For each feature, write its user story / job story (your choice)</a:t>
            </a:r>
            <a:endParaRPr/>
          </a:p>
          <a:p>
            <a:pPr indent="0" lvl="0" marL="0" rtl="0" algn="l">
              <a:spcBef>
                <a:spcPts val="1200"/>
              </a:spcBef>
              <a:spcAft>
                <a:spcPts val="0"/>
              </a:spcAft>
              <a:buNone/>
            </a:pPr>
            <a:r>
              <a:rPr b="1" lang="fr"/>
              <a:t>While doing so : organise your work as a </a:t>
            </a:r>
            <a:r>
              <a:rPr b="1" lang="fr" u="sng"/>
              <a:t>maintainable product backlog</a:t>
            </a:r>
            <a:r>
              <a:rPr b="1" lang="fr"/>
              <a:t>. </a:t>
            </a:r>
            <a:r>
              <a:rPr lang="fr"/>
              <a:t>(Choose your tools carefully :) )</a:t>
            </a:r>
            <a:endParaRPr/>
          </a:p>
          <a:p>
            <a:pPr indent="0" lvl="0" marL="0" rtl="0" algn="l">
              <a:spcBef>
                <a:spcPts val="1200"/>
              </a:spcBef>
              <a:spcAft>
                <a:spcPts val="1200"/>
              </a:spcAft>
              <a:buNone/>
            </a:pPr>
            <a:r>
              <a:rPr lang="fr"/>
              <a:t>Write your </a:t>
            </a:r>
            <a:r>
              <a:rPr lang="fr" u="sng"/>
              <a:t>own</a:t>
            </a:r>
            <a:r>
              <a:rPr lang="fr"/>
              <a:t> Definition of Done, based on your product’s need and your own experience.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Planning Poker</a:t>
            </a:r>
            <a:endParaRPr/>
          </a:p>
        </p:txBody>
      </p:sp>
      <p:sp>
        <p:nvSpPr>
          <p:cNvPr id="187" name="Google Shape;187;p35"/>
          <p:cNvSpPr txBox="1"/>
          <p:nvPr>
            <p:ph idx="1" type="body"/>
          </p:nvPr>
        </p:nvSpPr>
        <p:spPr>
          <a:xfrm>
            <a:off x="311700" y="1152475"/>
            <a:ext cx="8520600" cy="39666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AutoNum type="arabicPeriod"/>
            </a:pPr>
            <a:r>
              <a:rPr lang="fr"/>
              <a:t>Planning poker is a method for estimating the effort required to complete user stories or tasks in an agile development process.</a:t>
            </a:r>
            <a:endParaRPr/>
          </a:p>
          <a:p>
            <a:pPr indent="-298450" lvl="0" marL="457200" rtl="0" algn="l">
              <a:spcBef>
                <a:spcPts val="0"/>
              </a:spcBef>
              <a:spcAft>
                <a:spcPts val="0"/>
              </a:spcAft>
              <a:buClr>
                <a:schemeClr val="dk1"/>
              </a:buClr>
              <a:buSzPts val="1100"/>
              <a:buAutoNum type="arabicPeriod"/>
            </a:pPr>
            <a:r>
              <a:rPr lang="fr"/>
              <a:t>Each player is given a deck of cards with numbers representing different levels of effort, such as 0, 1, 2, 3, 5, 8, 13, 20, 40, or 100.</a:t>
            </a:r>
            <a:endParaRPr/>
          </a:p>
          <a:p>
            <a:pPr indent="-298450" lvl="0" marL="457200" rtl="0" algn="l">
              <a:spcBef>
                <a:spcPts val="0"/>
              </a:spcBef>
              <a:spcAft>
                <a:spcPts val="0"/>
              </a:spcAft>
              <a:buClr>
                <a:schemeClr val="dk1"/>
              </a:buClr>
              <a:buSzPts val="1100"/>
              <a:buAutoNum type="arabicPeriod"/>
            </a:pPr>
            <a:r>
              <a:rPr lang="fr"/>
              <a:t>The product owner or facilitator presents a user story or task and each player selects a card to represent their estimate of the effort required to complete it.</a:t>
            </a:r>
            <a:endParaRPr/>
          </a:p>
          <a:p>
            <a:pPr indent="-298450" lvl="0" marL="457200" rtl="0" algn="l">
              <a:spcBef>
                <a:spcPts val="0"/>
              </a:spcBef>
              <a:spcAft>
                <a:spcPts val="0"/>
              </a:spcAft>
              <a:buClr>
                <a:schemeClr val="dk1"/>
              </a:buClr>
              <a:buSzPts val="1100"/>
              <a:buAutoNum type="arabicPeriod"/>
            </a:pPr>
            <a:r>
              <a:rPr lang="fr"/>
              <a:t>The players reveal their cards at the same time and discuss any discrepancies in their estimates.</a:t>
            </a:r>
            <a:endParaRPr/>
          </a:p>
          <a:p>
            <a:pPr indent="-298450" lvl="0" marL="457200" rtl="0" algn="l">
              <a:spcBef>
                <a:spcPts val="0"/>
              </a:spcBef>
              <a:spcAft>
                <a:spcPts val="0"/>
              </a:spcAft>
              <a:buClr>
                <a:schemeClr val="dk1"/>
              </a:buClr>
              <a:buSzPts val="1100"/>
              <a:buAutoNum type="arabicPeriod"/>
            </a:pPr>
            <a:r>
              <a:rPr lang="fr"/>
              <a:t>If there is disagreement, the players can discuss and re-estimate until they reach a consensus.</a:t>
            </a:r>
            <a:endParaRPr/>
          </a:p>
          <a:p>
            <a:pPr indent="-298450" lvl="0" marL="457200" rtl="0" algn="l">
              <a:spcBef>
                <a:spcPts val="0"/>
              </a:spcBef>
              <a:spcAft>
                <a:spcPts val="0"/>
              </a:spcAft>
              <a:buClr>
                <a:schemeClr val="dk1"/>
              </a:buClr>
              <a:buSzPts val="1100"/>
              <a:buAutoNum type="arabicPeriod"/>
            </a:pPr>
            <a:r>
              <a:rPr lang="fr"/>
              <a:t>Once a consensus is reached, the final estimate is recorded and the process is repeated for the next user story or task.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Planning poker best practices</a:t>
            </a:r>
            <a:endParaRPr/>
          </a:p>
        </p:txBody>
      </p:sp>
      <p:sp>
        <p:nvSpPr>
          <p:cNvPr id="193" name="Google Shape;193;p36"/>
          <p:cNvSpPr txBox="1"/>
          <p:nvPr>
            <p:ph idx="1" type="body"/>
          </p:nvPr>
        </p:nvSpPr>
        <p:spPr>
          <a:xfrm>
            <a:off x="311700" y="1304875"/>
            <a:ext cx="8520600" cy="2262600"/>
          </a:xfrm>
          <a:prstGeom prst="rect">
            <a:avLst/>
          </a:prstGeom>
        </p:spPr>
        <p:txBody>
          <a:bodyPr anchorCtr="0" anchor="t" bIns="91425" lIns="91425" spcFirstLastPara="1" rIns="91425" wrap="square" tIns="91425">
            <a:spAutoFit/>
          </a:bodyPr>
          <a:lstStyle/>
          <a:p>
            <a:pPr indent="-311150" lvl="0" marL="457200" rtl="0" algn="l">
              <a:spcBef>
                <a:spcPts val="1200"/>
              </a:spcBef>
              <a:spcAft>
                <a:spcPts val="0"/>
              </a:spcAft>
              <a:buClr>
                <a:schemeClr val="dk1"/>
              </a:buClr>
              <a:buSzPts val="1300"/>
              <a:buChar char="●"/>
            </a:pPr>
            <a:r>
              <a:rPr lang="fr" sz="2000"/>
              <a:t>Involve the right people</a:t>
            </a:r>
            <a:endParaRPr sz="2000"/>
          </a:p>
          <a:p>
            <a:pPr indent="-311150" lvl="0" marL="457200" rtl="0" algn="l">
              <a:spcBef>
                <a:spcPts val="0"/>
              </a:spcBef>
              <a:spcAft>
                <a:spcPts val="0"/>
              </a:spcAft>
              <a:buClr>
                <a:schemeClr val="dk1"/>
              </a:buClr>
              <a:buSzPts val="1300"/>
              <a:buChar char="●"/>
            </a:pPr>
            <a:r>
              <a:rPr lang="fr" sz="2000"/>
              <a:t>Clearly define the user story or task</a:t>
            </a:r>
            <a:endParaRPr sz="2000"/>
          </a:p>
          <a:p>
            <a:pPr indent="-311150" lvl="0" marL="457200" rtl="0" algn="l">
              <a:spcBef>
                <a:spcPts val="0"/>
              </a:spcBef>
              <a:spcAft>
                <a:spcPts val="0"/>
              </a:spcAft>
              <a:buClr>
                <a:schemeClr val="dk1"/>
              </a:buClr>
              <a:buSzPts val="1300"/>
              <a:buChar char="●"/>
            </a:pPr>
            <a:r>
              <a:rPr lang="fr" sz="2000"/>
              <a:t>Use relative estimation</a:t>
            </a:r>
            <a:endParaRPr sz="2000"/>
          </a:p>
          <a:p>
            <a:pPr indent="-311150" lvl="0" marL="457200" rtl="0" algn="l">
              <a:spcBef>
                <a:spcPts val="0"/>
              </a:spcBef>
              <a:spcAft>
                <a:spcPts val="0"/>
              </a:spcAft>
              <a:buClr>
                <a:schemeClr val="dk1"/>
              </a:buClr>
              <a:buSzPts val="1300"/>
              <a:buChar char="●"/>
            </a:pPr>
            <a:r>
              <a:rPr lang="fr" sz="2000"/>
              <a:t>Encourage open discussion and collaboration</a:t>
            </a:r>
            <a:endParaRPr sz="2000"/>
          </a:p>
          <a:p>
            <a:pPr indent="-311150" lvl="0" marL="457200" rtl="0" algn="l">
              <a:spcBef>
                <a:spcPts val="0"/>
              </a:spcBef>
              <a:spcAft>
                <a:spcPts val="0"/>
              </a:spcAft>
              <a:buClr>
                <a:schemeClr val="dk1"/>
              </a:buClr>
              <a:buSzPts val="1300"/>
              <a:buChar char="●"/>
            </a:pPr>
            <a:r>
              <a:rPr lang="fr" sz="2000"/>
              <a:t>Avoid anchoring</a:t>
            </a:r>
            <a:endParaRPr sz="2000"/>
          </a:p>
          <a:p>
            <a:pPr indent="-311150" lvl="0" marL="457200" rtl="0" algn="l">
              <a:spcBef>
                <a:spcPts val="0"/>
              </a:spcBef>
              <a:spcAft>
                <a:spcPts val="0"/>
              </a:spcAft>
              <a:buClr>
                <a:schemeClr val="dk1"/>
              </a:buClr>
              <a:buSzPts val="1300"/>
              <a:buChar char="●"/>
            </a:pPr>
            <a:r>
              <a:rPr lang="fr" sz="2000"/>
              <a:t>Use a facilitator</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Other method of complexity evalutation</a:t>
            </a:r>
            <a:endParaRPr/>
          </a:p>
        </p:txBody>
      </p:sp>
      <p:sp>
        <p:nvSpPr>
          <p:cNvPr id="199" name="Google Shape;199;p37"/>
          <p:cNvSpPr txBox="1"/>
          <p:nvPr>
            <p:ph idx="1" type="body"/>
          </p:nvPr>
        </p:nvSpPr>
        <p:spPr>
          <a:xfrm>
            <a:off x="311700" y="1152475"/>
            <a:ext cx="8520600" cy="39174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b="1" lang="fr" sz="1700"/>
              <a:t>Affinity estimation</a:t>
            </a:r>
            <a:r>
              <a:rPr lang="fr" sz="1700"/>
              <a:t>: This method involves grouping user stories into categories based on their complexity and size, and then assigning an approximate estimate to each category.</a:t>
            </a:r>
            <a:endParaRPr sz="1700"/>
          </a:p>
          <a:p>
            <a:pPr indent="0" lvl="0" marL="0" rtl="0" algn="l">
              <a:spcBef>
                <a:spcPts val="1200"/>
              </a:spcBef>
              <a:spcAft>
                <a:spcPts val="0"/>
              </a:spcAft>
              <a:buNone/>
            </a:pPr>
            <a:r>
              <a:rPr b="1" lang="fr" sz="1700"/>
              <a:t>Expert judgment</a:t>
            </a:r>
            <a:r>
              <a:rPr lang="fr" sz="1700"/>
              <a:t>: This method involves asking an expert or subject matter expert to evaluate the complexity of a user story based on their knowledge and experience.</a:t>
            </a:r>
            <a:endParaRPr sz="1700"/>
          </a:p>
          <a:p>
            <a:pPr indent="0" lvl="0" marL="0" rtl="0" algn="l">
              <a:spcBef>
                <a:spcPts val="1200"/>
              </a:spcBef>
              <a:spcAft>
                <a:spcPts val="0"/>
              </a:spcAft>
              <a:buNone/>
            </a:pPr>
            <a:r>
              <a:rPr b="1" lang="fr" sz="1700"/>
              <a:t>Three-point estimation</a:t>
            </a:r>
            <a:r>
              <a:rPr lang="fr" sz="1700"/>
              <a:t>: This method involves breaking down the user story into smaller tasks and estimating the effort required for each task. The final estimate is then calculated as the average of the estimates for the individual tasks.</a:t>
            </a:r>
            <a:endParaRPr sz="1700"/>
          </a:p>
          <a:p>
            <a:pPr indent="0" lvl="0" marL="0" rtl="0" algn="l">
              <a:spcBef>
                <a:spcPts val="1200"/>
              </a:spcBef>
              <a:spcAft>
                <a:spcPts val="1200"/>
              </a:spcAft>
              <a:buNone/>
            </a:pPr>
            <a:r>
              <a:rPr b="1" lang="fr" sz="1700"/>
              <a:t>Story points</a:t>
            </a:r>
            <a:r>
              <a:rPr lang="fr" sz="1700"/>
              <a:t>: This method involves assigning a certain number of points to each user story based on its complexity and size, and then estimating the effort required to complete the story based on the number of points assigned.</a:t>
            </a:r>
            <a:endParaRPr sz="17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Exercise : Planning Poker (45’-1h+) - Same Groups</a:t>
            </a:r>
            <a:endParaRPr/>
          </a:p>
        </p:txBody>
      </p:sp>
      <p:sp>
        <p:nvSpPr>
          <p:cNvPr id="205" name="Google Shape;205;p38"/>
          <p:cNvSpPr txBox="1"/>
          <p:nvPr>
            <p:ph idx="1" type="body"/>
          </p:nvPr>
        </p:nvSpPr>
        <p:spPr>
          <a:xfrm>
            <a:off x="311700" y="1152475"/>
            <a:ext cx="8520600" cy="172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Run a planning poker through your product backlog.  </a:t>
            </a:r>
            <a:endParaRPr/>
          </a:p>
          <a:p>
            <a:pPr indent="0" lvl="0" marL="0" rtl="0" algn="l">
              <a:spcBef>
                <a:spcPts val="1200"/>
              </a:spcBef>
              <a:spcAft>
                <a:spcPts val="0"/>
              </a:spcAft>
              <a:buNone/>
            </a:pPr>
            <a:r>
              <a:rPr lang="fr"/>
              <a:t>Take the time to discuss : it may take more than 5’ for each task !</a:t>
            </a:r>
            <a:endParaRPr/>
          </a:p>
          <a:p>
            <a:pPr indent="0" lvl="0" marL="0" rtl="0" algn="l">
              <a:spcBef>
                <a:spcPts val="1200"/>
              </a:spcBef>
              <a:spcAft>
                <a:spcPts val="1200"/>
              </a:spcAft>
              <a:buNone/>
            </a:pPr>
            <a:r>
              <a:rPr lang="fr"/>
              <a:t>Once you have identified the complexity of your user stories, review your </a:t>
            </a:r>
            <a:r>
              <a:rPr lang="fr"/>
              <a:t>prioritization</a:t>
            </a:r>
            <a:r>
              <a:rPr lang="fr"/>
              <a:t> : is it still </a:t>
            </a:r>
            <a:r>
              <a:rPr lang="fr"/>
              <a:t>relevant</a:t>
            </a:r>
            <a:r>
              <a:rPr lang="fr"/>
              <a:t> ? What would you change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Minimum Viable Product</a:t>
            </a:r>
            <a:endParaRPr/>
          </a:p>
        </p:txBody>
      </p:sp>
      <p:sp>
        <p:nvSpPr>
          <p:cNvPr id="211" name="Google Shape;211;p39"/>
          <p:cNvSpPr txBox="1"/>
          <p:nvPr>
            <p:ph idx="1" type="body"/>
          </p:nvPr>
        </p:nvSpPr>
        <p:spPr>
          <a:xfrm>
            <a:off x="311700" y="1152475"/>
            <a:ext cx="8520600" cy="3801900"/>
          </a:xfrm>
          <a:prstGeom prst="rect">
            <a:avLst/>
          </a:prstGeom>
        </p:spPr>
        <p:txBody>
          <a:bodyPr anchorCtr="0" anchor="t" bIns="91425" lIns="91425" spcFirstLastPara="1" rIns="91425" wrap="square" tIns="91425">
            <a:spAutoFit/>
          </a:bodyPr>
          <a:lstStyle/>
          <a:p>
            <a:pPr indent="-298450" lvl="0" marL="457200" rtl="0" algn="l">
              <a:spcBef>
                <a:spcPts val="1200"/>
              </a:spcBef>
              <a:spcAft>
                <a:spcPts val="0"/>
              </a:spcAft>
              <a:buClr>
                <a:schemeClr val="dk1"/>
              </a:buClr>
              <a:buSzPts val="1100"/>
              <a:buChar char="●"/>
            </a:pPr>
            <a:r>
              <a:rPr lang="fr"/>
              <a:t>The MVP is a product with just enough features to satisfy early customers and provide valuable feedback for future development.</a:t>
            </a:r>
            <a:endParaRPr/>
          </a:p>
          <a:p>
            <a:pPr indent="-298450" lvl="0" marL="457200" rtl="0" algn="l">
              <a:spcBef>
                <a:spcPts val="0"/>
              </a:spcBef>
              <a:spcAft>
                <a:spcPts val="0"/>
              </a:spcAft>
              <a:buClr>
                <a:schemeClr val="dk1"/>
              </a:buClr>
              <a:buSzPts val="1100"/>
              <a:buChar char="●"/>
            </a:pPr>
            <a:r>
              <a:rPr lang="fr"/>
              <a:t>It is a way to test a product hypothesis with the least amount of effort and resources.</a:t>
            </a:r>
            <a:endParaRPr/>
          </a:p>
          <a:p>
            <a:pPr indent="-298450" lvl="0" marL="457200" rtl="0" algn="l">
              <a:spcBef>
                <a:spcPts val="0"/>
              </a:spcBef>
              <a:spcAft>
                <a:spcPts val="0"/>
              </a:spcAft>
              <a:buClr>
                <a:schemeClr val="dk1"/>
              </a:buClr>
              <a:buSzPts val="1100"/>
              <a:buChar char="●"/>
            </a:pPr>
            <a:r>
              <a:rPr lang="fr"/>
              <a:t>The MVP allows for rapid prototyping and iteration based on customer feedback.</a:t>
            </a:r>
            <a:endParaRPr/>
          </a:p>
          <a:p>
            <a:pPr indent="-298450" lvl="0" marL="457200" rtl="0" algn="l">
              <a:spcBef>
                <a:spcPts val="0"/>
              </a:spcBef>
              <a:spcAft>
                <a:spcPts val="0"/>
              </a:spcAft>
              <a:buClr>
                <a:schemeClr val="dk1"/>
              </a:buClr>
              <a:buSzPts val="1100"/>
              <a:buChar char="●"/>
            </a:pPr>
            <a:r>
              <a:rPr lang="fr"/>
              <a:t>The MVP helps to minimize risk by allowing the team to gather valuable data and insights before committing significant resources to a full product.</a:t>
            </a:r>
            <a:endParaRPr/>
          </a:p>
          <a:p>
            <a:pPr indent="-298450" lvl="0" marL="457200" rtl="0" algn="l">
              <a:spcBef>
                <a:spcPts val="0"/>
              </a:spcBef>
              <a:spcAft>
                <a:spcPts val="0"/>
              </a:spcAft>
              <a:buClr>
                <a:schemeClr val="dk1"/>
              </a:buClr>
              <a:buSzPts val="1100"/>
              <a:buChar char="●"/>
            </a:pPr>
            <a:r>
              <a:rPr lang="fr"/>
              <a:t>The MVP can help to focus development efforts on the most valuable and necessary features, rather than trying to build everything at once.</a:t>
            </a:r>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0"/>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What to include in a MVP ?</a:t>
            </a:r>
            <a:endParaRPr/>
          </a:p>
        </p:txBody>
      </p:sp>
      <p:sp>
        <p:nvSpPr>
          <p:cNvPr id="217" name="Google Shape;217;p40"/>
          <p:cNvSpPr txBox="1"/>
          <p:nvPr>
            <p:ph idx="1" type="body"/>
          </p:nvPr>
        </p:nvSpPr>
        <p:spPr>
          <a:xfrm>
            <a:off x="311700" y="1152475"/>
            <a:ext cx="8520600" cy="28245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lang="fr"/>
              <a:t>Identify the core value proposition</a:t>
            </a:r>
            <a:endParaRPr/>
          </a:p>
          <a:p>
            <a:pPr indent="0" lvl="0" marL="0" rtl="0" algn="l">
              <a:spcBef>
                <a:spcPts val="1200"/>
              </a:spcBef>
              <a:spcAft>
                <a:spcPts val="0"/>
              </a:spcAft>
              <a:buNone/>
            </a:pPr>
            <a:r>
              <a:rPr lang="fr"/>
              <a:t>Prioritize based on customer needs</a:t>
            </a:r>
            <a:endParaRPr/>
          </a:p>
          <a:p>
            <a:pPr indent="0" lvl="0" marL="0" rtl="0" algn="l">
              <a:spcBef>
                <a:spcPts val="1200"/>
              </a:spcBef>
              <a:spcAft>
                <a:spcPts val="0"/>
              </a:spcAft>
              <a:buNone/>
            </a:pPr>
            <a:r>
              <a:rPr lang="fr"/>
              <a:t>Consider feasibility</a:t>
            </a:r>
            <a:endParaRPr/>
          </a:p>
          <a:p>
            <a:pPr indent="0" lvl="0" marL="0" rtl="0" algn="l">
              <a:spcBef>
                <a:spcPts val="1200"/>
              </a:spcBef>
              <a:spcAft>
                <a:spcPts val="0"/>
              </a:spcAft>
              <a:buNone/>
            </a:pPr>
            <a:r>
              <a:rPr lang="fr"/>
              <a:t>Balance risk and reward</a:t>
            </a:r>
            <a:endParaRPr/>
          </a:p>
          <a:p>
            <a:pPr indent="0" lvl="0" marL="0" rtl="0" algn="l">
              <a:spcBef>
                <a:spcPts val="1200"/>
              </a:spcBef>
              <a:spcAft>
                <a:spcPts val="0"/>
              </a:spcAft>
              <a:buNone/>
            </a:pPr>
            <a:r>
              <a:rPr lang="fr"/>
              <a:t>Gather feedback</a:t>
            </a:r>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Exercise : MVP proposition (30’) - Same Group</a:t>
            </a:r>
            <a:endParaRPr/>
          </a:p>
        </p:txBody>
      </p:sp>
      <p:sp>
        <p:nvSpPr>
          <p:cNvPr id="223" name="Google Shape;223;p41"/>
          <p:cNvSpPr txBox="1"/>
          <p:nvPr>
            <p:ph idx="1" type="body"/>
          </p:nvPr>
        </p:nvSpPr>
        <p:spPr>
          <a:xfrm>
            <a:off x="311700" y="1152475"/>
            <a:ext cx="8520600" cy="934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fr"/>
              <a:t>Identify your MVP in your product backlog</a:t>
            </a:r>
            <a:endParaRPr/>
          </a:p>
          <a:p>
            <a:pPr indent="0" lvl="0" marL="0" rtl="0" algn="l">
              <a:spcBef>
                <a:spcPts val="1200"/>
              </a:spcBef>
              <a:spcAft>
                <a:spcPts val="1200"/>
              </a:spcAft>
              <a:buNone/>
            </a:pPr>
            <a:r>
              <a:rPr lang="fr"/>
              <a:t>Build a 5 </a:t>
            </a:r>
            <a:r>
              <a:rPr lang="fr"/>
              <a:t>slides deck presenting your MVP to investors</a:t>
            </a:r>
            <a:endParaRPr/>
          </a:p>
        </p:txBody>
      </p:sp>
      <p:pic>
        <p:nvPicPr>
          <p:cNvPr id="224" name="Google Shape;224;p41"/>
          <p:cNvPicPr preferRelativeResize="0"/>
          <p:nvPr/>
        </p:nvPicPr>
        <p:blipFill>
          <a:blip r:embed="rId3">
            <a:alphaModFix/>
          </a:blip>
          <a:stretch>
            <a:fillRect/>
          </a:stretch>
        </p:blipFill>
        <p:spPr>
          <a:xfrm>
            <a:off x="3195987" y="2178525"/>
            <a:ext cx="2752026" cy="27520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2"/>
          <p:cNvSpPr txBox="1"/>
          <p:nvPr>
            <p:ph type="title"/>
          </p:nvPr>
        </p:nvSpPr>
        <p:spPr>
          <a:xfrm>
            <a:off x="311700" y="2150850"/>
            <a:ext cx="8520600" cy="7389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fr"/>
              <a:t>Knowledge Check (10’)</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