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7"/>
  </p:notesMasterIdLst>
  <p:sldIdLst>
    <p:sldId id="276" r:id="rId2"/>
    <p:sldId id="257" r:id="rId3"/>
    <p:sldId id="427" r:id="rId4"/>
    <p:sldId id="317" r:id="rId5"/>
    <p:sldId id="414" r:id="rId6"/>
    <p:sldId id="420" r:id="rId7"/>
    <p:sldId id="421" r:id="rId8"/>
    <p:sldId id="422" r:id="rId9"/>
    <p:sldId id="419" r:id="rId10"/>
    <p:sldId id="424" r:id="rId11"/>
    <p:sldId id="423" r:id="rId12"/>
    <p:sldId id="425" r:id="rId13"/>
    <p:sldId id="567" r:id="rId14"/>
    <p:sldId id="512" r:id="rId15"/>
    <p:sldId id="539" r:id="rId16"/>
    <p:sldId id="540" r:id="rId17"/>
    <p:sldId id="541" r:id="rId18"/>
    <p:sldId id="542" r:id="rId19"/>
    <p:sldId id="543" r:id="rId20"/>
    <p:sldId id="580" r:id="rId21"/>
    <p:sldId id="581" r:id="rId22"/>
    <p:sldId id="568" r:id="rId23"/>
    <p:sldId id="538" r:id="rId24"/>
    <p:sldId id="544" r:id="rId25"/>
    <p:sldId id="546" r:id="rId26"/>
    <p:sldId id="547" r:id="rId27"/>
    <p:sldId id="557" r:id="rId28"/>
    <p:sldId id="548" r:id="rId29"/>
    <p:sldId id="558" r:id="rId30"/>
    <p:sldId id="549" r:id="rId31"/>
    <p:sldId id="559" r:id="rId32"/>
    <p:sldId id="550" r:id="rId33"/>
    <p:sldId id="560" r:id="rId34"/>
    <p:sldId id="551" r:id="rId35"/>
    <p:sldId id="561" r:id="rId36"/>
    <p:sldId id="552" r:id="rId37"/>
    <p:sldId id="562" r:id="rId38"/>
    <p:sldId id="553" r:id="rId39"/>
    <p:sldId id="563" r:id="rId40"/>
    <p:sldId id="554" r:id="rId41"/>
    <p:sldId id="566" r:id="rId42"/>
    <p:sldId id="565" r:id="rId43"/>
    <p:sldId id="564" r:id="rId44"/>
    <p:sldId id="569" r:id="rId45"/>
    <p:sldId id="556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A89C60-E4C4-194B-98DC-47893416ED92}" type="datetimeFigureOut">
              <a:rPr lang="fr-FR" smtClean="0"/>
              <a:t>04/10/2023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E9E299-3FB8-FC43-87CA-BB461281EE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736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: Alexandre Gressier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A1237-63C0-2149-90AD-33FFCF7C857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804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A1237-63C0-2149-90AD-33FFCF7C857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8893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A1237-63C0-2149-90AD-33FFCF7C857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8661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A1237-63C0-2149-90AD-33FFCF7C857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369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A1237-63C0-2149-90AD-33FFCF7C857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599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A1237-63C0-2149-90AD-33FFCF7C857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9032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A1237-63C0-2149-90AD-33FFCF7C857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1706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A1237-63C0-2149-90AD-33FFCF7C857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886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35FED-2507-6347-9B57-3FF5AFCD8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8B847-1B82-BE49-A9A7-C3023CD2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611D94-0717-E14D-B19C-F142F7DB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D62BDA-0F08-504D-9BDA-A04B89E8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0C21CC-1B92-B44B-AE72-CDCCB2D8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8472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A51D4-1867-8845-820C-C21D7BCE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841B2-2299-484D-98D4-2509FDD8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F3535-31CB-2243-9FD7-D6385CE3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28F9A-0BE6-2040-B200-CA9AD15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53960E-7BA0-5744-B871-2625A924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5293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28FD5-3D75-FF4B-8910-57BF5A27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4D373C-AC4E-4749-AF27-1D4F5473F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4B37BF-0D5B-EE4F-B5D2-4991975B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CC8B85-AF4B-D347-9A59-97FD4522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0FD24F-150A-1443-9905-84B822D4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034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238437-A9AA-1649-93B3-41C10243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2425-B188-F44E-AE00-4A68E5EA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B7208-E02E-5B44-B5B0-8F7E4329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479033-F7B2-3340-AA42-C9315CC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51178-4562-B14F-81E9-EEB57190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1059-2BD2-DE48-8A78-A1F0952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752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87D52-2FB1-1B49-AB3F-B878A6C6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5322B7-F0A2-534D-A6BC-4D36CFB7E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541A8E-94B9-9948-9F7F-B59CE4A7A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7F5E04-45D9-0B41-A49B-C539BB240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5050A4-C507-9A4F-B6CE-71C0EC9B7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FAFD617-5DC0-7146-8644-37FDEF3C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6D3D1A-4433-FB46-BCB3-2FC07477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8BE2A0-7142-7944-9978-9CF0A02E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880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3AE92-F78E-674F-9897-3D26B7A9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96ECA-9486-6E4B-B4BC-7E76B34E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B4D8AF-4BB6-934B-A379-CBF84C9A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E009D-38CE-D34C-82BA-3182CA4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1569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844418-3E68-CA4E-AC8C-9D66D92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D285BC-A399-C24D-9863-55D71A82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C877D-0D91-8442-9A72-AF3420B9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01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C8412-37C8-4B46-9CE8-3469F189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CD95-5780-714B-A453-63A2F345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D7CA0C-E415-F14F-9EF8-44A9C7CBE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697766-D919-5247-A55B-2A12BA74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77295-5D11-2841-AC5B-84946CEA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AF8E56-0D31-804D-9F4F-DD615D5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845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54B13-E418-4E42-B170-1BC86021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49CDA-C85B-4F42-B8C6-26E684ED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E92AAF-FCE8-F84A-8EB9-CC618F3F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83901-E98D-6B44-A440-F9809CD8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5FCBB-5385-494D-A3C1-C59A68C9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4BFBC5-500C-E04C-A17A-AC6C64E8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7160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EDC94-6368-2D4E-8A75-930EFDF0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EE47BB-5DBD-034C-84DA-C86FA33B9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7FE81-3F94-FB4B-AB88-842AE52D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51EDF4-8F0D-4644-BC7F-8EDA683F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779F0B-3D1B-234B-8E0E-0005BA6E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406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D2D733-6537-F246-9DD6-47A2CFFE2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ED1EB9-F8C4-6F42-9293-8EFB0A55D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78BEE2-EC2A-B14D-8087-8A8A25C4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C088C9-8381-E84F-AEB6-0CE68238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EFA170-D382-C048-933C-9BCF9266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2160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016B3E-7434-F444-85B1-81A3F66D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C2A833-B532-5441-8F6F-770D7BDE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D43F0-39EC-1047-86D5-82DFE14D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6F5D3-EF53-A447-B4AC-97397E1C3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42739-B2AF-EA41-A1C0-C7A7135E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488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3 – Images Docker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3DOKR – Développement et livraison d’applications avec Docker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773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54565"/>
            <a:ext cx="10515600" cy="16874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Un premier </a:t>
            </a:r>
            <a:r>
              <a:rPr kumimoji="0" lang="fr-FR" sz="36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 </a:t>
            </a:r>
          </a:p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Instructions dans les </a:t>
            </a:r>
            <a:r>
              <a:rPr kumimoji="0" lang="fr-FR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Dockerfiles</a:t>
            </a:r>
            <a:endParaRPr kumimoji="0" lang="fr-FR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Bonnes pratiques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2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6E163-1E71-0AF0-EEDF-C14D40054A5D}"/>
              </a:ext>
            </a:extLst>
          </p:cNvPr>
          <p:cNvSpPr txBox="1">
            <a:spLocks/>
          </p:cNvSpPr>
          <p:nvPr/>
        </p:nvSpPr>
        <p:spPr>
          <a:xfrm>
            <a:off x="831850" y="3618967"/>
            <a:ext cx="10515600" cy="8382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Un premier </a:t>
            </a:r>
            <a:r>
              <a:rPr kumimoji="0" lang="fr-FR" sz="5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</a:t>
            </a:r>
          </a:p>
        </p:txBody>
      </p:sp>
    </p:spTree>
    <p:extLst>
      <p:ext uri="{BB962C8B-B14F-4D97-AF65-F5344CB8AC3E}">
        <p14:creationId xmlns:p14="http://schemas.microsoft.com/office/powerpoint/2010/main" val="3482772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Un premier </a:t>
            </a:r>
            <a:r>
              <a:rPr kumimoji="0" lang="fr-FR" sz="3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525779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Présentation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</a:t>
            </a:r>
            <a:r>
              <a:rPr kumimoji="0" lang="fr-FR" sz="2400" b="1" i="1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Dockerfiles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sont un autre élément clé du succès de Docker.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Comme indiqué précédemment, ils permettent de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définir les étapes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pour créer une image Docker.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Autrement dit, les </a:t>
            </a:r>
            <a:r>
              <a:rPr kumimoji="0" lang="fr-FR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Dockerfiles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sont la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définition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d’une image Docker.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7BF17C-52C5-1F41-A3C5-98B3C7A61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84" y="2194170"/>
            <a:ext cx="1940447" cy="246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9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Un premier </a:t>
            </a:r>
            <a:r>
              <a:rPr kumimoji="0" lang="fr-FR" sz="3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Structure nominale d’un 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Dockerfile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L’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 de laquelle partir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 créer cette nouvelle image.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L’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conteneurisée (= l’exécutable ou le code à interpréter).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dépendances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l’application.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autres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fichiers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sur lequel l’application écoutera (interne au conteneur).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commande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pour exécuter votre application (peut être extraite dans un script shell si trop complexe).</a:t>
            </a:r>
          </a:p>
        </p:txBody>
      </p:sp>
    </p:spTree>
    <p:extLst>
      <p:ext uri="{BB962C8B-B14F-4D97-AF65-F5344CB8AC3E}">
        <p14:creationId xmlns:p14="http://schemas.microsoft.com/office/powerpoint/2010/main" val="3575801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Un premier </a:t>
            </a:r>
            <a:r>
              <a:rPr kumimoji="0" lang="fr-FR" sz="3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63033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Exemple avec une application Express Node.js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package.json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64312-F559-053C-83C1-D9535B72789B}"/>
              </a:ext>
            </a:extLst>
          </p:cNvPr>
          <p:cNvSpPr txBox="1"/>
          <p:nvPr/>
        </p:nvSpPr>
        <p:spPr>
          <a:xfrm>
            <a:off x="838200" y="1944891"/>
            <a:ext cx="1075963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{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"name"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"express-docker"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"private"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true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"version"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"0.1.0"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"description"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"A simple Express application."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"main"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"index.js"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"scripts"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{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"start"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"node index.js"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},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"dependencies"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{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"express"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"^4.18.2"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959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Un premier </a:t>
            </a:r>
            <a:r>
              <a:rPr kumimoji="0" lang="fr-FR" sz="3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63033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Exemple avec une application Express Node.js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index.js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64312-F559-053C-83C1-D9535B72789B}"/>
              </a:ext>
            </a:extLst>
          </p:cNvPr>
          <p:cNvSpPr txBox="1"/>
          <p:nvPr/>
        </p:nvSpPr>
        <p:spPr>
          <a:xfrm>
            <a:off x="838200" y="1944891"/>
            <a:ext cx="1075963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const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express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 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require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"express"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const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app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 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express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()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const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port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 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3000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app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get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"/"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(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req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res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 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=&gt;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{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res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send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"Hello, Express!"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})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app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listen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port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() 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=&gt;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{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console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log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`App running at http://localhost: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${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port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`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})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776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Un premier </a:t>
            </a:r>
            <a:r>
              <a:rPr kumimoji="0" lang="fr-FR" sz="3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0" y="1085791"/>
            <a:ext cx="108522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Exemple avec une application Express Node.js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Optionnel :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tester l’application localement (seulement si Node.js est déjà installé).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64312-F559-053C-83C1-D9535B72789B}"/>
              </a:ext>
            </a:extLst>
          </p:cNvPr>
          <p:cNvSpPr txBox="1"/>
          <p:nvPr/>
        </p:nvSpPr>
        <p:spPr>
          <a:xfrm>
            <a:off x="884497" y="2569924"/>
            <a:ext cx="1075963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node --version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v18.18.0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npm --version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10.1.0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npm install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npm 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&gt; 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&gt; node index.js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App running at http://localhost:3000</a:t>
            </a:r>
          </a:p>
        </p:txBody>
      </p:sp>
    </p:spTree>
    <p:extLst>
      <p:ext uri="{BB962C8B-B14F-4D97-AF65-F5344CB8AC3E}">
        <p14:creationId xmlns:p14="http://schemas.microsoft.com/office/powerpoint/2010/main" val="1855041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Un premier </a:t>
            </a:r>
            <a:r>
              <a:rPr kumimoji="0" lang="fr-FR" sz="3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63033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Exemple avec une application Express 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Node.js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Dockerfile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64312-F559-053C-83C1-D9535B72789B}"/>
              </a:ext>
            </a:extLst>
          </p:cNvPr>
          <p:cNvSpPr txBox="1"/>
          <p:nvPr/>
        </p:nvSpPr>
        <p:spPr>
          <a:xfrm>
            <a:off x="838200" y="1944891"/>
            <a:ext cx="1075963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Se baser sur l'image officielle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Node.js</a:t>
            </a: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FROM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node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Copier tous les fichiers et dossiers situés dans le même dossier que le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Dockerfile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vers le dossier actuel à l'intérieur de l'image Docker</a:t>
            </a: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COPY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. 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Installer les dépendances listées dans le fichier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package.json</a:t>
            </a:r>
            <a:endParaRPr kumimoji="0" lang="fr-FR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RUN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npm install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Indique que l'application écoute sur le port 3000</a:t>
            </a: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EXPOSE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3000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Lancer l'application</a:t>
            </a: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CMD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[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"npm"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"start"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]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408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Un premier </a:t>
            </a:r>
            <a:r>
              <a:rPr kumimoji="0" lang="fr-FR" sz="3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63033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Exemple avec une application Express 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Node.js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.dockerignore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64312-F559-053C-83C1-D9535B72789B}"/>
              </a:ext>
            </a:extLst>
          </p:cNvPr>
          <p:cNvSpPr txBox="1"/>
          <p:nvPr/>
        </p:nvSpPr>
        <p:spPr>
          <a:xfrm>
            <a:off x="838200" y="1944891"/>
            <a:ext cx="1075963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.dockerignore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Dockerfile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.git/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node_modules/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npm-debug.log</a:t>
            </a:r>
          </a:p>
        </p:txBody>
      </p:sp>
    </p:spTree>
    <p:extLst>
      <p:ext uri="{BB962C8B-B14F-4D97-AF65-F5344CB8AC3E}">
        <p14:creationId xmlns:p14="http://schemas.microsoft.com/office/powerpoint/2010/main" val="639330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Un premier </a:t>
            </a:r>
            <a:r>
              <a:rPr kumimoji="0" lang="fr-FR" sz="3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0" y="1085791"/>
            <a:ext cx="10852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Exemple avec une application Express Node.js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64312-F559-053C-83C1-D9535B72789B}"/>
              </a:ext>
            </a:extLst>
          </p:cNvPr>
          <p:cNvSpPr txBox="1"/>
          <p:nvPr/>
        </p:nvSpPr>
        <p:spPr>
          <a:xfrm>
            <a:off x="838200" y="1875443"/>
            <a:ext cx="1075963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build --tag express-docker:0.1.0 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[+] Building 2.5s (8/8) FINISHED                                                      docker:desktop-linux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=&gt; [internal] load .dockerignore                                                                     0.0s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=&gt; =&gt; transferring context: 2B                                                                       0.0s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=&gt; [internal] load build definition from Dockerfile                                                  0.0s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=&gt; =&gt; transferring dockerfile: 118B                                                                  0.0s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=&gt; [internal] load metadata for docker.io/library/node:18-alpine                                     1.1s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=&gt; [internal] load build context                                                                     0.0s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=&gt; =&gt; transferring context: 28.19kB                                                                  0.0s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=&gt; CACHED [1/3] FROM docker.io/library/node:18-alpine@sha256:a315556d82ef54561e54fca7d8ee333382de18  0.0s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=&gt; =&gt; resolve docker.io/library/node:18-alpine@sha256:a315556d82ef54561e54fca7d8ee333382de183d4e568  0.0s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=&gt; [2/3] COPY . .                                                                                    0.0s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=&gt; [3/3] RUN npm install                                                                             1.2s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=&gt; exporting to image                                                                                0.2s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=&gt; =&gt; exporting layers                                                                               0.1s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=&gt; =&gt; exporting manifest sha256:bc4fd8cb3fb5ae88de4fa06c3a4643bf5d139e2c033057e029249342ffa99490     0.0s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=&gt; =&gt; exporting config sha256:aab1ee65e6f43c95bc48a42706d09b3b3802033421eb5529a890fbe6f3481588       0.0s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=&gt; =&gt; exporting attestation manifest sha256:91362e06fa4deed00e85979b2388ae84c02896ac6d45f8755c5dd8c  0.0s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=&gt; =&gt; exporting manifest list sha256:dd78a6189c7636c8eb1657b0b6ca5bf5e4a97d5b9b01ff0c688c71f63bb126  0.0s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=&gt; =&gt; naming to docker.io/library/express-docker:0.1.0                                               0.0s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=&gt; =&gt; unpacking to docker.io/library/express-docker:0.1.0                                            0.0s</a:t>
            </a:r>
          </a:p>
        </p:txBody>
      </p:sp>
    </p:spTree>
    <p:extLst>
      <p:ext uri="{BB962C8B-B14F-4D97-AF65-F5344CB8AC3E}">
        <p14:creationId xmlns:p14="http://schemas.microsoft.com/office/powerpoint/2010/main" val="1189879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Un premier </a:t>
            </a:r>
            <a:r>
              <a:rPr kumimoji="0" lang="fr-FR" sz="3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0" y="1085791"/>
            <a:ext cx="10852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Exemple avec une application Express Node.js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64312-F559-053C-83C1-D9535B72789B}"/>
              </a:ext>
            </a:extLst>
          </p:cNvPr>
          <p:cNvSpPr txBox="1"/>
          <p:nvPr/>
        </p:nvSpPr>
        <p:spPr>
          <a:xfrm>
            <a:off x="838200" y="1875443"/>
            <a:ext cx="1075963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--detach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--rm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--publish 3000:3000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--name express-docker-container \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express-docker:0.1.0</a:t>
            </a:r>
            <a:endParaRPr kumimoji="0" lang="en-US" sz="1400" b="1" i="0" u="none" strike="noStrike" kern="1200" cap="none" spc="0" normalizeH="0" baseline="0" noProof="1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70ea728dace9f9fb7862e567b6142e4c7a4fdc188562af59a673cf5d3872c60a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container 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CONTAINER ID   IMAGE                  COMMAND                  CREATED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70ea728dace9   express-docker:0.1.0   "docker-entrypoint.s…"   About a minute ago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STATUS              PORTS                    NAMES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Up About a minute   0.0.0.0:3000-&gt;3000/tcp   express-docker-container</a:t>
            </a:r>
          </a:p>
        </p:txBody>
      </p:sp>
    </p:spTree>
    <p:extLst>
      <p:ext uri="{BB962C8B-B14F-4D97-AF65-F5344CB8AC3E}">
        <p14:creationId xmlns:p14="http://schemas.microsoft.com/office/powerpoint/2010/main" val="3753937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Un premier </a:t>
            </a:r>
            <a:r>
              <a:rPr kumimoji="0" lang="fr-FR" sz="32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</a:t>
            </a:r>
          </a:p>
        </p:txBody>
      </p:sp>
    </p:spTree>
    <p:extLst>
      <p:ext uri="{BB962C8B-B14F-4D97-AF65-F5344CB8AC3E}">
        <p14:creationId xmlns:p14="http://schemas.microsoft.com/office/powerpoint/2010/main" val="122499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6E163-1E71-0AF0-EEDF-C14D40054A5D}"/>
              </a:ext>
            </a:extLst>
          </p:cNvPr>
          <p:cNvSpPr txBox="1">
            <a:spLocks/>
          </p:cNvSpPr>
          <p:nvPr/>
        </p:nvSpPr>
        <p:spPr>
          <a:xfrm>
            <a:off x="831850" y="3618967"/>
            <a:ext cx="10515600" cy="8382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Instructions dans les </a:t>
            </a:r>
            <a:r>
              <a:rPr kumimoji="0" lang="fr-FR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Dockerfiles</a:t>
            </a:r>
            <a:endParaRPr kumimoji="0" lang="fr-FR" sz="5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75746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Instructions dans les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Dockerfiles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FROM, RUN, CMD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E3B288-7F30-CD5C-F529-5D6E056D8A65}"/>
              </a:ext>
            </a:extLst>
          </p:cNvPr>
          <p:cNvGraphicFramePr>
            <a:graphicFrameLocks noGrp="1"/>
          </p:cNvGraphicFramePr>
          <p:nvPr/>
        </p:nvGraphicFramePr>
        <p:xfrm>
          <a:off x="961534" y="1689029"/>
          <a:ext cx="10392266" cy="4297680"/>
        </p:xfrm>
        <a:graphic>
          <a:graphicData uri="http://schemas.openxmlformats.org/drawingml/2006/table">
            <a:tbl>
              <a:tblPr/>
              <a:tblGrid>
                <a:gridCol w="1799836">
                  <a:extLst>
                    <a:ext uri="{9D8B030D-6E8A-4147-A177-3AD203B41FA5}">
                      <a16:colId xmlns:a16="http://schemas.microsoft.com/office/drawing/2014/main" val="1005243843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1185961785"/>
                    </a:ext>
                  </a:extLst>
                </a:gridCol>
                <a:gridCol w="3718678">
                  <a:extLst>
                    <a:ext uri="{9D8B030D-6E8A-4147-A177-3AD203B41FA5}">
                      <a16:colId xmlns:a16="http://schemas.microsoft.com/office/drawing/2014/main" val="391008876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1" i="0" u="none" strike="noStrike" noProof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Commande</a:t>
                      </a: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1" i="0" u="none" strike="noStrike" noProof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But</a:t>
                      </a: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1" i="0" u="none" strike="noStrike" noProof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Exemple</a:t>
                      </a: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6396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FROM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Définit l'image sur laquelle se baser.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FROM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alpine:3.4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02647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RUN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Exécute une commande. Les commandes RUN doivent être non interactives. (Aucune entrée ne peut être fournie à Docker pendant la création).</a:t>
                      </a:r>
                      <a:br>
                        <a:rPr lang="fr-FR" sz="2800" noProof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RUN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apk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add --no-cache git</a:t>
                      </a:r>
                      <a:endParaRPr lang="en-US" sz="2400" dirty="0">
                        <a:effectLst/>
                      </a:endParaRPr>
                    </a:p>
                    <a:p>
                      <a:pPr fontAlgn="t"/>
                      <a:br>
                        <a:rPr lang="en-US" sz="2400" dirty="0">
                          <a:effectLst/>
                        </a:rPr>
                      </a:br>
                      <a:br>
                        <a:rPr lang="en-US" sz="2400" dirty="0">
                          <a:effectLst/>
                        </a:rPr>
                      </a:b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54536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CMD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 commande par défaut qu’un conteneur exécute</a:t>
                      </a: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CMD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1800" b="1" i="0" u="none" strike="noStrike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"nginx"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800" b="1" i="0" u="none" strike="noStrike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"-g"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800" b="1" i="0" u="none" strike="noStrike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"daemon off;"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2400" dirty="0">
                        <a:effectLst/>
                      </a:endParaRPr>
                    </a:p>
                    <a:p>
                      <a:pPr fontAlgn="t"/>
                      <a:br>
                        <a:rPr lang="en-US" sz="2400" dirty="0">
                          <a:effectLst/>
                        </a:rPr>
                      </a:b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941786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D7AA98D-A18F-C413-BAEF-5FED65B21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25" y="2187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5882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Instructions dans les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Dockerfiles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COPY, ENV, EXPOSE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E3B288-7F30-CD5C-F529-5D6E056D8A65}"/>
              </a:ext>
            </a:extLst>
          </p:cNvPr>
          <p:cNvGraphicFramePr>
            <a:graphicFrameLocks noGrp="1"/>
          </p:cNvGraphicFramePr>
          <p:nvPr/>
        </p:nvGraphicFramePr>
        <p:xfrm>
          <a:off x="961534" y="1689029"/>
          <a:ext cx="10392266" cy="3914964"/>
        </p:xfrm>
        <a:graphic>
          <a:graphicData uri="http://schemas.openxmlformats.org/drawingml/2006/table">
            <a:tbl>
              <a:tblPr/>
              <a:tblGrid>
                <a:gridCol w="1799836">
                  <a:extLst>
                    <a:ext uri="{9D8B030D-6E8A-4147-A177-3AD203B41FA5}">
                      <a16:colId xmlns:a16="http://schemas.microsoft.com/office/drawing/2014/main" val="1005243843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1185961785"/>
                    </a:ext>
                  </a:extLst>
                </a:gridCol>
                <a:gridCol w="3718678">
                  <a:extLst>
                    <a:ext uri="{9D8B030D-6E8A-4147-A177-3AD203B41FA5}">
                      <a16:colId xmlns:a16="http://schemas.microsoft.com/office/drawing/2014/main" val="3910088763"/>
                    </a:ext>
                  </a:extLst>
                </a:gridCol>
              </a:tblGrid>
              <a:tr h="37045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1" i="0" u="none" strike="noStrike" noProof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Commande</a:t>
                      </a: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1" i="0" u="none" strike="noStrike" noProof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But</a:t>
                      </a: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1" i="0" u="none" strike="noStrike" noProof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Exemple</a:t>
                      </a: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63965"/>
                  </a:ext>
                </a:extLst>
              </a:tr>
              <a:tr h="139274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COPY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Copie plusieurs fichiers source du contexte vers le système de fichiers du conteneur à l'emplacement spécifié.</a:t>
                      </a:r>
                      <a:endParaRPr lang="fr-FR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COPY 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index.html /usr/share/nginx/html/index.html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026472"/>
                  </a:ext>
                </a:extLst>
              </a:tr>
              <a:tr h="271261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ENV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Définit une variable d'environnement.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ENV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STAGE=production</a:t>
                      </a:r>
                      <a:endParaRPr lang="en-US" sz="2400" dirty="0">
                        <a:effectLst/>
                      </a:endParaRPr>
                    </a:p>
                    <a:p>
                      <a:pPr fontAlgn="t"/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545361"/>
                  </a:ext>
                </a:extLst>
              </a:tr>
              <a:tr h="894802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EXPOSE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Informe des ports réseau sur lesquels le conteneur écoutera.</a:t>
                      </a: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EXPOSE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80 44</a:t>
                      </a:r>
                      <a:endParaRPr lang="en-US" sz="2400" dirty="0">
                        <a:effectLst/>
                      </a:endParaRPr>
                    </a:p>
                    <a:p>
                      <a:pPr fontAlgn="t"/>
                      <a:br>
                        <a:rPr lang="en-US" sz="2400" dirty="0">
                          <a:effectLst/>
                        </a:rPr>
                      </a:b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941786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D7AA98D-A18F-C413-BAEF-5FED65B21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25" y="2187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5460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Instructions dans les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Dockerfiles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MAINTAINER, ADD, STOPSIGNAL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E3B288-7F30-CD5C-F529-5D6E056D8A65}"/>
              </a:ext>
            </a:extLst>
          </p:cNvPr>
          <p:cNvGraphicFramePr>
            <a:graphicFrameLocks noGrp="1"/>
          </p:cNvGraphicFramePr>
          <p:nvPr/>
        </p:nvGraphicFramePr>
        <p:xfrm>
          <a:off x="961534" y="1689029"/>
          <a:ext cx="10392266" cy="4494084"/>
        </p:xfrm>
        <a:graphic>
          <a:graphicData uri="http://schemas.openxmlformats.org/drawingml/2006/table">
            <a:tbl>
              <a:tblPr/>
              <a:tblGrid>
                <a:gridCol w="1799836">
                  <a:extLst>
                    <a:ext uri="{9D8B030D-6E8A-4147-A177-3AD203B41FA5}">
                      <a16:colId xmlns:a16="http://schemas.microsoft.com/office/drawing/2014/main" val="1005243843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1185961785"/>
                    </a:ext>
                  </a:extLst>
                </a:gridCol>
                <a:gridCol w="3718678">
                  <a:extLst>
                    <a:ext uri="{9D8B030D-6E8A-4147-A177-3AD203B41FA5}">
                      <a16:colId xmlns:a16="http://schemas.microsoft.com/office/drawing/2014/main" val="3910088763"/>
                    </a:ext>
                  </a:extLst>
                </a:gridCol>
              </a:tblGrid>
              <a:tr h="37045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1" i="0" u="none" strike="noStrike" noProof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Commande</a:t>
                      </a: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1" i="0" u="none" strike="noStrike" noProof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But</a:t>
                      </a: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1" i="0" u="none" strike="noStrike" noProof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Exemple</a:t>
                      </a: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63965"/>
                  </a:ext>
                </a:extLst>
              </a:tr>
              <a:tr h="139274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MAINTAINER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Définit le champ </a:t>
                      </a:r>
                      <a:r>
                        <a:rPr lang="fr-FR" sz="2000" b="0" i="1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author</a:t>
                      </a:r>
                      <a:r>
                        <a:rPr lang="fr-FR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des images générées.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MAINTAINER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Solomon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Hykes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"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solomon@docker.com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026472"/>
                  </a:ext>
                </a:extLst>
              </a:tr>
              <a:tr h="271261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ADD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Copie de nouveaux fichiers, répertoires ou fichiers distants vers le conteneur. Invalide les caches. Évitez ADD et utilisez COPY à la place.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kern="1200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ADD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build-nginx </a:t>
                      </a: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build-nginx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545361"/>
                  </a:ext>
                </a:extLst>
              </a:tr>
              <a:tr h="894802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STOPSIGNAL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Définit le signal d'appel système qui sera envoyé au conteneur pour quitter.</a:t>
                      </a: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STOPSIGNAL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SIGINT</a:t>
                      </a:r>
                      <a:endParaRPr lang="en-US" sz="2400" dirty="0">
                        <a:effectLst/>
                      </a:endParaRPr>
                    </a:p>
                    <a:p>
                      <a:pPr fontAlgn="t"/>
                      <a:br>
                        <a:rPr lang="en-US" sz="2400" dirty="0">
                          <a:effectLst/>
                        </a:rPr>
                      </a:b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941786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D7AA98D-A18F-C413-BAEF-5FED65B21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25" y="2187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9494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Instructions dans les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Dockerfiles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WORKDIR, USER, LABEL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E3B288-7F30-CD5C-F529-5D6E056D8A65}"/>
              </a:ext>
            </a:extLst>
          </p:cNvPr>
          <p:cNvGraphicFramePr>
            <a:graphicFrameLocks noGrp="1"/>
          </p:cNvGraphicFramePr>
          <p:nvPr/>
        </p:nvGraphicFramePr>
        <p:xfrm>
          <a:off x="961534" y="1689029"/>
          <a:ext cx="10392266" cy="4189284"/>
        </p:xfrm>
        <a:graphic>
          <a:graphicData uri="http://schemas.openxmlformats.org/drawingml/2006/table">
            <a:tbl>
              <a:tblPr/>
              <a:tblGrid>
                <a:gridCol w="1799836">
                  <a:extLst>
                    <a:ext uri="{9D8B030D-6E8A-4147-A177-3AD203B41FA5}">
                      <a16:colId xmlns:a16="http://schemas.microsoft.com/office/drawing/2014/main" val="1005243843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1185961785"/>
                    </a:ext>
                  </a:extLst>
                </a:gridCol>
                <a:gridCol w="3718678">
                  <a:extLst>
                    <a:ext uri="{9D8B030D-6E8A-4147-A177-3AD203B41FA5}">
                      <a16:colId xmlns:a16="http://schemas.microsoft.com/office/drawing/2014/main" val="3910088763"/>
                    </a:ext>
                  </a:extLst>
                </a:gridCol>
              </a:tblGrid>
              <a:tr h="37045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1" i="0" u="none" strike="noStrike" noProof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Commande</a:t>
                      </a: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1" i="0" u="none" strike="noStrike" noProof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But</a:t>
                      </a: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1" i="0" u="none" strike="noStrike" noProof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Exemple</a:t>
                      </a: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63965"/>
                  </a:ext>
                </a:extLst>
              </a:tr>
              <a:tr h="139274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WORKDIR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Définit le dossier actuel.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WORKDIR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etc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/nginx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026472"/>
                  </a:ext>
                </a:extLst>
              </a:tr>
              <a:tr h="271261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USER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Définit le nom d'utilisateur pour les commandes RUN / CMD / ENTRYPOINT suivantes.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kern="1200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USER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nginx</a:t>
                      </a:r>
                      <a:endParaRPr lang="en-US" sz="2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545361"/>
                  </a:ext>
                </a:extLst>
              </a:tr>
              <a:tr h="894802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Applique des métadonnées clé/valeur à vos images, conteneurs ou démons.</a:t>
                      </a: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LABEL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architecture="arm64"</a:t>
                      </a:r>
                      <a:endParaRPr lang="en-US" sz="2400" dirty="0">
                        <a:effectLst/>
                      </a:endParaRPr>
                    </a:p>
                    <a:p>
                      <a:pPr fontAlgn="t"/>
                      <a:br>
                        <a:rPr lang="en-US" sz="2400" dirty="0">
                          <a:effectLst/>
                        </a:rPr>
                      </a:b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941786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D7AA98D-A18F-C413-BAEF-5FED65B21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25" y="2187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3576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Instructions dans les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Dockerfiles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ARG, ONBUILD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E3B288-7F30-CD5C-F529-5D6E056D8A65}"/>
              </a:ext>
            </a:extLst>
          </p:cNvPr>
          <p:cNvGraphicFramePr>
            <a:graphicFrameLocks noGrp="1"/>
          </p:cNvGraphicFramePr>
          <p:nvPr/>
        </p:nvGraphicFramePr>
        <p:xfrm>
          <a:off x="961534" y="1689029"/>
          <a:ext cx="10392266" cy="2992944"/>
        </p:xfrm>
        <a:graphic>
          <a:graphicData uri="http://schemas.openxmlformats.org/drawingml/2006/table">
            <a:tbl>
              <a:tblPr/>
              <a:tblGrid>
                <a:gridCol w="1799836">
                  <a:extLst>
                    <a:ext uri="{9D8B030D-6E8A-4147-A177-3AD203B41FA5}">
                      <a16:colId xmlns:a16="http://schemas.microsoft.com/office/drawing/2014/main" val="1005243843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1185961785"/>
                    </a:ext>
                  </a:extLst>
                </a:gridCol>
                <a:gridCol w="3718678">
                  <a:extLst>
                    <a:ext uri="{9D8B030D-6E8A-4147-A177-3AD203B41FA5}">
                      <a16:colId xmlns:a16="http://schemas.microsoft.com/office/drawing/2014/main" val="3910088763"/>
                    </a:ext>
                  </a:extLst>
                </a:gridCol>
              </a:tblGrid>
              <a:tr h="37045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1" i="0" u="none" strike="noStrike" noProof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Commande</a:t>
                      </a: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1" i="0" u="none" strike="noStrike" noProof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But</a:t>
                      </a: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1" i="0" u="none" strike="noStrike" noProof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Exemple</a:t>
                      </a:r>
                      <a:endParaRPr lang="fr-FR" sz="280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63965"/>
                  </a:ext>
                </a:extLst>
              </a:tr>
              <a:tr h="139274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ARG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Définit un paramètre pour créer l’image correspondante.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ARG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javaversion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026472"/>
                  </a:ext>
                </a:extLst>
              </a:tr>
              <a:tr h="271261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</a:rPr>
                        <a:t>ONBUILD</a:t>
                      </a:r>
                      <a:endParaRPr lang="en-US" sz="24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Ajoute une instruction déclenchée lorsque l'image est utilisée comme base pour une autre construction.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kern="1200" dirty="0">
                          <a:solidFill>
                            <a:srgbClr val="00008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ONBUILD COPY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. /app/</a:t>
                      </a:r>
                      <a:r>
                        <a:rPr 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src</a:t>
                      </a: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54536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D7AA98D-A18F-C413-BAEF-5FED65B21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25" y="2187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0595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Instructions dans les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Dockerfiles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Couches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Dans un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Dockerfile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chaque instruction crée une nouvelle couche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dans l'image Docker.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couches sont comme des "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instantanés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 de l'image à un certain point dans le temps et favorisent la mise en cache et le partage des données.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D7AA98D-A18F-C413-BAEF-5FED65B21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25" y="2187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034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Instructions dans les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Dockerfiles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Couches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D7AA98D-A18F-C413-BAEF-5FED65B21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25" y="2187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C8FE11-3D4B-F8DC-FD1E-5DA8B96BD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877374"/>
            <a:ext cx="6400800" cy="41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27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Instructions dans les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Dockerfiles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44892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6E163-1E71-0AF0-EEDF-C14D40054A5D}"/>
              </a:ext>
            </a:extLst>
          </p:cNvPr>
          <p:cNvSpPr txBox="1">
            <a:spLocks/>
          </p:cNvSpPr>
          <p:nvPr/>
        </p:nvSpPr>
        <p:spPr>
          <a:xfrm>
            <a:off x="831850" y="3618967"/>
            <a:ext cx="10515600" cy="8382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  <a:endParaRPr kumimoji="0" lang="fr-FR" sz="5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67242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Choix d’une image à construire pertinente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Dans la suite, nous allons voir un ensemble de bonnes pratiques pour rédiger des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Dockerfiles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Ces bonnes pratiques concernent la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sécurité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la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vitesse de 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build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et la 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clareté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Nous partons d’une définition "naïve", puis nous appliquerons une bonne pratique à la fois jusqu’à arriver à un résultat satisfaisant.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Nous prenons le cas d’une application web Node.js. Bien que certaines recommandations soient liées à cette technologie, la plupart sont agnostiques et s’appliquent à la plupart des images que vous définirez.</a:t>
            </a:r>
          </a:p>
        </p:txBody>
      </p:sp>
    </p:spTree>
    <p:extLst>
      <p:ext uri="{BB962C8B-B14F-4D97-AF65-F5344CB8AC3E}">
        <p14:creationId xmlns:p14="http://schemas.microsoft.com/office/powerpoint/2010/main" val="3396784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Dockerfile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"naïf"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FROM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COPY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 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RUN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install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CMD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[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"node"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index.js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4084412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Correctement choisir une image de base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Toujours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choisir une image de base en visant au moins une version mineure.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choisissant une petite image de base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Nous réduisons la taille de l'image, ce qui accélère sa création et sa publication.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Nous réduisons la surface d'attaque.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Nous empêchons les ruptures potentielles dues à une mise à jour en amont.</a:t>
            </a:r>
          </a:p>
        </p:txBody>
      </p:sp>
    </p:spTree>
    <p:extLst>
      <p:ext uri="{BB962C8B-B14F-4D97-AF65-F5344CB8AC3E}">
        <p14:creationId xmlns:p14="http://schemas.microsoft.com/office/powerpoint/2010/main" val="1384286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Correctement choisir une image de base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Utiliser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une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version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spécifique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pour la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stabilité</a:t>
            </a:r>
            <a:b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Utiliser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Alpine Linux pour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réduire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la taille de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l'image</a:t>
            </a:r>
            <a:b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FROM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20.8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alpine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COPY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 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RUN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install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CMD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[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"node"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index.js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072012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Définir un dossier de travail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 défaut, le répertoire de travail est le chemin racine (/), mais il convient de le définir ailleurs en fonction des conventions du langage et du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framework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utilisé.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Cela fournira un emplacement dédié dans le système de fichiers pour votre application.</a:t>
            </a:r>
          </a:p>
        </p:txBody>
      </p:sp>
    </p:spTree>
    <p:extLst>
      <p:ext uri="{BB962C8B-B14F-4D97-AF65-F5344CB8AC3E}">
        <p14:creationId xmlns:p14="http://schemas.microsoft.com/office/powerpoint/2010/main" val="2490342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Définir un dossier de travail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FROM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20.8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alpine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Spécifier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un dossier de travail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autre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que la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racine</a:t>
            </a:r>
            <a:b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WORKDIR 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app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COPY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 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RUN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install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CMD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[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"node"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index.js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8418179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Distinguer les changements de l’application et des dépendances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images Docker sont mises en cache à chaque couche (instruction).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 mécanisme de mise en cache empêche toute modification du code d'invalider le cache, ce qui signifie que nous n'avons besoin de réinstaller les dépendances que si l'une d'elles change.</a:t>
            </a:r>
          </a:p>
        </p:txBody>
      </p:sp>
    </p:spTree>
    <p:extLst>
      <p:ext uri="{BB962C8B-B14F-4D97-AF65-F5344CB8AC3E}">
        <p14:creationId xmlns:p14="http://schemas.microsoft.com/office/powerpoint/2010/main" val="4001680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Distinguer les changements de l’application et des dépendances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FROM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20.8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alpine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WORKDIR 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app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Copier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seulement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les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fichiers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requis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pour installer les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dépendances</a:t>
            </a:r>
            <a:b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(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Meilleure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mise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cache des couches)</a:t>
            </a:r>
            <a:b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COPY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package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*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json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RUN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install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Copier le code source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restant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après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l'installation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des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dépendances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b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COPY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CMD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[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"node"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index.js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962271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Définir un utilisateur non-root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S’ils sont correctement configurés, les ﻿conteneurs offrent une certaine protection (via les espaces de noms utilisateur) entre les utilisateurs ﻿root à l'intérieur d'un conteneur.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Cependant, le fait de définir un utilisateur non-root apporte une couche supplémentaire à notre approche de sécurité en profondeur.</a:t>
            </a:r>
          </a:p>
        </p:txBody>
      </p:sp>
    </p:spTree>
    <p:extLst>
      <p:ext uri="{BB962C8B-B14F-4D97-AF65-F5344CB8AC3E}">
        <p14:creationId xmlns:p14="http://schemas.microsoft.com/office/powerpoint/2010/main" val="9628157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Définir un utilisateur non-root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FROM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20.8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alpine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WORKDIR 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app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COPY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package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*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json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RUN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install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Utiliser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un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utilisateur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non-root</a:t>
            </a:r>
            <a:b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USER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Utiliser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--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chown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sur les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commandes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COPY pour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définir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les permissions</a:t>
            </a:r>
            <a:b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COPY --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chown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node:node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CMD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[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"node"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index.js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2232588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Configurer l’application Node.js pour la production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 variable d’environnement ﻿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NODE_ENV=production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change le comportement de certains composants, augmentant ainsi les performances.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L'utilisation de ﻿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npm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ci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 </a:t>
            </a:r>
            <a:r>
              <a:rPr kumimoji="0" lang="fr-FR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install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au lieu de ﻿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npm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install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assure un état reproductible.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L'option ﻿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--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only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=production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empêche l'installation des dépendances de développement non nécessaires.</a:t>
            </a:r>
          </a:p>
        </p:txBody>
      </p:sp>
    </p:spTree>
    <p:extLst>
      <p:ext uri="{BB962C8B-B14F-4D97-AF65-F5344CB8AC3E}">
        <p14:creationId xmlns:p14="http://schemas.microsoft.com/office/powerpoint/2010/main" val="5147693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Configurer l’application Node.js pour la production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FROM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20.8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alpine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Définir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NODE_ENV</a:t>
            </a:r>
            <a:b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ENV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NODE_ENV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production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WORKDIR 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app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COPY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package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*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json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Installer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seulement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les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dépendances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de production</a:t>
            </a:r>
            <a:b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RUN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ci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--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only=production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USER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COPY --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chown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node:node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CMD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[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"node"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index.js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1226618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Informer de sur quel(s) port(s) l’application écoute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L'instruction ﻿EXPOSE documente pour les utilisateurs de l'image quel port l'application est censée écouter.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Vous devrez toujours publier le port lors de l'exécution, mais cela permet aux utilisateurs finaux de savoir à quoi s'attendre.</a:t>
            </a:r>
          </a:p>
        </p:txBody>
      </p:sp>
    </p:spTree>
    <p:extLst>
      <p:ext uri="{BB962C8B-B14F-4D97-AF65-F5344CB8AC3E}">
        <p14:creationId xmlns:p14="http://schemas.microsoft.com/office/powerpoint/2010/main" val="22330338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Informer de sur quel(s) port(s) l’application écoute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FROM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20.8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alpine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ENV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NODE_ENV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production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WORKDIR 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app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COPY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package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*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json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RUN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ci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--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only=production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USER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COPY --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chown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node:node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Documenter sur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quel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(s) port(s)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l'application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écoute</a:t>
            </a:r>
            <a:b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EXPOSE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3000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CMD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[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"node"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index.js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7964678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Utiliser les montages de cache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exploitant cette fonction, nous pouvons accélérer l'installation des dépendances en utilisant un cache local lorsque cela est possible.</a:t>
            </a:r>
          </a:p>
        </p:txBody>
      </p:sp>
    </p:spTree>
    <p:extLst>
      <p:ext uri="{BB962C8B-B14F-4D97-AF65-F5344CB8AC3E}">
        <p14:creationId xmlns:p14="http://schemas.microsoft.com/office/powerpoint/2010/main" val="3555640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Utiliser les montages de cache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FROM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20.8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alpine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ENV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NODE_ENV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production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WORKDIR 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app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COPY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package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*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json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Utiliser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un cache pour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accélérer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l'installation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des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dépendances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déjà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existantes</a:t>
            </a:r>
            <a:b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RUN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--mount=type=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cache,target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/app/.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\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set cache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app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&amp;&amp;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\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ci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--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only=production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USER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COPY --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chown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node:node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EXPOSE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3000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CMD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[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"node"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index.js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5585483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Multi-stage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builds</a:t>
            </a:r>
            <a:endParaRPr kumimoji="0" lang="fr-FR" sz="2400" b="1" i="1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Afin d'avoir un environnement de développement pratique pour les développeurs avec des dépendances de développement,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hot </a:t>
            </a:r>
            <a:r>
              <a:rPr kumimoji="0" lang="fr-FR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reloading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tout en conservant les améliorations de la production pour le déploiement, nous créons des étapes séparées dans le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Dockerfile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14286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Multi-stage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builds</a:t>
            </a:r>
            <a:endParaRPr kumimoji="0" lang="fr-FR" sz="2400" b="1" i="1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(Même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Dockerfile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pour tous les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Stage 1</a:t>
            </a:r>
            <a:b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FROM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20.8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alpine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AS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base</a:t>
            </a:r>
            <a:b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WORKDIR 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app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COPY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package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*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json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8089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Multi-stage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builds</a:t>
            </a:r>
            <a:endParaRPr kumimoji="0" lang="fr-FR" sz="2400" b="1" i="1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(Même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Dockerfile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pour tous les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Stage 2</a:t>
            </a:r>
            <a:b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FROM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base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AS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dev</a:t>
            </a:r>
            <a:b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RUN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--mount=type=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cache,target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/app/.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\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set cache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app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&amp;&amp;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\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ci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--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only=production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COPY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 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CMD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[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"run"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"dev"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6252104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Multi-stage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builds</a:t>
            </a:r>
            <a:endParaRPr kumimoji="0" lang="fr-FR" sz="2400" b="1" i="1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(Même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Dockerfile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pour tous les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# Stage 3</a:t>
            </a:r>
            <a:b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ENV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NODE_ENV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production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RUN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--mount=type=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cache,target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/app/.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\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set cache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app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&amp;&amp;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\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npm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3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ci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--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only=production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USER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COPY --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chown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node:node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EXPOSE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3000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CMD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[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"node"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index.js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8456227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Bonnes pratiques</a:t>
            </a:r>
          </a:p>
        </p:txBody>
      </p:sp>
    </p:spTree>
    <p:extLst>
      <p:ext uri="{BB962C8B-B14F-4D97-AF65-F5344CB8AC3E}">
        <p14:creationId xmlns:p14="http://schemas.microsoft.com/office/powerpoint/2010/main" val="22013375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7886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2546</Words>
  <Application>Microsoft Macintosh PowerPoint</Application>
  <PresentationFormat>Widescreen</PresentationFormat>
  <Paragraphs>339</Paragraphs>
  <Slides>45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Consolas</vt:lpstr>
      <vt:lpstr>Thème Office</vt:lpstr>
      <vt:lpstr>3 – Images Docker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– Images Docker</dc:title>
  <dc:creator>Alexandre Gressier</dc:creator>
  <cp:lastModifiedBy>Alexandre Gressier</cp:lastModifiedBy>
  <cp:revision>1</cp:revision>
  <dcterms:created xsi:type="dcterms:W3CDTF">2023-10-04T06:50:21Z</dcterms:created>
  <dcterms:modified xsi:type="dcterms:W3CDTF">2023-10-04T06:50:54Z</dcterms:modified>
</cp:coreProperties>
</file>