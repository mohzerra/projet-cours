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8"/>
  </p:notesMasterIdLst>
  <p:sldIdLst>
    <p:sldId id="256" r:id="rId2"/>
    <p:sldId id="257" r:id="rId3"/>
    <p:sldId id="267" r:id="rId4"/>
    <p:sldId id="258" r:id="rId5"/>
    <p:sldId id="329" r:id="rId6"/>
    <p:sldId id="330" r:id="rId7"/>
    <p:sldId id="331" r:id="rId8"/>
    <p:sldId id="332" r:id="rId9"/>
    <p:sldId id="333" r:id="rId10"/>
    <p:sldId id="325" r:id="rId11"/>
    <p:sldId id="262" r:id="rId12"/>
    <p:sldId id="268" r:id="rId13"/>
    <p:sldId id="334" r:id="rId14"/>
    <p:sldId id="335" r:id="rId15"/>
    <p:sldId id="339" r:id="rId16"/>
    <p:sldId id="337" r:id="rId17"/>
    <p:sldId id="338" r:id="rId18"/>
    <p:sldId id="336" r:id="rId19"/>
    <p:sldId id="340" r:id="rId20"/>
    <p:sldId id="341" r:id="rId21"/>
    <p:sldId id="342" r:id="rId22"/>
    <p:sldId id="343" r:id="rId23"/>
    <p:sldId id="344" r:id="rId24"/>
    <p:sldId id="345" r:id="rId25"/>
    <p:sldId id="328" r:id="rId26"/>
    <p:sldId id="365" r:id="rId27"/>
    <p:sldId id="363" r:id="rId28"/>
    <p:sldId id="384" r:id="rId29"/>
    <p:sldId id="385" r:id="rId30"/>
    <p:sldId id="386" r:id="rId31"/>
    <p:sldId id="387" r:id="rId32"/>
    <p:sldId id="389" r:id="rId33"/>
    <p:sldId id="390" r:id="rId34"/>
    <p:sldId id="366" r:id="rId35"/>
    <p:sldId id="367" r:id="rId36"/>
    <p:sldId id="376" r:id="rId37"/>
    <p:sldId id="377" r:id="rId38"/>
    <p:sldId id="379" r:id="rId39"/>
    <p:sldId id="378" r:id="rId40"/>
    <p:sldId id="380" r:id="rId41"/>
    <p:sldId id="381" r:id="rId42"/>
    <p:sldId id="382" r:id="rId43"/>
    <p:sldId id="368" r:id="rId44"/>
    <p:sldId id="263" r:id="rId45"/>
    <p:sldId id="269" r:id="rId46"/>
    <p:sldId id="346" r:id="rId47"/>
    <p:sldId id="347" r:id="rId48"/>
    <p:sldId id="348" r:id="rId49"/>
    <p:sldId id="349" r:id="rId50"/>
    <p:sldId id="350" r:id="rId51"/>
    <p:sldId id="351" r:id="rId52"/>
    <p:sldId id="352" r:id="rId53"/>
    <p:sldId id="327" r:id="rId54"/>
    <p:sldId id="264" r:id="rId55"/>
    <p:sldId id="270" r:id="rId56"/>
    <p:sldId id="353" r:id="rId57"/>
    <p:sldId id="354" r:id="rId58"/>
    <p:sldId id="355" r:id="rId59"/>
    <p:sldId id="356" r:id="rId60"/>
    <p:sldId id="357" r:id="rId61"/>
    <p:sldId id="358" r:id="rId62"/>
    <p:sldId id="359" r:id="rId63"/>
    <p:sldId id="360" r:id="rId64"/>
    <p:sldId id="361" r:id="rId65"/>
    <p:sldId id="326" r:id="rId66"/>
    <p:sldId id="272" r:id="rId67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0D000"/>
    <a:srgbClr val="3D268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84626"/>
  </p:normalViewPr>
  <p:slideViewPr>
    <p:cSldViewPr snapToGrid="0" snapToObjects="1">
      <p:cViewPr varScale="1">
        <p:scale>
          <a:sx n="70" d="100"/>
          <a:sy n="70" d="100"/>
        </p:scale>
        <p:origin x="113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B44D0C-1CB1-E645-87B8-5887239B9ECD}" type="datetimeFigureOut">
              <a:rPr lang="fr-FR" smtClean="0"/>
              <a:t>29/08/2024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9A1237-63C0-2149-90AD-33FFCF7C857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777622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© SUPINFO</a:t>
            </a:r>
          </a:p>
          <a:p>
            <a:r>
              <a:rPr lang="fr-FR" dirty="0"/>
              <a:t>Auteur </a:t>
            </a:r>
            <a:r>
              <a:rPr lang="fr-FR"/>
              <a:t>: Corentin Zimmermann</a:t>
            </a:r>
            <a:endParaRPr lang="fr-FR" dirty="0"/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9A1237-63C0-2149-90AD-33FFCF7C8578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517323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9A1237-63C0-2149-90AD-33FFCF7C8578}" type="slidenum">
              <a:rPr lang="fr-FR" smtClean="0"/>
              <a:t>33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611173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9A1237-63C0-2149-90AD-33FFCF7C8578}" type="slidenum">
              <a:rPr lang="fr-FR" smtClean="0"/>
              <a:t>36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864480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CE35FED-2507-6347-9B57-3FF5AFCD8E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DAD8B847-1B82-BE49-A9A7-C3023CD2D5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B611D94-0717-E14D-B19C-F142F7DBD3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B14F5-1D21-F14F-B36B-BCA0A34A15FF}" type="datetimeFigureOut">
              <a:rPr lang="fr-FR" smtClean="0"/>
              <a:t>29/08/2024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BD62BDA-0F08-504D-9BDA-A04B89E826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60C21CC-1B92-B44B-AE72-CDCCB2D83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FE8A8-8232-1F4D-846D-4EBDDCE93EE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414071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2EA51D4-1867-8845-820C-C21D7BCEC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C3841B2-2299-484D-98D4-2509FDD873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57F3535-31CB-2243-9FD7-D6385CE3DE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B14F5-1D21-F14F-B36B-BCA0A34A15FF}" type="datetimeFigureOut">
              <a:rPr lang="fr-FR" smtClean="0"/>
              <a:t>29/08/2024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1828F9A-0BE6-2040-B200-CA9AD150D7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553960E-7BA0-5744-B871-2625A9246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FE8A8-8232-1F4D-846D-4EBDDCE93EE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977545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6D28FD5-3D75-FF4B-8910-57BF5A278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84D373C-AC4E-4749-AF27-1D4F5473F3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94B37BF-0D5B-EE4F-B5D2-4991975BEA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B14F5-1D21-F14F-B36B-BCA0A34A15FF}" type="datetimeFigureOut">
              <a:rPr lang="fr-FR" smtClean="0"/>
              <a:t>29/08/2024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5CC8B85-AF4B-D347-9A59-97FD4522E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F0FD24F-150A-1443-9905-84B822D46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FE8A8-8232-1F4D-846D-4EBDDCE93EE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454055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E238437-A9AA-1649-93B3-41C10243C8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E052425-B188-F44E-AE00-4A68E5EA43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C1B7208-E02E-5B44-B5B0-8F7E4329BF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6479033-F7B2-3340-AA42-C9315CC63A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B14F5-1D21-F14F-B36B-BCA0A34A15FF}" type="datetimeFigureOut">
              <a:rPr lang="fr-FR" smtClean="0"/>
              <a:t>29/08/2024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BC51178-4562-B14F-81E9-EEB57190DE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ECB1059-2BD2-DE48-8A78-A1F0952EF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FE8A8-8232-1F4D-846D-4EBDDCE93EE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130480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2E87D52-2FB1-1B49-AB3F-B878A6C6CE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35322B7-F0A2-534D-A6BC-4D36CFB7E2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A541A8E-94B9-9948-9F7F-B59CE4A7A5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887F5E04-45D9-0B41-A49B-C539BB2407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045050A4-C507-9A4F-B6CE-71C0EC9B7E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3FAFD617-5DC0-7146-8644-37FDEF3C46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B14F5-1D21-F14F-B36B-BCA0A34A15FF}" type="datetimeFigureOut">
              <a:rPr lang="fr-FR" smtClean="0"/>
              <a:t>29/08/2024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066D3D1A-4433-FB46-BCB3-2FC07477E3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228BE2A0-7142-7944-9978-9CF0A02E57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FE8A8-8232-1F4D-846D-4EBDDCE93EE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719452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D23AE92-F78E-674F-9897-3D26B7A9FD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1AC96ECA-9486-6E4B-B4BC-7E76B34EFF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B14F5-1D21-F14F-B36B-BCA0A34A15FF}" type="datetimeFigureOut">
              <a:rPr lang="fr-FR" smtClean="0"/>
              <a:t>29/08/2024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B8B4D8AF-4BB6-934B-A379-CBF84C9A4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0F8E009D-38CE-D34C-82BA-3182CA4F1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FE8A8-8232-1F4D-846D-4EBDDCE93EE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855147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AD844418-3E68-CA4E-AC8C-9D66D92550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B14F5-1D21-F14F-B36B-BCA0A34A15FF}" type="datetimeFigureOut">
              <a:rPr lang="fr-FR" smtClean="0"/>
              <a:t>29/08/2024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ACD285BC-A399-C24D-9863-55D71A825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BBC877D-0D91-8442-9A72-AF3420B94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FE8A8-8232-1F4D-846D-4EBDDCE93EE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407320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B9C8412-37C8-4B46-9CE8-3469F1893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1A9CD95-5780-714B-A453-63A2F3456E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D2D7CA0C-E415-F14F-9EF8-44A9C7CBED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2697766-D919-5247-A55B-2A12BA74B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B14F5-1D21-F14F-B36B-BCA0A34A15FF}" type="datetimeFigureOut">
              <a:rPr lang="fr-FR" smtClean="0"/>
              <a:t>29/08/2024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FB77295-5D11-2841-AC5B-84946CEA3B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CAF8E56-0D31-804D-9F4F-DD615D5E8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FE8A8-8232-1F4D-846D-4EBDDCE93EE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01117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6B54B13-E418-4E42-B170-1BC860212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EB349CDA-C85B-4F42-B8C6-26E684EDA6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C9E92AAF-FCE8-F84A-8EB9-CC618F3F7E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AB83901-E98D-6B44-A440-F9809CD85A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B14F5-1D21-F14F-B36B-BCA0A34A15FF}" type="datetimeFigureOut">
              <a:rPr lang="fr-FR" smtClean="0"/>
              <a:t>29/08/2024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AB5FCBB-5385-494D-A3C1-C59A68C9E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24BFBC5-500C-E04C-A17A-AC6C64E82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FE8A8-8232-1F4D-846D-4EBDDCE93EE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292089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13EDC94-6368-2D4E-8A75-930EFDF09C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9FEE47BB-5DBD-034C-84DA-C86FA33B90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FE7FE81-3F94-FB4B-AB88-842AE52DCB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B14F5-1D21-F14F-B36B-BCA0A34A15FF}" type="datetimeFigureOut">
              <a:rPr lang="fr-FR" smtClean="0"/>
              <a:t>29/08/2024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151EDF4-8F0D-4644-BC7F-8EDA683F62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D779F0B-3D1B-234B-8E0E-0005BA6EE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FE8A8-8232-1F4D-846D-4EBDDCE93EE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921376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0FD2D733-6537-F246-9DD6-47A2CFFE25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CFED1EB9-F8C4-6F42-9293-8EFB0A55D0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078BEE2-EC2A-B14D-8087-8A8A25C4D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B14F5-1D21-F14F-B36B-BCA0A34A15FF}" type="datetimeFigureOut">
              <a:rPr lang="fr-FR" smtClean="0"/>
              <a:t>29/08/2024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6C088C9-8381-E84F-AEB6-0CE68238A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FEFA170-D382-C048-933C-9BCF9266E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FE8A8-8232-1F4D-846D-4EBDDCE93EE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024321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61016B3E-7434-F444-85B1-81A3F66D7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6C2A833-B532-5441-8F6F-770D7BDE7E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9AD43F0-39EC-1047-86D5-82DFE14D54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B14F5-1D21-F14F-B36B-BCA0A34A15FF}" type="datetimeFigureOut">
              <a:rPr lang="fr-FR" smtClean="0"/>
              <a:t>29/08/2024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406F5D3-EF53-A447-B4AC-97397E1C33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8542739-B2AF-EA41-A1C0-C7A7135EE3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5FE8A8-8232-1F4D-846D-4EBDDCE93EE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781036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26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6F8221A-BD6C-D743-8F79-B5CC237B7B3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>
                <a:solidFill>
                  <a:schemeClr val="bg1"/>
                </a:solidFill>
              </a:rPr>
              <a:t>Les classes utiles</a:t>
            </a:r>
          </a:p>
        </p:txBody>
      </p:sp>
      <p:sp>
        <p:nvSpPr>
          <p:cNvPr id="6" name="Sous-titre 2">
            <a:extLst>
              <a:ext uri="{FF2B5EF4-FFF2-40B4-BE49-F238E27FC236}">
                <a16:creationId xmlns:a16="http://schemas.microsoft.com/office/drawing/2014/main" id="{76B8DA83-B860-924D-B9FE-FE02FD8A3C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25983"/>
            <a:ext cx="9144000" cy="1655762"/>
          </a:xfrm>
        </p:spPr>
        <p:txBody>
          <a:bodyPr/>
          <a:lstStyle/>
          <a:p>
            <a:r>
              <a:rPr lang="fr-FR">
                <a:solidFill>
                  <a:schemeClr val="bg1"/>
                </a:solidFill>
              </a:rPr>
              <a:t>3ASP - C# / ASP.NET</a:t>
            </a:r>
            <a:endParaRPr lang="fr-FR" dirty="0">
              <a:solidFill>
                <a:schemeClr val="bg1"/>
              </a:solidFill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D5A1A31C-D020-0B43-A654-BC830BBC20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3200" y="5454000"/>
            <a:ext cx="1080000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64620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26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1">
            <a:extLst>
              <a:ext uri="{FF2B5EF4-FFF2-40B4-BE49-F238E27FC236}">
                <a16:creationId xmlns:a16="http://schemas.microsoft.com/office/drawing/2014/main" id="{AC0B1E25-C870-E44C-9AEC-2F6389ADF8D7}"/>
              </a:ext>
            </a:extLst>
          </p:cNvPr>
          <p:cNvSpPr txBox="1">
            <a:spLocks/>
          </p:cNvSpPr>
          <p:nvPr/>
        </p:nvSpPr>
        <p:spPr>
          <a:xfrm>
            <a:off x="831850" y="2532793"/>
            <a:ext cx="10515600" cy="2851200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742950" indent="-742950">
              <a:buAutoNum type="arabicPeriod"/>
            </a:pPr>
            <a:r>
              <a:rPr lang="fr-FR" sz="3600" dirty="0">
                <a:solidFill>
                  <a:schemeClr val="bg1"/>
                </a:solidFill>
              </a:rPr>
              <a:t>String</a:t>
            </a:r>
          </a:p>
          <a:p>
            <a:pPr marL="742950" indent="-742950">
              <a:buAutoNum type="arabicPeriod"/>
            </a:pPr>
            <a:r>
              <a:rPr lang="fr-FR" sz="3600" dirty="0">
                <a:solidFill>
                  <a:schemeClr val="bg1"/>
                </a:solidFill>
              </a:rPr>
              <a:t>Génériques</a:t>
            </a:r>
          </a:p>
          <a:p>
            <a:pPr marL="742950" indent="-742950">
              <a:buAutoNum type="arabicPeriod"/>
            </a:pPr>
            <a:r>
              <a:rPr lang="fr-FR" sz="3600" dirty="0">
                <a:solidFill>
                  <a:schemeClr val="bg1"/>
                </a:solidFill>
              </a:rPr>
              <a:t>Méthodes d’extension</a:t>
            </a:r>
          </a:p>
          <a:p>
            <a:pPr marL="742950" indent="-742950">
              <a:buAutoNum type="arabicPeriod"/>
            </a:pPr>
            <a:r>
              <a:rPr lang="fr-FR" sz="3600" dirty="0">
                <a:solidFill>
                  <a:schemeClr val="bg1"/>
                </a:solidFill>
              </a:rPr>
              <a:t>Multitasking</a:t>
            </a:r>
          </a:p>
          <a:p>
            <a:pPr marL="742950" indent="-742950">
              <a:buAutoNum type="arabicPeriod"/>
            </a:pPr>
            <a:r>
              <a:rPr lang="fr-FR" sz="3600" dirty="0">
                <a:solidFill>
                  <a:schemeClr val="bg1"/>
                </a:solidFill>
              </a:rPr>
              <a:t>Collections</a:t>
            </a:r>
          </a:p>
          <a:p>
            <a:pPr marL="742950" indent="-742950">
              <a:buAutoNum type="arabicPeriod"/>
            </a:pPr>
            <a:r>
              <a:rPr lang="fr-FR" sz="3600" dirty="0">
                <a:solidFill>
                  <a:schemeClr val="bg1"/>
                </a:solidFill>
              </a:rPr>
              <a:t>Exceptions</a:t>
            </a:r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E19DB8DF-56A9-C146-8CC5-1A72BBF66B41}"/>
              </a:ext>
            </a:extLst>
          </p:cNvPr>
          <p:cNvSpPr txBox="1">
            <a:spLocks/>
          </p:cNvSpPr>
          <p:nvPr/>
        </p:nvSpPr>
        <p:spPr>
          <a:xfrm>
            <a:off x="4994689" y="402196"/>
            <a:ext cx="2189922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3200" i="1" dirty="0">
                <a:solidFill>
                  <a:schemeClr val="bg1"/>
                </a:solidFill>
              </a:rPr>
              <a:t>Sommaire</a:t>
            </a:r>
          </a:p>
        </p:txBody>
      </p:sp>
      <p:pic>
        <p:nvPicPr>
          <p:cNvPr id="6" name="Graphique 5" descr="Menu avec un remplissage uni">
            <a:extLst>
              <a:ext uri="{FF2B5EF4-FFF2-40B4-BE49-F238E27FC236}">
                <a16:creationId xmlns:a16="http://schemas.microsoft.com/office/drawing/2014/main" id="{F3640D13-DDD0-8D47-9978-9A138749BA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40000" y="5040000"/>
            <a:ext cx="1080000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17231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26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1">
            <a:extLst>
              <a:ext uri="{FF2B5EF4-FFF2-40B4-BE49-F238E27FC236}">
                <a16:creationId xmlns:a16="http://schemas.microsoft.com/office/drawing/2014/main" id="{AC0B1E25-C870-E44C-9AEC-2F6389ADF8D7}"/>
              </a:ext>
            </a:extLst>
          </p:cNvPr>
          <p:cNvSpPr txBox="1">
            <a:spLocks/>
          </p:cNvSpPr>
          <p:nvPr/>
        </p:nvSpPr>
        <p:spPr>
          <a:xfrm>
            <a:off x="831850" y="1709738"/>
            <a:ext cx="10515600" cy="2851200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fr-FR" sz="5400" dirty="0"/>
          </a:p>
          <a:p>
            <a:endParaRPr lang="fr-FR" sz="5400" dirty="0"/>
          </a:p>
          <a:p>
            <a:endParaRPr lang="fr-FR" sz="5400" dirty="0"/>
          </a:p>
          <a:p>
            <a:r>
              <a:rPr lang="fr-FR" sz="5400" dirty="0">
                <a:solidFill>
                  <a:schemeClr val="bg1"/>
                </a:solidFill>
              </a:rPr>
              <a:t>1. String</a:t>
            </a:r>
          </a:p>
        </p:txBody>
      </p:sp>
    </p:spTree>
    <p:extLst>
      <p:ext uri="{BB962C8B-B14F-4D97-AF65-F5344CB8AC3E}">
        <p14:creationId xmlns:p14="http://schemas.microsoft.com/office/powerpoint/2010/main" val="11186983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1. String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35137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Tableau de caractères</a:t>
            </a:r>
          </a:p>
          <a:p>
            <a:endParaRPr lang="fr-FR" sz="2400" dirty="0"/>
          </a:p>
          <a:p>
            <a:pPr marL="240029" indent="-227329">
              <a:lnSpc>
                <a:spcPct val="100000"/>
              </a:lnSpc>
              <a:buClr>
                <a:srgbClr val="391778"/>
              </a:buClr>
              <a:buFont typeface="Arial"/>
              <a:buChar char="•"/>
              <a:tabLst>
                <a:tab pos="240029" algn="l"/>
              </a:tabLst>
            </a:pPr>
            <a:r>
              <a:rPr lang="fr-FR" sz="2400" dirty="0">
                <a:latin typeface="Segoe UI"/>
                <a:cs typeface="Segoe UI"/>
              </a:rPr>
              <a:t>Pour</a:t>
            </a:r>
            <a:r>
              <a:rPr lang="fr-FR" sz="2400" spc="-125" dirty="0">
                <a:latin typeface="Segoe UI"/>
                <a:cs typeface="Segoe UI"/>
              </a:rPr>
              <a:t> </a:t>
            </a:r>
            <a:r>
              <a:rPr lang="fr-FR" sz="2400" spc="-10" dirty="0">
                <a:latin typeface="Segoe UI"/>
                <a:cs typeface="Segoe UI"/>
              </a:rPr>
              <a:t>rappel</a:t>
            </a:r>
            <a:endParaRPr lang="fr-FR" sz="240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spcBef>
                <a:spcPts val="520"/>
              </a:spcBef>
              <a:buClr>
                <a:srgbClr val="391778"/>
              </a:buClr>
              <a:buFont typeface="Arial"/>
              <a:buChar char="•"/>
              <a:tabLst>
                <a:tab pos="698500" algn="l"/>
              </a:tabLst>
            </a:pPr>
            <a:r>
              <a:rPr lang="fr-FR" sz="2000" dirty="0">
                <a:latin typeface="Segoe UI"/>
                <a:cs typeface="Segoe UI"/>
              </a:rPr>
              <a:t>Les</a:t>
            </a:r>
            <a:r>
              <a:rPr lang="fr-FR" sz="2000" spc="-3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tableaux</a:t>
            </a:r>
            <a:r>
              <a:rPr lang="fr-FR" sz="2000" spc="-3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ont</a:t>
            </a:r>
            <a:r>
              <a:rPr lang="fr-FR" sz="2000" spc="-2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une</a:t>
            </a:r>
            <a:r>
              <a:rPr lang="fr-FR" sz="2000" spc="-2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taille</a:t>
            </a:r>
            <a:r>
              <a:rPr lang="fr-FR" sz="2000" spc="-2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fixe</a:t>
            </a:r>
            <a:r>
              <a:rPr lang="fr-FR" sz="2000" spc="-4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définis</a:t>
            </a:r>
            <a:r>
              <a:rPr lang="fr-FR" sz="2000" spc="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lors</a:t>
            </a:r>
            <a:r>
              <a:rPr lang="fr-FR" sz="2000" spc="-2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de</a:t>
            </a:r>
            <a:r>
              <a:rPr lang="fr-FR" sz="2000" spc="-2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la</a:t>
            </a:r>
            <a:r>
              <a:rPr lang="fr-FR" sz="2000" spc="-25" dirty="0">
                <a:latin typeface="Segoe UI"/>
                <a:cs typeface="Segoe UI"/>
              </a:rPr>
              <a:t> </a:t>
            </a:r>
            <a:r>
              <a:rPr lang="fr-FR" sz="2000" spc="-10" dirty="0">
                <a:latin typeface="Segoe UI"/>
                <a:cs typeface="Segoe UI"/>
              </a:rPr>
              <a:t>création</a:t>
            </a:r>
            <a:endParaRPr lang="fr-FR" sz="200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spcBef>
                <a:spcPts val="495"/>
              </a:spcBef>
              <a:buClr>
                <a:srgbClr val="391778"/>
              </a:buClr>
              <a:buFont typeface="Arial"/>
              <a:buChar char="•"/>
              <a:tabLst>
                <a:tab pos="698500" algn="l"/>
              </a:tabLst>
            </a:pPr>
            <a:r>
              <a:rPr lang="fr-FR" sz="2000" dirty="0">
                <a:latin typeface="Segoe UI"/>
                <a:cs typeface="Segoe UI"/>
              </a:rPr>
              <a:t>Les</a:t>
            </a:r>
            <a:r>
              <a:rPr lang="fr-FR" sz="2000" spc="-3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tableaux</a:t>
            </a:r>
            <a:r>
              <a:rPr lang="fr-FR" sz="2000" spc="-3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sont</a:t>
            </a:r>
            <a:r>
              <a:rPr lang="fr-FR" sz="2000" spc="-2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donc</a:t>
            </a:r>
            <a:r>
              <a:rPr lang="fr-FR" sz="2000" spc="-25" dirty="0">
                <a:latin typeface="Segoe UI"/>
                <a:cs typeface="Segoe UI"/>
              </a:rPr>
              <a:t> </a:t>
            </a:r>
            <a:r>
              <a:rPr lang="fr-FR" sz="2000" spc="-10" dirty="0">
                <a:latin typeface="Segoe UI"/>
                <a:cs typeface="Segoe UI"/>
              </a:rPr>
              <a:t>immuables</a:t>
            </a:r>
            <a:endParaRPr lang="fr-FR" sz="2000" dirty="0">
              <a:latin typeface="Segoe UI"/>
              <a:cs typeface="Segoe UI"/>
            </a:endParaRPr>
          </a:p>
          <a:p>
            <a:pPr lvl="1">
              <a:lnSpc>
                <a:spcPct val="100000"/>
              </a:lnSpc>
              <a:spcBef>
                <a:spcPts val="1235"/>
              </a:spcBef>
              <a:buClr>
                <a:srgbClr val="391778"/>
              </a:buClr>
              <a:buFont typeface="Arial"/>
              <a:buChar char="•"/>
            </a:pPr>
            <a:endParaRPr lang="fr-FR" sz="2000" dirty="0">
              <a:latin typeface="Segoe UI"/>
              <a:cs typeface="Segoe UI"/>
            </a:endParaRPr>
          </a:p>
          <a:p>
            <a:pPr marL="240029" marR="5080" indent="-227329">
              <a:lnSpc>
                <a:spcPct val="100000"/>
              </a:lnSpc>
              <a:buClr>
                <a:srgbClr val="391778"/>
              </a:buClr>
              <a:buFont typeface="Arial"/>
              <a:buChar char="•"/>
              <a:tabLst>
                <a:tab pos="241300" algn="l"/>
              </a:tabLst>
            </a:pPr>
            <a:r>
              <a:rPr lang="fr-FR" sz="2400" dirty="0">
                <a:latin typeface="Segoe UI"/>
                <a:cs typeface="Segoe UI"/>
              </a:rPr>
              <a:t>La</a:t>
            </a:r>
            <a:r>
              <a:rPr lang="fr-FR" sz="2400" spc="-6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concaténation</a:t>
            </a:r>
            <a:r>
              <a:rPr lang="fr-FR" sz="2400" spc="-1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de</a:t>
            </a:r>
            <a:r>
              <a:rPr lang="fr-FR" sz="2400" spc="-6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chaines</a:t>
            </a:r>
            <a:r>
              <a:rPr lang="fr-FR" sz="2400" spc="-3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de</a:t>
            </a:r>
            <a:r>
              <a:rPr lang="fr-FR" sz="2400" spc="-6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caractères</a:t>
            </a:r>
            <a:r>
              <a:rPr lang="fr-FR" sz="2400" spc="-6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est</a:t>
            </a:r>
            <a:r>
              <a:rPr lang="fr-FR" sz="2400" spc="-6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donc</a:t>
            </a:r>
            <a:r>
              <a:rPr lang="fr-FR" sz="2400" spc="-50" dirty="0">
                <a:latin typeface="Segoe UI"/>
                <a:cs typeface="Segoe UI"/>
              </a:rPr>
              <a:t> </a:t>
            </a:r>
            <a:r>
              <a:rPr lang="fr-FR" sz="2400" spc="-10" dirty="0">
                <a:latin typeface="Segoe UI"/>
                <a:cs typeface="Segoe UI"/>
              </a:rPr>
              <a:t>souvent  problématique</a:t>
            </a:r>
            <a:endParaRPr lang="fr-FR" sz="2400" dirty="0">
              <a:latin typeface="Segoe UI"/>
              <a:cs typeface="Segoe U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1585872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/>
              <a:t>1. String</a:t>
            </a:r>
            <a:endParaRPr lang="fr-FR" sz="3200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Concaténation</a:t>
            </a:r>
          </a:p>
          <a:p>
            <a:endParaRPr lang="fr-FR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>
                <a:latin typeface="Segoe UI"/>
                <a:cs typeface="Segoe UI"/>
              </a:rPr>
              <a:t>Le</a:t>
            </a:r>
            <a:r>
              <a:rPr lang="fr-FR" sz="2400" spc="-6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problème</a:t>
            </a:r>
            <a:r>
              <a:rPr lang="fr-FR" sz="2400" spc="-6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des</a:t>
            </a:r>
            <a:r>
              <a:rPr lang="fr-FR" sz="2400" spc="-8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tableaux</a:t>
            </a:r>
            <a:r>
              <a:rPr lang="fr-FR" sz="2400" spc="-6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intermédiaires</a:t>
            </a:r>
            <a:r>
              <a:rPr lang="fr-FR" sz="2400" spc="-55" dirty="0">
                <a:latin typeface="Segoe UI"/>
                <a:cs typeface="Segoe UI"/>
              </a:rPr>
              <a:t> </a:t>
            </a:r>
            <a:r>
              <a:rPr lang="fr-FR" sz="1600" dirty="0">
                <a:latin typeface="Segoe UI"/>
                <a:cs typeface="Segoe UI"/>
              </a:rPr>
              <a:t>(en</a:t>
            </a:r>
            <a:r>
              <a:rPr lang="fr-FR" sz="1600" spc="-40" dirty="0">
                <a:latin typeface="Segoe UI"/>
                <a:cs typeface="Segoe UI"/>
              </a:rPr>
              <a:t> </a:t>
            </a:r>
            <a:r>
              <a:rPr lang="fr-FR" sz="1600" dirty="0">
                <a:latin typeface="Segoe UI"/>
                <a:cs typeface="Segoe UI"/>
              </a:rPr>
              <a:t>orange)</a:t>
            </a:r>
            <a:r>
              <a:rPr lang="fr-FR" sz="1600" spc="-25" dirty="0">
                <a:latin typeface="Segoe UI"/>
                <a:cs typeface="Segoe UI"/>
              </a:rPr>
              <a:t> </a:t>
            </a:r>
            <a:r>
              <a:rPr lang="fr-FR" sz="2400" spc="-50" dirty="0">
                <a:latin typeface="Segoe UI"/>
                <a:cs typeface="Segoe UI"/>
              </a:rPr>
              <a:t>:</a:t>
            </a:r>
            <a:endParaRPr lang="fr-FR" sz="2400" dirty="0"/>
          </a:p>
        </p:txBody>
      </p:sp>
      <p:sp>
        <p:nvSpPr>
          <p:cNvPr id="4" name="object 5">
            <a:extLst>
              <a:ext uri="{FF2B5EF4-FFF2-40B4-BE49-F238E27FC236}">
                <a16:creationId xmlns:a16="http://schemas.microsoft.com/office/drawing/2014/main" id="{F72FBE97-5711-A5FC-40D6-D6DDEBE10D97}"/>
              </a:ext>
            </a:extLst>
          </p:cNvPr>
          <p:cNvSpPr/>
          <p:nvPr/>
        </p:nvSpPr>
        <p:spPr>
          <a:xfrm>
            <a:off x="4096511" y="3284437"/>
            <a:ext cx="3040380" cy="475615"/>
          </a:xfrm>
          <a:custGeom>
            <a:avLst/>
            <a:gdLst/>
            <a:ahLst/>
            <a:cxnLst/>
            <a:rect l="l" t="t" r="r" b="b"/>
            <a:pathLst>
              <a:path w="3040379" h="475614">
                <a:moveTo>
                  <a:pt x="3040380" y="0"/>
                </a:moveTo>
                <a:lnTo>
                  <a:pt x="0" y="0"/>
                </a:lnTo>
                <a:lnTo>
                  <a:pt x="0" y="475488"/>
                </a:lnTo>
                <a:lnTo>
                  <a:pt x="3040380" y="475488"/>
                </a:lnTo>
                <a:lnTo>
                  <a:pt x="3040380" y="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6">
            <a:extLst>
              <a:ext uri="{FF2B5EF4-FFF2-40B4-BE49-F238E27FC236}">
                <a16:creationId xmlns:a16="http://schemas.microsoft.com/office/drawing/2014/main" id="{AEC9AF48-B822-8B00-5E95-4B1257154076}"/>
              </a:ext>
            </a:extLst>
          </p:cNvPr>
          <p:cNvSpPr txBox="1"/>
          <p:nvPr/>
        </p:nvSpPr>
        <p:spPr>
          <a:xfrm>
            <a:off x="4096511" y="3284437"/>
            <a:ext cx="3040380" cy="475615"/>
          </a:xfrm>
          <a:prstGeom prst="rect">
            <a:avLst/>
          </a:prstGeom>
          <a:solidFill>
            <a:srgbClr val="4471C4"/>
          </a:solidFill>
          <a:ln w="12700">
            <a:solidFill>
              <a:srgbClr val="2E528F"/>
            </a:solidFill>
          </a:ln>
        </p:spPr>
        <p:txBody>
          <a:bodyPr vert="horz" wrap="square" lIns="0" tIns="85725" rIns="0" bIns="0" rtlCol="0">
            <a:spAutoFit/>
          </a:bodyPr>
          <a:lstStyle/>
          <a:p>
            <a:pPr marL="198120">
              <a:lnSpc>
                <a:spcPct val="100000"/>
              </a:lnSpc>
              <a:spcBef>
                <a:spcPts val="675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28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Rue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des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Francs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Bourgeois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7">
            <a:extLst>
              <a:ext uri="{FF2B5EF4-FFF2-40B4-BE49-F238E27FC236}">
                <a16:creationId xmlns:a16="http://schemas.microsoft.com/office/drawing/2014/main" id="{7950F28E-DB14-B5C1-9B52-DB143F72ED85}"/>
              </a:ext>
            </a:extLst>
          </p:cNvPr>
          <p:cNvSpPr txBox="1"/>
          <p:nvPr/>
        </p:nvSpPr>
        <p:spPr>
          <a:xfrm>
            <a:off x="7770876" y="4136353"/>
            <a:ext cx="939165" cy="475615"/>
          </a:xfrm>
          <a:prstGeom prst="rect">
            <a:avLst/>
          </a:prstGeom>
          <a:solidFill>
            <a:srgbClr val="4471C4"/>
          </a:solidFill>
          <a:ln w="12700">
            <a:solidFill>
              <a:srgbClr val="2E528F"/>
            </a:solidFill>
          </a:ln>
        </p:spPr>
        <p:txBody>
          <a:bodyPr vert="horz" wrap="square" lIns="0" tIns="86360" rIns="0" bIns="0" rtlCol="0">
            <a:spAutoFit/>
          </a:bodyPr>
          <a:lstStyle/>
          <a:p>
            <a:pPr marL="180975">
              <a:lnSpc>
                <a:spcPct val="100000"/>
              </a:lnSpc>
              <a:spcBef>
                <a:spcPts val="680"/>
              </a:spcBef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75003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" name="object 8">
            <a:extLst>
              <a:ext uri="{FF2B5EF4-FFF2-40B4-BE49-F238E27FC236}">
                <a16:creationId xmlns:a16="http://schemas.microsoft.com/office/drawing/2014/main" id="{D7960503-C477-0411-39A4-F8407E2F6C10}"/>
              </a:ext>
            </a:extLst>
          </p:cNvPr>
          <p:cNvSpPr txBox="1"/>
          <p:nvPr/>
        </p:nvSpPr>
        <p:spPr>
          <a:xfrm>
            <a:off x="9346692" y="4983697"/>
            <a:ext cx="1788160" cy="477520"/>
          </a:xfrm>
          <a:prstGeom prst="rect">
            <a:avLst/>
          </a:prstGeom>
          <a:solidFill>
            <a:srgbClr val="4471C4"/>
          </a:solidFill>
          <a:ln w="12700">
            <a:solidFill>
              <a:srgbClr val="2E528F"/>
            </a:solidFill>
          </a:ln>
        </p:spPr>
        <p:txBody>
          <a:bodyPr vert="horz" wrap="square" lIns="0" tIns="8699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685"/>
              </a:spcBef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PARIS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9">
            <a:extLst>
              <a:ext uri="{FF2B5EF4-FFF2-40B4-BE49-F238E27FC236}">
                <a16:creationId xmlns:a16="http://schemas.microsoft.com/office/drawing/2014/main" id="{7DFAA9E4-AD67-444E-8F88-4591381BB076}"/>
              </a:ext>
            </a:extLst>
          </p:cNvPr>
          <p:cNvSpPr txBox="1"/>
          <p:nvPr/>
        </p:nvSpPr>
        <p:spPr>
          <a:xfrm>
            <a:off x="895350" y="4137115"/>
            <a:ext cx="6242685" cy="475615"/>
          </a:xfrm>
          <a:prstGeom prst="rect">
            <a:avLst/>
          </a:prstGeom>
          <a:solidFill>
            <a:srgbClr val="EC7C30"/>
          </a:solidFill>
        </p:spPr>
        <p:txBody>
          <a:bodyPr vert="horz" wrap="square" lIns="0" tIns="8509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67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SUPINFO</a:t>
            </a:r>
            <a:r>
              <a:rPr sz="18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PARIS</a:t>
            </a:r>
            <a:r>
              <a:rPr sz="18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28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Rue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des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Francs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Bourgeois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10">
            <a:extLst>
              <a:ext uri="{FF2B5EF4-FFF2-40B4-BE49-F238E27FC236}">
                <a16:creationId xmlns:a16="http://schemas.microsoft.com/office/drawing/2014/main" id="{B6BBA95D-AD93-C874-156B-DAF8E9175202}"/>
              </a:ext>
            </a:extLst>
          </p:cNvPr>
          <p:cNvSpPr txBox="1"/>
          <p:nvPr/>
        </p:nvSpPr>
        <p:spPr>
          <a:xfrm>
            <a:off x="894588" y="3284437"/>
            <a:ext cx="2569845" cy="475615"/>
          </a:xfrm>
          <a:prstGeom prst="rect">
            <a:avLst/>
          </a:prstGeom>
          <a:solidFill>
            <a:srgbClr val="4471C4"/>
          </a:solidFill>
          <a:ln w="12700">
            <a:solidFill>
              <a:srgbClr val="2E528F"/>
            </a:solidFill>
          </a:ln>
        </p:spPr>
        <p:txBody>
          <a:bodyPr vert="horz" wrap="square" lIns="0" tIns="85725" rIns="0" bIns="0" rtlCol="0">
            <a:spAutoFit/>
          </a:bodyPr>
          <a:lstStyle/>
          <a:p>
            <a:pPr marL="584835">
              <a:lnSpc>
                <a:spcPct val="100000"/>
              </a:lnSpc>
              <a:spcBef>
                <a:spcPts val="675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SUPINFO</a:t>
            </a:r>
            <a:r>
              <a:rPr sz="18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PARIS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10" name="object 11">
            <a:extLst>
              <a:ext uri="{FF2B5EF4-FFF2-40B4-BE49-F238E27FC236}">
                <a16:creationId xmlns:a16="http://schemas.microsoft.com/office/drawing/2014/main" id="{FF3F108E-69DB-2C9B-AE30-955B020B11FE}"/>
              </a:ext>
            </a:extLst>
          </p:cNvPr>
          <p:cNvSpPr txBox="1"/>
          <p:nvPr/>
        </p:nvSpPr>
        <p:spPr>
          <a:xfrm>
            <a:off x="894588" y="4988270"/>
            <a:ext cx="7815580" cy="475615"/>
          </a:xfrm>
          <a:prstGeom prst="rect">
            <a:avLst/>
          </a:prstGeom>
          <a:solidFill>
            <a:srgbClr val="EC7C30"/>
          </a:solidFill>
          <a:ln w="12700">
            <a:solidFill>
              <a:srgbClr val="AD5A20"/>
            </a:solidFill>
          </a:ln>
        </p:spPr>
        <p:txBody>
          <a:bodyPr vert="horz" wrap="square" lIns="0" tIns="8636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68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SUPINFO</a:t>
            </a:r>
            <a:r>
              <a:rPr sz="18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PARIS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28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Rue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des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Francs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Bourgeois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75003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1" name="object 12">
            <a:extLst>
              <a:ext uri="{FF2B5EF4-FFF2-40B4-BE49-F238E27FC236}">
                <a16:creationId xmlns:a16="http://schemas.microsoft.com/office/drawing/2014/main" id="{A71C2763-3E0F-D029-E601-5DB305E7C1C4}"/>
              </a:ext>
            </a:extLst>
          </p:cNvPr>
          <p:cNvSpPr txBox="1"/>
          <p:nvPr/>
        </p:nvSpPr>
        <p:spPr>
          <a:xfrm>
            <a:off x="894588" y="5904194"/>
            <a:ext cx="10240010" cy="475615"/>
          </a:xfrm>
          <a:prstGeom prst="rect">
            <a:avLst/>
          </a:prstGeom>
          <a:solidFill>
            <a:srgbClr val="A4A4A4"/>
          </a:solidFill>
          <a:ln w="12700">
            <a:solidFill>
              <a:srgbClr val="787878"/>
            </a:solidFill>
          </a:ln>
        </p:spPr>
        <p:txBody>
          <a:bodyPr vert="horz" wrap="square" lIns="0" tIns="8699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685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SUPINFO</a:t>
            </a:r>
            <a:r>
              <a:rPr sz="18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PARIS</a:t>
            </a:r>
            <a:r>
              <a:rPr sz="18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28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Rue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des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Francs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Bourgeois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75003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PARIS</a:t>
            </a:r>
            <a:endParaRPr sz="1800" dirty="0">
              <a:latin typeface="Calibri"/>
              <a:cs typeface="Calibri"/>
            </a:endParaRPr>
          </a:p>
        </p:txBody>
      </p:sp>
      <p:grpSp>
        <p:nvGrpSpPr>
          <p:cNvPr id="12" name="object 13">
            <a:extLst>
              <a:ext uri="{FF2B5EF4-FFF2-40B4-BE49-F238E27FC236}">
                <a16:creationId xmlns:a16="http://schemas.microsoft.com/office/drawing/2014/main" id="{00B9AE44-EFB4-7ADE-539C-5134DA23318F}"/>
              </a:ext>
            </a:extLst>
          </p:cNvPr>
          <p:cNvGrpSpPr/>
          <p:nvPr/>
        </p:nvGrpSpPr>
        <p:grpSpPr>
          <a:xfrm>
            <a:off x="3541521" y="3338666"/>
            <a:ext cx="477520" cy="349250"/>
            <a:chOff x="3541521" y="2794380"/>
            <a:chExt cx="477520" cy="349250"/>
          </a:xfrm>
        </p:grpSpPr>
        <p:sp>
          <p:nvSpPr>
            <p:cNvPr id="13" name="object 14">
              <a:extLst>
                <a:ext uri="{FF2B5EF4-FFF2-40B4-BE49-F238E27FC236}">
                  <a16:creationId xmlns:a16="http://schemas.microsoft.com/office/drawing/2014/main" id="{D6C48779-6EBD-06DD-A44C-F1B9CEE265FE}"/>
                </a:ext>
              </a:extLst>
            </p:cNvPr>
            <p:cNvSpPr/>
            <p:nvPr/>
          </p:nvSpPr>
          <p:spPr>
            <a:xfrm>
              <a:off x="3547871" y="2800349"/>
              <a:ext cx="464820" cy="336550"/>
            </a:xfrm>
            <a:custGeom>
              <a:avLst/>
              <a:gdLst/>
              <a:ahLst/>
              <a:cxnLst/>
              <a:rect l="l" t="t" r="r" b="b"/>
              <a:pathLst>
                <a:path w="464820" h="336550">
                  <a:moveTo>
                    <a:pt x="464820" y="114300"/>
                  </a:moveTo>
                  <a:lnTo>
                    <a:pt x="286131" y="114300"/>
                  </a:lnTo>
                  <a:lnTo>
                    <a:pt x="286131" y="0"/>
                  </a:lnTo>
                  <a:lnTo>
                    <a:pt x="178689" y="0"/>
                  </a:lnTo>
                  <a:lnTo>
                    <a:pt x="178689" y="114300"/>
                  </a:lnTo>
                  <a:lnTo>
                    <a:pt x="0" y="114300"/>
                  </a:lnTo>
                  <a:lnTo>
                    <a:pt x="0" y="222250"/>
                  </a:lnTo>
                  <a:lnTo>
                    <a:pt x="178689" y="222250"/>
                  </a:lnTo>
                  <a:lnTo>
                    <a:pt x="178689" y="336550"/>
                  </a:lnTo>
                  <a:lnTo>
                    <a:pt x="286131" y="336550"/>
                  </a:lnTo>
                  <a:lnTo>
                    <a:pt x="286131" y="222250"/>
                  </a:lnTo>
                  <a:lnTo>
                    <a:pt x="464820" y="222250"/>
                  </a:lnTo>
                  <a:lnTo>
                    <a:pt x="464820" y="11430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5">
              <a:extLst>
                <a:ext uri="{FF2B5EF4-FFF2-40B4-BE49-F238E27FC236}">
                  <a16:creationId xmlns:a16="http://schemas.microsoft.com/office/drawing/2014/main" id="{170A6BF1-B18F-FF71-97D4-03B27FCFEECC}"/>
                </a:ext>
              </a:extLst>
            </p:cNvPr>
            <p:cNvSpPr/>
            <p:nvPr/>
          </p:nvSpPr>
          <p:spPr>
            <a:xfrm>
              <a:off x="3547871" y="2800730"/>
              <a:ext cx="464820" cy="336550"/>
            </a:xfrm>
            <a:custGeom>
              <a:avLst/>
              <a:gdLst/>
              <a:ahLst/>
              <a:cxnLst/>
              <a:rect l="l" t="t" r="r" b="b"/>
              <a:pathLst>
                <a:path w="464820" h="336550">
                  <a:moveTo>
                    <a:pt x="0" y="114300"/>
                  </a:moveTo>
                  <a:lnTo>
                    <a:pt x="178688" y="114300"/>
                  </a:lnTo>
                  <a:lnTo>
                    <a:pt x="178688" y="0"/>
                  </a:lnTo>
                  <a:lnTo>
                    <a:pt x="286130" y="0"/>
                  </a:lnTo>
                  <a:lnTo>
                    <a:pt x="286130" y="114300"/>
                  </a:lnTo>
                  <a:lnTo>
                    <a:pt x="464819" y="114300"/>
                  </a:lnTo>
                  <a:lnTo>
                    <a:pt x="464819" y="221742"/>
                  </a:lnTo>
                  <a:lnTo>
                    <a:pt x="286130" y="221742"/>
                  </a:lnTo>
                  <a:lnTo>
                    <a:pt x="286130" y="336042"/>
                  </a:lnTo>
                  <a:lnTo>
                    <a:pt x="178688" y="336042"/>
                  </a:lnTo>
                  <a:lnTo>
                    <a:pt x="178688" y="221742"/>
                  </a:lnTo>
                  <a:lnTo>
                    <a:pt x="0" y="221742"/>
                  </a:lnTo>
                  <a:lnTo>
                    <a:pt x="0" y="114300"/>
                  </a:lnTo>
                  <a:close/>
                </a:path>
              </a:pathLst>
            </a:custGeom>
            <a:ln w="12700">
              <a:solidFill>
                <a:srgbClr val="BB8B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6">
            <a:extLst>
              <a:ext uri="{FF2B5EF4-FFF2-40B4-BE49-F238E27FC236}">
                <a16:creationId xmlns:a16="http://schemas.microsoft.com/office/drawing/2014/main" id="{E451ED27-65BF-9323-17C8-196CF41FB27E}"/>
              </a:ext>
            </a:extLst>
          </p:cNvPr>
          <p:cNvGrpSpPr/>
          <p:nvPr/>
        </p:nvGrpSpPr>
        <p:grpSpPr>
          <a:xfrm>
            <a:off x="7215885" y="4167722"/>
            <a:ext cx="477520" cy="349250"/>
            <a:chOff x="7215885" y="3623436"/>
            <a:chExt cx="477520" cy="349250"/>
          </a:xfrm>
        </p:grpSpPr>
        <p:sp>
          <p:nvSpPr>
            <p:cNvPr id="16" name="object 17">
              <a:extLst>
                <a:ext uri="{FF2B5EF4-FFF2-40B4-BE49-F238E27FC236}">
                  <a16:creationId xmlns:a16="http://schemas.microsoft.com/office/drawing/2014/main" id="{89E0D25E-45AF-6AD9-2D19-002E70FD1295}"/>
                </a:ext>
              </a:extLst>
            </p:cNvPr>
            <p:cNvSpPr/>
            <p:nvPr/>
          </p:nvSpPr>
          <p:spPr>
            <a:xfrm>
              <a:off x="7222236" y="3629659"/>
              <a:ext cx="464820" cy="336550"/>
            </a:xfrm>
            <a:custGeom>
              <a:avLst/>
              <a:gdLst/>
              <a:ahLst/>
              <a:cxnLst/>
              <a:rect l="l" t="t" r="r" b="b"/>
              <a:pathLst>
                <a:path w="464820" h="336550">
                  <a:moveTo>
                    <a:pt x="464820" y="114300"/>
                  </a:moveTo>
                  <a:lnTo>
                    <a:pt x="286131" y="114300"/>
                  </a:lnTo>
                  <a:lnTo>
                    <a:pt x="286131" y="0"/>
                  </a:lnTo>
                  <a:lnTo>
                    <a:pt x="178689" y="0"/>
                  </a:lnTo>
                  <a:lnTo>
                    <a:pt x="178689" y="114300"/>
                  </a:lnTo>
                  <a:lnTo>
                    <a:pt x="0" y="114300"/>
                  </a:lnTo>
                  <a:lnTo>
                    <a:pt x="0" y="222250"/>
                  </a:lnTo>
                  <a:lnTo>
                    <a:pt x="178689" y="222250"/>
                  </a:lnTo>
                  <a:lnTo>
                    <a:pt x="178689" y="336550"/>
                  </a:lnTo>
                  <a:lnTo>
                    <a:pt x="286131" y="336550"/>
                  </a:lnTo>
                  <a:lnTo>
                    <a:pt x="286131" y="222250"/>
                  </a:lnTo>
                  <a:lnTo>
                    <a:pt x="464820" y="222250"/>
                  </a:lnTo>
                  <a:lnTo>
                    <a:pt x="464820" y="11430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8">
              <a:extLst>
                <a:ext uri="{FF2B5EF4-FFF2-40B4-BE49-F238E27FC236}">
                  <a16:creationId xmlns:a16="http://schemas.microsoft.com/office/drawing/2014/main" id="{A2651649-2624-B4B7-8CD1-DB4A5B58F6CE}"/>
                </a:ext>
              </a:extLst>
            </p:cNvPr>
            <p:cNvSpPr/>
            <p:nvPr/>
          </p:nvSpPr>
          <p:spPr>
            <a:xfrm>
              <a:off x="7222235" y="3629786"/>
              <a:ext cx="464820" cy="336550"/>
            </a:xfrm>
            <a:custGeom>
              <a:avLst/>
              <a:gdLst/>
              <a:ahLst/>
              <a:cxnLst/>
              <a:rect l="l" t="t" r="r" b="b"/>
              <a:pathLst>
                <a:path w="464820" h="336550">
                  <a:moveTo>
                    <a:pt x="0" y="114300"/>
                  </a:moveTo>
                  <a:lnTo>
                    <a:pt x="178689" y="114300"/>
                  </a:lnTo>
                  <a:lnTo>
                    <a:pt x="178689" y="0"/>
                  </a:lnTo>
                  <a:lnTo>
                    <a:pt x="286131" y="0"/>
                  </a:lnTo>
                  <a:lnTo>
                    <a:pt x="286131" y="114300"/>
                  </a:lnTo>
                  <a:lnTo>
                    <a:pt x="464820" y="114300"/>
                  </a:lnTo>
                  <a:lnTo>
                    <a:pt x="464820" y="221742"/>
                  </a:lnTo>
                  <a:lnTo>
                    <a:pt x="286131" y="221742"/>
                  </a:lnTo>
                  <a:lnTo>
                    <a:pt x="286131" y="336042"/>
                  </a:lnTo>
                  <a:lnTo>
                    <a:pt x="178689" y="336042"/>
                  </a:lnTo>
                  <a:lnTo>
                    <a:pt x="178689" y="221742"/>
                  </a:lnTo>
                  <a:lnTo>
                    <a:pt x="0" y="221742"/>
                  </a:lnTo>
                  <a:lnTo>
                    <a:pt x="0" y="114300"/>
                  </a:lnTo>
                  <a:close/>
                </a:path>
              </a:pathLst>
            </a:custGeom>
            <a:ln w="12700">
              <a:solidFill>
                <a:srgbClr val="BB8B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8" name="object 19">
            <a:extLst>
              <a:ext uri="{FF2B5EF4-FFF2-40B4-BE49-F238E27FC236}">
                <a16:creationId xmlns:a16="http://schemas.microsoft.com/office/drawing/2014/main" id="{A7AA5FA8-6B77-8B95-EF9D-A4FB0F6C7D3D}"/>
              </a:ext>
            </a:extLst>
          </p:cNvPr>
          <p:cNvGrpSpPr/>
          <p:nvPr/>
        </p:nvGrpSpPr>
        <p:grpSpPr>
          <a:xfrm>
            <a:off x="8791702" y="5053166"/>
            <a:ext cx="477520" cy="349250"/>
            <a:chOff x="8791702" y="4508880"/>
            <a:chExt cx="477520" cy="349250"/>
          </a:xfrm>
        </p:grpSpPr>
        <p:sp>
          <p:nvSpPr>
            <p:cNvPr id="19" name="object 20">
              <a:extLst>
                <a:ext uri="{FF2B5EF4-FFF2-40B4-BE49-F238E27FC236}">
                  <a16:creationId xmlns:a16="http://schemas.microsoft.com/office/drawing/2014/main" id="{699BF4D0-8E79-4A9C-D01D-18B1641B2BBE}"/>
                </a:ext>
              </a:extLst>
            </p:cNvPr>
            <p:cNvSpPr/>
            <p:nvPr/>
          </p:nvSpPr>
          <p:spPr>
            <a:xfrm>
              <a:off x="8798052" y="4514849"/>
              <a:ext cx="464820" cy="336550"/>
            </a:xfrm>
            <a:custGeom>
              <a:avLst/>
              <a:gdLst/>
              <a:ahLst/>
              <a:cxnLst/>
              <a:rect l="l" t="t" r="r" b="b"/>
              <a:pathLst>
                <a:path w="464820" h="336550">
                  <a:moveTo>
                    <a:pt x="464820" y="114300"/>
                  </a:moveTo>
                  <a:lnTo>
                    <a:pt x="286131" y="114300"/>
                  </a:lnTo>
                  <a:lnTo>
                    <a:pt x="286131" y="0"/>
                  </a:lnTo>
                  <a:lnTo>
                    <a:pt x="178689" y="0"/>
                  </a:lnTo>
                  <a:lnTo>
                    <a:pt x="178689" y="114300"/>
                  </a:lnTo>
                  <a:lnTo>
                    <a:pt x="0" y="114300"/>
                  </a:lnTo>
                  <a:lnTo>
                    <a:pt x="0" y="222250"/>
                  </a:lnTo>
                  <a:lnTo>
                    <a:pt x="178689" y="222250"/>
                  </a:lnTo>
                  <a:lnTo>
                    <a:pt x="178689" y="336550"/>
                  </a:lnTo>
                  <a:lnTo>
                    <a:pt x="286131" y="336550"/>
                  </a:lnTo>
                  <a:lnTo>
                    <a:pt x="286131" y="222250"/>
                  </a:lnTo>
                  <a:lnTo>
                    <a:pt x="464820" y="222250"/>
                  </a:lnTo>
                  <a:lnTo>
                    <a:pt x="464820" y="11430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1">
              <a:extLst>
                <a:ext uri="{FF2B5EF4-FFF2-40B4-BE49-F238E27FC236}">
                  <a16:creationId xmlns:a16="http://schemas.microsoft.com/office/drawing/2014/main" id="{40CB864B-8B3C-03D3-763A-67D845D94A4B}"/>
                </a:ext>
              </a:extLst>
            </p:cNvPr>
            <p:cNvSpPr/>
            <p:nvPr/>
          </p:nvSpPr>
          <p:spPr>
            <a:xfrm>
              <a:off x="8798052" y="4515230"/>
              <a:ext cx="464820" cy="336550"/>
            </a:xfrm>
            <a:custGeom>
              <a:avLst/>
              <a:gdLst/>
              <a:ahLst/>
              <a:cxnLst/>
              <a:rect l="l" t="t" r="r" b="b"/>
              <a:pathLst>
                <a:path w="464820" h="336550">
                  <a:moveTo>
                    <a:pt x="0" y="114300"/>
                  </a:moveTo>
                  <a:lnTo>
                    <a:pt x="178689" y="114300"/>
                  </a:lnTo>
                  <a:lnTo>
                    <a:pt x="178689" y="0"/>
                  </a:lnTo>
                  <a:lnTo>
                    <a:pt x="286130" y="0"/>
                  </a:lnTo>
                  <a:lnTo>
                    <a:pt x="286130" y="114300"/>
                  </a:lnTo>
                  <a:lnTo>
                    <a:pt x="464820" y="114300"/>
                  </a:lnTo>
                  <a:lnTo>
                    <a:pt x="464820" y="221742"/>
                  </a:lnTo>
                  <a:lnTo>
                    <a:pt x="286130" y="221742"/>
                  </a:lnTo>
                  <a:lnTo>
                    <a:pt x="286130" y="336042"/>
                  </a:lnTo>
                  <a:lnTo>
                    <a:pt x="178689" y="336042"/>
                  </a:lnTo>
                  <a:lnTo>
                    <a:pt x="178689" y="221742"/>
                  </a:lnTo>
                  <a:lnTo>
                    <a:pt x="0" y="221742"/>
                  </a:lnTo>
                  <a:lnTo>
                    <a:pt x="0" y="114300"/>
                  </a:lnTo>
                  <a:close/>
                </a:path>
              </a:pathLst>
            </a:custGeom>
            <a:ln w="12700">
              <a:solidFill>
                <a:srgbClr val="BB8B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ZoneTexte 23">
            <a:extLst>
              <a:ext uri="{FF2B5EF4-FFF2-40B4-BE49-F238E27FC236}">
                <a16:creationId xmlns:a16="http://schemas.microsoft.com/office/drawing/2014/main" id="{02A6D837-44C2-647D-534A-4063573E2F52}"/>
              </a:ext>
            </a:extLst>
          </p:cNvPr>
          <p:cNvSpPr txBox="1"/>
          <p:nvPr/>
        </p:nvSpPr>
        <p:spPr>
          <a:xfrm>
            <a:off x="1195900" y="2669353"/>
            <a:ext cx="98204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"SUPINFO PARIS "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+ </a:t>
            </a:r>
            <a:r>
              <a:rPr lang="fr-FR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"28 Rue des Francs Bourgeois "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+ </a:t>
            </a:r>
            <a:r>
              <a:rPr lang="fr-FR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"75003 "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+ </a:t>
            </a:r>
            <a:r>
              <a:rPr lang="fr-FR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"PARIS"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240319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1. String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39523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Concaténation</a:t>
            </a:r>
          </a:p>
          <a:p>
            <a:endParaRPr lang="fr-FR" sz="2400" dirty="0"/>
          </a:p>
          <a:p>
            <a:pPr marL="240029" indent="-227329">
              <a:lnSpc>
                <a:spcPct val="100000"/>
              </a:lnSpc>
              <a:spcBef>
                <a:spcPts val="100"/>
              </a:spcBef>
              <a:buClr>
                <a:srgbClr val="391778"/>
              </a:buClr>
              <a:buFont typeface="Arial"/>
              <a:buChar char="•"/>
              <a:tabLst>
                <a:tab pos="240029" algn="l"/>
              </a:tabLst>
            </a:pPr>
            <a:r>
              <a:rPr lang="fr-FR" sz="2400" dirty="0">
                <a:latin typeface="Segoe UI"/>
                <a:cs typeface="Segoe UI"/>
              </a:rPr>
              <a:t>Solution</a:t>
            </a:r>
            <a:r>
              <a:rPr lang="fr-FR" sz="2400" spc="-1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–</a:t>
            </a:r>
            <a:r>
              <a:rPr lang="fr-FR" sz="2400" spc="-6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si</a:t>
            </a:r>
            <a:r>
              <a:rPr lang="fr-FR" sz="2400" spc="-7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on</a:t>
            </a:r>
            <a:r>
              <a:rPr lang="fr-FR" sz="2400" spc="-5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connait</a:t>
            </a:r>
            <a:r>
              <a:rPr lang="fr-FR" sz="2400" spc="-35" dirty="0">
                <a:latin typeface="Segoe UI"/>
                <a:cs typeface="Segoe UI"/>
              </a:rPr>
              <a:t> </a:t>
            </a:r>
            <a:r>
              <a:rPr lang="fr-FR" sz="2400" spc="-10" dirty="0">
                <a:latin typeface="Segoe UI"/>
                <a:cs typeface="Segoe UI"/>
              </a:rPr>
              <a:t>d’avance</a:t>
            </a:r>
            <a:r>
              <a:rPr lang="fr-FR" sz="2400" spc="-6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les</a:t>
            </a:r>
            <a:r>
              <a:rPr lang="fr-FR" sz="2400" spc="-7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chaines</a:t>
            </a:r>
            <a:r>
              <a:rPr lang="fr-FR" sz="2400" spc="-4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à</a:t>
            </a:r>
            <a:r>
              <a:rPr lang="fr-FR" sz="2400" spc="-6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concaténer</a:t>
            </a:r>
            <a:r>
              <a:rPr lang="fr-FR" sz="2400" spc="-40" dirty="0">
                <a:latin typeface="Segoe UI"/>
                <a:cs typeface="Segoe UI"/>
              </a:rPr>
              <a:t> </a:t>
            </a:r>
            <a:r>
              <a:rPr lang="fr-FR" sz="2400" spc="-50" dirty="0">
                <a:latin typeface="Segoe UI"/>
                <a:cs typeface="Segoe UI"/>
              </a:rPr>
              <a:t>:</a:t>
            </a:r>
            <a:endParaRPr lang="fr-FR" sz="2400" dirty="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1190"/>
              </a:spcBef>
              <a:buClr>
                <a:srgbClr val="391778"/>
              </a:buClr>
              <a:buFont typeface="Arial"/>
              <a:buChar char="•"/>
            </a:pPr>
            <a:endParaRPr lang="fr-FR" sz="240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spcBef>
                <a:spcPts val="5"/>
              </a:spcBef>
              <a:buClr>
                <a:srgbClr val="391778"/>
              </a:buClr>
              <a:buFont typeface="Arial"/>
              <a:buChar char="•"/>
              <a:tabLst>
                <a:tab pos="698500" algn="l"/>
              </a:tabLst>
            </a:pPr>
            <a:r>
              <a:rPr lang="fr-FR" sz="2000" dirty="0">
                <a:latin typeface="Segoe UI"/>
                <a:cs typeface="Segoe UI"/>
              </a:rPr>
              <a:t>La</a:t>
            </a:r>
            <a:r>
              <a:rPr lang="fr-FR" sz="2000" spc="-1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méthode </a:t>
            </a:r>
            <a:r>
              <a:rPr lang="fr-FR" sz="2000" spc="-10" dirty="0" err="1">
                <a:latin typeface="Segoe UI"/>
                <a:cs typeface="Segoe UI"/>
              </a:rPr>
              <a:t>String.</a:t>
            </a:r>
            <a:r>
              <a:rPr lang="fr-FR" sz="2000" b="1" spc="-10" dirty="0" err="1">
                <a:latin typeface="Segoe UI"/>
                <a:cs typeface="Segoe UI"/>
              </a:rPr>
              <a:t>Format</a:t>
            </a:r>
            <a:r>
              <a:rPr lang="fr-FR" sz="2000" spc="-10" dirty="0">
                <a:latin typeface="Segoe UI"/>
                <a:cs typeface="Segoe UI"/>
              </a:rPr>
              <a:t>()</a:t>
            </a:r>
            <a:endParaRPr lang="fr-FR" sz="2000" b="1" spc="-1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spcBef>
                <a:spcPts val="5"/>
              </a:spcBef>
              <a:buClr>
                <a:srgbClr val="391778"/>
              </a:buClr>
              <a:buFont typeface="Arial"/>
              <a:buChar char="•"/>
              <a:tabLst>
                <a:tab pos="698500" algn="l"/>
              </a:tabLst>
            </a:pPr>
            <a:endParaRPr lang="fr-FR" sz="2000" b="1" spc="-1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spcBef>
                <a:spcPts val="5"/>
              </a:spcBef>
              <a:buClr>
                <a:srgbClr val="391778"/>
              </a:buClr>
              <a:buFont typeface="Arial"/>
              <a:buChar char="•"/>
              <a:tabLst>
                <a:tab pos="698500" algn="l"/>
              </a:tabLst>
            </a:pPr>
            <a:endParaRPr lang="fr-FR" sz="2000" b="1" spc="-1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spcBef>
                <a:spcPts val="5"/>
              </a:spcBef>
              <a:buClr>
                <a:srgbClr val="391778"/>
              </a:buClr>
              <a:buFont typeface="Arial"/>
              <a:buChar char="•"/>
              <a:tabLst>
                <a:tab pos="698500" algn="l"/>
              </a:tabLst>
            </a:pPr>
            <a:endParaRPr lang="fr-FR" sz="2000" b="1" spc="-1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spcBef>
                <a:spcPts val="5"/>
              </a:spcBef>
              <a:buClr>
                <a:srgbClr val="391778"/>
              </a:buClr>
              <a:buFont typeface="Arial"/>
              <a:buChar char="•"/>
              <a:tabLst>
                <a:tab pos="698500" algn="l"/>
              </a:tabLst>
            </a:pPr>
            <a:endParaRPr lang="fr-FR" sz="2000" b="1" spc="-10" dirty="0">
              <a:latin typeface="Segoe UI"/>
              <a:cs typeface="Segoe UI"/>
            </a:endParaRPr>
          </a:p>
          <a:p>
            <a:pPr marL="698500" lvl="1" indent="-228600">
              <a:spcBef>
                <a:spcPts val="5"/>
              </a:spcBef>
              <a:buClr>
                <a:srgbClr val="391778"/>
              </a:buClr>
              <a:buFont typeface="Arial"/>
              <a:buChar char="•"/>
              <a:tabLst>
                <a:tab pos="698500" algn="l"/>
              </a:tabLst>
            </a:pPr>
            <a:r>
              <a:rPr lang="fr-FR" sz="2000" spc="-10" dirty="0">
                <a:latin typeface="Segoe UI"/>
                <a:cs typeface="Segoe UI"/>
              </a:rPr>
              <a:t>L’interpolation</a:t>
            </a:r>
            <a:r>
              <a:rPr lang="fr-FR" sz="2000" spc="-5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de</a:t>
            </a:r>
            <a:r>
              <a:rPr lang="fr-FR" sz="2000" spc="-60" dirty="0">
                <a:latin typeface="Segoe UI"/>
                <a:cs typeface="Segoe UI"/>
              </a:rPr>
              <a:t> </a:t>
            </a:r>
            <a:r>
              <a:rPr lang="fr-FR" sz="2000" spc="-10" dirty="0">
                <a:latin typeface="Segoe UI"/>
                <a:cs typeface="Segoe UI"/>
              </a:rPr>
              <a:t>chaînes</a:t>
            </a:r>
            <a:endParaRPr lang="fr-FR" sz="2000" dirty="0">
              <a:latin typeface="Segoe UI"/>
              <a:cs typeface="Segoe U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400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89AC9FB3-5EDF-906B-1F1A-302A836E6358}"/>
              </a:ext>
            </a:extLst>
          </p:cNvPr>
          <p:cNvSpPr txBox="1"/>
          <p:nvPr/>
        </p:nvSpPr>
        <p:spPr>
          <a:xfrm>
            <a:off x="1817913" y="3595696"/>
            <a:ext cx="1111431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myString</a:t>
            </a:r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fr-FR" sz="16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fr-FR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.Format</a:t>
            </a:r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fr-FR" sz="1600" dirty="0">
                <a:solidFill>
                  <a:srgbClr val="A31515"/>
                </a:solidFill>
                <a:latin typeface="Cascadia Mono" panose="020B0609020000020004" pitchFamily="49" charset="0"/>
              </a:rPr>
              <a:t>"{0} {1}, {2} ans."</a:t>
            </a:r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, </a:t>
            </a:r>
            <a:r>
              <a:rPr lang="fr-FR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firstName</a:t>
            </a:r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, </a:t>
            </a:r>
            <a:r>
              <a:rPr lang="fr-FR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lastName</a:t>
            </a:r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, </a:t>
            </a:r>
            <a:r>
              <a:rPr lang="fr-FR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age</a:t>
            </a:r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  <a:endParaRPr lang="fr-FR" sz="1600"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47057A81-2071-9067-EEBC-729CF220D529}"/>
              </a:ext>
            </a:extLst>
          </p:cNvPr>
          <p:cNvSpPr txBox="1"/>
          <p:nvPr/>
        </p:nvSpPr>
        <p:spPr>
          <a:xfrm>
            <a:off x="1817912" y="5145636"/>
            <a:ext cx="952926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myString</a:t>
            </a:r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fr-FR" sz="16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fr-FR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.Format</a:t>
            </a:r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fr-FR" sz="1600" dirty="0">
                <a:solidFill>
                  <a:srgbClr val="A31515"/>
                </a:solidFill>
                <a:latin typeface="Cascadia Mono" panose="020B0609020000020004" pitchFamily="49" charset="0"/>
              </a:rPr>
              <a:t>$"</a:t>
            </a:r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  <a:r>
              <a:rPr lang="fr-FR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firstName</a:t>
            </a:r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r>
              <a:rPr lang="fr-FR" sz="1600" dirty="0">
                <a:solidFill>
                  <a:srgbClr val="A31515"/>
                </a:solidFill>
                <a:latin typeface="Cascadia Mono" panose="020B0609020000020004" pitchFamily="49" charset="0"/>
              </a:rPr>
              <a:t> </a:t>
            </a:r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  <a:r>
              <a:rPr lang="fr-FR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lastName</a:t>
            </a:r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r>
              <a:rPr lang="fr-FR" sz="1600" dirty="0">
                <a:solidFill>
                  <a:srgbClr val="A31515"/>
                </a:solidFill>
                <a:latin typeface="Cascadia Mono" panose="020B0609020000020004" pitchFamily="49" charset="0"/>
              </a:rPr>
              <a:t>, </a:t>
            </a:r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  <a:r>
              <a:rPr lang="fr-FR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age</a:t>
            </a:r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r>
              <a:rPr lang="fr-FR" sz="1600" dirty="0">
                <a:solidFill>
                  <a:srgbClr val="A31515"/>
                </a:solidFill>
                <a:latin typeface="Cascadia Mono" panose="020B0609020000020004" pitchFamily="49" charset="0"/>
              </a:rPr>
              <a:t> ans."</a:t>
            </a:r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  <a:endParaRPr lang="fr-FR" sz="1600" dirty="0"/>
          </a:p>
        </p:txBody>
      </p:sp>
    </p:spTree>
    <p:extLst>
      <p:ext uri="{BB962C8B-B14F-4D97-AF65-F5344CB8AC3E}">
        <p14:creationId xmlns:p14="http://schemas.microsoft.com/office/powerpoint/2010/main" val="30685798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1. String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Concaténation</a:t>
            </a:r>
          </a:p>
          <a:p>
            <a:endParaRPr lang="fr-FR" sz="2400" dirty="0"/>
          </a:p>
          <a:p>
            <a:pPr marL="240029" indent="-227329">
              <a:lnSpc>
                <a:spcPct val="100000"/>
              </a:lnSpc>
              <a:spcBef>
                <a:spcPts val="705"/>
              </a:spcBef>
              <a:buClr>
                <a:srgbClr val="391778"/>
              </a:buClr>
              <a:buFont typeface="Arial"/>
              <a:buChar char="•"/>
              <a:tabLst>
                <a:tab pos="240029" algn="l"/>
              </a:tabLst>
            </a:pPr>
            <a:r>
              <a:rPr lang="fr-FR" sz="2400" dirty="0">
                <a:latin typeface="Segoe UI"/>
                <a:cs typeface="Segoe UI"/>
              </a:rPr>
              <a:t>Solution –</a:t>
            </a:r>
            <a:r>
              <a:rPr lang="fr-FR" sz="2400" spc="-5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si</a:t>
            </a:r>
            <a:r>
              <a:rPr lang="fr-FR" sz="2400" spc="-5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on</a:t>
            </a:r>
            <a:r>
              <a:rPr lang="fr-FR" sz="2400" spc="-3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ne</a:t>
            </a:r>
            <a:r>
              <a:rPr lang="fr-FR" sz="2400" spc="-5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connait</a:t>
            </a:r>
            <a:r>
              <a:rPr lang="fr-FR" sz="2400" spc="-1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pas</a:t>
            </a:r>
            <a:r>
              <a:rPr lang="fr-FR" sz="2400" spc="-60" dirty="0">
                <a:latin typeface="Segoe UI"/>
                <a:cs typeface="Segoe UI"/>
              </a:rPr>
              <a:t> </a:t>
            </a:r>
            <a:r>
              <a:rPr lang="fr-FR" sz="2400" spc="-20" dirty="0">
                <a:latin typeface="Segoe UI"/>
                <a:cs typeface="Segoe UI"/>
              </a:rPr>
              <a:t>d’avance</a:t>
            </a:r>
            <a:r>
              <a:rPr lang="fr-FR" sz="2400" spc="-5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les</a:t>
            </a:r>
            <a:r>
              <a:rPr lang="fr-FR" sz="2400" spc="-5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chaines</a:t>
            </a:r>
            <a:r>
              <a:rPr lang="fr-FR" sz="2400" spc="-3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à</a:t>
            </a:r>
            <a:r>
              <a:rPr lang="fr-FR" sz="2400" spc="-5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concaténer</a:t>
            </a:r>
            <a:r>
              <a:rPr lang="fr-FR" sz="2400" spc="-25" dirty="0">
                <a:latin typeface="Segoe UI"/>
                <a:cs typeface="Segoe UI"/>
              </a:rPr>
              <a:t> </a:t>
            </a:r>
            <a:r>
              <a:rPr lang="fr-FR" sz="2400" spc="-50" dirty="0">
                <a:latin typeface="Segoe UI"/>
                <a:cs typeface="Segoe UI"/>
              </a:rPr>
              <a:t>:</a:t>
            </a:r>
            <a:endParaRPr lang="fr-FR" sz="240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spcBef>
                <a:spcPts val="509"/>
              </a:spcBef>
              <a:buClr>
                <a:srgbClr val="391778"/>
              </a:buClr>
              <a:buFont typeface="Arial"/>
              <a:buChar char="•"/>
              <a:tabLst>
                <a:tab pos="698500" algn="l"/>
              </a:tabLst>
            </a:pPr>
            <a:r>
              <a:rPr lang="fr-FR" sz="2000" dirty="0">
                <a:latin typeface="Segoe UI"/>
                <a:cs typeface="Segoe UI"/>
              </a:rPr>
              <a:t>La</a:t>
            </a:r>
            <a:r>
              <a:rPr lang="fr-FR" sz="2000" spc="-3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classe</a:t>
            </a:r>
            <a:r>
              <a:rPr lang="fr-FR" sz="2000" spc="-15" dirty="0">
                <a:latin typeface="Segoe UI"/>
                <a:cs typeface="Segoe UI"/>
              </a:rPr>
              <a:t> </a:t>
            </a:r>
            <a:r>
              <a:rPr lang="fr-FR" sz="2000" spc="-10" dirty="0" err="1">
                <a:latin typeface="Segoe UI"/>
                <a:cs typeface="Segoe UI"/>
              </a:rPr>
              <a:t>StringBuilder</a:t>
            </a:r>
            <a:endParaRPr lang="fr-FR" sz="2000" dirty="0">
              <a:latin typeface="Segoe UI"/>
              <a:cs typeface="Segoe U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400" dirty="0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CBD7F945-D03D-CE56-FC9A-4128E067AD3D}"/>
              </a:ext>
            </a:extLst>
          </p:cNvPr>
          <p:cNvSpPr txBox="1"/>
          <p:nvPr/>
        </p:nvSpPr>
        <p:spPr>
          <a:xfrm>
            <a:off x="3369128" y="3429000"/>
            <a:ext cx="5453744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StringBuilder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sb = </a:t>
            </a:r>
            <a:r>
              <a:rPr lang="fr-F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StringBuilder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sb.Append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street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sb.Append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zipCode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sb.Append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(city);</a:t>
            </a:r>
          </a:p>
          <a:p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if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(country != </a:t>
            </a:r>
            <a:r>
              <a:rPr lang="fr-FR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fr-FR" sz="18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france</a:t>
            </a:r>
            <a:r>
              <a:rPr lang="fr-FR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sb.Append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(country);</a:t>
            </a:r>
          </a:p>
          <a:p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full_adress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sb.ToString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914888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1. String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46371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Méthodes / propriétés utiles</a:t>
            </a:r>
          </a:p>
          <a:p>
            <a:pPr marL="12700">
              <a:lnSpc>
                <a:spcPct val="100000"/>
              </a:lnSpc>
              <a:spcBef>
                <a:spcPts val="705"/>
              </a:spcBef>
              <a:buClr>
                <a:srgbClr val="391778"/>
              </a:buClr>
              <a:tabLst>
                <a:tab pos="240029" algn="l"/>
              </a:tabLst>
            </a:pPr>
            <a:endParaRPr lang="fr-FR" sz="240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spcBef>
                <a:spcPts val="509"/>
              </a:spcBef>
              <a:buClr>
                <a:srgbClr val="391778"/>
              </a:buClr>
              <a:buFont typeface="Arial"/>
              <a:buChar char="•"/>
              <a:tabLst>
                <a:tab pos="698500" algn="l"/>
              </a:tabLst>
            </a:pPr>
            <a:r>
              <a:rPr lang="fr-FR" sz="2000" spc="-10" dirty="0">
                <a:latin typeface="Segoe UI"/>
                <a:cs typeface="Segoe UI"/>
              </a:rPr>
              <a:t>Vérifier</a:t>
            </a:r>
            <a:r>
              <a:rPr lang="fr-FR" sz="2000" spc="-4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si</a:t>
            </a:r>
            <a:r>
              <a:rPr lang="fr-FR" sz="2000" spc="-4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la</a:t>
            </a:r>
            <a:r>
              <a:rPr lang="fr-FR" sz="2000" spc="-4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chaine</a:t>
            </a:r>
            <a:r>
              <a:rPr lang="fr-FR" sz="2000" spc="-4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contient</a:t>
            </a:r>
            <a:r>
              <a:rPr lang="fr-FR" sz="2000" spc="-4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une</a:t>
            </a:r>
            <a:r>
              <a:rPr lang="fr-FR" sz="2000" spc="-4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valeur</a:t>
            </a:r>
            <a:r>
              <a:rPr lang="fr-FR" sz="2000" spc="-4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ou</a:t>
            </a:r>
            <a:r>
              <a:rPr lang="fr-FR" sz="2000" spc="-40" dirty="0">
                <a:latin typeface="Segoe UI"/>
                <a:cs typeface="Segoe UI"/>
              </a:rPr>
              <a:t> </a:t>
            </a:r>
            <a:r>
              <a:rPr lang="fr-FR" sz="2000" spc="-25" dirty="0">
                <a:latin typeface="Segoe UI"/>
                <a:cs typeface="Segoe UI"/>
              </a:rPr>
              <a:t>non</a:t>
            </a:r>
            <a:endParaRPr lang="fr-FR" sz="2000" dirty="0">
              <a:latin typeface="Segoe UI"/>
              <a:cs typeface="Segoe UI"/>
            </a:endParaRPr>
          </a:p>
          <a:p>
            <a:pPr marL="927100" lvl="2">
              <a:lnSpc>
                <a:spcPct val="100000"/>
              </a:lnSpc>
              <a:spcBef>
                <a:spcPts val="509"/>
              </a:spcBef>
              <a:buClr>
                <a:srgbClr val="391778"/>
              </a:buClr>
              <a:tabLst>
                <a:tab pos="1155700" algn="l"/>
              </a:tabLst>
            </a:pPr>
            <a:r>
              <a:rPr lang="fr-FR" sz="1600" dirty="0">
                <a:latin typeface="Segoe UI"/>
                <a:cs typeface="Segoe UI"/>
              </a:rPr>
              <a:t>(s'applique</a:t>
            </a:r>
            <a:r>
              <a:rPr lang="fr-FR" sz="1600" spc="-30" dirty="0">
                <a:latin typeface="Segoe UI"/>
                <a:cs typeface="Segoe UI"/>
              </a:rPr>
              <a:t> </a:t>
            </a:r>
            <a:r>
              <a:rPr lang="fr-FR" sz="1600" dirty="0">
                <a:latin typeface="Segoe UI"/>
                <a:cs typeface="Segoe UI"/>
              </a:rPr>
              <a:t>sur</a:t>
            </a:r>
            <a:r>
              <a:rPr lang="fr-FR" sz="1600" spc="-10" dirty="0">
                <a:latin typeface="Segoe UI"/>
                <a:cs typeface="Segoe UI"/>
              </a:rPr>
              <a:t> </a:t>
            </a:r>
            <a:r>
              <a:rPr lang="fr-FR" sz="1600" dirty="0">
                <a:latin typeface="Segoe UI"/>
                <a:cs typeface="Segoe UI"/>
              </a:rPr>
              <a:t>une</a:t>
            </a:r>
            <a:r>
              <a:rPr lang="fr-FR" sz="1600" spc="-35" dirty="0">
                <a:latin typeface="Segoe UI"/>
                <a:cs typeface="Segoe UI"/>
              </a:rPr>
              <a:t> </a:t>
            </a:r>
            <a:r>
              <a:rPr lang="fr-FR" sz="1600" dirty="0">
                <a:latin typeface="Segoe UI"/>
                <a:cs typeface="Segoe UI"/>
              </a:rPr>
              <a:t>chaîne</a:t>
            </a:r>
            <a:r>
              <a:rPr lang="fr-FR" sz="1600" spc="-10" dirty="0">
                <a:latin typeface="Segoe UI"/>
                <a:cs typeface="Segoe UI"/>
              </a:rPr>
              <a:t> </a:t>
            </a:r>
            <a:r>
              <a:rPr lang="fr-FR" sz="1600" dirty="0" err="1">
                <a:latin typeface="Segoe UI"/>
                <a:cs typeface="Segoe UI"/>
              </a:rPr>
              <a:t>null</a:t>
            </a:r>
            <a:r>
              <a:rPr lang="fr-FR" sz="1600" dirty="0">
                <a:latin typeface="Segoe UI"/>
                <a:cs typeface="Segoe UI"/>
              </a:rPr>
              <a:t>,</a:t>
            </a:r>
            <a:r>
              <a:rPr lang="fr-FR" sz="1600" spc="-20" dirty="0">
                <a:latin typeface="Segoe UI"/>
                <a:cs typeface="Segoe UI"/>
              </a:rPr>
              <a:t> </a:t>
            </a:r>
            <a:r>
              <a:rPr lang="fr-FR" sz="1600" dirty="0">
                <a:latin typeface="Segoe UI"/>
                <a:cs typeface="Segoe UI"/>
              </a:rPr>
              <a:t>une</a:t>
            </a:r>
            <a:r>
              <a:rPr lang="fr-FR" sz="1600" spc="-15" dirty="0">
                <a:latin typeface="Segoe UI"/>
                <a:cs typeface="Segoe UI"/>
              </a:rPr>
              <a:t> </a:t>
            </a:r>
            <a:r>
              <a:rPr lang="fr-FR" sz="1600" dirty="0">
                <a:latin typeface="Segoe UI"/>
                <a:cs typeface="Segoe UI"/>
              </a:rPr>
              <a:t>chaine</a:t>
            </a:r>
            <a:r>
              <a:rPr lang="fr-FR" sz="1600" spc="-25" dirty="0">
                <a:latin typeface="Segoe UI"/>
                <a:cs typeface="Segoe UI"/>
              </a:rPr>
              <a:t> </a:t>
            </a:r>
            <a:r>
              <a:rPr lang="fr-FR" sz="1600" dirty="0">
                <a:latin typeface="Segoe UI"/>
                <a:cs typeface="Segoe UI"/>
              </a:rPr>
              <a:t>vide</a:t>
            </a:r>
            <a:r>
              <a:rPr lang="fr-FR" sz="1600" spc="-15" dirty="0">
                <a:latin typeface="Segoe UI"/>
                <a:cs typeface="Segoe UI"/>
              </a:rPr>
              <a:t> </a:t>
            </a:r>
            <a:r>
              <a:rPr lang="fr-FR" sz="1600" dirty="0">
                <a:latin typeface="Segoe UI"/>
                <a:cs typeface="Segoe UI"/>
              </a:rPr>
              <a:t>et</a:t>
            </a:r>
            <a:r>
              <a:rPr lang="fr-FR" sz="1600" spc="-30" dirty="0">
                <a:latin typeface="Segoe UI"/>
                <a:cs typeface="Segoe UI"/>
              </a:rPr>
              <a:t> </a:t>
            </a:r>
            <a:r>
              <a:rPr lang="fr-FR" sz="1600" dirty="0">
                <a:latin typeface="Segoe UI"/>
                <a:cs typeface="Segoe UI"/>
              </a:rPr>
              <a:t>une</a:t>
            </a:r>
            <a:r>
              <a:rPr lang="fr-FR" sz="1600" spc="-30" dirty="0">
                <a:latin typeface="Segoe UI"/>
                <a:cs typeface="Segoe UI"/>
              </a:rPr>
              <a:t> </a:t>
            </a:r>
            <a:r>
              <a:rPr lang="fr-FR" sz="1600" dirty="0">
                <a:latin typeface="Segoe UI"/>
                <a:cs typeface="Segoe UI"/>
              </a:rPr>
              <a:t>chaine</a:t>
            </a:r>
            <a:r>
              <a:rPr lang="fr-FR" sz="1600" spc="-15" dirty="0">
                <a:latin typeface="Segoe UI"/>
                <a:cs typeface="Segoe UI"/>
              </a:rPr>
              <a:t> </a:t>
            </a:r>
            <a:r>
              <a:rPr lang="fr-FR" sz="1600" dirty="0">
                <a:latin typeface="Segoe UI"/>
                <a:cs typeface="Segoe UI"/>
              </a:rPr>
              <a:t>avec</a:t>
            </a:r>
            <a:r>
              <a:rPr lang="fr-FR" sz="1600" spc="-35" dirty="0">
                <a:latin typeface="Segoe UI"/>
                <a:cs typeface="Segoe UI"/>
              </a:rPr>
              <a:t> </a:t>
            </a:r>
            <a:r>
              <a:rPr lang="fr-FR" sz="1600" dirty="0">
                <a:latin typeface="Segoe UI"/>
                <a:cs typeface="Segoe UI"/>
              </a:rPr>
              <a:t>des</a:t>
            </a:r>
            <a:r>
              <a:rPr lang="fr-FR" sz="1600" spc="-30" dirty="0">
                <a:latin typeface="Segoe UI"/>
                <a:cs typeface="Segoe UI"/>
              </a:rPr>
              <a:t> </a:t>
            </a:r>
            <a:r>
              <a:rPr lang="fr-FR" sz="1600" spc="-10" dirty="0">
                <a:latin typeface="Segoe UI"/>
                <a:cs typeface="Segoe UI"/>
              </a:rPr>
              <a:t>espaces)</a:t>
            </a:r>
          </a:p>
          <a:p>
            <a:pPr marL="12700">
              <a:spcBef>
                <a:spcPts val="509"/>
              </a:spcBef>
              <a:buClr>
                <a:srgbClr val="391778"/>
              </a:buClr>
              <a:tabLst>
                <a:tab pos="1155700" algn="l"/>
              </a:tabLst>
            </a:pPr>
            <a:endParaRPr lang="fr-FR" sz="2400" spc="-10" dirty="0">
              <a:latin typeface="Segoe UI"/>
              <a:cs typeface="Segoe UI"/>
            </a:endParaRPr>
          </a:p>
          <a:p>
            <a:pPr marL="698500" lvl="1" indent="-228600">
              <a:spcBef>
                <a:spcPts val="509"/>
              </a:spcBef>
              <a:buClr>
                <a:srgbClr val="391778"/>
              </a:buClr>
              <a:buFont typeface="Arial"/>
              <a:buChar char="•"/>
              <a:tabLst>
                <a:tab pos="698500" algn="l"/>
              </a:tabLst>
            </a:pPr>
            <a:endParaRPr lang="fr-FR" sz="2400" dirty="0">
              <a:latin typeface="Segoe UI"/>
              <a:cs typeface="Segoe UI"/>
            </a:endParaRPr>
          </a:p>
          <a:p>
            <a:pPr marL="469900" lvl="1">
              <a:spcBef>
                <a:spcPts val="509"/>
              </a:spcBef>
              <a:buClr>
                <a:srgbClr val="391778"/>
              </a:buClr>
              <a:tabLst>
                <a:tab pos="698500" algn="l"/>
              </a:tabLst>
            </a:pPr>
            <a:endParaRPr lang="fr-FR" sz="2400" dirty="0">
              <a:latin typeface="Segoe UI"/>
              <a:cs typeface="Segoe UI"/>
            </a:endParaRPr>
          </a:p>
          <a:p>
            <a:pPr marL="698500" lvl="1" indent="-228600">
              <a:spcBef>
                <a:spcPts val="509"/>
              </a:spcBef>
              <a:buClr>
                <a:srgbClr val="391778"/>
              </a:buClr>
              <a:buFont typeface="Arial"/>
              <a:buChar char="•"/>
              <a:tabLst>
                <a:tab pos="698500" algn="l"/>
              </a:tabLst>
            </a:pPr>
            <a:endParaRPr lang="fr-FR" sz="2400" dirty="0">
              <a:latin typeface="Segoe UI"/>
              <a:cs typeface="Segoe UI"/>
            </a:endParaRPr>
          </a:p>
          <a:p>
            <a:pPr marL="698500" lvl="1" indent="-228600">
              <a:spcBef>
                <a:spcPts val="509"/>
              </a:spcBef>
              <a:buClr>
                <a:srgbClr val="391778"/>
              </a:buClr>
              <a:buFont typeface="Arial"/>
              <a:buChar char="•"/>
              <a:tabLst>
                <a:tab pos="698500" algn="l"/>
              </a:tabLst>
            </a:pPr>
            <a:r>
              <a:rPr lang="fr-FR" sz="2400" dirty="0">
                <a:latin typeface="Segoe UI"/>
                <a:cs typeface="Segoe UI"/>
              </a:rPr>
              <a:t>Initialiser</a:t>
            </a:r>
            <a:r>
              <a:rPr lang="fr-FR" sz="2400" spc="-3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une</a:t>
            </a:r>
            <a:r>
              <a:rPr lang="fr-FR" sz="2400" spc="-5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chaine</a:t>
            </a:r>
            <a:r>
              <a:rPr lang="fr-FR" sz="2400" spc="-50" dirty="0">
                <a:latin typeface="Segoe UI"/>
                <a:cs typeface="Segoe UI"/>
              </a:rPr>
              <a:t> </a:t>
            </a:r>
            <a:r>
              <a:rPr lang="fr-FR" sz="2400" spc="-20" dirty="0">
                <a:latin typeface="Segoe UI"/>
                <a:cs typeface="Segoe UI"/>
              </a:rPr>
              <a:t>vide</a:t>
            </a:r>
            <a:endParaRPr lang="fr-FR" sz="240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spcBef>
                <a:spcPts val="509"/>
              </a:spcBef>
              <a:buClr>
                <a:srgbClr val="391778"/>
              </a:buClr>
              <a:buFont typeface="Arial"/>
              <a:buChar char="•"/>
              <a:tabLst>
                <a:tab pos="698500" algn="l"/>
              </a:tabLst>
            </a:pPr>
            <a:endParaRPr lang="fr-FR" sz="2400" dirty="0">
              <a:latin typeface="Segoe UI"/>
              <a:cs typeface="Segoe UI"/>
            </a:endParaRPr>
          </a:p>
          <a:p>
            <a:pPr marL="927100" lvl="2">
              <a:lnSpc>
                <a:spcPct val="100000"/>
              </a:lnSpc>
              <a:spcBef>
                <a:spcPts val="509"/>
              </a:spcBef>
              <a:buClr>
                <a:srgbClr val="391778"/>
              </a:buClr>
              <a:tabLst>
                <a:tab pos="1155700" algn="l"/>
              </a:tabLst>
            </a:pPr>
            <a:endParaRPr lang="fr-FR" sz="2400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0801F2D0-0800-CF12-FAD1-B71BCDF32DFE}"/>
              </a:ext>
            </a:extLst>
          </p:cNvPr>
          <p:cNvSpPr txBox="1"/>
          <p:nvPr/>
        </p:nvSpPr>
        <p:spPr>
          <a:xfrm>
            <a:off x="1785254" y="3166296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myString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fr-FR" sz="1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null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if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(!</a:t>
            </a:r>
            <a:r>
              <a:rPr lang="fr-FR" sz="1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.IsNullOrWhiteSpace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myString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))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Console.WriteLine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fr-FR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fr-FR" sz="18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contientunevaleur</a:t>
            </a:r>
            <a:r>
              <a:rPr lang="fr-FR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  <a:endParaRPr lang="fr-FR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CAC0A911-D4F4-B462-9C96-54339B8C6D29}"/>
              </a:ext>
            </a:extLst>
          </p:cNvPr>
          <p:cNvSpPr txBox="1"/>
          <p:nvPr/>
        </p:nvSpPr>
        <p:spPr>
          <a:xfrm>
            <a:off x="1894115" y="533439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myString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fr-FR" sz="1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.Empty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5091584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1. String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42601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Méthodes / propriétés utiles</a:t>
            </a:r>
          </a:p>
          <a:p>
            <a:pPr marL="469900" lvl="1">
              <a:spcBef>
                <a:spcPts val="105"/>
              </a:spcBef>
              <a:buClr>
                <a:srgbClr val="391778"/>
              </a:buClr>
              <a:tabLst>
                <a:tab pos="241300" algn="l"/>
              </a:tabLst>
            </a:pPr>
            <a:endParaRPr lang="fr-FR" sz="2400" dirty="0">
              <a:latin typeface="Segoe UI"/>
              <a:cs typeface="Segoe UI"/>
            </a:endParaRPr>
          </a:p>
          <a:p>
            <a:pPr marL="812800" lvl="1" indent="-342900">
              <a:spcBef>
                <a:spcPts val="105"/>
              </a:spcBef>
              <a:buClr>
                <a:srgbClr val="391778"/>
              </a:buClr>
              <a:buFont typeface="Arial" panose="020B0604020202020204" pitchFamily="34" charset="0"/>
              <a:buChar char="•"/>
              <a:tabLst>
                <a:tab pos="241300" algn="l"/>
              </a:tabLst>
            </a:pPr>
            <a:r>
              <a:rPr lang="fr-FR" sz="2400" dirty="0">
                <a:latin typeface="Segoe UI"/>
                <a:cs typeface="Segoe UI"/>
              </a:rPr>
              <a:t>Passer en majuscule / minuscule</a:t>
            </a:r>
            <a:endParaRPr lang="fr-FR" sz="2000" dirty="0">
              <a:latin typeface="Segoe UI"/>
              <a:cs typeface="Segoe UI"/>
            </a:endParaRPr>
          </a:p>
          <a:p>
            <a:pPr marL="698500" lvl="1" indent="-228600">
              <a:spcBef>
                <a:spcPts val="509"/>
              </a:spcBef>
              <a:buClr>
                <a:srgbClr val="391778"/>
              </a:buClr>
              <a:buFont typeface="Arial"/>
              <a:buChar char="•"/>
              <a:tabLst>
                <a:tab pos="698500" algn="l"/>
              </a:tabLst>
            </a:pPr>
            <a:endParaRPr lang="fr-FR" sz="2400" dirty="0">
              <a:latin typeface="Segoe UI"/>
              <a:cs typeface="Segoe UI"/>
            </a:endParaRPr>
          </a:p>
          <a:p>
            <a:pPr marL="469900" lvl="1">
              <a:spcBef>
                <a:spcPts val="509"/>
              </a:spcBef>
              <a:buClr>
                <a:srgbClr val="391778"/>
              </a:buClr>
              <a:tabLst>
                <a:tab pos="698500" algn="l"/>
              </a:tabLst>
            </a:pPr>
            <a:endParaRPr lang="fr-FR" sz="2400" dirty="0">
              <a:latin typeface="Segoe UI"/>
              <a:cs typeface="Segoe UI"/>
            </a:endParaRPr>
          </a:p>
          <a:p>
            <a:pPr marL="698500" lvl="1" indent="-228600">
              <a:spcBef>
                <a:spcPts val="509"/>
              </a:spcBef>
              <a:buClr>
                <a:srgbClr val="391778"/>
              </a:buClr>
              <a:buFont typeface="Arial"/>
              <a:buChar char="•"/>
              <a:tabLst>
                <a:tab pos="698500" algn="l"/>
              </a:tabLst>
            </a:pPr>
            <a:endParaRPr lang="fr-FR" sz="2400" dirty="0">
              <a:latin typeface="Segoe UI"/>
              <a:cs typeface="Segoe UI"/>
            </a:endParaRPr>
          </a:p>
          <a:p>
            <a:pPr marL="469900" lvl="1">
              <a:spcBef>
                <a:spcPts val="509"/>
              </a:spcBef>
              <a:buClr>
                <a:srgbClr val="391778"/>
              </a:buClr>
              <a:tabLst>
                <a:tab pos="698500" algn="l"/>
              </a:tabLst>
            </a:pPr>
            <a:endParaRPr lang="fr-FR" sz="2400" dirty="0">
              <a:latin typeface="Segoe UI"/>
              <a:cs typeface="Segoe UI"/>
            </a:endParaRPr>
          </a:p>
          <a:p>
            <a:pPr marL="698500" lvl="1" indent="-228600">
              <a:spcBef>
                <a:spcPts val="100"/>
              </a:spcBef>
              <a:buClr>
                <a:srgbClr val="391778"/>
              </a:buClr>
              <a:buFont typeface="Arial"/>
              <a:buChar char="•"/>
              <a:tabLst>
                <a:tab pos="241300" algn="l"/>
              </a:tabLst>
            </a:pPr>
            <a:r>
              <a:rPr lang="fr-FR" sz="2400" dirty="0">
                <a:latin typeface="Segoe UI"/>
                <a:cs typeface="Segoe UI"/>
              </a:rPr>
              <a:t>Chaîne</a:t>
            </a:r>
            <a:r>
              <a:rPr lang="fr-FR" sz="2400" spc="-4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qui</a:t>
            </a:r>
            <a:r>
              <a:rPr lang="fr-FR" sz="2400" spc="-4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commence</a:t>
            </a:r>
            <a:r>
              <a:rPr lang="fr-FR" sz="2400" spc="-4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par</a:t>
            </a:r>
            <a:r>
              <a:rPr lang="fr-FR" sz="2400" spc="-4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/</a:t>
            </a:r>
            <a:r>
              <a:rPr lang="fr-FR" sz="2400" spc="-5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termine</a:t>
            </a:r>
            <a:r>
              <a:rPr lang="fr-FR" sz="2400" spc="-45" dirty="0">
                <a:latin typeface="Segoe UI"/>
                <a:cs typeface="Segoe UI"/>
              </a:rPr>
              <a:t> </a:t>
            </a:r>
            <a:r>
              <a:rPr lang="fr-FR" sz="2400" spc="-25" dirty="0">
                <a:latin typeface="Segoe UI"/>
                <a:cs typeface="Segoe UI"/>
              </a:rPr>
              <a:t>par</a:t>
            </a:r>
            <a:endParaRPr lang="fr-FR" sz="240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spcBef>
                <a:spcPts val="509"/>
              </a:spcBef>
              <a:buClr>
                <a:srgbClr val="391778"/>
              </a:buClr>
              <a:buFont typeface="Arial"/>
              <a:buChar char="•"/>
              <a:tabLst>
                <a:tab pos="698500" algn="l"/>
              </a:tabLst>
            </a:pPr>
            <a:endParaRPr lang="fr-FR" sz="2400" dirty="0">
              <a:latin typeface="Segoe UI"/>
              <a:cs typeface="Segoe UI"/>
            </a:endParaRPr>
          </a:p>
          <a:p>
            <a:pPr marL="927100" lvl="2">
              <a:lnSpc>
                <a:spcPct val="100000"/>
              </a:lnSpc>
              <a:spcBef>
                <a:spcPts val="509"/>
              </a:spcBef>
              <a:buClr>
                <a:srgbClr val="391778"/>
              </a:buClr>
              <a:tabLst>
                <a:tab pos="1155700" algn="l"/>
              </a:tabLst>
            </a:pPr>
            <a:endParaRPr lang="fr-FR" sz="2400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6F6BDE72-7CDE-C5CD-535B-A6432C91F869}"/>
              </a:ext>
            </a:extLst>
          </p:cNvPr>
          <p:cNvSpPr txBox="1"/>
          <p:nvPr/>
        </p:nvSpPr>
        <p:spPr>
          <a:xfrm>
            <a:off x="2307770" y="2828835"/>
            <a:ext cx="795745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myString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fr-FR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fr-FR" sz="18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Supinfo</a:t>
            </a:r>
            <a:r>
              <a:rPr lang="fr-FR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stringInLowerCase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myString.ToLower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();  </a:t>
            </a:r>
            <a:r>
              <a:rPr lang="en-US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//SUPINFO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stringInUpperCase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myString.ToUpper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();  </a:t>
            </a:r>
            <a:r>
              <a:rPr lang="en-US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//</a:t>
            </a:r>
            <a:r>
              <a:rPr lang="en-US" sz="1800" dirty="0" err="1">
                <a:solidFill>
                  <a:srgbClr val="008000"/>
                </a:solidFill>
                <a:latin typeface="Cascadia Mono" panose="020B0609020000020004" pitchFamily="49" charset="0"/>
              </a:rPr>
              <a:t>supinfo</a:t>
            </a:r>
            <a:endParaRPr lang="fr-FR" dirty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3A4A0614-D41C-E48D-E603-A0B19C78B02F}"/>
              </a:ext>
            </a:extLst>
          </p:cNvPr>
          <p:cNvSpPr txBox="1"/>
          <p:nvPr/>
        </p:nvSpPr>
        <p:spPr>
          <a:xfrm>
            <a:off x="2307770" y="4965105"/>
            <a:ext cx="75873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bool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isStartingWith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myString.StartsWith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"s"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bool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isEndingWith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myString.EndsWith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"s"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486614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26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que 2" descr="Questions avec un remplissage uni">
            <a:extLst>
              <a:ext uri="{FF2B5EF4-FFF2-40B4-BE49-F238E27FC236}">
                <a16:creationId xmlns:a16="http://schemas.microsoft.com/office/drawing/2014/main" id="{117F3F9E-E45E-9844-8215-AA148A5923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56000" y="1989000"/>
            <a:ext cx="2880000" cy="2880000"/>
          </a:xfrm>
          <a:prstGeom prst="rect">
            <a:avLst/>
          </a:prstGeom>
        </p:spPr>
      </p:pic>
      <p:sp>
        <p:nvSpPr>
          <p:cNvPr id="6" name="Titre 1">
            <a:extLst>
              <a:ext uri="{FF2B5EF4-FFF2-40B4-BE49-F238E27FC236}">
                <a16:creationId xmlns:a16="http://schemas.microsoft.com/office/drawing/2014/main" id="{6784514D-DFE8-6540-A8D9-ED1329C44D36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>
                <a:solidFill>
                  <a:schemeClr val="bg1"/>
                </a:solidFill>
              </a:rPr>
              <a:t>1. String</a:t>
            </a:r>
          </a:p>
        </p:txBody>
      </p:sp>
    </p:spTree>
    <p:extLst>
      <p:ext uri="{BB962C8B-B14F-4D97-AF65-F5344CB8AC3E}">
        <p14:creationId xmlns:p14="http://schemas.microsoft.com/office/powerpoint/2010/main" val="19264026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26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1">
            <a:extLst>
              <a:ext uri="{FF2B5EF4-FFF2-40B4-BE49-F238E27FC236}">
                <a16:creationId xmlns:a16="http://schemas.microsoft.com/office/drawing/2014/main" id="{AC0B1E25-C870-E44C-9AEC-2F6389ADF8D7}"/>
              </a:ext>
            </a:extLst>
          </p:cNvPr>
          <p:cNvSpPr txBox="1">
            <a:spLocks/>
          </p:cNvSpPr>
          <p:nvPr/>
        </p:nvSpPr>
        <p:spPr>
          <a:xfrm>
            <a:off x="831850" y="1709738"/>
            <a:ext cx="10515600" cy="2851200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fr-FR" sz="5400" dirty="0"/>
          </a:p>
          <a:p>
            <a:endParaRPr lang="fr-FR" sz="5400" dirty="0"/>
          </a:p>
          <a:p>
            <a:endParaRPr lang="fr-FR" sz="5400" dirty="0"/>
          </a:p>
          <a:p>
            <a:r>
              <a:rPr lang="fr-FR" sz="5400" dirty="0">
                <a:solidFill>
                  <a:schemeClr val="bg1"/>
                </a:solidFill>
              </a:rPr>
              <a:t>2. Généricité</a:t>
            </a:r>
          </a:p>
        </p:txBody>
      </p:sp>
    </p:spTree>
    <p:extLst>
      <p:ext uri="{BB962C8B-B14F-4D97-AF65-F5344CB8AC3E}">
        <p14:creationId xmlns:p14="http://schemas.microsoft.com/office/powerpoint/2010/main" val="2271311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2. Généricité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47192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Principe</a:t>
            </a:r>
          </a:p>
          <a:p>
            <a:endParaRPr lang="fr-FR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/>
              <a:t>Généricité (même nom en Java, « templating » en C++)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400" dirty="0"/>
          </a:p>
          <a:p>
            <a:pPr marL="698500" lvl="1" indent="-228600">
              <a:lnSpc>
                <a:spcPct val="100000"/>
              </a:lnSpc>
              <a:spcBef>
                <a:spcPts val="5"/>
              </a:spcBef>
              <a:buClr>
                <a:srgbClr val="391778"/>
              </a:buClr>
              <a:buFont typeface="Arial"/>
              <a:buChar char="•"/>
              <a:tabLst>
                <a:tab pos="698500" algn="l"/>
              </a:tabLst>
            </a:pPr>
            <a:r>
              <a:rPr lang="fr-FR" sz="2000" dirty="0">
                <a:latin typeface="Segoe UI"/>
                <a:cs typeface="Segoe UI"/>
              </a:rPr>
              <a:t>Exemple</a:t>
            </a:r>
            <a:r>
              <a:rPr lang="fr-FR" sz="2000" spc="-60" dirty="0">
                <a:latin typeface="Segoe UI"/>
                <a:cs typeface="Segoe UI"/>
              </a:rPr>
              <a:t> </a:t>
            </a:r>
            <a:r>
              <a:rPr lang="fr-FR" sz="2000" spc="-50" dirty="0">
                <a:latin typeface="Segoe UI"/>
                <a:cs typeface="Segoe UI"/>
              </a:rPr>
              <a:t>:</a:t>
            </a:r>
            <a:endParaRPr lang="fr-FR" sz="2000" dirty="0">
              <a:latin typeface="Segoe UI"/>
              <a:cs typeface="Segoe UI"/>
            </a:endParaRPr>
          </a:p>
          <a:p>
            <a:pPr marL="927100">
              <a:lnSpc>
                <a:spcPct val="100000"/>
              </a:lnSpc>
              <a:spcBef>
                <a:spcPts val="500"/>
              </a:spcBef>
            </a:pPr>
            <a:r>
              <a:rPr lang="fr-FR" sz="2000" dirty="0">
                <a:latin typeface="Segoe UI"/>
                <a:cs typeface="Segoe UI"/>
              </a:rPr>
              <a:t>un</a:t>
            </a:r>
            <a:r>
              <a:rPr lang="fr-FR" sz="2000" spc="-3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album</a:t>
            </a:r>
            <a:r>
              <a:rPr lang="fr-FR" sz="2000" spc="-2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peut</a:t>
            </a:r>
            <a:r>
              <a:rPr lang="fr-FR" sz="2000" spc="-3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être</a:t>
            </a:r>
            <a:r>
              <a:rPr lang="fr-FR" sz="2000" spc="-3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constituer</a:t>
            </a:r>
            <a:r>
              <a:rPr lang="fr-FR" sz="2000" spc="-4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de</a:t>
            </a:r>
            <a:r>
              <a:rPr lang="fr-FR" sz="2000" spc="-20" dirty="0">
                <a:latin typeface="Segoe UI"/>
                <a:cs typeface="Segoe UI"/>
              </a:rPr>
              <a:t> </a:t>
            </a:r>
            <a:r>
              <a:rPr lang="fr-FR" sz="2000" b="1" dirty="0">
                <a:latin typeface="Segoe UI"/>
                <a:cs typeface="Segoe UI"/>
              </a:rPr>
              <a:t>musiques</a:t>
            </a:r>
            <a:r>
              <a:rPr lang="fr-FR" sz="2000" dirty="0">
                <a:latin typeface="Segoe UI"/>
                <a:cs typeface="Segoe UI"/>
              </a:rPr>
              <a:t>,</a:t>
            </a:r>
            <a:r>
              <a:rPr lang="fr-FR" sz="2000" spc="-3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de</a:t>
            </a:r>
            <a:r>
              <a:rPr lang="fr-FR" sz="2000" spc="-30" dirty="0">
                <a:latin typeface="Segoe UI"/>
                <a:cs typeface="Segoe UI"/>
              </a:rPr>
              <a:t> </a:t>
            </a:r>
            <a:r>
              <a:rPr lang="fr-FR" sz="2000" b="1" dirty="0">
                <a:latin typeface="Segoe UI"/>
                <a:cs typeface="Segoe UI"/>
              </a:rPr>
              <a:t>photos</a:t>
            </a:r>
            <a:r>
              <a:rPr lang="fr-FR" sz="2000" dirty="0">
                <a:latin typeface="Segoe UI"/>
                <a:cs typeface="Segoe UI"/>
              </a:rPr>
              <a:t>,</a:t>
            </a:r>
            <a:r>
              <a:rPr lang="fr-FR" sz="2000" spc="-4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de</a:t>
            </a:r>
            <a:r>
              <a:rPr lang="fr-FR" sz="2000" spc="-40" dirty="0">
                <a:latin typeface="Segoe UI"/>
                <a:cs typeface="Segoe UI"/>
              </a:rPr>
              <a:t> </a:t>
            </a:r>
            <a:r>
              <a:rPr lang="fr-FR" sz="2000" b="1" dirty="0">
                <a:latin typeface="Segoe UI"/>
                <a:cs typeface="Segoe UI"/>
              </a:rPr>
              <a:t>bandes</a:t>
            </a:r>
            <a:r>
              <a:rPr lang="fr-FR" sz="2000" b="1" spc="-35" dirty="0">
                <a:latin typeface="Segoe UI"/>
                <a:cs typeface="Segoe UI"/>
              </a:rPr>
              <a:t> </a:t>
            </a:r>
            <a:r>
              <a:rPr lang="fr-FR" sz="2000" b="1" spc="-10" dirty="0">
                <a:latin typeface="Segoe UI"/>
                <a:cs typeface="Segoe UI"/>
              </a:rPr>
              <a:t>dessinées</a:t>
            </a:r>
            <a:r>
              <a:rPr lang="fr-FR" sz="2000" spc="-10" dirty="0">
                <a:latin typeface="Segoe UI"/>
                <a:cs typeface="Segoe UI"/>
              </a:rPr>
              <a:t>,</a:t>
            </a:r>
            <a:endParaRPr lang="fr-FR" sz="2000" dirty="0">
              <a:latin typeface="Segoe UI"/>
              <a:cs typeface="Segoe UI"/>
            </a:endParaRPr>
          </a:p>
          <a:p>
            <a:pPr marL="927100">
              <a:lnSpc>
                <a:spcPct val="100000"/>
              </a:lnSpc>
              <a:spcBef>
                <a:spcPts val="505"/>
              </a:spcBef>
            </a:pPr>
            <a:r>
              <a:rPr lang="fr-FR" sz="2000" dirty="0">
                <a:latin typeface="Segoe UI"/>
                <a:cs typeface="Segoe UI"/>
              </a:rPr>
              <a:t>de</a:t>
            </a:r>
            <a:r>
              <a:rPr lang="fr-FR" sz="2000" spc="-20" dirty="0">
                <a:latin typeface="Segoe UI"/>
                <a:cs typeface="Segoe UI"/>
              </a:rPr>
              <a:t> </a:t>
            </a:r>
            <a:r>
              <a:rPr lang="fr-FR" sz="2000" b="1" dirty="0">
                <a:latin typeface="Segoe UI"/>
                <a:cs typeface="Segoe UI"/>
              </a:rPr>
              <a:t>timbres</a:t>
            </a:r>
            <a:r>
              <a:rPr lang="fr-FR" sz="2000" dirty="0">
                <a:latin typeface="Segoe UI"/>
                <a:cs typeface="Segoe UI"/>
              </a:rPr>
              <a:t>,</a:t>
            </a:r>
            <a:r>
              <a:rPr lang="fr-FR" sz="2000" spc="-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de</a:t>
            </a:r>
            <a:r>
              <a:rPr lang="fr-FR" sz="2000" spc="-20" dirty="0">
                <a:latin typeface="Segoe UI"/>
                <a:cs typeface="Segoe UI"/>
              </a:rPr>
              <a:t> </a:t>
            </a:r>
            <a:r>
              <a:rPr lang="fr-FR" sz="2000" b="1" dirty="0">
                <a:latin typeface="Segoe UI"/>
                <a:cs typeface="Segoe UI"/>
              </a:rPr>
              <a:t>cartes</a:t>
            </a:r>
            <a:r>
              <a:rPr lang="fr-FR" sz="2000" b="1" spc="-25" dirty="0">
                <a:latin typeface="Segoe UI"/>
                <a:cs typeface="Segoe UI"/>
              </a:rPr>
              <a:t> </a:t>
            </a:r>
            <a:r>
              <a:rPr lang="fr-FR" sz="2000" b="1" spc="-10" dirty="0">
                <a:latin typeface="Segoe UI"/>
                <a:cs typeface="Segoe UI"/>
              </a:rPr>
              <a:t>postales</a:t>
            </a:r>
            <a:r>
              <a:rPr lang="fr-FR" sz="2000" spc="-10" dirty="0">
                <a:latin typeface="Segoe UI"/>
                <a:cs typeface="Segoe UI"/>
              </a:rPr>
              <a:t>…</a:t>
            </a:r>
            <a:endParaRPr lang="fr-FR" sz="2000" dirty="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740"/>
              </a:spcBef>
            </a:pPr>
            <a:endParaRPr lang="fr-FR" sz="200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buClr>
                <a:srgbClr val="391778"/>
              </a:buClr>
              <a:buFont typeface="Arial"/>
              <a:buChar char="•"/>
              <a:tabLst>
                <a:tab pos="698500" algn="l"/>
              </a:tabLst>
            </a:pPr>
            <a:r>
              <a:rPr lang="fr-FR" sz="2000" dirty="0">
                <a:latin typeface="Segoe UI"/>
                <a:cs typeface="Segoe UI"/>
              </a:rPr>
              <a:t>Il</a:t>
            </a:r>
            <a:r>
              <a:rPr lang="fr-FR" sz="2000" spc="-3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faudrait</a:t>
            </a:r>
            <a:r>
              <a:rPr lang="fr-FR" sz="2000" spc="-3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donc</a:t>
            </a:r>
            <a:r>
              <a:rPr lang="fr-FR" sz="2000" spc="-4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une</a:t>
            </a:r>
            <a:r>
              <a:rPr lang="fr-FR" sz="2000" spc="-2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classe</a:t>
            </a:r>
            <a:r>
              <a:rPr lang="fr-FR" sz="2000" spc="-20" dirty="0">
                <a:latin typeface="Segoe UI"/>
                <a:cs typeface="Segoe UI"/>
              </a:rPr>
              <a:t> </a:t>
            </a:r>
            <a:r>
              <a:rPr lang="fr-FR" sz="2000" i="1" dirty="0">
                <a:latin typeface="Segoe UI"/>
                <a:cs typeface="Segoe UI"/>
              </a:rPr>
              <a:t>Album</a:t>
            </a:r>
            <a:r>
              <a:rPr lang="fr-FR" sz="2000" i="1" spc="-5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spécifique</a:t>
            </a:r>
            <a:r>
              <a:rPr lang="fr-FR" sz="2000" spc="-1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pour</a:t>
            </a:r>
            <a:r>
              <a:rPr lang="fr-FR" sz="2000" spc="-2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chacun</a:t>
            </a:r>
            <a:r>
              <a:rPr lang="fr-FR" sz="2000" spc="-4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de</a:t>
            </a:r>
            <a:r>
              <a:rPr lang="fr-FR" sz="2000" spc="-2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ses</a:t>
            </a:r>
            <a:r>
              <a:rPr lang="fr-FR" sz="2000" spc="-2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éléments</a:t>
            </a:r>
            <a:r>
              <a:rPr lang="fr-FR" sz="2000" spc="-30" dirty="0">
                <a:latin typeface="Segoe UI"/>
                <a:cs typeface="Segoe UI"/>
              </a:rPr>
              <a:t> </a:t>
            </a:r>
            <a:r>
              <a:rPr lang="fr-FR" sz="2000" spc="-50" dirty="0">
                <a:latin typeface="Segoe UI"/>
                <a:cs typeface="Segoe UI"/>
              </a:rPr>
              <a:t>:</a:t>
            </a:r>
            <a:endParaRPr lang="fr-FR" sz="2000" dirty="0">
              <a:latin typeface="Segoe UI"/>
              <a:cs typeface="Segoe UI"/>
            </a:endParaRPr>
          </a:p>
          <a:p>
            <a:pPr marL="1155700" lvl="2" indent="-228600">
              <a:lnSpc>
                <a:spcPct val="100000"/>
              </a:lnSpc>
              <a:spcBef>
                <a:spcPts val="500"/>
              </a:spcBef>
              <a:buClr>
                <a:srgbClr val="391778"/>
              </a:buClr>
              <a:buFont typeface="Arial"/>
              <a:buChar char="•"/>
              <a:tabLst>
                <a:tab pos="1155700" algn="l"/>
              </a:tabLst>
            </a:pPr>
            <a:r>
              <a:rPr lang="fr-FR" sz="1800" dirty="0">
                <a:latin typeface="Segoe UI"/>
                <a:cs typeface="Segoe UI"/>
              </a:rPr>
              <a:t>Un</a:t>
            </a:r>
            <a:r>
              <a:rPr lang="fr-FR" sz="1800" spc="-30" dirty="0">
                <a:latin typeface="Segoe UI"/>
                <a:cs typeface="Segoe UI"/>
              </a:rPr>
              <a:t> </a:t>
            </a:r>
            <a:r>
              <a:rPr lang="fr-FR" sz="1800" dirty="0">
                <a:latin typeface="Segoe UI"/>
                <a:cs typeface="Segoe UI"/>
              </a:rPr>
              <a:t>album</a:t>
            </a:r>
            <a:r>
              <a:rPr lang="fr-FR" sz="1800" spc="-25" dirty="0">
                <a:latin typeface="Segoe UI"/>
                <a:cs typeface="Segoe UI"/>
              </a:rPr>
              <a:t> </a:t>
            </a:r>
            <a:r>
              <a:rPr lang="fr-FR" sz="1800" dirty="0">
                <a:latin typeface="Segoe UI"/>
                <a:cs typeface="Segoe UI"/>
              </a:rPr>
              <a:t>de</a:t>
            </a:r>
            <a:r>
              <a:rPr lang="fr-FR" sz="1800" spc="-15" dirty="0">
                <a:latin typeface="Segoe UI"/>
                <a:cs typeface="Segoe UI"/>
              </a:rPr>
              <a:t> </a:t>
            </a:r>
            <a:r>
              <a:rPr lang="fr-FR" sz="1800" spc="-10" dirty="0">
                <a:latin typeface="Segoe UI"/>
                <a:cs typeface="Segoe UI"/>
              </a:rPr>
              <a:t>musiques</a:t>
            </a:r>
            <a:endParaRPr lang="fr-FR" sz="1800" dirty="0">
              <a:latin typeface="Segoe UI"/>
              <a:cs typeface="Segoe UI"/>
            </a:endParaRPr>
          </a:p>
          <a:p>
            <a:pPr marL="1155700" lvl="2" indent="-228600">
              <a:lnSpc>
                <a:spcPct val="100000"/>
              </a:lnSpc>
              <a:spcBef>
                <a:spcPts val="505"/>
              </a:spcBef>
              <a:buClr>
                <a:srgbClr val="391778"/>
              </a:buClr>
              <a:buFont typeface="Arial"/>
              <a:buChar char="•"/>
              <a:tabLst>
                <a:tab pos="1155700" algn="l"/>
              </a:tabLst>
            </a:pPr>
            <a:r>
              <a:rPr lang="fr-FR" sz="1800" dirty="0">
                <a:latin typeface="Segoe UI"/>
                <a:cs typeface="Segoe UI"/>
              </a:rPr>
              <a:t>Un</a:t>
            </a:r>
            <a:r>
              <a:rPr lang="fr-FR" sz="1800" spc="-35" dirty="0">
                <a:latin typeface="Segoe UI"/>
                <a:cs typeface="Segoe UI"/>
              </a:rPr>
              <a:t> </a:t>
            </a:r>
            <a:r>
              <a:rPr lang="fr-FR" sz="1800" dirty="0">
                <a:latin typeface="Segoe UI"/>
                <a:cs typeface="Segoe UI"/>
              </a:rPr>
              <a:t>album</a:t>
            </a:r>
            <a:r>
              <a:rPr lang="fr-FR" sz="1800" spc="-35" dirty="0">
                <a:latin typeface="Segoe UI"/>
                <a:cs typeface="Segoe UI"/>
              </a:rPr>
              <a:t> </a:t>
            </a:r>
            <a:r>
              <a:rPr lang="fr-FR" sz="1800" dirty="0">
                <a:latin typeface="Segoe UI"/>
                <a:cs typeface="Segoe UI"/>
              </a:rPr>
              <a:t>de</a:t>
            </a:r>
            <a:r>
              <a:rPr lang="fr-FR" sz="1800" spc="-20" dirty="0">
                <a:latin typeface="Segoe UI"/>
                <a:cs typeface="Segoe UI"/>
              </a:rPr>
              <a:t> </a:t>
            </a:r>
            <a:r>
              <a:rPr lang="fr-FR" sz="1800" spc="-10" dirty="0">
                <a:latin typeface="Segoe UI"/>
                <a:cs typeface="Segoe UI"/>
              </a:rPr>
              <a:t>photos</a:t>
            </a:r>
            <a:endParaRPr lang="fr-FR" sz="1800" dirty="0">
              <a:latin typeface="Segoe UI"/>
              <a:cs typeface="Segoe UI"/>
            </a:endParaRPr>
          </a:p>
          <a:p>
            <a:pPr marL="1155700" lvl="2" indent="-228600">
              <a:lnSpc>
                <a:spcPct val="100000"/>
              </a:lnSpc>
              <a:spcBef>
                <a:spcPts val="505"/>
              </a:spcBef>
              <a:buClr>
                <a:srgbClr val="391778"/>
              </a:buClr>
              <a:buFont typeface="Arial"/>
              <a:buChar char="•"/>
              <a:tabLst>
                <a:tab pos="1155700" algn="l"/>
              </a:tabLst>
            </a:pPr>
            <a:r>
              <a:rPr lang="fr-FR" sz="1800" spc="-50" dirty="0">
                <a:latin typeface="Segoe UI"/>
                <a:cs typeface="Segoe UI"/>
              </a:rPr>
              <a:t>…</a:t>
            </a:r>
            <a:endParaRPr lang="fr-FR" sz="1800" dirty="0">
              <a:latin typeface="Segoe UI"/>
              <a:cs typeface="Segoe U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38125614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2. Généricité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15824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Utilisation</a:t>
            </a:r>
          </a:p>
          <a:p>
            <a:endParaRPr lang="fr-FR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>
                <a:latin typeface="Segoe UI"/>
                <a:cs typeface="Segoe UI"/>
              </a:rPr>
              <a:t>Pour</a:t>
            </a:r>
            <a:r>
              <a:rPr lang="fr-FR" sz="2400" spc="-45" dirty="0">
                <a:latin typeface="Segoe UI"/>
                <a:cs typeface="Segoe UI"/>
              </a:rPr>
              <a:t> </a:t>
            </a:r>
            <a:r>
              <a:rPr lang="fr-FR" sz="2400" u="sng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créer</a:t>
            </a:r>
            <a:r>
              <a:rPr lang="fr-FR" sz="2400" spc="-5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une</a:t>
            </a:r>
            <a:r>
              <a:rPr lang="fr-FR" sz="2400" spc="-6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classe</a:t>
            </a:r>
            <a:r>
              <a:rPr lang="fr-FR" sz="2400" spc="-5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générique,</a:t>
            </a:r>
            <a:r>
              <a:rPr lang="fr-FR" sz="2400" spc="-5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on</a:t>
            </a:r>
            <a:r>
              <a:rPr lang="fr-FR" sz="2400" spc="-5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utilise</a:t>
            </a:r>
            <a:r>
              <a:rPr lang="fr-FR" sz="2400" spc="-35" dirty="0">
                <a:latin typeface="Segoe UI"/>
                <a:cs typeface="Segoe UI"/>
              </a:rPr>
              <a:t> le diamant </a:t>
            </a:r>
            <a:r>
              <a:rPr lang="fr-FR" sz="2400" dirty="0">
                <a:latin typeface="Segoe UI"/>
                <a:cs typeface="Segoe UI"/>
              </a:rPr>
              <a:t>:</a:t>
            </a:r>
            <a:r>
              <a:rPr lang="fr-FR" sz="2400" spc="-30" dirty="0">
                <a:latin typeface="Segoe UI"/>
                <a:cs typeface="Segoe UI"/>
              </a:rPr>
              <a:t> </a:t>
            </a:r>
            <a:r>
              <a:rPr lang="fr-FR" sz="2400" b="1" spc="-10" dirty="0" err="1">
                <a:latin typeface="Segoe UI"/>
                <a:cs typeface="Segoe UI"/>
              </a:rPr>
              <a:t>GenericClass</a:t>
            </a:r>
            <a:r>
              <a:rPr lang="fr-FR" sz="2400" b="1" spc="-10" dirty="0">
                <a:latin typeface="Segoe UI"/>
                <a:cs typeface="Segoe UI"/>
              </a:rPr>
              <a:t>&lt;T&gt;</a:t>
            </a:r>
            <a:endParaRPr lang="fr-FR" sz="2400" dirty="0">
              <a:latin typeface="Segoe UI"/>
              <a:cs typeface="Segoe UI"/>
            </a:endParaRPr>
          </a:p>
          <a:p>
            <a:endParaRPr lang="fr-FR" sz="2400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EDBC8184-09C6-CBA3-FB46-94635791FE86}"/>
              </a:ext>
            </a:extLst>
          </p:cNvPr>
          <p:cNvSpPr txBox="1"/>
          <p:nvPr/>
        </p:nvSpPr>
        <p:spPr>
          <a:xfrm>
            <a:off x="2313214" y="2863926"/>
            <a:ext cx="7565571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>
                <a:solidFill>
                  <a:srgbClr val="2B91AF"/>
                </a:solidFill>
                <a:latin typeface="Cascadia Mono" panose="020B0609020000020004" pitchFamily="49" charset="0"/>
              </a:rPr>
              <a:t>Album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fr-FR" sz="1800" dirty="0">
                <a:solidFill>
                  <a:srgbClr val="2B91AF"/>
                </a:solidFill>
                <a:latin typeface="Cascadia Mono" panose="020B0609020000020004" pitchFamily="49" charset="0"/>
              </a:rPr>
              <a:t>T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&gt;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T[]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arrayOfItems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>
                <a:solidFill>
                  <a:srgbClr val="2B91AF"/>
                </a:solidFill>
                <a:latin typeface="Cascadia Mono" panose="020B0609020000020004" pitchFamily="49" charset="0"/>
              </a:rPr>
              <a:t>Album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fr-FR" sz="1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size)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this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.arrayOfItems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T[size];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AddItem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(T item) { }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UpdateItem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fr-FR" sz="1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index, T item) { }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RemoveItem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(T item) { }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T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RemoveItem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index) { </a:t>
            </a:r>
            <a:r>
              <a:rPr lang="en-US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/* return... */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}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2472995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2. Généricité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15824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Utilisation</a:t>
            </a:r>
          </a:p>
          <a:p>
            <a:endParaRPr lang="fr-FR" sz="2400" dirty="0"/>
          </a:p>
          <a:p>
            <a:pPr marL="240029" indent="-227329">
              <a:lnSpc>
                <a:spcPct val="100000"/>
              </a:lnSpc>
              <a:spcBef>
                <a:spcPts val="100"/>
              </a:spcBef>
              <a:buClr>
                <a:srgbClr val="391778"/>
              </a:buClr>
              <a:buFont typeface="Arial"/>
              <a:buChar char="•"/>
              <a:tabLst>
                <a:tab pos="240029" algn="l"/>
              </a:tabLst>
            </a:pPr>
            <a:r>
              <a:rPr lang="fr-FR" sz="2400" dirty="0">
                <a:latin typeface="Segoe UI"/>
                <a:cs typeface="Segoe UI"/>
              </a:rPr>
              <a:t>Pour</a:t>
            </a:r>
            <a:r>
              <a:rPr lang="fr-FR" sz="2400" spc="-45" dirty="0">
                <a:latin typeface="Segoe UI"/>
                <a:cs typeface="Segoe UI"/>
              </a:rPr>
              <a:t> </a:t>
            </a:r>
            <a:r>
              <a:rPr lang="fr-FR" sz="2400" u="sng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utiliser</a:t>
            </a:r>
            <a:r>
              <a:rPr lang="fr-FR" sz="2400" spc="-3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la</a:t>
            </a:r>
            <a:r>
              <a:rPr lang="fr-FR" sz="2400" spc="-4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classe</a:t>
            </a:r>
            <a:r>
              <a:rPr lang="fr-FR" sz="2400" spc="-5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générique,</a:t>
            </a:r>
            <a:r>
              <a:rPr lang="fr-FR" sz="2400" spc="-5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on</a:t>
            </a:r>
            <a:r>
              <a:rPr lang="fr-FR" sz="2400" spc="-5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remplace</a:t>
            </a:r>
            <a:r>
              <a:rPr lang="fr-FR" sz="2400" spc="-45" dirty="0">
                <a:latin typeface="Segoe UI"/>
                <a:cs typeface="Segoe UI"/>
              </a:rPr>
              <a:t> </a:t>
            </a:r>
            <a:r>
              <a:rPr lang="fr-FR" sz="2400" b="1" dirty="0">
                <a:latin typeface="Segoe UI"/>
                <a:cs typeface="Segoe UI"/>
              </a:rPr>
              <a:t>T</a:t>
            </a:r>
            <a:r>
              <a:rPr lang="fr-FR" sz="2400" b="1" spc="-5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par</a:t>
            </a:r>
            <a:r>
              <a:rPr lang="fr-FR" sz="2400" spc="-5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le</a:t>
            </a:r>
            <a:r>
              <a:rPr lang="fr-FR" sz="2400" spc="-4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type</a:t>
            </a:r>
            <a:r>
              <a:rPr lang="fr-FR" sz="2400" spc="-75" dirty="0">
                <a:latin typeface="Segoe UI"/>
                <a:cs typeface="Segoe UI"/>
              </a:rPr>
              <a:t> </a:t>
            </a:r>
            <a:r>
              <a:rPr lang="fr-FR" sz="2400" spc="-10" dirty="0">
                <a:latin typeface="Segoe UI"/>
                <a:cs typeface="Segoe UI"/>
              </a:rPr>
              <a:t>souhaité</a:t>
            </a:r>
            <a:endParaRPr lang="fr-FR" sz="2400" dirty="0">
              <a:latin typeface="Segoe UI"/>
              <a:cs typeface="Segoe UI"/>
            </a:endParaRPr>
          </a:p>
          <a:p>
            <a:endParaRPr lang="fr-FR" sz="2400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C4EBD50E-C520-C698-E463-407DCC26319D}"/>
              </a:ext>
            </a:extLst>
          </p:cNvPr>
          <p:cNvSpPr txBox="1"/>
          <p:nvPr/>
        </p:nvSpPr>
        <p:spPr>
          <a:xfrm>
            <a:off x="2678594" y="3055140"/>
            <a:ext cx="6858001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accent5">
                    <a:lumMod val="75000"/>
                  </a:schemeClr>
                </a:solidFill>
                <a:latin typeface="Cascadia Mono" panose="020B0609020000020004" pitchFamily="49" charset="0"/>
              </a:rPr>
              <a:t>Album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en-US" sz="1800" b="1" dirty="0">
                <a:solidFill>
                  <a:schemeClr val="accent5">
                    <a:lumMod val="75000"/>
                  </a:schemeClr>
                </a:solidFill>
                <a:latin typeface="Cascadia Mono" panose="020B0609020000020004" pitchFamily="49" charset="0"/>
              </a:rPr>
              <a:t>Music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&gt;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albumOfMusics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chemeClr val="accent5">
                    <a:lumMod val="75000"/>
                  </a:schemeClr>
                </a:solidFill>
                <a:latin typeface="Cascadia Mono" panose="020B0609020000020004" pitchFamily="49" charset="0"/>
              </a:rPr>
              <a:t>Album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en-US" sz="1800" dirty="0">
                <a:solidFill>
                  <a:schemeClr val="accent5">
                    <a:lumMod val="75000"/>
                  </a:schemeClr>
                </a:solidFill>
                <a:latin typeface="Cascadia Mono" panose="020B0609020000020004" pitchFamily="49" charset="0"/>
              </a:rPr>
              <a:t>Music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&gt;(10);</a:t>
            </a:r>
          </a:p>
          <a:p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albumOfMusics.AddItem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fr-F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>
                <a:solidFill>
                  <a:schemeClr val="accent5">
                    <a:lumMod val="75000"/>
                  </a:schemeClr>
                </a:solidFill>
                <a:latin typeface="Cascadia Mono" panose="020B0609020000020004" pitchFamily="49" charset="0"/>
              </a:rPr>
              <a:t>Music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());</a:t>
            </a:r>
          </a:p>
          <a:p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albumOfMusics.UpdateItem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(0,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chemeClr val="accent5">
                    <a:lumMod val="75000"/>
                  </a:schemeClr>
                </a:solidFill>
                <a:latin typeface="Cascadia Mono" panose="020B0609020000020004" pitchFamily="49" charset="0"/>
              </a:rPr>
              <a:t>Music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());</a:t>
            </a:r>
          </a:p>
          <a:p>
            <a:r>
              <a:rPr lang="en-US" sz="1800" dirty="0">
                <a:solidFill>
                  <a:schemeClr val="accent5">
                    <a:lumMod val="75000"/>
                  </a:schemeClr>
                </a:solidFill>
                <a:latin typeface="Cascadia Mono" panose="020B0609020000020004" pitchFamily="49" charset="0"/>
              </a:rPr>
              <a:t>Music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music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albumOfMusics.RemoveItem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(0);</a:t>
            </a:r>
          </a:p>
          <a:p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800" dirty="0">
                <a:solidFill>
                  <a:schemeClr val="accent5">
                    <a:lumMod val="75000"/>
                  </a:schemeClr>
                </a:solidFill>
                <a:latin typeface="Cascadia Mono" panose="020B0609020000020004" pitchFamily="49" charset="0"/>
              </a:rPr>
              <a:t>Album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fr-FR" sz="1800" b="1" dirty="0">
                <a:solidFill>
                  <a:schemeClr val="accent5">
                    <a:lumMod val="75000"/>
                  </a:schemeClr>
                </a:solidFill>
                <a:latin typeface="Cascadia Mono" panose="020B0609020000020004" pitchFamily="49" charset="0"/>
              </a:rPr>
              <a:t>Photo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&gt;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albumOfPhotos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fr-F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>
                <a:solidFill>
                  <a:schemeClr val="accent5">
                    <a:lumMod val="75000"/>
                  </a:schemeClr>
                </a:solidFill>
                <a:latin typeface="Cascadia Mono" panose="020B0609020000020004" pitchFamily="49" charset="0"/>
              </a:rPr>
              <a:t>Album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fr-FR" sz="1800" dirty="0">
                <a:solidFill>
                  <a:schemeClr val="accent5">
                    <a:lumMod val="75000"/>
                  </a:schemeClr>
                </a:solidFill>
                <a:latin typeface="Cascadia Mono" panose="020B0609020000020004" pitchFamily="49" charset="0"/>
              </a:rPr>
              <a:t>Photo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&gt;(5);</a:t>
            </a:r>
          </a:p>
          <a:p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albumOfPhotos.AddItem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fr-F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>
                <a:solidFill>
                  <a:schemeClr val="accent5">
                    <a:lumMod val="75000"/>
                  </a:schemeClr>
                </a:solidFill>
                <a:latin typeface="Cascadia Mono" panose="020B0609020000020004" pitchFamily="49" charset="0"/>
              </a:rPr>
              <a:t>Photo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());</a:t>
            </a:r>
          </a:p>
          <a:p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albumOfPhotos.UpdateItem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(0, </a:t>
            </a:r>
            <a:r>
              <a:rPr lang="fr-F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>
                <a:solidFill>
                  <a:schemeClr val="accent5">
                    <a:lumMod val="75000"/>
                  </a:schemeClr>
                </a:solidFill>
                <a:latin typeface="Cascadia Mono" panose="020B0609020000020004" pitchFamily="49" charset="0"/>
              </a:rPr>
              <a:t>Photo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());</a:t>
            </a:r>
          </a:p>
          <a:p>
            <a:r>
              <a:rPr lang="fr-FR" sz="1800" dirty="0">
                <a:solidFill>
                  <a:schemeClr val="accent5">
                    <a:lumMod val="75000"/>
                  </a:schemeClr>
                </a:solidFill>
                <a:latin typeface="Cascadia Mono" panose="020B0609020000020004" pitchFamily="49" charset="0"/>
              </a:rPr>
              <a:t>Photo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photo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albumOfPhotos.RemoveItem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(0);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428259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2. Généricité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15824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Utilisation</a:t>
            </a:r>
          </a:p>
          <a:p>
            <a:endParaRPr lang="fr-FR" sz="2400" dirty="0"/>
          </a:p>
          <a:p>
            <a:pPr marL="240029" indent="-227329">
              <a:lnSpc>
                <a:spcPct val="100000"/>
              </a:lnSpc>
              <a:spcBef>
                <a:spcPts val="100"/>
              </a:spcBef>
              <a:buClr>
                <a:srgbClr val="391778"/>
              </a:buClr>
              <a:buFont typeface="Arial"/>
              <a:buChar char="•"/>
              <a:tabLst>
                <a:tab pos="240029" algn="l"/>
              </a:tabLst>
            </a:pPr>
            <a:r>
              <a:rPr lang="fr-FR" sz="2400" dirty="0">
                <a:latin typeface="Segoe UI"/>
                <a:cs typeface="Segoe UI"/>
              </a:rPr>
              <a:t>En</a:t>
            </a:r>
            <a:r>
              <a:rPr lang="fr-FR" sz="2400" spc="-5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réalité,</a:t>
            </a:r>
            <a:r>
              <a:rPr lang="fr-FR" sz="2400" spc="-40" dirty="0">
                <a:latin typeface="Segoe UI"/>
                <a:cs typeface="Segoe UI"/>
              </a:rPr>
              <a:t> </a:t>
            </a:r>
            <a:r>
              <a:rPr lang="fr-FR" sz="2400" u="sng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le</a:t>
            </a:r>
            <a:r>
              <a:rPr lang="fr-FR" sz="2400" u="sng" spc="-45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 </a:t>
            </a:r>
            <a:r>
              <a:rPr lang="fr-FR" sz="2400" u="sng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compilateur</a:t>
            </a:r>
            <a:r>
              <a:rPr lang="fr-FR" sz="2400" u="sng" spc="-15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 </a:t>
            </a:r>
            <a:r>
              <a:rPr lang="fr-FR" sz="2400" u="sng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crée</a:t>
            </a:r>
            <a:r>
              <a:rPr lang="fr-FR" sz="2400" u="sng" spc="-60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 </a:t>
            </a:r>
            <a:r>
              <a:rPr lang="fr-FR" sz="2400" u="sng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des</a:t>
            </a:r>
            <a:r>
              <a:rPr lang="fr-FR" sz="2400" u="sng" spc="-70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 </a:t>
            </a:r>
            <a:r>
              <a:rPr lang="fr-FR" sz="2400" u="sng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classes</a:t>
            </a:r>
            <a:r>
              <a:rPr lang="fr-FR" sz="2400" u="sng" spc="-60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 </a:t>
            </a:r>
            <a:r>
              <a:rPr lang="fr-FR" sz="2400" u="sng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typées</a:t>
            </a:r>
            <a:r>
              <a:rPr lang="fr-FR" sz="2400" spc="-5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pour</a:t>
            </a:r>
            <a:r>
              <a:rPr lang="fr-FR" sz="2400" spc="-4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chaque</a:t>
            </a:r>
            <a:r>
              <a:rPr lang="fr-FR" sz="2400" spc="-40" dirty="0">
                <a:latin typeface="Segoe UI"/>
                <a:cs typeface="Segoe UI"/>
              </a:rPr>
              <a:t> </a:t>
            </a:r>
            <a:r>
              <a:rPr lang="fr-FR" sz="2400" spc="-10" dirty="0">
                <a:latin typeface="Segoe UI"/>
                <a:cs typeface="Segoe UI"/>
              </a:rPr>
              <a:t>besoin</a:t>
            </a:r>
            <a:endParaRPr lang="fr-FR" sz="2400" dirty="0">
              <a:latin typeface="Segoe UI"/>
              <a:cs typeface="Segoe UI"/>
            </a:endParaRPr>
          </a:p>
          <a:p>
            <a:endParaRPr lang="fr-FR" sz="2400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8298BA11-56D9-D58E-5955-758D30E97F5A}"/>
              </a:ext>
            </a:extLst>
          </p:cNvPr>
          <p:cNvSpPr txBox="1"/>
          <p:nvPr/>
        </p:nvSpPr>
        <p:spPr>
          <a:xfrm>
            <a:off x="380999" y="3155914"/>
            <a:ext cx="5791201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4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AlbumOfMusic</a:t>
            </a:r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Music[] </a:t>
            </a:r>
            <a:r>
              <a:rPr lang="fr-FR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arrayOfItems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4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AlbumOfMusic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fr-FR" sz="1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size)</a:t>
            </a: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this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.arrayOfItems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Music[size];</a:t>
            </a: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AddItem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(Music item) { }</a:t>
            </a: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UpdateItem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index, Music item) { }</a:t>
            </a: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RemoveItem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(Music item) { }</a:t>
            </a: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Music 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RemoveItem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index) { }</a:t>
            </a: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fr-FR" sz="1400" dirty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8D5BF993-3829-384A-A036-BC0D2D7A3BC6}"/>
              </a:ext>
            </a:extLst>
          </p:cNvPr>
          <p:cNvSpPr txBox="1"/>
          <p:nvPr/>
        </p:nvSpPr>
        <p:spPr>
          <a:xfrm>
            <a:off x="6172200" y="3150230"/>
            <a:ext cx="6096000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4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AlbumOfPhotos</a:t>
            </a:r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Photo[] </a:t>
            </a:r>
            <a:r>
              <a:rPr lang="fr-FR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arrayOfItems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4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AlbumOfPhotos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fr-FR" sz="1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size)</a:t>
            </a: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this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.arrayOfItems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Photo[size];</a:t>
            </a: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AddItem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(Photo item) { }</a:t>
            </a: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UpdateItem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fr-FR" sz="1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index, Photo item) { }</a:t>
            </a: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RemoveItem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(Photo item) { }</a:t>
            </a: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Photo 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RemoveItem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index) { }</a:t>
            </a: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fr-FR" sz="1400" dirty="0"/>
          </a:p>
        </p:txBody>
      </p:sp>
    </p:spTree>
    <p:extLst>
      <p:ext uri="{BB962C8B-B14F-4D97-AF65-F5344CB8AC3E}">
        <p14:creationId xmlns:p14="http://schemas.microsoft.com/office/powerpoint/2010/main" val="37862021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2. Généricité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1964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Contraintes</a:t>
            </a:r>
          </a:p>
          <a:p>
            <a:endParaRPr lang="fr-FR" sz="2400" dirty="0"/>
          </a:p>
          <a:p>
            <a:pPr marL="240029" indent="-227329">
              <a:spcBef>
                <a:spcPts val="100"/>
              </a:spcBef>
              <a:buClr>
                <a:srgbClr val="391778"/>
              </a:buClr>
              <a:buFont typeface="Arial"/>
              <a:buChar char="•"/>
              <a:tabLst>
                <a:tab pos="240029" algn="l"/>
              </a:tabLst>
            </a:pPr>
            <a:r>
              <a:rPr lang="fr-FR" sz="2400" dirty="0">
                <a:latin typeface="Segoe UI"/>
                <a:cs typeface="Segoe UI"/>
              </a:rPr>
              <a:t>On</a:t>
            </a:r>
            <a:r>
              <a:rPr lang="fr-FR" sz="2400" spc="-4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peut</a:t>
            </a:r>
            <a:r>
              <a:rPr lang="fr-FR" sz="2400" spc="-6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aussi</a:t>
            </a:r>
            <a:r>
              <a:rPr lang="fr-FR" sz="2400" spc="-3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ajouter</a:t>
            </a:r>
            <a:r>
              <a:rPr lang="fr-FR" sz="2400" spc="-2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des</a:t>
            </a:r>
            <a:r>
              <a:rPr lang="fr-FR" sz="2400" spc="-5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contraintes</a:t>
            </a:r>
            <a:r>
              <a:rPr lang="fr-FR" sz="2400" spc="-2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sur</a:t>
            </a:r>
            <a:r>
              <a:rPr lang="fr-FR" sz="2400" spc="-4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la</a:t>
            </a:r>
            <a:r>
              <a:rPr lang="fr-FR" sz="2400" spc="-35" dirty="0">
                <a:latin typeface="Segoe UI"/>
                <a:cs typeface="Segoe UI"/>
              </a:rPr>
              <a:t> </a:t>
            </a:r>
            <a:r>
              <a:rPr lang="fr-FR" sz="2400" spc="-10" dirty="0">
                <a:latin typeface="Segoe UI"/>
                <a:cs typeface="Segoe UI"/>
              </a:rPr>
              <a:t>généricité</a:t>
            </a:r>
            <a:endParaRPr lang="fr-FR" sz="2400" dirty="0">
              <a:latin typeface="Segoe UI"/>
              <a:cs typeface="Segoe UI"/>
            </a:endParaRPr>
          </a:p>
          <a:p>
            <a:pPr marL="240029" indent="-227329">
              <a:lnSpc>
                <a:spcPct val="100000"/>
              </a:lnSpc>
              <a:spcBef>
                <a:spcPts val="100"/>
              </a:spcBef>
              <a:buClr>
                <a:srgbClr val="391778"/>
              </a:buClr>
              <a:buFont typeface="Arial"/>
              <a:buChar char="•"/>
              <a:tabLst>
                <a:tab pos="240029" algn="l"/>
              </a:tabLst>
            </a:pPr>
            <a:endParaRPr lang="fr-FR" sz="2400" dirty="0">
              <a:latin typeface="Segoe UI"/>
              <a:cs typeface="Segoe UI"/>
            </a:endParaRPr>
          </a:p>
          <a:p>
            <a:endParaRPr lang="fr-FR" sz="2400" dirty="0"/>
          </a:p>
        </p:txBody>
      </p:sp>
      <p:graphicFrame>
        <p:nvGraphicFramePr>
          <p:cNvPr id="4" name="object 6">
            <a:extLst>
              <a:ext uri="{FF2B5EF4-FFF2-40B4-BE49-F238E27FC236}">
                <a16:creationId xmlns:a16="http://schemas.microsoft.com/office/drawing/2014/main" id="{34C652D9-D1E5-47B6-45AC-6758D53AF7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4134610"/>
              </p:ext>
            </p:extLst>
          </p:nvPr>
        </p:nvGraphicFramePr>
        <p:xfrm>
          <a:off x="2440813" y="2886345"/>
          <a:ext cx="6965315" cy="18478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365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287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4"/>
                        </a:spcBef>
                        <a:tabLst>
                          <a:tab pos="891540" algn="l"/>
                          <a:tab pos="1158240" algn="l"/>
                          <a:tab pos="1424940" algn="l"/>
                        </a:tabLst>
                      </a:pPr>
                      <a:r>
                        <a:rPr sz="1800" spc="-10" dirty="0">
                          <a:solidFill>
                            <a:srgbClr val="0000FF"/>
                          </a:solidFill>
                          <a:latin typeface="Trebuchet MS"/>
                          <a:cs typeface="Trebuchet MS"/>
                        </a:rPr>
                        <a:t>where</a:t>
                      </a:r>
                      <a:r>
                        <a:rPr lang="fr-FR" sz="1800" dirty="0">
                          <a:solidFill>
                            <a:srgbClr val="0000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50" dirty="0">
                          <a:solidFill>
                            <a:srgbClr val="2B91AE"/>
                          </a:solidFill>
                          <a:latin typeface="Trebuchet MS"/>
                          <a:cs typeface="Trebuchet MS"/>
                        </a:rPr>
                        <a:t>T</a:t>
                      </a:r>
                      <a:r>
                        <a:rPr lang="fr-FR" sz="1800" dirty="0">
                          <a:solidFill>
                            <a:srgbClr val="2B91AE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340" dirty="0">
                          <a:latin typeface="Trebuchet MS"/>
                          <a:cs typeface="Trebuchet MS"/>
                        </a:rPr>
                        <a:t>:</a:t>
                      </a:r>
                      <a:r>
                        <a:rPr lang="fr-FR" sz="180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270" dirty="0">
                          <a:solidFill>
                            <a:srgbClr val="0000FF"/>
                          </a:solidFill>
                          <a:latin typeface="Trebuchet MS"/>
                          <a:cs typeface="Trebuchet MS"/>
                        </a:rPr>
                        <a:t>class</a:t>
                      </a:r>
                      <a:endParaRPr sz="1800" dirty="0">
                        <a:latin typeface="Trebuchet MS"/>
                        <a:cs typeface="Trebuchet MS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T</a:t>
                      </a:r>
                      <a:r>
                        <a:rPr sz="1800" b="1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est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une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classe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(et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non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un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type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valeur)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4"/>
                        </a:spcBef>
                        <a:tabLst>
                          <a:tab pos="891540" algn="l"/>
                          <a:tab pos="1158240" algn="l"/>
                          <a:tab pos="1424940" algn="l"/>
                        </a:tabLst>
                      </a:pPr>
                      <a:r>
                        <a:rPr sz="1800" spc="-10" dirty="0">
                          <a:solidFill>
                            <a:srgbClr val="0000FF"/>
                          </a:solidFill>
                          <a:latin typeface="Trebuchet MS"/>
                          <a:cs typeface="Trebuchet MS"/>
                        </a:rPr>
                        <a:t>where</a:t>
                      </a:r>
                      <a:r>
                        <a:rPr lang="fr-FR" sz="1800" dirty="0">
                          <a:solidFill>
                            <a:srgbClr val="0000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50" dirty="0">
                          <a:solidFill>
                            <a:srgbClr val="2B91AE"/>
                          </a:solidFill>
                          <a:latin typeface="Trebuchet MS"/>
                          <a:cs typeface="Trebuchet MS"/>
                        </a:rPr>
                        <a:t>T</a:t>
                      </a:r>
                      <a:r>
                        <a:rPr lang="fr-FR" sz="1800" dirty="0">
                          <a:solidFill>
                            <a:srgbClr val="2B91AE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340" dirty="0">
                          <a:latin typeface="Trebuchet MS"/>
                          <a:cs typeface="Trebuchet MS"/>
                        </a:rPr>
                        <a:t>:</a:t>
                      </a:r>
                      <a:r>
                        <a:rPr lang="fr-FR" sz="180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245" dirty="0">
                          <a:solidFill>
                            <a:srgbClr val="0000FF"/>
                          </a:solidFill>
                          <a:latin typeface="Trebuchet MS"/>
                          <a:cs typeface="Trebuchet MS"/>
                        </a:rPr>
                        <a:t>struct</a:t>
                      </a:r>
                      <a:endParaRPr sz="1800" dirty="0">
                        <a:latin typeface="Trebuchet MS"/>
                        <a:cs typeface="Trebuchet MS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T</a:t>
                      </a:r>
                      <a:r>
                        <a:rPr sz="1800" b="1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est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un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type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valeur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(et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non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une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classe)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4"/>
                        </a:spcBef>
                        <a:tabLst>
                          <a:tab pos="891540" algn="l"/>
                          <a:tab pos="1158240" algn="l"/>
                          <a:tab pos="1424940" algn="l"/>
                        </a:tabLst>
                      </a:pPr>
                      <a:r>
                        <a:rPr sz="1800" spc="-10" dirty="0">
                          <a:solidFill>
                            <a:srgbClr val="0000FF"/>
                          </a:solidFill>
                          <a:latin typeface="Trebuchet MS"/>
                          <a:cs typeface="Trebuchet MS"/>
                        </a:rPr>
                        <a:t>where</a:t>
                      </a:r>
                      <a:r>
                        <a:rPr lang="fr-FR" sz="1800" dirty="0">
                          <a:solidFill>
                            <a:srgbClr val="0000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50" dirty="0">
                          <a:solidFill>
                            <a:srgbClr val="2B91AE"/>
                          </a:solidFill>
                          <a:latin typeface="Trebuchet MS"/>
                          <a:cs typeface="Trebuchet MS"/>
                        </a:rPr>
                        <a:t>T</a:t>
                      </a:r>
                      <a:r>
                        <a:rPr lang="fr-FR" sz="1800" dirty="0">
                          <a:solidFill>
                            <a:srgbClr val="2B91AE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340" dirty="0">
                          <a:latin typeface="Trebuchet MS"/>
                          <a:cs typeface="Trebuchet MS"/>
                        </a:rPr>
                        <a:t>:</a:t>
                      </a:r>
                      <a:r>
                        <a:rPr lang="fr-FR" sz="180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105" dirty="0">
                          <a:solidFill>
                            <a:srgbClr val="0000FF"/>
                          </a:solidFill>
                          <a:latin typeface="Trebuchet MS"/>
                          <a:cs typeface="Trebuchet MS"/>
                        </a:rPr>
                        <a:t>new</a:t>
                      </a:r>
                      <a:r>
                        <a:rPr sz="1800" spc="105" dirty="0">
                          <a:latin typeface="Trebuchet MS"/>
                          <a:cs typeface="Trebuchet MS"/>
                        </a:rPr>
                        <a:t>()</a:t>
                      </a:r>
                      <a:endParaRPr sz="1800" dirty="0">
                        <a:latin typeface="Trebuchet MS"/>
                        <a:cs typeface="Trebuchet MS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T</a:t>
                      </a:r>
                      <a:r>
                        <a:rPr sz="1800" b="1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possède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un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constructeur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par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défaut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9"/>
                        </a:spcBef>
                        <a:tabLst>
                          <a:tab pos="891540" algn="l"/>
                          <a:tab pos="1158240" algn="l"/>
                        </a:tabLst>
                      </a:pPr>
                      <a:r>
                        <a:rPr sz="1800" spc="-10" dirty="0">
                          <a:solidFill>
                            <a:srgbClr val="0000FF"/>
                          </a:solidFill>
                          <a:latin typeface="Trebuchet MS"/>
                          <a:cs typeface="Trebuchet MS"/>
                        </a:rPr>
                        <a:t>where</a:t>
                      </a:r>
                      <a:r>
                        <a:rPr lang="fr-FR" sz="1800" dirty="0">
                          <a:solidFill>
                            <a:srgbClr val="0000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50" dirty="0">
                          <a:solidFill>
                            <a:srgbClr val="2B91AE"/>
                          </a:solidFill>
                          <a:latin typeface="Trebuchet MS"/>
                          <a:cs typeface="Trebuchet MS"/>
                        </a:rPr>
                        <a:t>T</a:t>
                      </a:r>
                      <a:r>
                        <a:rPr lang="fr-FR" sz="1800" dirty="0">
                          <a:solidFill>
                            <a:srgbClr val="2B91AE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340" dirty="0">
                          <a:latin typeface="Trebuchet MS"/>
                          <a:cs typeface="Trebuchet MS"/>
                        </a:rPr>
                        <a:t>:</a:t>
                      </a:r>
                      <a:r>
                        <a:rPr lang="fr-FR" sz="1800" spc="340" dirty="0">
                          <a:latin typeface="Trebuchet MS"/>
                          <a:cs typeface="Trebuchet MS"/>
                        </a:rPr>
                        <a:t> « </a:t>
                      </a:r>
                      <a:r>
                        <a:rPr lang="fr-FR" sz="1800" spc="340" dirty="0" err="1">
                          <a:latin typeface="Trebuchet MS"/>
                          <a:cs typeface="Trebuchet MS"/>
                        </a:rPr>
                        <a:t>xyz</a:t>
                      </a:r>
                      <a:r>
                        <a:rPr lang="fr-FR" sz="1800" spc="340" dirty="0">
                          <a:latin typeface="Trebuchet MS"/>
                          <a:cs typeface="Trebuchet MS"/>
                        </a:rPr>
                        <a:t> »</a:t>
                      </a:r>
                      <a:endParaRPr sz="1800" dirty="0">
                        <a:latin typeface="Trebuchet MS"/>
                        <a:cs typeface="Trebuchet MS"/>
                      </a:endParaRPr>
                    </a:p>
                  </a:txBody>
                  <a:tcPr marL="0" marR="0" marT="3301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T</a:t>
                      </a:r>
                      <a:r>
                        <a:rPr sz="1800" b="1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hérite de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la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 err="1">
                          <a:latin typeface="Calibri"/>
                          <a:cs typeface="Calibri"/>
                        </a:rPr>
                        <a:t>classe</a:t>
                      </a:r>
                      <a:r>
                        <a:rPr lang="fr-FR" sz="1800" spc="-10" dirty="0">
                          <a:latin typeface="Calibri"/>
                          <a:cs typeface="Calibri"/>
                        </a:rPr>
                        <a:t> « </a:t>
                      </a:r>
                      <a:r>
                        <a:rPr lang="fr-FR" sz="1800" spc="-10" dirty="0" err="1">
                          <a:latin typeface="Calibri"/>
                          <a:cs typeface="Calibri"/>
                        </a:rPr>
                        <a:t>xyz</a:t>
                      </a:r>
                      <a:r>
                        <a:rPr lang="fr-FR" sz="1800" spc="-10" dirty="0">
                          <a:latin typeface="Calibri"/>
                          <a:cs typeface="Calibri"/>
                        </a:rPr>
                        <a:t> »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0"/>
                        </a:spcBef>
                        <a:tabLst>
                          <a:tab pos="891540" algn="l"/>
                          <a:tab pos="1158240" algn="l"/>
                          <a:tab pos="1424940" algn="l"/>
                        </a:tabLst>
                      </a:pPr>
                      <a:r>
                        <a:rPr sz="1800" spc="-10" dirty="0">
                          <a:solidFill>
                            <a:srgbClr val="0000FF"/>
                          </a:solidFill>
                          <a:latin typeface="Trebuchet MS"/>
                          <a:cs typeface="Trebuchet MS"/>
                        </a:rPr>
                        <a:t>where</a:t>
                      </a:r>
                      <a:r>
                        <a:rPr lang="fr-FR" sz="1800" dirty="0">
                          <a:solidFill>
                            <a:srgbClr val="0000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50" dirty="0">
                          <a:solidFill>
                            <a:srgbClr val="2B91AE"/>
                          </a:solidFill>
                          <a:latin typeface="Trebuchet MS"/>
                          <a:cs typeface="Trebuchet MS"/>
                        </a:rPr>
                        <a:t>T</a:t>
                      </a:r>
                      <a:r>
                        <a:rPr lang="fr-FR" sz="1800" dirty="0">
                          <a:solidFill>
                            <a:srgbClr val="2B91AE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340" dirty="0">
                          <a:latin typeface="Trebuchet MS"/>
                          <a:cs typeface="Trebuchet MS"/>
                        </a:rPr>
                        <a:t>:</a:t>
                      </a:r>
                      <a:r>
                        <a:rPr lang="fr-FR" sz="180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180" dirty="0" err="1">
                          <a:solidFill>
                            <a:srgbClr val="2B91AE"/>
                          </a:solidFill>
                          <a:latin typeface="Trebuchet MS"/>
                          <a:cs typeface="Trebuchet MS"/>
                        </a:rPr>
                        <a:t>ICloneable</a:t>
                      </a:r>
                      <a:endParaRPr sz="1800" dirty="0">
                        <a:latin typeface="Trebuchet MS"/>
                        <a:cs typeface="Trebuchet MS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T</a:t>
                      </a:r>
                      <a:r>
                        <a:rPr sz="1800" b="1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implémente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 une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interface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ZoneTexte 6">
            <a:extLst>
              <a:ext uri="{FF2B5EF4-FFF2-40B4-BE49-F238E27FC236}">
                <a16:creationId xmlns:a16="http://schemas.microsoft.com/office/drawing/2014/main" id="{593E14FA-DF9F-1918-6808-BD728DB03BAC}"/>
              </a:ext>
            </a:extLst>
          </p:cNvPr>
          <p:cNvSpPr txBox="1"/>
          <p:nvPr/>
        </p:nvSpPr>
        <p:spPr>
          <a:xfrm>
            <a:off x="4071257" y="5027996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>
                <a:solidFill>
                  <a:srgbClr val="2B91AF"/>
                </a:solidFill>
                <a:latin typeface="Cascadia Mono" panose="020B0609020000020004" pitchFamily="49" charset="0"/>
              </a:rPr>
              <a:t>Album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fr-FR" sz="1800" dirty="0">
                <a:solidFill>
                  <a:srgbClr val="2B91AF"/>
                </a:solidFill>
                <a:latin typeface="Cascadia Mono" panose="020B0609020000020004" pitchFamily="49" charset="0"/>
              </a:rPr>
              <a:t>T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&gt;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where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T : </a:t>
            </a:r>
            <a:r>
              <a:rPr lang="fr-F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, </a:t>
            </a:r>
            <a:r>
              <a:rPr lang="fr-F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()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...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268278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2. Généricité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23467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Méthodes génériques</a:t>
            </a:r>
          </a:p>
          <a:p>
            <a:endParaRPr lang="fr-FR" sz="2400" dirty="0"/>
          </a:p>
          <a:p>
            <a:pPr marL="240029" indent="-227329">
              <a:spcBef>
                <a:spcPts val="100"/>
              </a:spcBef>
              <a:buClr>
                <a:srgbClr val="391778"/>
              </a:buClr>
              <a:buFont typeface="Arial"/>
              <a:buChar char="•"/>
              <a:tabLst>
                <a:tab pos="240029" algn="l"/>
              </a:tabLst>
            </a:pPr>
            <a:r>
              <a:rPr lang="fr-FR" sz="2400" dirty="0">
                <a:latin typeface="Segoe UI"/>
                <a:cs typeface="Segoe UI"/>
              </a:rPr>
              <a:t>Une</a:t>
            </a:r>
            <a:r>
              <a:rPr lang="fr-FR" sz="2400" spc="-25" dirty="0">
                <a:latin typeface="Segoe UI"/>
                <a:cs typeface="Segoe UI"/>
              </a:rPr>
              <a:t> </a:t>
            </a:r>
            <a:r>
              <a:rPr lang="fr-FR" sz="2400" i="1" dirty="0">
                <a:latin typeface="Segoe UI"/>
                <a:cs typeface="Segoe UI"/>
              </a:rPr>
              <a:t>méthode</a:t>
            </a:r>
            <a:r>
              <a:rPr lang="fr-FR" sz="2400" i="1" spc="-4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peut</a:t>
            </a:r>
            <a:r>
              <a:rPr lang="fr-FR" sz="2400" spc="-4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aussi</a:t>
            </a:r>
            <a:r>
              <a:rPr lang="fr-FR" sz="2400" spc="-2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être</a:t>
            </a:r>
            <a:r>
              <a:rPr lang="fr-FR" sz="2400" spc="-55" dirty="0">
                <a:latin typeface="Segoe UI"/>
                <a:cs typeface="Segoe UI"/>
              </a:rPr>
              <a:t> </a:t>
            </a:r>
            <a:r>
              <a:rPr lang="fr-FR" sz="2400" spc="-10" dirty="0">
                <a:latin typeface="Segoe UI"/>
                <a:cs typeface="Segoe UI"/>
              </a:rPr>
              <a:t>générique</a:t>
            </a:r>
            <a:endParaRPr lang="fr-FR" sz="2400" dirty="0">
              <a:latin typeface="Segoe UI"/>
              <a:cs typeface="Segoe UI"/>
            </a:endParaRPr>
          </a:p>
          <a:p>
            <a:pPr marL="240029" indent="-227329">
              <a:spcBef>
                <a:spcPts val="100"/>
              </a:spcBef>
              <a:buClr>
                <a:srgbClr val="391778"/>
              </a:buClr>
              <a:buFont typeface="Arial"/>
              <a:buChar char="•"/>
              <a:tabLst>
                <a:tab pos="240029" algn="l"/>
              </a:tabLst>
            </a:pPr>
            <a:endParaRPr lang="fr-FR" sz="2400" dirty="0">
              <a:latin typeface="Segoe UI"/>
              <a:cs typeface="Segoe UI"/>
            </a:endParaRPr>
          </a:p>
          <a:p>
            <a:pPr marL="240029" indent="-227329">
              <a:lnSpc>
                <a:spcPct val="100000"/>
              </a:lnSpc>
              <a:spcBef>
                <a:spcPts val="100"/>
              </a:spcBef>
              <a:buClr>
                <a:srgbClr val="391778"/>
              </a:buClr>
              <a:buFont typeface="Arial"/>
              <a:buChar char="•"/>
              <a:tabLst>
                <a:tab pos="240029" algn="l"/>
              </a:tabLst>
            </a:pPr>
            <a:endParaRPr lang="fr-FR" sz="2400" dirty="0">
              <a:latin typeface="Segoe UI"/>
              <a:cs typeface="Segoe UI"/>
            </a:endParaRPr>
          </a:p>
          <a:p>
            <a:endParaRPr lang="fr-FR" sz="2400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02F1F71C-4DB2-3380-035F-8316117B29C6}"/>
              </a:ext>
            </a:extLst>
          </p:cNvPr>
          <p:cNvSpPr txBox="1"/>
          <p:nvPr/>
        </p:nvSpPr>
        <p:spPr>
          <a:xfrm>
            <a:off x="2428223" y="3039362"/>
            <a:ext cx="735874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T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DoSomething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fr-FR" sz="1800" dirty="0">
                <a:solidFill>
                  <a:srgbClr val="2B91AF"/>
                </a:solidFill>
                <a:latin typeface="Cascadia Mono" panose="020B0609020000020004" pitchFamily="49" charset="0"/>
              </a:rPr>
              <a:t>T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&gt;(T item) </a:t>
            </a:r>
            <a:r>
              <a:rPr lang="fr-FR" sz="1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where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T :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IComparable</a:t>
            </a:r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// do </a:t>
            </a:r>
            <a:r>
              <a:rPr lang="fr-FR" sz="1800" dirty="0" err="1">
                <a:solidFill>
                  <a:srgbClr val="008000"/>
                </a:solidFill>
                <a:latin typeface="Cascadia Mono" panose="020B0609020000020004" pitchFamily="49" charset="0"/>
              </a:rPr>
              <a:t>something</a:t>
            </a:r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return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item;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fr-FR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51D2EA9B-AD99-63FD-630B-63CFD4B2646C}"/>
              </a:ext>
            </a:extLst>
          </p:cNvPr>
          <p:cNvSpPr txBox="1"/>
          <p:nvPr/>
        </p:nvSpPr>
        <p:spPr>
          <a:xfrm>
            <a:off x="2428223" y="4826605"/>
            <a:ext cx="718457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myInt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= DoSomething&lt;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&gt;(123);</a:t>
            </a:r>
          </a:p>
          <a:p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myString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= DoSomething&lt;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&gt;(</a:t>
            </a:r>
            <a:r>
              <a:rPr lang="en-US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"ma </a:t>
            </a:r>
            <a:r>
              <a:rPr lang="en-US" sz="18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chaîne</a:t>
            </a:r>
            <a:r>
              <a:rPr lang="en-US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056500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2. Généricité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1964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Utilisation</a:t>
            </a:r>
          </a:p>
          <a:p>
            <a:endParaRPr lang="fr-FR" sz="2400" dirty="0"/>
          </a:p>
          <a:p>
            <a:pPr marL="240029" indent="-227329">
              <a:spcBef>
                <a:spcPts val="100"/>
              </a:spcBef>
              <a:buClr>
                <a:srgbClr val="391778"/>
              </a:buClr>
              <a:buFont typeface="Arial"/>
              <a:buChar char="•"/>
              <a:tabLst>
                <a:tab pos="240029" algn="l"/>
              </a:tabLst>
            </a:pPr>
            <a:r>
              <a:rPr lang="fr-FR" sz="2400" dirty="0">
                <a:latin typeface="Segoe UI"/>
                <a:cs typeface="Segoe UI"/>
              </a:rPr>
              <a:t>Le</a:t>
            </a:r>
            <a:r>
              <a:rPr lang="fr-FR" sz="2400" spc="-6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compilateur</a:t>
            </a:r>
            <a:r>
              <a:rPr lang="fr-FR" sz="2400" spc="-2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créer</a:t>
            </a:r>
            <a:r>
              <a:rPr lang="fr-FR" sz="2400" spc="-6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uniquement</a:t>
            </a:r>
            <a:r>
              <a:rPr lang="fr-FR" sz="2400" spc="-5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des</a:t>
            </a:r>
            <a:r>
              <a:rPr lang="fr-FR" sz="2400" spc="-110" dirty="0">
                <a:latin typeface="Segoe UI"/>
                <a:cs typeface="Segoe UI"/>
              </a:rPr>
              <a:t> </a:t>
            </a:r>
            <a:r>
              <a:rPr lang="fr-FR" sz="2400" u="sng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surcharges</a:t>
            </a:r>
            <a:r>
              <a:rPr lang="fr-FR" sz="2400" spc="-8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en</a:t>
            </a:r>
            <a:r>
              <a:rPr lang="fr-FR" sz="2400" spc="-6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fonction</a:t>
            </a:r>
            <a:r>
              <a:rPr lang="fr-FR" sz="2400" spc="-4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du</a:t>
            </a:r>
            <a:r>
              <a:rPr lang="fr-FR" sz="2400" spc="-50" dirty="0">
                <a:latin typeface="Segoe UI"/>
                <a:cs typeface="Segoe UI"/>
              </a:rPr>
              <a:t> </a:t>
            </a:r>
            <a:r>
              <a:rPr lang="fr-FR" sz="2400" spc="-10" dirty="0">
                <a:latin typeface="Segoe UI"/>
                <a:cs typeface="Segoe UI"/>
              </a:rPr>
              <a:t>besoin</a:t>
            </a:r>
            <a:endParaRPr lang="fr-FR" sz="2400" dirty="0">
              <a:latin typeface="Segoe UI"/>
              <a:cs typeface="Segoe UI"/>
            </a:endParaRPr>
          </a:p>
          <a:p>
            <a:pPr marL="240029" indent="-227329">
              <a:lnSpc>
                <a:spcPct val="100000"/>
              </a:lnSpc>
              <a:spcBef>
                <a:spcPts val="100"/>
              </a:spcBef>
              <a:buClr>
                <a:srgbClr val="391778"/>
              </a:buClr>
              <a:buFont typeface="Arial"/>
              <a:buChar char="•"/>
              <a:tabLst>
                <a:tab pos="240029" algn="l"/>
              </a:tabLst>
            </a:pPr>
            <a:endParaRPr lang="fr-FR" sz="2400" dirty="0">
              <a:latin typeface="Segoe UI"/>
              <a:cs typeface="Segoe UI"/>
            </a:endParaRPr>
          </a:p>
          <a:p>
            <a:endParaRPr lang="fr-FR" sz="2400" dirty="0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AC2AB4D7-E429-E4DD-7672-1F0000330CB5}"/>
              </a:ext>
            </a:extLst>
          </p:cNvPr>
          <p:cNvSpPr txBox="1"/>
          <p:nvPr/>
        </p:nvSpPr>
        <p:spPr>
          <a:xfrm>
            <a:off x="3418114" y="3034997"/>
            <a:ext cx="60960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DoSomething(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item)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// do </a:t>
            </a:r>
            <a:r>
              <a:rPr lang="fr-FR" sz="1800" dirty="0" err="1">
                <a:solidFill>
                  <a:srgbClr val="008000"/>
                </a:solidFill>
                <a:latin typeface="Cascadia Mono" panose="020B0609020000020004" pitchFamily="49" charset="0"/>
              </a:rPr>
              <a:t>something</a:t>
            </a:r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return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item;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</a:p>
          <a:p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DoSomething(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item)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// do </a:t>
            </a:r>
            <a:r>
              <a:rPr lang="fr-FR" sz="1800" dirty="0" err="1">
                <a:solidFill>
                  <a:srgbClr val="008000"/>
                </a:solidFill>
                <a:latin typeface="Cascadia Mono" panose="020B0609020000020004" pitchFamily="49" charset="0"/>
              </a:rPr>
              <a:t>something</a:t>
            </a:r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return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item;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508869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2. Généricité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24134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Interfaces génériques</a:t>
            </a:r>
          </a:p>
          <a:p>
            <a:endParaRPr lang="fr-FR" sz="2400" dirty="0"/>
          </a:p>
          <a:p>
            <a:pPr marL="240029" indent="-227329">
              <a:lnSpc>
                <a:spcPct val="100000"/>
              </a:lnSpc>
              <a:spcBef>
                <a:spcPts val="705"/>
              </a:spcBef>
              <a:buClr>
                <a:srgbClr val="391778"/>
              </a:buClr>
              <a:buFont typeface="Arial"/>
              <a:buChar char="•"/>
              <a:tabLst>
                <a:tab pos="240029" algn="l"/>
              </a:tabLst>
            </a:pPr>
            <a:r>
              <a:rPr lang="fr-FR" sz="2400" dirty="0">
                <a:latin typeface="Segoe UI"/>
                <a:cs typeface="Segoe UI"/>
              </a:rPr>
              <a:t>Une</a:t>
            </a:r>
            <a:r>
              <a:rPr lang="fr-FR" sz="2400" spc="-35" dirty="0">
                <a:latin typeface="Segoe UI"/>
                <a:cs typeface="Segoe UI"/>
              </a:rPr>
              <a:t> </a:t>
            </a:r>
            <a:r>
              <a:rPr lang="fr-FR" sz="2400" i="1" dirty="0">
                <a:latin typeface="Segoe UI"/>
                <a:cs typeface="Segoe UI"/>
              </a:rPr>
              <a:t>interface</a:t>
            </a:r>
            <a:r>
              <a:rPr lang="fr-FR" sz="2400" i="1" spc="-2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peut</a:t>
            </a:r>
            <a:r>
              <a:rPr lang="fr-FR" sz="2400" spc="-5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aussi</a:t>
            </a:r>
            <a:r>
              <a:rPr lang="fr-FR" sz="2400" spc="-3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être</a:t>
            </a:r>
            <a:r>
              <a:rPr lang="fr-FR" sz="2400" spc="-60" dirty="0">
                <a:latin typeface="Segoe UI"/>
                <a:cs typeface="Segoe UI"/>
              </a:rPr>
              <a:t> </a:t>
            </a:r>
            <a:r>
              <a:rPr lang="fr-FR" sz="2400" spc="-10" dirty="0">
                <a:latin typeface="Segoe UI"/>
                <a:cs typeface="Segoe UI"/>
              </a:rPr>
              <a:t>générique</a:t>
            </a:r>
            <a:endParaRPr lang="fr-FR" sz="2400" dirty="0">
              <a:latin typeface="Segoe UI"/>
              <a:cs typeface="Segoe UI"/>
            </a:endParaRPr>
          </a:p>
          <a:p>
            <a:pPr marL="469900" lvl="1">
              <a:lnSpc>
                <a:spcPct val="100000"/>
              </a:lnSpc>
              <a:spcBef>
                <a:spcPts val="509"/>
              </a:spcBef>
              <a:buClr>
                <a:srgbClr val="391778"/>
              </a:buClr>
              <a:tabLst>
                <a:tab pos="698500" algn="l"/>
              </a:tabLst>
            </a:pPr>
            <a:r>
              <a:rPr lang="fr-FR" sz="2000" dirty="0">
                <a:latin typeface="Segoe UI"/>
                <a:cs typeface="Segoe UI"/>
              </a:rPr>
              <a:t>(C'est</a:t>
            </a:r>
            <a:r>
              <a:rPr lang="fr-FR" sz="2000" spc="-3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même</a:t>
            </a:r>
            <a:r>
              <a:rPr lang="fr-FR" sz="2000" spc="-3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couramment</a:t>
            </a:r>
            <a:r>
              <a:rPr lang="fr-FR" sz="2000" spc="-3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le</a:t>
            </a:r>
            <a:r>
              <a:rPr lang="fr-FR" sz="2000" spc="-30" dirty="0">
                <a:latin typeface="Segoe UI"/>
                <a:cs typeface="Segoe UI"/>
              </a:rPr>
              <a:t> </a:t>
            </a:r>
            <a:r>
              <a:rPr lang="fr-FR" sz="2000" spc="-25" dirty="0">
                <a:latin typeface="Segoe UI"/>
                <a:cs typeface="Segoe UI"/>
              </a:rPr>
              <a:t>cas)</a:t>
            </a:r>
            <a:endParaRPr lang="fr-FR" sz="2400" dirty="0">
              <a:latin typeface="Segoe UI"/>
              <a:cs typeface="Segoe UI"/>
            </a:endParaRPr>
          </a:p>
          <a:p>
            <a:pPr marL="240029" indent="-227329">
              <a:lnSpc>
                <a:spcPct val="100000"/>
              </a:lnSpc>
              <a:spcBef>
                <a:spcPts val="100"/>
              </a:spcBef>
              <a:buClr>
                <a:srgbClr val="391778"/>
              </a:buClr>
              <a:buFont typeface="Arial"/>
              <a:buChar char="•"/>
              <a:tabLst>
                <a:tab pos="240029" algn="l"/>
              </a:tabLst>
            </a:pPr>
            <a:endParaRPr lang="fr-FR" sz="2400" dirty="0">
              <a:latin typeface="Segoe UI"/>
              <a:cs typeface="Segoe UI"/>
            </a:endParaRPr>
          </a:p>
          <a:p>
            <a:endParaRPr lang="fr-FR" sz="2400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C09D4894-3411-F237-B4A9-7CD62542159F}"/>
              </a:ext>
            </a:extLst>
          </p:cNvPr>
          <p:cNvSpPr txBox="1"/>
          <p:nvPr/>
        </p:nvSpPr>
        <p:spPr>
          <a:xfrm>
            <a:off x="3178629" y="3553323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interface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ISomething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fr-FR" sz="1800" dirty="0">
                <a:solidFill>
                  <a:srgbClr val="2B91AF"/>
                </a:solidFill>
                <a:latin typeface="Cascadia Mono" panose="020B0609020000020004" pitchFamily="49" charset="0"/>
              </a:rPr>
              <a:t>T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&gt;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DoSomething(T item);</a:t>
            </a:r>
          </a:p>
          <a:p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T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ReturnSomething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index);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519518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2. Généricité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46269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Utilisation</a:t>
            </a:r>
          </a:p>
          <a:p>
            <a:endParaRPr lang="fr-FR" sz="2400" dirty="0"/>
          </a:p>
          <a:p>
            <a:pPr marL="240029" indent="-227329">
              <a:lnSpc>
                <a:spcPct val="100000"/>
              </a:lnSpc>
              <a:spcBef>
                <a:spcPts val="100"/>
              </a:spcBef>
              <a:buClr>
                <a:srgbClr val="391778"/>
              </a:buClr>
              <a:buFont typeface="Arial"/>
              <a:buChar char="•"/>
              <a:tabLst>
                <a:tab pos="240029" algn="l"/>
              </a:tabLst>
            </a:pPr>
            <a:r>
              <a:rPr lang="fr-FR" sz="2400" dirty="0">
                <a:latin typeface="Segoe UI"/>
                <a:cs typeface="Segoe UI"/>
              </a:rPr>
              <a:t>Une</a:t>
            </a:r>
            <a:r>
              <a:rPr lang="fr-FR" sz="2400" spc="-30" dirty="0">
                <a:latin typeface="Segoe UI"/>
                <a:cs typeface="Segoe UI"/>
              </a:rPr>
              <a:t> </a:t>
            </a:r>
            <a:r>
              <a:rPr lang="fr-FR" sz="2400" u="sng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classe</a:t>
            </a:r>
            <a:r>
              <a:rPr lang="fr-FR" sz="2400" u="sng" spc="-30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 </a:t>
            </a:r>
            <a:r>
              <a:rPr lang="fr-FR" sz="2400" u="sng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typée</a:t>
            </a:r>
            <a:r>
              <a:rPr lang="fr-FR" sz="2400" spc="-4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peut</a:t>
            </a:r>
            <a:r>
              <a:rPr lang="fr-FR" sz="2400" spc="-4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alors</a:t>
            </a:r>
            <a:r>
              <a:rPr lang="fr-FR" sz="2400" spc="-1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implémenter</a:t>
            </a:r>
            <a:r>
              <a:rPr lang="fr-FR" sz="2400" spc="-3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l'interface</a:t>
            </a:r>
            <a:r>
              <a:rPr lang="fr-FR" sz="2400" spc="-30" dirty="0">
                <a:latin typeface="Segoe UI"/>
                <a:cs typeface="Segoe UI"/>
              </a:rPr>
              <a:t> </a:t>
            </a:r>
            <a:r>
              <a:rPr lang="fr-FR" sz="2400" spc="-10" dirty="0">
                <a:latin typeface="Segoe UI"/>
                <a:cs typeface="Segoe UI"/>
              </a:rPr>
              <a:t>générique</a:t>
            </a:r>
          </a:p>
          <a:p>
            <a:pPr marL="240029" indent="-227329">
              <a:lnSpc>
                <a:spcPct val="100000"/>
              </a:lnSpc>
              <a:spcBef>
                <a:spcPts val="100"/>
              </a:spcBef>
              <a:buClr>
                <a:srgbClr val="391778"/>
              </a:buClr>
              <a:buFont typeface="Arial"/>
              <a:buChar char="•"/>
              <a:tabLst>
                <a:tab pos="240029" algn="l"/>
              </a:tabLst>
            </a:pPr>
            <a:endParaRPr lang="fr-FR" sz="2400" spc="-10" dirty="0">
              <a:latin typeface="Segoe UI"/>
              <a:cs typeface="Segoe UI"/>
            </a:endParaRPr>
          </a:p>
          <a:p>
            <a:pPr marL="240029" indent="-227329">
              <a:lnSpc>
                <a:spcPct val="100000"/>
              </a:lnSpc>
              <a:spcBef>
                <a:spcPts val="100"/>
              </a:spcBef>
              <a:buClr>
                <a:srgbClr val="391778"/>
              </a:buClr>
              <a:buFont typeface="Arial"/>
              <a:buChar char="•"/>
              <a:tabLst>
                <a:tab pos="240029" algn="l"/>
              </a:tabLst>
            </a:pPr>
            <a:endParaRPr lang="fr-FR" sz="2400" spc="-10" dirty="0">
              <a:latin typeface="Segoe UI"/>
              <a:cs typeface="Segoe UI"/>
            </a:endParaRPr>
          </a:p>
          <a:p>
            <a:pPr marL="240029" indent="-227329">
              <a:lnSpc>
                <a:spcPct val="100000"/>
              </a:lnSpc>
              <a:spcBef>
                <a:spcPts val="100"/>
              </a:spcBef>
              <a:buClr>
                <a:srgbClr val="391778"/>
              </a:buClr>
              <a:buFont typeface="Arial"/>
              <a:buChar char="•"/>
              <a:tabLst>
                <a:tab pos="240029" algn="l"/>
              </a:tabLst>
            </a:pPr>
            <a:endParaRPr lang="fr-FR" sz="2400" spc="-10" dirty="0">
              <a:latin typeface="Segoe UI"/>
              <a:cs typeface="Segoe UI"/>
            </a:endParaRPr>
          </a:p>
          <a:p>
            <a:pPr marL="240029" indent="-227329">
              <a:lnSpc>
                <a:spcPct val="100000"/>
              </a:lnSpc>
              <a:spcBef>
                <a:spcPts val="100"/>
              </a:spcBef>
              <a:buClr>
                <a:srgbClr val="391778"/>
              </a:buClr>
              <a:buFont typeface="Arial"/>
              <a:buChar char="•"/>
              <a:tabLst>
                <a:tab pos="240029" algn="l"/>
              </a:tabLst>
            </a:pPr>
            <a:endParaRPr lang="fr-FR" sz="2400" spc="-10" dirty="0">
              <a:latin typeface="Segoe UI"/>
              <a:cs typeface="Segoe UI"/>
            </a:endParaRPr>
          </a:p>
          <a:p>
            <a:pPr marL="240029" indent="-227329">
              <a:lnSpc>
                <a:spcPct val="100000"/>
              </a:lnSpc>
              <a:spcBef>
                <a:spcPts val="100"/>
              </a:spcBef>
              <a:buClr>
                <a:srgbClr val="391778"/>
              </a:buClr>
              <a:buFont typeface="Arial"/>
              <a:buChar char="•"/>
              <a:tabLst>
                <a:tab pos="240029" algn="l"/>
              </a:tabLst>
            </a:pPr>
            <a:endParaRPr lang="fr-FR" sz="2400" spc="-10" dirty="0">
              <a:latin typeface="Segoe UI"/>
              <a:cs typeface="Segoe UI"/>
            </a:endParaRPr>
          </a:p>
          <a:p>
            <a:pPr marL="240029" indent="-227329">
              <a:spcBef>
                <a:spcPts val="100"/>
              </a:spcBef>
              <a:buClr>
                <a:srgbClr val="391778"/>
              </a:buClr>
              <a:buFont typeface="Arial"/>
              <a:buChar char="•"/>
              <a:tabLst>
                <a:tab pos="240029" algn="l"/>
              </a:tabLst>
            </a:pPr>
            <a:r>
              <a:rPr lang="fr-FR" sz="2400" dirty="0">
                <a:latin typeface="Segoe UI"/>
                <a:cs typeface="Segoe UI"/>
              </a:rPr>
              <a:t>Une</a:t>
            </a:r>
            <a:r>
              <a:rPr lang="fr-FR" sz="2400" spc="-40" dirty="0">
                <a:latin typeface="Segoe UI"/>
                <a:cs typeface="Segoe UI"/>
              </a:rPr>
              <a:t> </a:t>
            </a:r>
            <a:r>
              <a:rPr lang="fr-FR" sz="2400" u="sng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classe</a:t>
            </a:r>
            <a:r>
              <a:rPr lang="fr-FR" sz="2400" u="sng" spc="-40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 </a:t>
            </a:r>
            <a:r>
              <a:rPr lang="fr-FR" sz="2400" u="sng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générique</a:t>
            </a:r>
            <a:r>
              <a:rPr lang="fr-FR" sz="2400" spc="-4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peut</a:t>
            </a:r>
            <a:r>
              <a:rPr lang="fr-FR" sz="2400" spc="-4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alors</a:t>
            </a:r>
            <a:r>
              <a:rPr lang="fr-FR" sz="2400" spc="-3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implémenter</a:t>
            </a:r>
            <a:r>
              <a:rPr lang="fr-FR" sz="2400" spc="-4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l'interface</a:t>
            </a:r>
            <a:r>
              <a:rPr lang="fr-FR" sz="2400" spc="-40" dirty="0">
                <a:latin typeface="Segoe UI"/>
                <a:cs typeface="Segoe UI"/>
              </a:rPr>
              <a:t> </a:t>
            </a:r>
            <a:r>
              <a:rPr lang="fr-FR" sz="2400" spc="-10" dirty="0">
                <a:latin typeface="Segoe UI"/>
                <a:cs typeface="Segoe UI"/>
              </a:rPr>
              <a:t>générique</a:t>
            </a:r>
            <a:endParaRPr lang="fr-FR" sz="2400" dirty="0">
              <a:latin typeface="Segoe UI"/>
              <a:cs typeface="Segoe UI"/>
            </a:endParaRPr>
          </a:p>
          <a:p>
            <a:pPr marL="240029" indent="-227329">
              <a:lnSpc>
                <a:spcPct val="100000"/>
              </a:lnSpc>
              <a:spcBef>
                <a:spcPts val="100"/>
              </a:spcBef>
              <a:buClr>
                <a:srgbClr val="391778"/>
              </a:buClr>
              <a:buFont typeface="Arial"/>
              <a:buChar char="•"/>
              <a:tabLst>
                <a:tab pos="240029" algn="l"/>
              </a:tabLst>
            </a:pPr>
            <a:endParaRPr lang="fr-FR" sz="2400" dirty="0">
              <a:latin typeface="Segoe UI"/>
              <a:cs typeface="Segoe UI"/>
            </a:endParaRPr>
          </a:p>
          <a:p>
            <a:pPr marL="240029" indent="-227329">
              <a:lnSpc>
                <a:spcPct val="100000"/>
              </a:lnSpc>
              <a:spcBef>
                <a:spcPts val="100"/>
              </a:spcBef>
              <a:buClr>
                <a:srgbClr val="391778"/>
              </a:buClr>
              <a:buFont typeface="Arial"/>
              <a:buChar char="•"/>
              <a:tabLst>
                <a:tab pos="240029" algn="l"/>
              </a:tabLst>
            </a:pPr>
            <a:endParaRPr lang="fr-FR" sz="2400" dirty="0">
              <a:latin typeface="Segoe UI"/>
              <a:cs typeface="Segoe UI"/>
            </a:endParaRPr>
          </a:p>
          <a:p>
            <a:endParaRPr lang="fr-FR" sz="2400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89DFCD13-A1F5-14B5-B3D8-75E231A6A30F}"/>
              </a:ext>
            </a:extLst>
          </p:cNvPr>
          <p:cNvSpPr txBox="1"/>
          <p:nvPr/>
        </p:nvSpPr>
        <p:spPr>
          <a:xfrm>
            <a:off x="1643743" y="2747780"/>
            <a:ext cx="679268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2B91AF"/>
                </a:solidFill>
                <a:latin typeface="Cascadia Mono" panose="020B0609020000020004" pitchFamily="49" charset="0"/>
              </a:rPr>
              <a:t>Album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: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ISomething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&lt;Music&gt;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DoSomething(Music item) { }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Music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ReturnSomething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index) { }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fr-FR" dirty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C31A7E6D-9280-6650-5EB0-A5FE6786785E}"/>
              </a:ext>
            </a:extLst>
          </p:cNvPr>
          <p:cNvSpPr txBox="1"/>
          <p:nvPr/>
        </p:nvSpPr>
        <p:spPr>
          <a:xfrm>
            <a:off x="1643743" y="5080272"/>
            <a:ext cx="652054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2B91AF"/>
                </a:solidFill>
                <a:latin typeface="Cascadia Mono" panose="020B0609020000020004" pitchFamily="49" charset="0"/>
              </a:rPr>
              <a:t>Album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en-US" sz="1800" dirty="0">
                <a:solidFill>
                  <a:srgbClr val="2B91AF"/>
                </a:solidFill>
                <a:latin typeface="Cascadia Mono" panose="020B0609020000020004" pitchFamily="49" charset="0"/>
              </a:rPr>
              <a:t>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&gt; :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ISomething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&lt;T&gt;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DoSomething(T item) { }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T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ReturnSomething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index) { }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620512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/>
              <a:t>2. Généricité</a:t>
            </a:r>
            <a:endParaRPr lang="fr-FR" sz="3200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61017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 err="1"/>
              <a:t>Delegates</a:t>
            </a:r>
            <a:r>
              <a:rPr lang="fr-FR" sz="2400" b="1" dirty="0"/>
              <a:t> génériques</a:t>
            </a:r>
          </a:p>
          <a:p>
            <a:endParaRPr lang="fr-FR" sz="2400" dirty="0"/>
          </a:p>
          <a:p>
            <a:pPr marL="240029" indent="-227329">
              <a:lnSpc>
                <a:spcPct val="100000"/>
              </a:lnSpc>
              <a:spcBef>
                <a:spcPts val="100"/>
              </a:spcBef>
              <a:buClr>
                <a:srgbClr val="391778"/>
              </a:buClr>
              <a:buFont typeface="Arial"/>
              <a:buChar char="•"/>
              <a:tabLst>
                <a:tab pos="240029" algn="l"/>
              </a:tabLst>
            </a:pPr>
            <a:r>
              <a:rPr lang="fr-FR" sz="2400" dirty="0">
                <a:latin typeface="Segoe UI"/>
                <a:cs typeface="Segoe UI"/>
              </a:rPr>
              <a:t>Les</a:t>
            </a:r>
            <a:r>
              <a:rPr lang="fr-FR" sz="2400" spc="-55" dirty="0">
                <a:latin typeface="Segoe UI"/>
                <a:cs typeface="Segoe UI"/>
              </a:rPr>
              <a:t> </a:t>
            </a:r>
            <a:r>
              <a:rPr lang="fr-FR" sz="2400" i="1" dirty="0" err="1">
                <a:latin typeface="Segoe UI"/>
                <a:cs typeface="Segoe UI"/>
              </a:rPr>
              <a:t>delegates</a:t>
            </a:r>
            <a:r>
              <a:rPr lang="fr-FR" sz="2400" i="1" spc="-2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peuvent</a:t>
            </a:r>
            <a:r>
              <a:rPr lang="fr-FR" sz="2400" spc="-3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aussi</a:t>
            </a:r>
            <a:r>
              <a:rPr lang="fr-FR" sz="2400" spc="-3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être</a:t>
            </a:r>
            <a:r>
              <a:rPr lang="fr-FR" sz="2400" spc="-55" dirty="0">
                <a:latin typeface="Segoe UI"/>
                <a:cs typeface="Segoe UI"/>
              </a:rPr>
              <a:t> </a:t>
            </a:r>
            <a:r>
              <a:rPr lang="fr-FR" sz="2400" spc="-10" dirty="0">
                <a:latin typeface="Segoe UI"/>
                <a:cs typeface="Segoe UI"/>
              </a:rPr>
              <a:t>génériques</a:t>
            </a:r>
            <a:endParaRPr lang="fr-FR" sz="2400" dirty="0">
              <a:latin typeface="Segoe UI"/>
              <a:cs typeface="Segoe UI"/>
            </a:endParaRPr>
          </a:p>
          <a:p>
            <a:pPr marL="469900" marR="865505">
              <a:lnSpc>
                <a:spcPct val="113300"/>
              </a:lnSpc>
              <a:spcBef>
                <a:spcPts val="2425"/>
              </a:spcBef>
              <a:tabLst>
                <a:tab pos="1403985" algn="l"/>
                <a:tab pos="2603500" algn="l"/>
                <a:tab pos="2870200" algn="l"/>
                <a:tab pos="3269615" algn="l"/>
                <a:tab pos="7134859" algn="l"/>
              </a:tabLst>
            </a:pPr>
            <a:endParaRPr lang="fr-FR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370"/>
              </a:spcBef>
            </a:pPr>
            <a:endParaRPr lang="fr-FR" sz="2400" dirty="0">
              <a:latin typeface="Trebuchet MS"/>
              <a:cs typeface="Trebuchet MS"/>
            </a:endParaRPr>
          </a:p>
          <a:p>
            <a:pPr marL="240029" indent="-227329">
              <a:lnSpc>
                <a:spcPct val="100000"/>
              </a:lnSpc>
              <a:buClr>
                <a:srgbClr val="391778"/>
              </a:buClr>
              <a:buFont typeface="Arial"/>
              <a:buChar char="•"/>
              <a:tabLst>
                <a:tab pos="240029" algn="l"/>
              </a:tabLst>
            </a:pPr>
            <a:r>
              <a:rPr lang="fr-FR" sz="2400" dirty="0">
                <a:latin typeface="Segoe UI"/>
                <a:cs typeface="Segoe UI"/>
              </a:rPr>
              <a:t>La</a:t>
            </a:r>
            <a:r>
              <a:rPr lang="fr-FR" sz="2400" spc="-4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déclaration</a:t>
            </a:r>
            <a:r>
              <a:rPr lang="fr-FR" sz="2400" spc="-1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de</a:t>
            </a:r>
            <a:r>
              <a:rPr lang="fr-FR" sz="2400" spc="-4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l'instance</a:t>
            </a:r>
            <a:r>
              <a:rPr lang="fr-FR" sz="2400" spc="-2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du</a:t>
            </a:r>
            <a:r>
              <a:rPr lang="fr-FR" sz="2400" spc="-25" dirty="0">
                <a:latin typeface="Segoe UI"/>
                <a:cs typeface="Segoe UI"/>
              </a:rPr>
              <a:t> </a:t>
            </a:r>
            <a:r>
              <a:rPr lang="fr-FR" sz="2400" dirty="0" err="1">
                <a:latin typeface="Segoe UI"/>
                <a:cs typeface="Segoe UI"/>
              </a:rPr>
              <a:t>delegate</a:t>
            </a:r>
            <a:r>
              <a:rPr lang="fr-FR" sz="2400" spc="-4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possède</a:t>
            </a:r>
            <a:r>
              <a:rPr lang="fr-FR" sz="2400" spc="-7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alors</a:t>
            </a:r>
            <a:r>
              <a:rPr lang="fr-FR" sz="2400" spc="-2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le</a:t>
            </a:r>
            <a:r>
              <a:rPr lang="fr-FR" sz="2400" spc="-40" dirty="0">
                <a:latin typeface="Segoe UI"/>
                <a:cs typeface="Segoe UI"/>
              </a:rPr>
              <a:t> </a:t>
            </a:r>
            <a:r>
              <a:rPr lang="fr-FR" sz="2400" spc="-10" dirty="0">
                <a:latin typeface="Segoe UI"/>
                <a:cs typeface="Segoe UI"/>
              </a:rPr>
              <a:t>typage</a:t>
            </a:r>
          </a:p>
          <a:p>
            <a:pPr marL="240029" indent="-227329">
              <a:lnSpc>
                <a:spcPct val="100000"/>
              </a:lnSpc>
              <a:buClr>
                <a:srgbClr val="391778"/>
              </a:buClr>
              <a:buFont typeface="Arial"/>
              <a:buChar char="•"/>
              <a:tabLst>
                <a:tab pos="240029" algn="l"/>
              </a:tabLst>
            </a:pPr>
            <a:endParaRPr lang="fr-FR" sz="2400" spc="-10" dirty="0">
              <a:latin typeface="Segoe UI"/>
              <a:cs typeface="Segoe UI"/>
            </a:endParaRPr>
          </a:p>
          <a:p>
            <a:pPr marL="240029" indent="-227329">
              <a:lnSpc>
                <a:spcPct val="100000"/>
              </a:lnSpc>
              <a:buClr>
                <a:srgbClr val="391778"/>
              </a:buClr>
              <a:buFont typeface="Arial"/>
              <a:buChar char="•"/>
              <a:tabLst>
                <a:tab pos="240029" algn="l"/>
              </a:tabLst>
            </a:pPr>
            <a:endParaRPr lang="fr-FR" sz="2400" spc="-10" dirty="0">
              <a:latin typeface="Segoe UI"/>
              <a:cs typeface="Segoe UI"/>
            </a:endParaRPr>
          </a:p>
          <a:p>
            <a:pPr marL="240029" indent="-227329">
              <a:lnSpc>
                <a:spcPct val="100000"/>
              </a:lnSpc>
              <a:buClr>
                <a:srgbClr val="391778"/>
              </a:buClr>
              <a:buFont typeface="Arial"/>
              <a:buChar char="•"/>
              <a:tabLst>
                <a:tab pos="240029" algn="l"/>
              </a:tabLst>
            </a:pPr>
            <a:endParaRPr lang="fr-FR" sz="2400" spc="-10" dirty="0">
              <a:latin typeface="Segoe UI"/>
              <a:cs typeface="Segoe UI"/>
            </a:endParaRPr>
          </a:p>
          <a:p>
            <a:pPr marL="240029" indent="-227329">
              <a:lnSpc>
                <a:spcPct val="100000"/>
              </a:lnSpc>
              <a:buClr>
                <a:srgbClr val="391778"/>
              </a:buClr>
              <a:buFont typeface="Arial"/>
              <a:buChar char="•"/>
              <a:tabLst>
                <a:tab pos="240029" algn="l"/>
              </a:tabLst>
            </a:pPr>
            <a:endParaRPr lang="fr-FR" sz="24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fr-FR" sz="2400" dirty="0">
                <a:latin typeface="Segoe UI"/>
                <a:cs typeface="Segoe UI"/>
              </a:rPr>
              <a:t>Les</a:t>
            </a:r>
            <a:r>
              <a:rPr lang="fr-FR" sz="2400" spc="-4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méthodes</a:t>
            </a:r>
            <a:r>
              <a:rPr lang="fr-FR" sz="2400" spc="-3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abonnées</a:t>
            </a:r>
            <a:r>
              <a:rPr lang="fr-FR" sz="2400" spc="-4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devront</a:t>
            </a:r>
            <a:r>
              <a:rPr lang="fr-FR" sz="2400" spc="-3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alors</a:t>
            </a:r>
            <a:r>
              <a:rPr lang="fr-FR" sz="2400" spc="-3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respecter</a:t>
            </a:r>
            <a:r>
              <a:rPr lang="fr-FR" sz="2400" spc="-3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la</a:t>
            </a:r>
            <a:r>
              <a:rPr lang="fr-FR" sz="2400" spc="-3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signature</a:t>
            </a:r>
            <a:r>
              <a:rPr lang="fr-FR" sz="2400" spc="-5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comme</a:t>
            </a:r>
            <a:r>
              <a:rPr lang="fr-FR" sz="2400" spc="-35" dirty="0">
                <a:latin typeface="Segoe UI"/>
                <a:cs typeface="Segoe UI"/>
              </a:rPr>
              <a:t> </a:t>
            </a:r>
            <a:r>
              <a:rPr lang="fr-FR" sz="2400" spc="-10" dirty="0">
                <a:latin typeface="Segoe UI"/>
                <a:cs typeface="Segoe UI"/>
              </a:rPr>
              <a:t>d'habitude</a:t>
            </a:r>
            <a:endParaRPr lang="fr-FR" sz="2400" dirty="0">
              <a:latin typeface="Segoe UI"/>
              <a:cs typeface="Segoe UI"/>
            </a:endParaRPr>
          </a:p>
          <a:p>
            <a:pPr marL="240029" indent="-227329">
              <a:lnSpc>
                <a:spcPct val="100000"/>
              </a:lnSpc>
              <a:spcBef>
                <a:spcPts val="100"/>
              </a:spcBef>
              <a:buClr>
                <a:srgbClr val="391778"/>
              </a:buClr>
              <a:buFont typeface="Arial"/>
              <a:buChar char="•"/>
              <a:tabLst>
                <a:tab pos="240029" algn="l"/>
              </a:tabLst>
            </a:pPr>
            <a:endParaRPr lang="fr-FR" sz="2400" dirty="0">
              <a:latin typeface="Segoe UI"/>
              <a:cs typeface="Segoe UI"/>
            </a:endParaRPr>
          </a:p>
          <a:p>
            <a:pPr marL="240029" indent="-227329">
              <a:lnSpc>
                <a:spcPct val="100000"/>
              </a:lnSpc>
              <a:spcBef>
                <a:spcPts val="100"/>
              </a:spcBef>
              <a:buClr>
                <a:srgbClr val="391778"/>
              </a:buClr>
              <a:buFont typeface="Arial"/>
              <a:buChar char="•"/>
              <a:tabLst>
                <a:tab pos="240029" algn="l"/>
              </a:tabLst>
            </a:pPr>
            <a:endParaRPr lang="fr-FR" sz="2400" dirty="0">
              <a:latin typeface="Segoe UI"/>
              <a:cs typeface="Segoe UI"/>
            </a:endParaRPr>
          </a:p>
          <a:p>
            <a:endParaRPr lang="fr-FR" sz="2400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729C09F6-CF58-661E-CCED-B3ED02FA0465}"/>
              </a:ext>
            </a:extLst>
          </p:cNvPr>
          <p:cNvSpPr txBox="1"/>
          <p:nvPr/>
        </p:nvSpPr>
        <p:spPr>
          <a:xfrm>
            <a:off x="1567543" y="4257925"/>
            <a:ext cx="877388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event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MyDelegateWithParameter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fr-FR" sz="1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&gt;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MyEventWithParameter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event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MyDelegateWithReturn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&gt;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MyEventWithReturn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  <a:endParaRPr lang="fr-FR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6BC0208B-0E5F-C599-39CE-3BE92624AAB9}"/>
              </a:ext>
            </a:extLst>
          </p:cNvPr>
          <p:cNvSpPr txBox="1"/>
          <p:nvPr/>
        </p:nvSpPr>
        <p:spPr>
          <a:xfrm>
            <a:off x="1567543" y="2782669"/>
            <a:ext cx="900248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delegate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MyDelegateWithParameter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en-US" sz="1800" dirty="0">
                <a:solidFill>
                  <a:srgbClr val="2B91AF"/>
                </a:solidFill>
                <a:latin typeface="Cascadia Mono" panose="020B0609020000020004" pitchFamily="49" charset="0"/>
              </a:rPr>
              <a:t>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&gt;(T value);</a:t>
            </a:r>
          </a:p>
          <a:p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delegate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T </a:t>
            </a:r>
            <a:r>
              <a:rPr lang="en-US" sz="18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MyDelegateWithReturn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en-US" sz="1800" dirty="0">
                <a:solidFill>
                  <a:srgbClr val="2B91AF"/>
                </a:solidFill>
                <a:latin typeface="Cascadia Mono" panose="020B0609020000020004" pitchFamily="49" charset="0"/>
              </a:rPr>
              <a:t>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&gt;();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72980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/>
              <a:t>2. Généricité</a:t>
            </a:r>
            <a:endParaRPr lang="fr-FR" sz="3200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48249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 err="1"/>
              <a:t>Delegates</a:t>
            </a:r>
            <a:r>
              <a:rPr lang="fr-FR" sz="2400" b="1" dirty="0"/>
              <a:t> génériques du </a:t>
            </a:r>
            <a:r>
              <a:rPr lang="fr-FR" sz="2400" b="1" dirty="0" err="1"/>
              <a:t>framework</a:t>
            </a:r>
            <a:endParaRPr lang="fr-FR" sz="2400" b="1" dirty="0"/>
          </a:p>
          <a:p>
            <a:endParaRPr lang="fr-FR" sz="2400" dirty="0"/>
          </a:p>
          <a:p>
            <a:pPr marL="240029" indent="-227329">
              <a:lnSpc>
                <a:spcPct val="100000"/>
              </a:lnSpc>
              <a:spcBef>
                <a:spcPts val="100"/>
              </a:spcBef>
              <a:buClr>
                <a:srgbClr val="391778"/>
              </a:buClr>
              <a:buFont typeface="Arial"/>
              <a:buChar char="•"/>
              <a:tabLst>
                <a:tab pos="240029" algn="l"/>
              </a:tabLst>
            </a:pPr>
            <a:r>
              <a:rPr lang="fr-FR" sz="2400" dirty="0">
                <a:latin typeface="Segoe UI"/>
                <a:cs typeface="Segoe UI"/>
              </a:rPr>
              <a:t>Cependant</a:t>
            </a:r>
            <a:r>
              <a:rPr lang="fr-FR" sz="2400" spc="-55" dirty="0">
                <a:latin typeface="Segoe UI"/>
                <a:cs typeface="Segoe UI"/>
              </a:rPr>
              <a:t> </a:t>
            </a:r>
            <a:r>
              <a:rPr lang="fr-FR" sz="2400" u="sng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deux</a:t>
            </a:r>
            <a:r>
              <a:rPr lang="fr-FR" sz="2400" u="sng" spc="-65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 </a:t>
            </a:r>
            <a:r>
              <a:rPr lang="fr-FR" sz="2400" i="1" u="sng" dirty="0" err="1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delegates</a:t>
            </a:r>
            <a:r>
              <a:rPr lang="fr-FR" sz="2400" i="1" u="sng" spc="-45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 </a:t>
            </a:r>
            <a:r>
              <a:rPr lang="fr-FR" sz="2400" u="sng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génériques</a:t>
            </a:r>
            <a:r>
              <a:rPr lang="fr-FR" sz="2400" spc="-6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sont</a:t>
            </a:r>
            <a:r>
              <a:rPr lang="fr-FR" sz="2400" spc="-3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présent</a:t>
            </a:r>
            <a:r>
              <a:rPr lang="fr-FR" sz="2400" spc="-7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dans</a:t>
            </a:r>
            <a:r>
              <a:rPr lang="fr-FR" sz="2400" spc="-4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le</a:t>
            </a:r>
            <a:r>
              <a:rPr lang="fr-FR" sz="2400" spc="-80" dirty="0">
                <a:latin typeface="Segoe UI"/>
                <a:cs typeface="Segoe UI"/>
              </a:rPr>
              <a:t> </a:t>
            </a:r>
            <a:r>
              <a:rPr lang="fr-FR" sz="2400" dirty="0" err="1">
                <a:latin typeface="Segoe UI"/>
                <a:cs typeface="Segoe UI"/>
              </a:rPr>
              <a:t>framework</a:t>
            </a:r>
            <a:r>
              <a:rPr lang="fr-FR" sz="2400" spc="-65" dirty="0">
                <a:latin typeface="Segoe UI"/>
                <a:cs typeface="Segoe UI"/>
              </a:rPr>
              <a:t> :</a:t>
            </a:r>
            <a:endParaRPr lang="fr-FR" dirty="0">
              <a:latin typeface="Trebuchet MS"/>
              <a:cs typeface="Trebuchet MS"/>
            </a:endParaRPr>
          </a:p>
          <a:p>
            <a:pPr marL="755650" marR="865505" indent="-285750">
              <a:lnSpc>
                <a:spcPct val="113300"/>
              </a:lnSpc>
              <a:spcBef>
                <a:spcPts val="2425"/>
              </a:spcBef>
              <a:buFont typeface="Arial" panose="020B0604020202020204" pitchFamily="34" charset="0"/>
              <a:buChar char="•"/>
              <a:tabLst>
                <a:tab pos="1403985" algn="l"/>
                <a:tab pos="2603500" algn="l"/>
                <a:tab pos="2870200" algn="l"/>
                <a:tab pos="3269615" algn="l"/>
                <a:tab pos="7134859" algn="l"/>
              </a:tabLst>
            </a:pPr>
            <a:r>
              <a:rPr lang="fr-FR" dirty="0">
                <a:latin typeface="Trebuchet MS"/>
                <a:cs typeface="Trebuchet MS"/>
              </a:rPr>
              <a:t>Action</a:t>
            </a:r>
          </a:p>
          <a:p>
            <a:pPr marL="755650" marR="865505" indent="-285750">
              <a:lnSpc>
                <a:spcPct val="113300"/>
              </a:lnSpc>
              <a:spcBef>
                <a:spcPts val="2425"/>
              </a:spcBef>
              <a:buFont typeface="Arial" panose="020B0604020202020204" pitchFamily="34" charset="0"/>
              <a:buChar char="•"/>
              <a:tabLst>
                <a:tab pos="1403985" algn="l"/>
                <a:tab pos="2603500" algn="l"/>
                <a:tab pos="2870200" algn="l"/>
                <a:tab pos="3269615" algn="l"/>
                <a:tab pos="7134859" algn="l"/>
              </a:tabLst>
            </a:pPr>
            <a:endParaRPr lang="fr-FR" dirty="0">
              <a:latin typeface="Trebuchet MS"/>
              <a:cs typeface="Trebuchet MS"/>
            </a:endParaRPr>
          </a:p>
          <a:p>
            <a:pPr marL="755650" marR="865505" indent="-285750">
              <a:lnSpc>
                <a:spcPct val="113300"/>
              </a:lnSpc>
              <a:spcBef>
                <a:spcPts val="2425"/>
              </a:spcBef>
              <a:buFont typeface="Arial" panose="020B0604020202020204" pitchFamily="34" charset="0"/>
              <a:buChar char="•"/>
              <a:tabLst>
                <a:tab pos="1403985" algn="l"/>
                <a:tab pos="2603500" algn="l"/>
                <a:tab pos="2870200" algn="l"/>
                <a:tab pos="3269615" algn="l"/>
                <a:tab pos="7134859" algn="l"/>
              </a:tabLst>
            </a:pPr>
            <a:r>
              <a:rPr lang="fr-FR" dirty="0" err="1">
                <a:latin typeface="Trebuchet MS"/>
                <a:cs typeface="Trebuchet MS"/>
              </a:rPr>
              <a:t>Func</a:t>
            </a:r>
            <a:endParaRPr lang="fr-FR" dirty="0">
              <a:latin typeface="Trebuchet MS"/>
              <a:cs typeface="Trebuchet MS"/>
            </a:endParaRPr>
          </a:p>
          <a:p>
            <a:pPr marL="755650" marR="865505" indent="-285750">
              <a:lnSpc>
                <a:spcPct val="113300"/>
              </a:lnSpc>
              <a:spcBef>
                <a:spcPts val="2425"/>
              </a:spcBef>
              <a:buFont typeface="Arial" panose="020B0604020202020204" pitchFamily="34" charset="0"/>
              <a:buChar char="•"/>
              <a:tabLst>
                <a:tab pos="1403985" algn="l"/>
                <a:tab pos="2603500" algn="l"/>
                <a:tab pos="2870200" algn="l"/>
                <a:tab pos="3269615" algn="l"/>
                <a:tab pos="7134859" algn="l"/>
              </a:tabLst>
            </a:pPr>
            <a:endParaRPr lang="fr-FR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370"/>
              </a:spcBef>
            </a:pPr>
            <a:endParaRPr lang="fr-FR" sz="1600" dirty="0">
              <a:latin typeface="Trebuchet MS"/>
              <a:cs typeface="Trebuchet MS"/>
            </a:endParaRPr>
          </a:p>
          <a:p>
            <a:pPr marL="240029" indent="-227329">
              <a:lnSpc>
                <a:spcPct val="100000"/>
              </a:lnSpc>
              <a:buClr>
                <a:srgbClr val="391778"/>
              </a:buClr>
              <a:buFont typeface="Arial"/>
              <a:buChar char="•"/>
              <a:tabLst>
                <a:tab pos="240029" algn="l"/>
              </a:tabLst>
            </a:pPr>
            <a:r>
              <a:rPr lang="fr-FR" sz="2400" dirty="0">
                <a:latin typeface="Segoe UI"/>
                <a:cs typeface="Segoe UI"/>
              </a:rPr>
              <a:t>Ces</a:t>
            </a:r>
            <a:r>
              <a:rPr lang="fr-FR" sz="2400" spc="-4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deux</a:t>
            </a:r>
            <a:r>
              <a:rPr lang="fr-FR" sz="2400" spc="-35" dirty="0">
                <a:latin typeface="Segoe UI"/>
                <a:cs typeface="Segoe UI"/>
              </a:rPr>
              <a:t> </a:t>
            </a:r>
            <a:r>
              <a:rPr lang="fr-FR" sz="2400" i="1" dirty="0" err="1">
                <a:latin typeface="Segoe UI"/>
                <a:cs typeface="Segoe UI"/>
              </a:rPr>
              <a:t>delegates</a:t>
            </a:r>
            <a:r>
              <a:rPr lang="fr-FR" sz="2400" i="1" spc="-2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sont</a:t>
            </a:r>
            <a:r>
              <a:rPr lang="fr-FR" sz="2400" spc="-3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très</a:t>
            </a:r>
            <a:r>
              <a:rPr lang="fr-FR" sz="2400" spc="-3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souvent</a:t>
            </a:r>
            <a:r>
              <a:rPr lang="fr-FR" sz="2400" spc="-25" dirty="0">
                <a:latin typeface="Segoe UI"/>
                <a:cs typeface="Segoe UI"/>
              </a:rPr>
              <a:t> </a:t>
            </a:r>
            <a:r>
              <a:rPr lang="fr-FR" sz="2400" spc="-10" dirty="0">
                <a:latin typeface="Segoe UI"/>
                <a:cs typeface="Segoe UI"/>
              </a:rPr>
              <a:t>utilisés</a:t>
            </a:r>
            <a:endParaRPr lang="fr-FR" sz="2400" dirty="0">
              <a:latin typeface="Segoe UI"/>
              <a:cs typeface="Segoe UI"/>
            </a:endParaRPr>
          </a:p>
          <a:p>
            <a:pPr marL="469900" lvl="1">
              <a:lnSpc>
                <a:spcPct val="100000"/>
              </a:lnSpc>
              <a:spcBef>
                <a:spcPts val="244"/>
              </a:spcBef>
              <a:buClr>
                <a:srgbClr val="391778"/>
              </a:buClr>
              <a:tabLst>
                <a:tab pos="698500" algn="l"/>
              </a:tabLst>
            </a:pPr>
            <a:r>
              <a:rPr lang="fr-FR" sz="2000" dirty="0">
                <a:latin typeface="Segoe UI"/>
                <a:cs typeface="Segoe UI"/>
              </a:rPr>
              <a:t>(Exemple</a:t>
            </a:r>
            <a:r>
              <a:rPr lang="fr-FR" sz="2000" spc="-4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dans</a:t>
            </a:r>
            <a:r>
              <a:rPr lang="fr-FR" sz="2000" spc="-5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:</a:t>
            </a:r>
            <a:r>
              <a:rPr lang="fr-FR" sz="2000" spc="-4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LINQ,</a:t>
            </a:r>
            <a:r>
              <a:rPr lang="fr-FR" sz="2000" spc="-4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la</a:t>
            </a:r>
            <a:r>
              <a:rPr lang="fr-FR" sz="2000" spc="-4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configuration</a:t>
            </a:r>
            <a:r>
              <a:rPr lang="fr-FR" sz="2000" spc="-45" dirty="0">
                <a:latin typeface="Segoe UI"/>
                <a:cs typeface="Segoe UI"/>
              </a:rPr>
              <a:t> </a:t>
            </a:r>
            <a:r>
              <a:rPr lang="fr-FR" sz="2000" spc="-55" dirty="0">
                <a:latin typeface="Segoe UI"/>
                <a:cs typeface="Segoe UI"/>
              </a:rPr>
              <a:t>ASP.NET,</a:t>
            </a:r>
            <a:r>
              <a:rPr lang="fr-FR" sz="2000" spc="-30" dirty="0">
                <a:latin typeface="Segoe UI"/>
                <a:cs typeface="Segoe UI"/>
              </a:rPr>
              <a:t> </a:t>
            </a:r>
            <a:r>
              <a:rPr lang="fr-FR" sz="2000" dirty="0" err="1">
                <a:latin typeface="Segoe UI"/>
                <a:cs typeface="Segoe UI"/>
              </a:rPr>
              <a:t>Entity</a:t>
            </a:r>
            <a:r>
              <a:rPr lang="fr-FR" sz="2000" spc="-60" dirty="0">
                <a:latin typeface="Segoe UI"/>
                <a:cs typeface="Segoe UI"/>
              </a:rPr>
              <a:t> </a:t>
            </a:r>
            <a:r>
              <a:rPr lang="fr-FR" sz="2000" spc="-10" dirty="0">
                <a:latin typeface="Segoe UI"/>
                <a:cs typeface="Segoe UI"/>
              </a:rPr>
              <a:t>Framework…)</a:t>
            </a:r>
            <a:endParaRPr lang="fr-FR" sz="2400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1B0498E7-1ABA-AD12-0F12-B155990C860B}"/>
              </a:ext>
            </a:extLst>
          </p:cNvPr>
          <p:cNvSpPr txBox="1"/>
          <p:nvPr/>
        </p:nvSpPr>
        <p:spPr>
          <a:xfrm>
            <a:off x="1698174" y="332053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>
                <a:solidFill>
                  <a:schemeClr val="accent5">
                    <a:lumMod val="75000"/>
                  </a:schemeClr>
                </a:solidFill>
                <a:latin typeface="Cascadia Mono" panose="020B0609020000020004" pitchFamily="49" charset="0"/>
              </a:rPr>
              <a:t>Action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&lt;T&gt;(T);</a:t>
            </a:r>
            <a:endParaRPr lang="fr-FR" dirty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35836F7E-3E5B-2CA2-C3F6-DF26124F7BA0}"/>
              </a:ext>
            </a:extLst>
          </p:cNvPr>
          <p:cNvSpPr txBox="1"/>
          <p:nvPr/>
        </p:nvSpPr>
        <p:spPr>
          <a:xfrm>
            <a:off x="1730829" y="456165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 err="1">
                <a:solidFill>
                  <a:schemeClr val="accent5">
                    <a:lumMod val="75000"/>
                  </a:schemeClr>
                </a:solidFill>
                <a:latin typeface="Cascadia Mono" panose="020B0609020000020004" pitchFamily="49" charset="0"/>
              </a:rPr>
              <a:t>Func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&lt;T&gt;(T,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TResult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171070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/>
              <a:t>2. Généricité</a:t>
            </a:r>
            <a:endParaRPr lang="fr-FR" sz="3200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25263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Action</a:t>
            </a:r>
          </a:p>
          <a:p>
            <a:endParaRPr lang="fr-FR" sz="2400" dirty="0"/>
          </a:p>
          <a:p>
            <a:pPr marL="240029" indent="-227329">
              <a:lnSpc>
                <a:spcPct val="100000"/>
              </a:lnSpc>
              <a:spcBef>
                <a:spcPts val="595"/>
              </a:spcBef>
              <a:buClr>
                <a:srgbClr val="391778"/>
              </a:buClr>
              <a:buFont typeface="Arial"/>
              <a:buChar char="•"/>
              <a:tabLst>
                <a:tab pos="240029" algn="l"/>
              </a:tabLst>
            </a:pPr>
            <a:r>
              <a:rPr lang="fr-FR" sz="2400" b="1" dirty="0">
                <a:latin typeface="Segoe UI"/>
                <a:cs typeface="Segoe UI"/>
              </a:rPr>
              <a:t>Action</a:t>
            </a:r>
            <a:r>
              <a:rPr lang="fr-FR" sz="2400" b="1" spc="-3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s'utilise</a:t>
            </a:r>
            <a:r>
              <a:rPr lang="fr-FR" sz="2400" spc="-2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avec</a:t>
            </a:r>
            <a:r>
              <a:rPr lang="fr-FR" sz="2400" spc="-3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des</a:t>
            </a:r>
            <a:r>
              <a:rPr lang="fr-FR" sz="2400" spc="-5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méthodes</a:t>
            </a:r>
            <a:r>
              <a:rPr lang="fr-FR" sz="2400" spc="-40" dirty="0">
                <a:latin typeface="Segoe UI"/>
                <a:cs typeface="Segoe UI"/>
              </a:rPr>
              <a:t> </a:t>
            </a:r>
            <a:r>
              <a:rPr lang="fr-FR" sz="2400" spc="-50" dirty="0">
                <a:latin typeface="Segoe UI"/>
                <a:cs typeface="Segoe UI"/>
              </a:rPr>
              <a:t>:</a:t>
            </a:r>
            <a:endParaRPr lang="fr-FR" sz="2400" dirty="0">
              <a:latin typeface="Segoe UI"/>
              <a:cs typeface="Segoe UI"/>
            </a:endParaRPr>
          </a:p>
          <a:p>
            <a:pPr marL="697865" lvl="1" indent="-227965">
              <a:lnSpc>
                <a:spcPct val="100000"/>
              </a:lnSpc>
              <a:spcBef>
                <a:spcPts val="495"/>
              </a:spcBef>
              <a:buClr>
                <a:srgbClr val="391778"/>
              </a:buClr>
              <a:buFont typeface="Arial"/>
              <a:buChar char="•"/>
              <a:tabLst>
                <a:tab pos="697865" algn="l"/>
              </a:tabLst>
            </a:pPr>
            <a:r>
              <a:rPr lang="fr-FR" sz="2400" dirty="0">
                <a:latin typeface="Segoe UI"/>
                <a:cs typeface="Segoe UI"/>
              </a:rPr>
              <a:t>Permettant</a:t>
            </a:r>
            <a:r>
              <a:rPr lang="fr-FR" sz="2400" spc="-7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d'accepter</a:t>
            </a:r>
            <a:r>
              <a:rPr lang="fr-FR" sz="2400" spc="-6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de</a:t>
            </a:r>
            <a:r>
              <a:rPr lang="fr-FR" sz="2400" spc="-6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0</a:t>
            </a:r>
            <a:r>
              <a:rPr lang="fr-FR" sz="2400" spc="-4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à</a:t>
            </a:r>
            <a:r>
              <a:rPr lang="fr-FR" sz="2400" spc="-5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16</a:t>
            </a:r>
            <a:r>
              <a:rPr lang="fr-FR" sz="2400" spc="-5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paramètres</a:t>
            </a:r>
            <a:r>
              <a:rPr lang="fr-FR" sz="2400" spc="-85" dirty="0">
                <a:latin typeface="Segoe UI"/>
                <a:cs typeface="Segoe UI"/>
              </a:rPr>
              <a:t> </a:t>
            </a:r>
            <a:r>
              <a:rPr lang="fr-FR" sz="2400" spc="-10" dirty="0">
                <a:latin typeface="Segoe UI"/>
                <a:cs typeface="Segoe UI"/>
              </a:rPr>
              <a:t>entrants</a:t>
            </a:r>
            <a:endParaRPr lang="fr-FR" sz="2400" dirty="0">
              <a:latin typeface="Segoe UI"/>
              <a:cs typeface="Segoe UI"/>
            </a:endParaRPr>
          </a:p>
          <a:p>
            <a:pPr marL="697865" lvl="1" indent="-227965">
              <a:lnSpc>
                <a:spcPct val="100000"/>
              </a:lnSpc>
              <a:spcBef>
                <a:spcPts val="500"/>
              </a:spcBef>
              <a:buClr>
                <a:srgbClr val="391778"/>
              </a:buClr>
              <a:buFont typeface="Arial"/>
              <a:buChar char="•"/>
              <a:tabLst>
                <a:tab pos="697865" algn="l"/>
              </a:tabLst>
            </a:pPr>
            <a:r>
              <a:rPr lang="fr-FR" sz="2400" u="sng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Ne</a:t>
            </a:r>
            <a:r>
              <a:rPr lang="fr-FR" sz="2400" u="sng" spc="-75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 </a:t>
            </a:r>
            <a:r>
              <a:rPr lang="fr-FR" sz="2400" u="sng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renvoyant</a:t>
            </a:r>
            <a:r>
              <a:rPr lang="fr-FR" sz="2400" u="sng" spc="-60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 </a:t>
            </a:r>
            <a:r>
              <a:rPr lang="fr-FR" sz="2400" u="sng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jamais</a:t>
            </a:r>
            <a:r>
              <a:rPr lang="fr-FR" sz="2400" u="sng" spc="-50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 </a:t>
            </a:r>
            <a:r>
              <a:rPr lang="fr-FR" sz="2400" u="sng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aucun</a:t>
            </a:r>
            <a:r>
              <a:rPr lang="fr-FR" sz="2400" u="sng" spc="-50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 </a:t>
            </a:r>
            <a:r>
              <a:rPr lang="fr-FR" sz="2400" u="sng" spc="-10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résultat</a:t>
            </a:r>
            <a:endParaRPr lang="fr-FR" sz="2400" dirty="0">
              <a:latin typeface="Segoe UI"/>
              <a:cs typeface="Segoe UI"/>
            </a:endParaRPr>
          </a:p>
          <a:p>
            <a:pPr marL="240029" indent="-227329">
              <a:lnSpc>
                <a:spcPct val="100000"/>
              </a:lnSpc>
              <a:spcBef>
                <a:spcPts val="100"/>
              </a:spcBef>
              <a:buClr>
                <a:srgbClr val="391778"/>
              </a:buClr>
              <a:buFont typeface="Arial"/>
              <a:buChar char="•"/>
              <a:tabLst>
                <a:tab pos="240029" algn="l"/>
              </a:tabLst>
            </a:pPr>
            <a:endParaRPr lang="fr-FR" sz="2400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4B9D3A9B-048C-C2D9-02EF-18F4E5C19C54}"/>
              </a:ext>
            </a:extLst>
          </p:cNvPr>
          <p:cNvSpPr txBox="1"/>
          <p:nvPr/>
        </p:nvSpPr>
        <p:spPr>
          <a:xfrm>
            <a:off x="3047999" y="3957563"/>
            <a:ext cx="773974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Action();</a:t>
            </a:r>
          </a:p>
          <a:p>
            <a:r>
              <a:rPr lang="fr-FR" sz="1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Action&lt;</a:t>
            </a:r>
            <a:r>
              <a:rPr lang="fr-FR" sz="1800" dirty="0">
                <a:solidFill>
                  <a:srgbClr val="2B91AF"/>
                </a:solidFill>
                <a:latin typeface="Cascadia Mono" panose="020B0609020000020004" pitchFamily="49" charset="0"/>
              </a:rPr>
              <a:t>T1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&gt;(T1 t1);</a:t>
            </a:r>
          </a:p>
          <a:p>
            <a:r>
              <a:rPr lang="fr-FR" sz="1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Action&lt;</a:t>
            </a:r>
            <a:r>
              <a:rPr lang="fr-FR" sz="1800" dirty="0">
                <a:solidFill>
                  <a:srgbClr val="2B91AF"/>
                </a:solidFill>
                <a:latin typeface="Cascadia Mono" panose="020B0609020000020004" pitchFamily="49" charset="0"/>
              </a:rPr>
              <a:t>T1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, </a:t>
            </a:r>
            <a:r>
              <a:rPr lang="fr-FR" sz="1800" dirty="0">
                <a:solidFill>
                  <a:srgbClr val="2B91AF"/>
                </a:solidFill>
                <a:latin typeface="Cascadia Mono" panose="020B0609020000020004" pitchFamily="49" charset="0"/>
              </a:rPr>
              <a:t>T2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&gt;(T1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t1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, T2 t2);</a:t>
            </a:r>
          </a:p>
          <a:p>
            <a:r>
              <a:rPr lang="fr-FR" sz="1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Action&lt;</a:t>
            </a:r>
            <a:r>
              <a:rPr lang="fr-FR" sz="1800" dirty="0">
                <a:solidFill>
                  <a:srgbClr val="2B91AF"/>
                </a:solidFill>
                <a:latin typeface="Cascadia Mono" panose="020B0609020000020004" pitchFamily="49" charset="0"/>
              </a:rPr>
              <a:t>T1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, </a:t>
            </a:r>
            <a:r>
              <a:rPr lang="fr-FR" sz="1800" dirty="0">
                <a:solidFill>
                  <a:srgbClr val="2B91AF"/>
                </a:solidFill>
                <a:latin typeface="Cascadia Mono" panose="020B0609020000020004" pitchFamily="49" charset="0"/>
              </a:rPr>
              <a:t>T2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, </a:t>
            </a:r>
            <a:r>
              <a:rPr lang="fr-FR" sz="1800" dirty="0">
                <a:solidFill>
                  <a:srgbClr val="2B91AF"/>
                </a:solidFill>
                <a:latin typeface="Cascadia Mono" panose="020B0609020000020004" pitchFamily="49" charset="0"/>
              </a:rPr>
              <a:t>T3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&gt;(T1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t1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, T2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t2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, T3 t3);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58184122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/>
              <a:t>2. Généricité</a:t>
            </a:r>
            <a:endParaRPr lang="fr-FR" sz="3200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25263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 err="1"/>
              <a:t>Function</a:t>
            </a:r>
            <a:endParaRPr lang="fr-FR" sz="2400" b="1" dirty="0"/>
          </a:p>
          <a:p>
            <a:endParaRPr lang="fr-FR" sz="2400" dirty="0"/>
          </a:p>
          <a:p>
            <a:pPr marL="240029" indent="-227329">
              <a:lnSpc>
                <a:spcPct val="100000"/>
              </a:lnSpc>
              <a:spcBef>
                <a:spcPts val="595"/>
              </a:spcBef>
              <a:buClr>
                <a:srgbClr val="391778"/>
              </a:buClr>
              <a:buFont typeface="Arial"/>
              <a:buChar char="•"/>
              <a:tabLst>
                <a:tab pos="240029" algn="l"/>
              </a:tabLst>
            </a:pPr>
            <a:r>
              <a:rPr lang="fr-FR" sz="2400" b="1" dirty="0" err="1">
                <a:latin typeface="Segoe UI"/>
                <a:cs typeface="Segoe UI"/>
              </a:rPr>
              <a:t>Func</a:t>
            </a:r>
            <a:r>
              <a:rPr lang="fr-FR" sz="2400" b="1" spc="-2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s'utilise</a:t>
            </a:r>
            <a:r>
              <a:rPr lang="fr-FR" sz="2400" spc="-1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avec</a:t>
            </a:r>
            <a:r>
              <a:rPr lang="fr-FR" sz="2400" spc="-2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des</a:t>
            </a:r>
            <a:r>
              <a:rPr lang="fr-FR" sz="2400" spc="-4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méthodes</a:t>
            </a:r>
            <a:r>
              <a:rPr lang="fr-FR" sz="2400" spc="-25" dirty="0">
                <a:latin typeface="Segoe UI"/>
                <a:cs typeface="Segoe UI"/>
              </a:rPr>
              <a:t> </a:t>
            </a:r>
            <a:r>
              <a:rPr lang="fr-FR" sz="2400" spc="-50" dirty="0">
                <a:latin typeface="Segoe UI"/>
                <a:cs typeface="Segoe UI"/>
              </a:rPr>
              <a:t>:</a:t>
            </a:r>
            <a:endParaRPr lang="fr-FR" sz="2400" dirty="0">
              <a:latin typeface="Segoe UI"/>
              <a:cs typeface="Segoe UI"/>
            </a:endParaRPr>
          </a:p>
          <a:p>
            <a:pPr marL="697865" lvl="1" indent="-227965">
              <a:lnSpc>
                <a:spcPct val="100000"/>
              </a:lnSpc>
              <a:spcBef>
                <a:spcPts val="495"/>
              </a:spcBef>
              <a:buClr>
                <a:srgbClr val="391778"/>
              </a:buClr>
              <a:buFont typeface="Arial"/>
              <a:buChar char="•"/>
              <a:tabLst>
                <a:tab pos="697865" algn="l"/>
              </a:tabLst>
            </a:pPr>
            <a:r>
              <a:rPr lang="fr-FR" sz="2400" dirty="0">
                <a:latin typeface="Segoe UI"/>
                <a:cs typeface="Segoe UI"/>
              </a:rPr>
              <a:t>Permettant</a:t>
            </a:r>
            <a:r>
              <a:rPr lang="fr-FR" sz="2400" spc="-7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d'accepter</a:t>
            </a:r>
            <a:r>
              <a:rPr lang="fr-FR" sz="2400" spc="-6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de</a:t>
            </a:r>
            <a:r>
              <a:rPr lang="fr-FR" sz="2400" spc="-6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0</a:t>
            </a:r>
            <a:r>
              <a:rPr lang="fr-FR" sz="2400" spc="-4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à</a:t>
            </a:r>
            <a:r>
              <a:rPr lang="fr-FR" sz="2400" spc="-5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16</a:t>
            </a:r>
            <a:r>
              <a:rPr lang="fr-FR" sz="2400" spc="-5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paramètres</a:t>
            </a:r>
            <a:r>
              <a:rPr lang="fr-FR" sz="2400" spc="-85" dirty="0">
                <a:latin typeface="Segoe UI"/>
                <a:cs typeface="Segoe UI"/>
              </a:rPr>
              <a:t> </a:t>
            </a:r>
            <a:r>
              <a:rPr lang="fr-FR" sz="2400" spc="-10" dirty="0">
                <a:latin typeface="Segoe UI"/>
                <a:cs typeface="Segoe UI"/>
              </a:rPr>
              <a:t>entrants</a:t>
            </a:r>
            <a:endParaRPr lang="fr-FR" sz="2400" dirty="0">
              <a:latin typeface="Segoe UI"/>
              <a:cs typeface="Segoe UI"/>
            </a:endParaRPr>
          </a:p>
          <a:p>
            <a:pPr marL="697865" lvl="1" indent="-227965">
              <a:lnSpc>
                <a:spcPct val="100000"/>
              </a:lnSpc>
              <a:spcBef>
                <a:spcPts val="500"/>
              </a:spcBef>
              <a:buClr>
                <a:srgbClr val="391778"/>
              </a:buClr>
              <a:buFont typeface="Arial"/>
              <a:buChar char="•"/>
              <a:tabLst>
                <a:tab pos="697865" algn="l"/>
              </a:tabLst>
            </a:pPr>
            <a:r>
              <a:rPr lang="fr-FR" sz="2400" u="sng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Renvoyant</a:t>
            </a:r>
            <a:r>
              <a:rPr lang="fr-FR" sz="2400" u="sng" spc="-75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 </a:t>
            </a:r>
            <a:r>
              <a:rPr lang="fr-FR" sz="2400" u="sng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toujours</a:t>
            </a:r>
            <a:r>
              <a:rPr lang="fr-FR" sz="2400" u="sng" spc="-55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 </a:t>
            </a:r>
            <a:r>
              <a:rPr lang="fr-FR" sz="2400" u="sng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un</a:t>
            </a:r>
            <a:r>
              <a:rPr lang="fr-FR" sz="2400" u="sng" spc="-75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 </a:t>
            </a:r>
            <a:r>
              <a:rPr lang="fr-FR" sz="2400" u="sng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résultat</a:t>
            </a:r>
            <a:r>
              <a:rPr lang="fr-FR" sz="2400" spc="-7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(le</a:t>
            </a:r>
            <a:r>
              <a:rPr lang="fr-FR" sz="2000" spc="-6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dernier</a:t>
            </a:r>
            <a:r>
              <a:rPr lang="fr-FR" sz="2000" spc="-50" dirty="0">
                <a:latin typeface="Segoe UI"/>
                <a:cs typeface="Segoe UI"/>
              </a:rPr>
              <a:t> </a:t>
            </a:r>
            <a:r>
              <a:rPr lang="fr-FR" sz="2000" spc="-10" dirty="0">
                <a:latin typeface="Segoe UI"/>
                <a:cs typeface="Segoe UI"/>
              </a:rPr>
              <a:t>typage)</a:t>
            </a:r>
            <a:endParaRPr lang="fr-FR" sz="2000" dirty="0">
              <a:latin typeface="Segoe UI"/>
              <a:cs typeface="Segoe UI"/>
            </a:endParaRPr>
          </a:p>
          <a:p>
            <a:pPr marL="240029" indent="-227329">
              <a:lnSpc>
                <a:spcPct val="100000"/>
              </a:lnSpc>
              <a:spcBef>
                <a:spcPts val="100"/>
              </a:spcBef>
              <a:buClr>
                <a:srgbClr val="391778"/>
              </a:buClr>
              <a:buFont typeface="Arial"/>
              <a:buChar char="•"/>
              <a:tabLst>
                <a:tab pos="240029" algn="l"/>
              </a:tabLst>
            </a:pPr>
            <a:endParaRPr lang="fr-FR" sz="2400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E6A39A78-67FF-8D92-F2C2-31C7F77D476B}"/>
              </a:ext>
            </a:extLst>
          </p:cNvPr>
          <p:cNvSpPr txBox="1"/>
          <p:nvPr/>
        </p:nvSpPr>
        <p:spPr>
          <a:xfrm>
            <a:off x="1382485" y="4212265"/>
            <a:ext cx="1010194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TResult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Func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fr-FR" sz="18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TResult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&gt;();</a:t>
            </a:r>
          </a:p>
          <a:p>
            <a:r>
              <a:rPr lang="fr-FR" sz="18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TResult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Func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fr-FR" sz="1800" dirty="0">
                <a:solidFill>
                  <a:srgbClr val="2B91AF"/>
                </a:solidFill>
                <a:latin typeface="Cascadia Mono" panose="020B0609020000020004" pitchFamily="49" charset="0"/>
              </a:rPr>
              <a:t>T1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, </a:t>
            </a:r>
            <a:r>
              <a:rPr lang="fr-FR" sz="18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TResult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&gt;(T1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t1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, </a:t>
            </a:r>
            <a:r>
              <a:rPr lang="fr-FR" sz="18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TResult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tResult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fr-FR" sz="18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TResult</a:t>
            </a:r>
            <a:r>
              <a:rPr lang="de-DE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de-DE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Func</a:t>
            </a:r>
            <a:r>
              <a:rPr lang="de-DE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de-DE" sz="1800" dirty="0">
                <a:solidFill>
                  <a:srgbClr val="2B91AF"/>
                </a:solidFill>
                <a:latin typeface="Cascadia Mono" panose="020B0609020000020004" pitchFamily="49" charset="0"/>
              </a:rPr>
              <a:t>T1</a:t>
            </a:r>
            <a:r>
              <a:rPr lang="de-DE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, </a:t>
            </a:r>
            <a:r>
              <a:rPr lang="de-DE" sz="1800" dirty="0">
                <a:solidFill>
                  <a:srgbClr val="2B91AF"/>
                </a:solidFill>
                <a:latin typeface="Cascadia Mono" panose="020B0609020000020004" pitchFamily="49" charset="0"/>
              </a:rPr>
              <a:t>T2</a:t>
            </a:r>
            <a:r>
              <a:rPr lang="de-DE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, </a:t>
            </a:r>
            <a:r>
              <a:rPr lang="de-DE" sz="18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TResult</a:t>
            </a:r>
            <a:r>
              <a:rPr lang="de-DE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&gt;(T1 </a:t>
            </a:r>
            <a:r>
              <a:rPr lang="de-DE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t1</a:t>
            </a:r>
            <a:r>
              <a:rPr lang="de-DE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, T2 </a:t>
            </a:r>
            <a:r>
              <a:rPr lang="de-DE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t2</a:t>
            </a:r>
            <a:r>
              <a:rPr lang="de-DE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, </a:t>
            </a:r>
            <a:r>
              <a:rPr lang="fr-FR" sz="18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TResult</a:t>
            </a:r>
            <a:r>
              <a:rPr lang="de-DE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de-DE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tResult</a:t>
            </a:r>
            <a:r>
              <a:rPr lang="de-DE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fr-FR" sz="18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TResult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Func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fr-FR" sz="1800" dirty="0">
                <a:solidFill>
                  <a:srgbClr val="2B91AF"/>
                </a:solidFill>
                <a:latin typeface="Cascadia Mono" panose="020B0609020000020004" pitchFamily="49" charset="0"/>
              </a:rPr>
              <a:t>T1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, </a:t>
            </a:r>
            <a:r>
              <a:rPr lang="fr-FR" sz="1800" dirty="0">
                <a:solidFill>
                  <a:srgbClr val="2B91AF"/>
                </a:solidFill>
                <a:latin typeface="Cascadia Mono" panose="020B0609020000020004" pitchFamily="49" charset="0"/>
              </a:rPr>
              <a:t>T2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, </a:t>
            </a:r>
            <a:r>
              <a:rPr lang="fr-FR" sz="1800" dirty="0">
                <a:solidFill>
                  <a:srgbClr val="2B91AF"/>
                </a:solidFill>
                <a:latin typeface="Cascadia Mono" panose="020B0609020000020004" pitchFamily="49" charset="0"/>
              </a:rPr>
              <a:t>T3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, </a:t>
            </a:r>
            <a:r>
              <a:rPr lang="fr-FR" sz="18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TResult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&gt;(T1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t1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, T2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t2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, T3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t3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, </a:t>
            </a:r>
            <a:r>
              <a:rPr lang="fr-FR" sz="18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TResult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tResult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649611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26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que 2" descr="Questions avec un remplissage uni">
            <a:extLst>
              <a:ext uri="{FF2B5EF4-FFF2-40B4-BE49-F238E27FC236}">
                <a16:creationId xmlns:a16="http://schemas.microsoft.com/office/drawing/2014/main" id="{117F3F9E-E45E-9844-8215-AA148A5923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56000" y="1989000"/>
            <a:ext cx="2880000" cy="2880000"/>
          </a:xfrm>
          <a:prstGeom prst="rect">
            <a:avLst/>
          </a:prstGeom>
        </p:spPr>
      </p:pic>
      <p:sp>
        <p:nvSpPr>
          <p:cNvPr id="6" name="Titre 1">
            <a:extLst>
              <a:ext uri="{FF2B5EF4-FFF2-40B4-BE49-F238E27FC236}">
                <a16:creationId xmlns:a16="http://schemas.microsoft.com/office/drawing/2014/main" id="{6784514D-DFE8-6540-A8D9-ED1329C44D36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>
                <a:solidFill>
                  <a:schemeClr val="bg1"/>
                </a:solidFill>
              </a:rPr>
              <a:t>2. Généricité</a:t>
            </a:r>
          </a:p>
        </p:txBody>
      </p:sp>
    </p:spTree>
    <p:extLst>
      <p:ext uri="{BB962C8B-B14F-4D97-AF65-F5344CB8AC3E}">
        <p14:creationId xmlns:p14="http://schemas.microsoft.com/office/powerpoint/2010/main" val="118446763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26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1">
            <a:extLst>
              <a:ext uri="{FF2B5EF4-FFF2-40B4-BE49-F238E27FC236}">
                <a16:creationId xmlns:a16="http://schemas.microsoft.com/office/drawing/2014/main" id="{AC0B1E25-C870-E44C-9AEC-2F6389ADF8D7}"/>
              </a:ext>
            </a:extLst>
          </p:cNvPr>
          <p:cNvSpPr txBox="1">
            <a:spLocks/>
          </p:cNvSpPr>
          <p:nvPr/>
        </p:nvSpPr>
        <p:spPr>
          <a:xfrm>
            <a:off x="831850" y="1709738"/>
            <a:ext cx="10515600" cy="2851200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fr-FR" sz="5400" dirty="0"/>
          </a:p>
          <a:p>
            <a:endParaRPr lang="fr-FR" sz="5400" dirty="0"/>
          </a:p>
          <a:p>
            <a:endParaRPr lang="fr-FR" sz="5400" dirty="0"/>
          </a:p>
          <a:p>
            <a:r>
              <a:rPr lang="fr-FR" sz="5400" dirty="0">
                <a:solidFill>
                  <a:schemeClr val="bg1"/>
                </a:solidFill>
              </a:rPr>
              <a:t>3. Méthodes d’extension</a:t>
            </a:r>
          </a:p>
        </p:txBody>
      </p:sp>
    </p:spTree>
    <p:extLst>
      <p:ext uri="{BB962C8B-B14F-4D97-AF65-F5344CB8AC3E}">
        <p14:creationId xmlns:p14="http://schemas.microsoft.com/office/powerpoint/2010/main" val="94546781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3. Méthodes d’extension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Définition</a:t>
            </a:r>
          </a:p>
          <a:p>
            <a:endParaRPr lang="fr-FR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/>
              <a:t>Les méthodes d’extension permettent « </a:t>
            </a:r>
            <a:r>
              <a:rPr lang="fr-FR" sz="2400" b="1" dirty="0"/>
              <a:t>d’ajouter</a:t>
            </a:r>
            <a:r>
              <a:rPr lang="fr-FR" sz="2400" dirty="0"/>
              <a:t> » des méthodes à des types existants, sans modifier leur type d’origine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/>
              <a:t>Exemple 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fr-FR" sz="2400" dirty="0"/>
              <a:t>Ajouter une méthode à String pour inverser le texte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fr-FR" sz="2400" dirty="0"/>
              <a:t>Ajouter une méthode de tri custom à un tableau ou liste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fr-FR" sz="2400" dirty="0"/>
              <a:t>Ajouter une méthode d’extraction précise à un </a:t>
            </a:r>
            <a:r>
              <a:rPr lang="fr-FR" sz="2400" dirty="0" err="1"/>
              <a:t>DateTime</a:t>
            </a:r>
            <a:endParaRPr lang="fr-FR" sz="2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fr-FR" sz="2400" dirty="0"/>
              <a:t>Nouvelles opérations sur les collections (vu plus tard)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fr-FR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190975705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3. Méthodes d’extension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Principe</a:t>
            </a:r>
          </a:p>
          <a:p>
            <a:endParaRPr lang="fr-FR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/>
              <a:t>Réutilisabilité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fr-FR" sz="2000" dirty="0"/>
              <a:t>Permet d’ajouter des </a:t>
            </a:r>
            <a:r>
              <a:rPr lang="fr-FR" sz="2000" dirty="0" err="1"/>
              <a:t>features</a:t>
            </a:r>
            <a:r>
              <a:rPr lang="fr-FR" sz="2000" dirty="0"/>
              <a:t> souvent réutilisées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fr-FR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/>
              <a:t>Lisibilité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fr-FR" sz="2000" dirty="0"/>
              <a:t>Le code est plus lisible en utilisant des méthodes naturelles sur les objets</a:t>
            </a:r>
          </a:p>
          <a:p>
            <a:pPr lvl="1"/>
            <a:r>
              <a:rPr lang="fr-FR" sz="2000" dirty="0"/>
              <a:t>	🚩 </a:t>
            </a:r>
            <a:r>
              <a:rPr lang="fr-FR" sz="2000" dirty="0">
                <a:solidFill>
                  <a:srgbClr val="FF0000"/>
                </a:solidFill>
              </a:rPr>
              <a:t>À utiliser avec parcimonie</a:t>
            </a:r>
          </a:p>
          <a:p>
            <a:pPr lvl="1"/>
            <a:endParaRPr lang="fr-FR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/>
              <a:t>Encapsulation de la logique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fr-FR" sz="2000" dirty="0"/>
              <a:t>Regroupement de logique spécifique à un type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34032081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3. Méthodes d’extension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Exemple d’utilisation</a:t>
            </a:r>
          </a:p>
          <a:p>
            <a:endParaRPr lang="fr-FR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/>
              <a:t>Sans méthode d’extension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/>
              <a:t>Avec méthode d’extension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400"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D3D756B0-403A-3B5C-BE41-FF7225C6133B}"/>
              </a:ext>
            </a:extLst>
          </p:cNvPr>
          <p:cNvSpPr txBox="1"/>
          <p:nvPr/>
        </p:nvSpPr>
        <p:spPr>
          <a:xfrm>
            <a:off x="1263690" y="2869372"/>
            <a:ext cx="729248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myString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fr-FR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fr-FR" sz="18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Supinfo</a:t>
            </a:r>
            <a:r>
              <a:rPr lang="fr-FR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fr-F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reversed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fr-FR" sz="1800" dirty="0" err="1">
                <a:solidFill>
                  <a:schemeClr val="accent5">
                    <a:lumMod val="75000"/>
                  </a:schemeClr>
                </a:solidFill>
                <a:latin typeface="Cascadia Mono" panose="020B0609020000020004" pitchFamily="49" charset="0"/>
              </a:rPr>
              <a:t>StringHelper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.Reverse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myString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800" dirty="0" err="1">
                <a:solidFill>
                  <a:schemeClr val="accent5">
                    <a:lumMod val="75000"/>
                  </a:schemeClr>
                </a:solidFill>
                <a:latin typeface="Cascadia Mono" panose="020B0609020000020004" pitchFamily="49" charset="0"/>
              </a:rPr>
              <a:t>Console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.WriteLine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fr-FR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$"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reversed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r>
              <a:rPr lang="fr-FR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  <a:endParaRPr lang="fr-FR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4CA56D0B-1CED-CD0E-8868-4A3448AFEF20}"/>
              </a:ext>
            </a:extLst>
          </p:cNvPr>
          <p:cNvSpPr txBox="1"/>
          <p:nvPr/>
        </p:nvSpPr>
        <p:spPr>
          <a:xfrm>
            <a:off x="1263690" y="5016865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myString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fr-FR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fr-FR" sz="18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Supinfo</a:t>
            </a:r>
            <a:r>
              <a:rPr lang="fr-FR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fr-F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reversed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myString.Reverse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800" dirty="0" err="1">
                <a:solidFill>
                  <a:schemeClr val="accent5">
                    <a:lumMod val="75000"/>
                  </a:schemeClr>
                </a:solidFill>
                <a:latin typeface="Cascadia Mono" panose="020B0609020000020004" pitchFamily="49" charset="0"/>
              </a:rPr>
              <a:t>Console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.WriteLine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fr-FR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$"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reversed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r>
              <a:rPr lang="fr-FR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  <a:endParaRPr lang="fr-FR" dirty="0"/>
          </a:p>
        </p:txBody>
      </p: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7D7B6F69-0E28-6AB3-5974-27505DAF83DF}"/>
              </a:ext>
            </a:extLst>
          </p:cNvPr>
          <p:cNvCxnSpPr>
            <a:cxnSpLocks/>
          </p:cNvCxnSpPr>
          <p:nvPr/>
        </p:nvCxnSpPr>
        <p:spPr>
          <a:xfrm>
            <a:off x="3668486" y="3550024"/>
            <a:ext cx="4238385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eur droit 12">
            <a:extLst>
              <a:ext uri="{FF2B5EF4-FFF2-40B4-BE49-F238E27FC236}">
                <a16:creationId xmlns:a16="http://schemas.microsoft.com/office/drawing/2014/main" id="{C522123E-C73F-1B5F-51B0-16D136067597}"/>
              </a:ext>
            </a:extLst>
          </p:cNvPr>
          <p:cNvCxnSpPr>
            <a:cxnSpLocks/>
          </p:cNvCxnSpPr>
          <p:nvPr/>
        </p:nvCxnSpPr>
        <p:spPr>
          <a:xfrm>
            <a:off x="3668486" y="5701553"/>
            <a:ext cx="2624738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240268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3. Méthodes d’extension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Création</a:t>
            </a:r>
          </a:p>
          <a:p>
            <a:endParaRPr lang="fr-FR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/>
              <a:t>La classe de la méthode doit être </a:t>
            </a:r>
            <a:r>
              <a:rPr lang="fr-FR" sz="2400" b="1" dirty="0"/>
              <a:t>statique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/>
              <a:t>La méthode doit être </a:t>
            </a:r>
            <a:r>
              <a:rPr lang="fr-FR" sz="2400" b="1" dirty="0"/>
              <a:t>statique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/>
              <a:t>Le premier paramètre de la méthode porte sur le type nouvellement étendu, précédé du mot clé « </a:t>
            </a:r>
            <a:r>
              <a:rPr lang="fr-FR" sz="2400" b="1" dirty="0" err="1"/>
              <a:t>this</a:t>
            </a:r>
            <a:r>
              <a:rPr lang="fr-FR" sz="2400" dirty="0"/>
              <a:t> »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400" dirty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E598A56B-8237-9845-90BD-870B0B2B2B55}"/>
              </a:ext>
            </a:extLst>
          </p:cNvPr>
          <p:cNvSpPr txBox="1"/>
          <p:nvPr/>
        </p:nvSpPr>
        <p:spPr>
          <a:xfrm>
            <a:off x="2610204" y="3820410"/>
            <a:ext cx="6971591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b="1" dirty="0" err="1">
                <a:solidFill>
                  <a:srgbClr val="0000FF"/>
                </a:solidFill>
                <a:latin typeface="Cascadia Mono" panose="020B0609020000020004" pitchFamily="49" charset="0"/>
              </a:rPr>
              <a:t>static</a:t>
            </a:r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6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StringExtensions</a:t>
            </a:r>
            <a:endParaRPr lang="fr-FR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b="1" dirty="0">
                <a:solidFill>
                  <a:srgbClr val="0000FF"/>
                </a:solidFill>
                <a:latin typeface="Cascadia Mono" panose="020B0609020000020004" pitchFamily="49" charset="0"/>
              </a:rPr>
              <a:t>static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Reverse(</a:t>
            </a:r>
            <a:r>
              <a:rPr lang="en-US" b="1" dirty="0">
                <a:solidFill>
                  <a:srgbClr val="0000FF"/>
                </a:solidFill>
                <a:latin typeface="Cascadia Mono" panose="020B0609020000020004" pitchFamily="49" charset="0"/>
              </a:rPr>
              <a:t>this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str)</a:t>
            </a:r>
          </a:p>
          <a:p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fr-FR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StringBuilder</a:t>
            </a:r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sb = </a:t>
            </a:r>
            <a:r>
              <a:rPr lang="fr-FR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StringBuilder</a:t>
            </a:r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fr-FR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for</a:t>
            </a:r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fr-FR" sz="16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i = </a:t>
            </a:r>
            <a:r>
              <a:rPr lang="fr-FR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str.Length</a:t>
            </a:r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- 1; i &gt;= 0; i--)</a:t>
            </a:r>
          </a:p>
          <a:p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fr-FR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sb.Append</a:t>
            </a:r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fr-FR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str</a:t>
            </a:r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[i]);</a:t>
            </a:r>
          </a:p>
          <a:p>
            <a:endParaRPr lang="fr-FR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fr-FR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return</a:t>
            </a:r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sb.ToString</a:t>
            </a:r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</a:p>
          <a:p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fr-FR" sz="1600" dirty="0"/>
          </a:p>
        </p:txBody>
      </p:sp>
    </p:spTree>
    <p:extLst>
      <p:ext uri="{BB962C8B-B14F-4D97-AF65-F5344CB8AC3E}">
        <p14:creationId xmlns:p14="http://schemas.microsoft.com/office/powerpoint/2010/main" val="313599187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3. Méthodes d’extension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Utilisation</a:t>
            </a:r>
          </a:p>
          <a:p>
            <a:endParaRPr lang="fr-FR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400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4CA56D0B-1CED-CD0E-8868-4A3448AFEF20}"/>
              </a:ext>
            </a:extLst>
          </p:cNvPr>
          <p:cNvSpPr txBox="1"/>
          <p:nvPr/>
        </p:nvSpPr>
        <p:spPr>
          <a:xfrm>
            <a:off x="1416090" y="2436951"/>
            <a:ext cx="60960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using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ClientAPI.Extensions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endParaRPr lang="fr-FR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//...</a:t>
            </a:r>
            <a:endParaRPr lang="fr-FR" sz="1800" dirty="0">
              <a:solidFill>
                <a:srgbClr val="0000FF"/>
              </a:solidFill>
              <a:latin typeface="Cascadia Mono" panose="020B0609020000020004" pitchFamily="49" charset="0"/>
            </a:endParaRPr>
          </a:p>
          <a:p>
            <a:endParaRPr lang="fr-FR" dirty="0">
              <a:solidFill>
                <a:srgbClr val="0000FF"/>
              </a:solidFill>
              <a:latin typeface="Cascadia Mono" panose="020B0609020000020004" pitchFamily="49" charset="0"/>
            </a:endParaRPr>
          </a:p>
          <a:p>
            <a:r>
              <a:rPr lang="fr-F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myString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fr-FR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fr-FR" sz="18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Supinfo</a:t>
            </a:r>
            <a:r>
              <a:rPr lang="fr-FR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fr-F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reversed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myString.Reverse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Console.WriteLine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fr-FR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$"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reversed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r>
              <a:rPr lang="fr-FR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// sortie : </a:t>
            </a:r>
            <a:r>
              <a:rPr lang="fr-FR" sz="1800" dirty="0" err="1">
                <a:solidFill>
                  <a:srgbClr val="008000"/>
                </a:solidFill>
                <a:latin typeface="Cascadia Mono" panose="020B0609020000020004" pitchFamily="49" charset="0"/>
              </a:rPr>
              <a:t>ofnipuS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2219440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3. Méthodes d’extension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Limitations</a:t>
            </a:r>
          </a:p>
          <a:p>
            <a:endParaRPr lang="fr-FR" sz="2400" dirty="0"/>
          </a:p>
          <a:p>
            <a:endParaRPr lang="fr-FR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/>
              <a:t>Accès aux propriétés privées / protégées du type d’origine </a:t>
            </a:r>
            <a:r>
              <a:rPr lang="fr-FR" sz="2400" b="1" dirty="0"/>
              <a:t>impossible</a:t>
            </a:r>
            <a:endParaRPr lang="fr-FR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/>
              <a:t>Conflit de méthodes d’extension si même noms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/>
              <a:t>Les méthodes d’extension ne doivent pas être utilisés pour tout et n’importe quoi</a:t>
            </a:r>
          </a:p>
          <a:p>
            <a:r>
              <a:rPr lang="fr-FR" sz="2400" dirty="0"/>
              <a:t>	</a:t>
            </a:r>
            <a:r>
              <a:rPr lang="fr-FR" sz="2400" dirty="0">
                <a:sym typeface="Wingdings" panose="05000000000000000000" pitchFamily="2" charset="2"/>
              </a:rPr>
              <a:t> ne pas casser le principe de responsabilité unique des classes, ni se 			substituer à l’inversion de contrôle (</a:t>
            </a:r>
            <a:r>
              <a:rPr lang="fr-FR" sz="2400" dirty="0" err="1">
                <a:sym typeface="Wingdings" panose="05000000000000000000" pitchFamily="2" charset="2"/>
              </a:rPr>
              <a:t>IoC</a:t>
            </a:r>
            <a:r>
              <a:rPr lang="fr-FR" sz="2400" dirty="0">
                <a:sym typeface="Wingdings" panose="05000000000000000000" pitchFamily="2" charset="2"/>
              </a:rPr>
              <a:t>)</a:t>
            </a:r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201595705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3. Méthodes d’extension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Bonnes pratiques</a:t>
            </a:r>
          </a:p>
          <a:p>
            <a:endParaRPr lang="fr-FR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/>
              <a:t>Nommer les méthodes de manière significative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fr-FR" sz="2400" dirty="0"/>
              <a:t>Clair et concis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fr-FR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/>
              <a:t>Groupement logique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fr-FR" sz="2400" dirty="0"/>
              <a:t>Un type étendu par classe de méthodes d’extension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fr-FR" sz="2400" dirty="0"/>
              <a:t>Mais potentiellement plusieurs classes de méthodes par type étendu en fonction du domaine fonctionnel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fr-FR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/>
              <a:t>Ne pas abuser des méthodes d’extension, surtout pour des cas d’utilisation liés à l’application cible.</a:t>
            </a:r>
          </a:p>
        </p:txBody>
      </p:sp>
    </p:spTree>
    <p:extLst>
      <p:ext uri="{BB962C8B-B14F-4D97-AF65-F5344CB8AC3E}">
        <p14:creationId xmlns:p14="http://schemas.microsoft.com/office/powerpoint/2010/main" val="66633711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26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que 2" descr="Questions avec un remplissage uni">
            <a:extLst>
              <a:ext uri="{FF2B5EF4-FFF2-40B4-BE49-F238E27FC236}">
                <a16:creationId xmlns:a16="http://schemas.microsoft.com/office/drawing/2014/main" id="{117F3F9E-E45E-9844-8215-AA148A5923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56000" y="1989000"/>
            <a:ext cx="2880000" cy="2880000"/>
          </a:xfrm>
          <a:prstGeom prst="rect">
            <a:avLst/>
          </a:prstGeom>
        </p:spPr>
      </p:pic>
      <p:sp>
        <p:nvSpPr>
          <p:cNvPr id="6" name="Titre 1">
            <a:extLst>
              <a:ext uri="{FF2B5EF4-FFF2-40B4-BE49-F238E27FC236}">
                <a16:creationId xmlns:a16="http://schemas.microsoft.com/office/drawing/2014/main" id="{6784514D-DFE8-6540-A8D9-ED1329C44D36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>
                <a:solidFill>
                  <a:schemeClr val="bg1"/>
                </a:solidFill>
              </a:rPr>
              <a:t>3. Méthodes d’extension</a:t>
            </a:r>
          </a:p>
        </p:txBody>
      </p:sp>
    </p:spTree>
    <p:extLst>
      <p:ext uri="{BB962C8B-B14F-4D97-AF65-F5344CB8AC3E}">
        <p14:creationId xmlns:p14="http://schemas.microsoft.com/office/powerpoint/2010/main" val="137227909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26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1">
            <a:extLst>
              <a:ext uri="{FF2B5EF4-FFF2-40B4-BE49-F238E27FC236}">
                <a16:creationId xmlns:a16="http://schemas.microsoft.com/office/drawing/2014/main" id="{AC0B1E25-C870-E44C-9AEC-2F6389ADF8D7}"/>
              </a:ext>
            </a:extLst>
          </p:cNvPr>
          <p:cNvSpPr txBox="1">
            <a:spLocks/>
          </p:cNvSpPr>
          <p:nvPr/>
        </p:nvSpPr>
        <p:spPr>
          <a:xfrm>
            <a:off x="831850" y="1709738"/>
            <a:ext cx="10515600" cy="2851200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fr-FR" sz="5400" dirty="0"/>
          </a:p>
          <a:p>
            <a:endParaRPr lang="fr-FR" sz="5400" dirty="0"/>
          </a:p>
          <a:p>
            <a:endParaRPr lang="fr-FR" sz="5400" dirty="0"/>
          </a:p>
          <a:p>
            <a:r>
              <a:rPr lang="fr-FR" sz="5400" dirty="0">
                <a:solidFill>
                  <a:schemeClr val="bg1"/>
                </a:solidFill>
              </a:rPr>
              <a:t>4. Multitasking</a:t>
            </a:r>
          </a:p>
        </p:txBody>
      </p:sp>
    </p:spTree>
    <p:extLst>
      <p:ext uri="{BB962C8B-B14F-4D97-AF65-F5344CB8AC3E}">
        <p14:creationId xmlns:p14="http://schemas.microsoft.com/office/powerpoint/2010/main" val="23765949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4. Multitasking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41293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40029" marR="471170" indent="-227329">
              <a:lnSpc>
                <a:spcPts val="2590"/>
              </a:lnSpc>
              <a:spcBef>
                <a:spcPts val="425"/>
              </a:spcBef>
              <a:buClr>
                <a:srgbClr val="391778"/>
              </a:buClr>
              <a:buFont typeface="Arial"/>
              <a:buChar char="•"/>
              <a:tabLst>
                <a:tab pos="241300" algn="l"/>
              </a:tabLst>
            </a:pPr>
            <a:endParaRPr lang="fr-FR" sz="2400" dirty="0">
              <a:latin typeface="Segoe UI"/>
              <a:cs typeface="Segoe UI"/>
            </a:endParaRPr>
          </a:p>
          <a:p>
            <a:pPr marL="240029" marR="471170" indent="-227329">
              <a:lnSpc>
                <a:spcPts val="2590"/>
              </a:lnSpc>
              <a:spcBef>
                <a:spcPts val="425"/>
              </a:spcBef>
              <a:buClr>
                <a:srgbClr val="391778"/>
              </a:buClr>
              <a:buFont typeface="Arial"/>
              <a:buChar char="•"/>
              <a:tabLst>
                <a:tab pos="241300" algn="l"/>
              </a:tabLst>
            </a:pPr>
            <a:r>
              <a:rPr lang="fr-FR" sz="2400" dirty="0">
                <a:latin typeface="Segoe UI"/>
                <a:cs typeface="Segoe UI"/>
              </a:rPr>
              <a:t>En</a:t>
            </a:r>
            <a:r>
              <a:rPr lang="fr-FR" sz="2400" spc="-55" dirty="0">
                <a:latin typeface="Segoe UI"/>
                <a:cs typeface="Segoe UI"/>
              </a:rPr>
              <a:t> </a:t>
            </a:r>
            <a:r>
              <a:rPr lang="fr-FR" sz="2400" spc="-10" dirty="0">
                <a:latin typeface="Segoe UI"/>
                <a:cs typeface="Segoe UI"/>
              </a:rPr>
              <a:t>.NET,</a:t>
            </a:r>
            <a:r>
              <a:rPr lang="fr-FR" sz="2400" spc="-2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comme</a:t>
            </a:r>
            <a:r>
              <a:rPr lang="fr-FR" sz="2400" spc="-5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dans</a:t>
            </a:r>
            <a:r>
              <a:rPr lang="fr-FR" sz="2400" spc="-5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beaucoup</a:t>
            </a:r>
            <a:r>
              <a:rPr lang="fr-FR" sz="2400" spc="-5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de</a:t>
            </a:r>
            <a:r>
              <a:rPr lang="fr-FR" sz="2400" spc="-6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langages,</a:t>
            </a:r>
            <a:r>
              <a:rPr lang="fr-FR" sz="2400" spc="-4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on</a:t>
            </a:r>
            <a:r>
              <a:rPr lang="fr-FR" sz="2400" spc="-4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peut</a:t>
            </a:r>
            <a:r>
              <a:rPr lang="fr-FR" sz="2400" spc="-65" dirty="0">
                <a:latin typeface="Segoe UI"/>
                <a:cs typeface="Segoe UI"/>
              </a:rPr>
              <a:t> </a:t>
            </a:r>
            <a:r>
              <a:rPr lang="fr-FR" sz="2400" spc="-10" dirty="0">
                <a:latin typeface="Segoe UI"/>
                <a:cs typeface="Segoe UI"/>
              </a:rPr>
              <a:t>directement 	</a:t>
            </a:r>
            <a:r>
              <a:rPr lang="fr-FR" sz="2400" dirty="0">
                <a:latin typeface="Segoe UI"/>
                <a:cs typeface="Segoe UI"/>
              </a:rPr>
              <a:t>manipuler</a:t>
            </a:r>
            <a:r>
              <a:rPr lang="fr-FR" sz="2400" spc="-3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les</a:t>
            </a:r>
            <a:r>
              <a:rPr lang="fr-FR" sz="2400" spc="-65" dirty="0">
                <a:latin typeface="Segoe UI"/>
                <a:cs typeface="Segoe UI"/>
              </a:rPr>
              <a:t> </a:t>
            </a:r>
            <a:r>
              <a:rPr lang="fr-FR" sz="2400" spc="-10" dirty="0">
                <a:latin typeface="Segoe UI"/>
                <a:cs typeface="Segoe UI"/>
              </a:rPr>
              <a:t>threads</a:t>
            </a:r>
            <a:endParaRPr lang="fr-FR" sz="240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spcBef>
                <a:spcPts val="234"/>
              </a:spcBef>
              <a:buClr>
                <a:srgbClr val="391778"/>
              </a:buClr>
              <a:buFont typeface="Arial"/>
              <a:buChar char="•"/>
              <a:tabLst>
                <a:tab pos="698500" algn="l"/>
              </a:tabLst>
            </a:pPr>
            <a:r>
              <a:rPr lang="fr-FR" sz="2000" dirty="0">
                <a:latin typeface="Segoe UI"/>
                <a:cs typeface="Segoe UI"/>
              </a:rPr>
              <a:t>Les</a:t>
            </a:r>
            <a:r>
              <a:rPr lang="fr-FR" sz="2000" spc="-5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classes</a:t>
            </a:r>
            <a:r>
              <a:rPr lang="fr-FR" sz="2000" spc="-30" dirty="0">
                <a:latin typeface="Segoe UI"/>
                <a:cs typeface="Segoe UI"/>
              </a:rPr>
              <a:t> </a:t>
            </a:r>
            <a:r>
              <a:rPr lang="fr-FR" sz="2000" i="1" dirty="0">
                <a:latin typeface="Segoe UI"/>
                <a:cs typeface="Segoe UI"/>
              </a:rPr>
              <a:t>Thread</a:t>
            </a:r>
            <a:r>
              <a:rPr lang="fr-FR" sz="2000" i="1" spc="-4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et</a:t>
            </a:r>
            <a:r>
              <a:rPr lang="fr-FR" sz="2000" spc="-35" dirty="0">
                <a:latin typeface="Segoe UI"/>
                <a:cs typeface="Segoe UI"/>
              </a:rPr>
              <a:t> </a:t>
            </a:r>
            <a:r>
              <a:rPr lang="fr-FR" sz="2000" i="1" dirty="0" err="1">
                <a:latin typeface="Segoe UI"/>
                <a:cs typeface="Segoe UI"/>
              </a:rPr>
              <a:t>ThreadPool</a:t>
            </a:r>
            <a:r>
              <a:rPr lang="fr-FR" sz="2000" i="1" spc="-3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sont</a:t>
            </a:r>
            <a:r>
              <a:rPr lang="fr-FR" sz="2000" spc="-35" dirty="0">
                <a:latin typeface="Segoe UI"/>
                <a:cs typeface="Segoe UI"/>
              </a:rPr>
              <a:t> </a:t>
            </a:r>
            <a:r>
              <a:rPr lang="fr-FR" sz="2000" spc="-10" dirty="0">
                <a:latin typeface="Segoe UI"/>
                <a:cs typeface="Segoe UI"/>
              </a:rPr>
              <a:t>d’ailleurs</a:t>
            </a:r>
            <a:r>
              <a:rPr lang="fr-FR" sz="2000" spc="-25" dirty="0">
                <a:latin typeface="Segoe UI"/>
                <a:cs typeface="Segoe UI"/>
              </a:rPr>
              <a:t> </a:t>
            </a:r>
            <a:r>
              <a:rPr lang="fr-FR" sz="2000" spc="-10" dirty="0">
                <a:latin typeface="Segoe UI"/>
                <a:cs typeface="Segoe UI"/>
              </a:rPr>
              <a:t>disponibles</a:t>
            </a:r>
            <a:endParaRPr lang="fr-FR" sz="200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spcBef>
                <a:spcPts val="265"/>
              </a:spcBef>
              <a:buClr>
                <a:srgbClr val="391778"/>
              </a:buClr>
              <a:buFont typeface="Arial"/>
              <a:buChar char="•"/>
              <a:tabLst>
                <a:tab pos="698500" algn="l"/>
              </a:tabLst>
            </a:pPr>
            <a:r>
              <a:rPr lang="fr-FR" sz="2000" dirty="0">
                <a:latin typeface="Segoe UI"/>
                <a:cs typeface="Segoe UI"/>
              </a:rPr>
              <a:t>La</a:t>
            </a:r>
            <a:r>
              <a:rPr lang="fr-FR" sz="2000" spc="-4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manipulation</a:t>
            </a:r>
            <a:r>
              <a:rPr lang="fr-FR" sz="2000" spc="-3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des</a:t>
            </a:r>
            <a:r>
              <a:rPr lang="fr-FR" sz="2000" spc="-2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threads</a:t>
            </a:r>
            <a:r>
              <a:rPr lang="fr-FR" sz="2000" spc="-3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est</a:t>
            </a:r>
            <a:r>
              <a:rPr lang="fr-FR" sz="2000" spc="-25" dirty="0">
                <a:latin typeface="Segoe UI"/>
                <a:cs typeface="Segoe UI"/>
              </a:rPr>
              <a:t> </a:t>
            </a:r>
            <a:r>
              <a:rPr lang="fr-FR" sz="2000" spc="-10" dirty="0">
                <a:latin typeface="Segoe UI"/>
                <a:cs typeface="Segoe UI"/>
              </a:rPr>
              <a:t>complexe</a:t>
            </a:r>
            <a:endParaRPr lang="fr-FR" sz="2000" dirty="0">
              <a:latin typeface="Segoe UI"/>
              <a:cs typeface="Segoe UI"/>
            </a:endParaRPr>
          </a:p>
          <a:p>
            <a:pPr lvl="1">
              <a:lnSpc>
                <a:spcPct val="100000"/>
              </a:lnSpc>
              <a:spcBef>
                <a:spcPts val="1310"/>
              </a:spcBef>
              <a:buClr>
                <a:srgbClr val="391778"/>
              </a:buClr>
              <a:buFont typeface="Arial"/>
              <a:buChar char="•"/>
            </a:pPr>
            <a:endParaRPr lang="fr-FR" sz="2000" dirty="0">
              <a:latin typeface="Segoe UI"/>
              <a:cs typeface="Segoe UI"/>
            </a:endParaRPr>
          </a:p>
          <a:p>
            <a:pPr marL="240029" marR="347345" indent="-227329">
              <a:lnSpc>
                <a:spcPts val="2590"/>
              </a:lnSpc>
              <a:buClr>
                <a:srgbClr val="391778"/>
              </a:buClr>
              <a:buFont typeface="Arial"/>
              <a:buChar char="•"/>
              <a:tabLst>
                <a:tab pos="241300" algn="l"/>
              </a:tabLst>
            </a:pPr>
            <a:r>
              <a:rPr lang="fr-FR" sz="2400" dirty="0">
                <a:latin typeface="Segoe UI"/>
                <a:cs typeface="Segoe UI"/>
              </a:rPr>
              <a:t>Cependant,</a:t>
            </a:r>
            <a:r>
              <a:rPr lang="fr-FR" sz="2400" spc="-6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afin</a:t>
            </a:r>
            <a:r>
              <a:rPr lang="fr-FR" sz="2400" spc="-5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de</a:t>
            </a:r>
            <a:r>
              <a:rPr lang="fr-FR" sz="2400" spc="-6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simplifier</a:t>
            </a:r>
            <a:r>
              <a:rPr lang="fr-FR" sz="2400" spc="-3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la</a:t>
            </a:r>
            <a:r>
              <a:rPr lang="fr-FR" sz="2400" spc="-4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manipulation</a:t>
            </a:r>
            <a:r>
              <a:rPr lang="fr-FR" sz="2400" spc="-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de</a:t>
            </a:r>
            <a:r>
              <a:rPr lang="fr-FR" sz="2400" spc="-6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threads,</a:t>
            </a:r>
            <a:r>
              <a:rPr lang="fr-FR" sz="2400" spc="-7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.NET</a:t>
            </a:r>
            <a:r>
              <a:rPr lang="fr-FR" sz="2400" spc="-35" dirty="0">
                <a:latin typeface="Segoe UI"/>
                <a:cs typeface="Segoe UI"/>
              </a:rPr>
              <a:t> </a:t>
            </a:r>
            <a:r>
              <a:rPr lang="fr-FR" sz="2400" spc="-20" dirty="0">
                <a:latin typeface="Segoe UI"/>
                <a:cs typeface="Segoe UI"/>
              </a:rPr>
              <a:t>nous 	</a:t>
            </a:r>
            <a:r>
              <a:rPr lang="fr-FR" sz="2400" dirty="0">
                <a:latin typeface="Segoe UI"/>
                <a:cs typeface="Segoe UI"/>
              </a:rPr>
              <a:t>propose</a:t>
            </a:r>
            <a:r>
              <a:rPr lang="fr-FR" sz="2400" spc="-5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la</a:t>
            </a:r>
            <a:r>
              <a:rPr lang="fr-FR" sz="2400" spc="-4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classe</a:t>
            </a:r>
            <a:r>
              <a:rPr lang="fr-FR" sz="2400" spc="-45" dirty="0">
                <a:latin typeface="Segoe UI"/>
                <a:cs typeface="Segoe UI"/>
              </a:rPr>
              <a:t> </a:t>
            </a:r>
            <a:r>
              <a:rPr lang="fr-FR" sz="2400" b="1" spc="-20" dirty="0" err="1">
                <a:latin typeface="Segoe UI"/>
                <a:cs typeface="Segoe UI"/>
              </a:rPr>
              <a:t>Task</a:t>
            </a:r>
            <a:endParaRPr lang="fr-FR" sz="2400" dirty="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980"/>
              </a:spcBef>
              <a:buClr>
                <a:srgbClr val="391778"/>
              </a:buClr>
              <a:buFont typeface="Arial"/>
              <a:buChar char="•"/>
            </a:pPr>
            <a:endParaRPr lang="fr-FR" sz="2400" dirty="0">
              <a:latin typeface="Segoe UI"/>
              <a:cs typeface="Segoe UI"/>
            </a:endParaRPr>
          </a:p>
          <a:p>
            <a:pPr marL="240029" marR="5080" indent="-227329">
              <a:lnSpc>
                <a:spcPts val="2590"/>
              </a:lnSpc>
              <a:buClr>
                <a:srgbClr val="391778"/>
              </a:buClr>
              <a:buFont typeface="Arial"/>
              <a:buChar char="•"/>
              <a:tabLst>
                <a:tab pos="241300" algn="l"/>
              </a:tabLst>
            </a:pPr>
            <a:r>
              <a:rPr lang="fr-FR" sz="2400" dirty="0">
                <a:latin typeface="Segoe UI"/>
                <a:cs typeface="Segoe UI"/>
              </a:rPr>
              <a:t>La</a:t>
            </a:r>
            <a:r>
              <a:rPr lang="fr-FR" sz="2400" spc="-5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classe</a:t>
            </a:r>
            <a:r>
              <a:rPr lang="fr-FR" sz="2400" spc="-40" dirty="0">
                <a:latin typeface="Segoe UI"/>
                <a:cs typeface="Segoe UI"/>
              </a:rPr>
              <a:t> </a:t>
            </a:r>
            <a:r>
              <a:rPr lang="fr-FR" sz="2400" b="1" spc="-35" dirty="0" err="1">
                <a:latin typeface="Segoe UI"/>
                <a:cs typeface="Segoe UI"/>
              </a:rPr>
              <a:t>Task</a:t>
            </a:r>
            <a:r>
              <a:rPr lang="fr-FR" sz="2400" b="1" spc="-5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nous</a:t>
            </a:r>
            <a:r>
              <a:rPr lang="fr-FR" sz="2400" spc="-3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permet</a:t>
            </a:r>
            <a:r>
              <a:rPr lang="fr-FR" sz="2400" spc="-6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ainsi</a:t>
            </a:r>
            <a:r>
              <a:rPr lang="fr-FR" sz="2400" spc="-3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de</a:t>
            </a:r>
            <a:r>
              <a:rPr lang="fr-FR" sz="2400" spc="-5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manipuler</a:t>
            </a:r>
            <a:r>
              <a:rPr lang="fr-FR" sz="2400" spc="-2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de</a:t>
            </a:r>
            <a:r>
              <a:rPr lang="fr-FR" sz="2400" spc="-5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nombreux</a:t>
            </a:r>
            <a:r>
              <a:rPr lang="fr-FR" sz="2400" spc="-50" dirty="0">
                <a:latin typeface="Segoe UI"/>
                <a:cs typeface="Segoe UI"/>
              </a:rPr>
              <a:t> </a:t>
            </a:r>
            <a:r>
              <a:rPr lang="fr-FR" sz="2400" spc="-10" dirty="0">
                <a:latin typeface="Segoe UI"/>
                <a:cs typeface="Segoe UI"/>
              </a:rPr>
              <a:t>concepts 	</a:t>
            </a:r>
            <a:r>
              <a:rPr lang="fr-FR" sz="2400" dirty="0">
                <a:latin typeface="Segoe UI"/>
                <a:cs typeface="Segoe UI"/>
              </a:rPr>
              <a:t>du</a:t>
            </a:r>
            <a:r>
              <a:rPr lang="fr-FR" sz="2400" spc="-30" dirty="0">
                <a:latin typeface="Segoe UI"/>
                <a:cs typeface="Segoe UI"/>
              </a:rPr>
              <a:t> </a:t>
            </a:r>
            <a:r>
              <a:rPr lang="fr-FR" sz="2400" spc="-10" dirty="0">
                <a:latin typeface="Segoe UI"/>
                <a:cs typeface="Segoe UI"/>
              </a:rPr>
              <a:t>multitâches</a:t>
            </a:r>
            <a:endParaRPr lang="fr-FR" sz="2400" dirty="0"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181338007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4. Multitasking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27674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 marR="471170">
              <a:lnSpc>
                <a:spcPts val="2590"/>
              </a:lnSpc>
              <a:spcBef>
                <a:spcPts val="425"/>
              </a:spcBef>
              <a:buClr>
                <a:srgbClr val="391778"/>
              </a:buClr>
              <a:tabLst>
                <a:tab pos="241300" algn="l"/>
              </a:tabLst>
            </a:pPr>
            <a:r>
              <a:rPr lang="fr-FR" sz="2400" b="1" dirty="0">
                <a:latin typeface="Segoe UI"/>
                <a:cs typeface="Segoe UI"/>
              </a:rPr>
              <a:t>Utilisation</a:t>
            </a:r>
          </a:p>
          <a:p>
            <a:pPr marL="240029" marR="471170" indent="-227329">
              <a:lnSpc>
                <a:spcPts val="2590"/>
              </a:lnSpc>
              <a:spcBef>
                <a:spcPts val="425"/>
              </a:spcBef>
              <a:buClr>
                <a:srgbClr val="391778"/>
              </a:buClr>
              <a:buFont typeface="Arial"/>
              <a:buChar char="•"/>
              <a:tabLst>
                <a:tab pos="241300" algn="l"/>
              </a:tabLst>
            </a:pPr>
            <a:endParaRPr lang="fr-FR" sz="2400" dirty="0">
              <a:latin typeface="Segoe UI"/>
              <a:cs typeface="Segoe UI"/>
            </a:endParaRPr>
          </a:p>
          <a:p>
            <a:pPr marL="240029" indent="-227329">
              <a:lnSpc>
                <a:spcPct val="100000"/>
              </a:lnSpc>
              <a:spcBef>
                <a:spcPts val="100"/>
              </a:spcBef>
              <a:buClr>
                <a:srgbClr val="391778"/>
              </a:buClr>
              <a:buFont typeface="Arial"/>
              <a:buChar char="•"/>
              <a:tabLst>
                <a:tab pos="240029" algn="l"/>
              </a:tabLst>
            </a:pPr>
            <a:r>
              <a:rPr lang="fr-FR" dirty="0">
                <a:latin typeface="Segoe UI"/>
                <a:cs typeface="Segoe UI"/>
              </a:rPr>
              <a:t>Lancer</a:t>
            </a:r>
            <a:r>
              <a:rPr lang="fr-FR" spc="-65" dirty="0">
                <a:latin typeface="Segoe UI"/>
                <a:cs typeface="Segoe UI"/>
              </a:rPr>
              <a:t> </a:t>
            </a:r>
            <a:r>
              <a:rPr lang="fr-FR" dirty="0">
                <a:latin typeface="Segoe UI"/>
                <a:cs typeface="Segoe UI"/>
              </a:rPr>
              <a:t>directement</a:t>
            </a:r>
            <a:r>
              <a:rPr lang="fr-FR" spc="-60" dirty="0">
                <a:latin typeface="Segoe UI"/>
                <a:cs typeface="Segoe UI"/>
              </a:rPr>
              <a:t> </a:t>
            </a:r>
            <a:r>
              <a:rPr lang="fr-FR" dirty="0">
                <a:latin typeface="Segoe UI"/>
                <a:cs typeface="Segoe UI"/>
              </a:rPr>
              <a:t>une</a:t>
            </a:r>
            <a:r>
              <a:rPr lang="fr-FR" spc="-60" dirty="0">
                <a:latin typeface="Segoe UI"/>
                <a:cs typeface="Segoe UI"/>
              </a:rPr>
              <a:t> </a:t>
            </a:r>
            <a:r>
              <a:rPr lang="fr-FR" dirty="0">
                <a:latin typeface="Segoe UI"/>
                <a:cs typeface="Segoe UI"/>
              </a:rPr>
              <a:t>tache</a:t>
            </a:r>
            <a:r>
              <a:rPr lang="fr-FR" spc="-50" dirty="0">
                <a:latin typeface="Segoe UI"/>
                <a:cs typeface="Segoe UI"/>
              </a:rPr>
              <a:t> :</a:t>
            </a:r>
          </a:p>
          <a:p>
            <a:pPr marL="240029" indent="-227329">
              <a:lnSpc>
                <a:spcPct val="100000"/>
              </a:lnSpc>
              <a:spcBef>
                <a:spcPts val="100"/>
              </a:spcBef>
              <a:buClr>
                <a:srgbClr val="391778"/>
              </a:buClr>
              <a:buFont typeface="Arial"/>
              <a:buChar char="•"/>
              <a:tabLst>
                <a:tab pos="240029" algn="l"/>
              </a:tabLst>
            </a:pPr>
            <a:endParaRPr lang="fr-FR" dirty="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459"/>
              </a:spcBef>
              <a:buClr>
                <a:srgbClr val="391778"/>
              </a:buClr>
              <a:buFont typeface="Arial"/>
              <a:buChar char="•"/>
            </a:pPr>
            <a:endParaRPr lang="fr-FR" dirty="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1595"/>
              </a:spcBef>
            </a:pPr>
            <a:endParaRPr lang="fr-FR" dirty="0">
              <a:latin typeface="Consolas"/>
              <a:cs typeface="Consolas"/>
            </a:endParaRPr>
          </a:p>
          <a:p>
            <a:pPr marL="240029" indent="-227329">
              <a:lnSpc>
                <a:spcPct val="100000"/>
              </a:lnSpc>
              <a:spcBef>
                <a:spcPts val="5"/>
              </a:spcBef>
              <a:buClr>
                <a:srgbClr val="391778"/>
              </a:buClr>
              <a:buFont typeface="Arial"/>
              <a:buChar char="•"/>
              <a:tabLst>
                <a:tab pos="240029" algn="l"/>
              </a:tabLst>
            </a:pPr>
            <a:r>
              <a:rPr lang="fr-FR" dirty="0">
                <a:latin typeface="Segoe UI"/>
                <a:cs typeface="Segoe UI"/>
              </a:rPr>
              <a:t>Créer</a:t>
            </a:r>
            <a:r>
              <a:rPr lang="fr-FR" spc="-50" dirty="0">
                <a:latin typeface="Segoe UI"/>
                <a:cs typeface="Segoe UI"/>
              </a:rPr>
              <a:t> </a:t>
            </a:r>
            <a:r>
              <a:rPr lang="fr-FR" dirty="0">
                <a:latin typeface="Segoe UI"/>
                <a:cs typeface="Segoe UI"/>
              </a:rPr>
              <a:t>une</a:t>
            </a:r>
            <a:r>
              <a:rPr lang="fr-FR" spc="-20" dirty="0">
                <a:latin typeface="Segoe UI"/>
                <a:cs typeface="Segoe UI"/>
              </a:rPr>
              <a:t> </a:t>
            </a:r>
            <a:r>
              <a:rPr lang="fr-FR" dirty="0">
                <a:latin typeface="Segoe UI"/>
                <a:cs typeface="Segoe UI"/>
              </a:rPr>
              <a:t>tache</a:t>
            </a:r>
            <a:r>
              <a:rPr lang="fr-FR" spc="-35" dirty="0">
                <a:latin typeface="Segoe UI"/>
                <a:cs typeface="Segoe UI"/>
              </a:rPr>
              <a:t> </a:t>
            </a:r>
            <a:r>
              <a:rPr lang="fr-FR" dirty="0">
                <a:latin typeface="Segoe UI"/>
                <a:cs typeface="Segoe UI"/>
              </a:rPr>
              <a:t>puis</a:t>
            </a:r>
            <a:r>
              <a:rPr lang="fr-FR" spc="-25" dirty="0">
                <a:latin typeface="Segoe UI"/>
                <a:cs typeface="Segoe UI"/>
              </a:rPr>
              <a:t> </a:t>
            </a:r>
            <a:r>
              <a:rPr lang="fr-FR" dirty="0">
                <a:latin typeface="Segoe UI"/>
                <a:cs typeface="Segoe UI"/>
              </a:rPr>
              <a:t>la</a:t>
            </a:r>
            <a:r>
              <a:rPr lang="fr-FR" spc="-30" dirty="0">
                <a:latin typeface="Segoe UI"/>
                <a:cs typeface="Segoe UI"/>
              </a:rPr>
              <a:t> </a:t>
            </a:r>
            <a:r>
              <a:rPr lang="fr-FR" dirty="0">
                <a:latin typeface="Segoe UI"/>
                <a:cs typeface="Segoe UI"/>
              </a:rPr>
              <a:t>lancer</a:t>
            </a:r>
            <a:r>
              <a:rPr lang="fr-FR" spc="-10" dirty="0">
                <a:latin typeface="Segoe UI"/>
                <a:cs typeface="Segoe UI"/>
              </a:rPr>
              <a:t> </a:t>
            </a:r>
            <a:r>
              <a:rPr lang="fr-FR" spc="-50" dirty="0">
                <a:latin typeface="Segoe UI"/>
                <a:cs typeface="Segoe UI"/>
              </a:rPr>
              <a:t>:</a:t>
            </a:r>
            <a:endParaRPr lang="fr-FR" dirty="0">
              <a:latin typeface="Segoe UI"/>
              <a:cs typeface="Segoe UI"/>
            </a:endParaRPr>
          </a:p>
          <a:p>
            <a:pPr>
              <a:lnSpc>
                <a:spcPct val="100000"/>
              </a:lnSpc>
            </a:pPr>
            <a:endParaRPr lang="fr-FR" dirty="0">
              <a:latin typeface="Segoe UI"/>
              <a:cs typeface="Segoe UI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E887B424-4B48-05C0-8CC5-BA09696A3211}"/>
              </a:ext>
            </a:extLst>
          </p:cNvPr>
          <p:cNvSpPr txBox="1"/>
          <p:nvPr/>
        </p:nvSpPr>
        <p:spPr>
          <a:xfrm>
            <a:off x="1206166" y="2782669"/>
            <a:ext cx="117759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accent5">
                    <a:lumMod val="75000"/>
                  </a:schemeClr>
                </a:solidFill>
                <a:latin typeface="Cascadia Mono" panose="020B0609020000020004" pitchFamily="49" charset="0"/>
              </a:rPr>
              <a:t>Task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myTask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US" sz="1800" dirty="0" err="1">
                <a:solidFill>
                  <a:schemeClr val="accent5">
                    <a:lumMod val="75000"/>
                  </a:schemeClr>
                </a:solidFill>
                <a:latin typeface="Cascadia Mono" panose="020B0609020000020004" pitchFamily="49" charset="0"/>
              </a:rPr>
              <a:t>Task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</a:t>
            </a:r>
            <a:r>
              <a:rPr lang="en-US" sz="1800" b="1" dirty="0" err="1">
                <a:solidFill>
                  <a:srgbClr val="000000"/>
                </a:solidFill>
                <a:latin typeface="Cascadia Mono" panose="020B0609020000020004" pitchFamily="49" charset="0"/>
              </a:rPr>
              <a:t>Run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(() =&gt; </a:t>
            </a:r>
            <a:r>
              <a:rPr lang="en-US" sz="1800" dirty="0" err="1">
                <a:solidFill>
                  <a:schemeClr val="accent5">
                    <a:lumMod val="75000"/>
                  </a:schemeClr>
                </a:solidFill>
                <a:latin typeface="Cascadia Mono" panose="020B0609020000020004" pitchFamily="49" charset="0"/>
              </a:rPr>
              <a:t>Console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.WriteLine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"Do something in background"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));</a:t>
            </a:r>
            <a:endParaRPr lang="fr-FR" dirty="0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6A7D89FE-3F9A-E9CE-650B-8B9F1D80CCD3}"/>
              </a:ext>
            </a:extLst>
          </p:cNvPr>
          <p:cNvSpPr txBox="1"/>
          <p:nvPr/>
        </p:nvSpPr>
        <p:spPr>
          <a:xfrm>
            <a:off x="1296403" y="4198654"/>
            <a:ext cx="649103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 err="1">
                <a:solidFill>
                  <a:schemeClr val="accent5">
                    <a:lumMod val="75000"/>
                  </a:schemeClr>
                </a:solidFill>
                <a:latin typeface="Cascadia Mono" panose="020B0609020000020004" pitchFamily="49" charset="0"/>
              </a:rPr>
              <a:t>Task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myTask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fr-F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 err="1">
                <a:solidFill>
                  <a:schemeClr val="accent5">
                    <a:lumMod val="75000"/>
                  </a:schemeClr>
                </a:solidFill>
                <a:latin typeface="Cascadia Mono" panose="020B0609020000020004" pitchFamily="49" charset="0"/>
              </a:rPr>
              <a:t>Task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(() =&gt;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800" dirty="0" err="1">
                <a:solidFill>
                  <a:schemeClr val="accent5">
                    <a:lumMod val="75000"/>
                  </a:schemeClr>
                </a:solidFill>
                <a:latin typeface="Cascadia Mono" panose="020B0609020000020004" pitchFamily="49" charset="0"/>
              </a:rPr>
              <a:t>Console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.WriteLine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fr-FR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fr-FR" sz="18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Task</a:t>
            </a:r>
            <a:r>
              <a:rPr lang="fr-FR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 3 </a:t>
            </a:r>
            <a:r>
              <a:rPr lang="fr-FR" sz="18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reporting</a:t>
            </a:r>
            <a:r>
              <a:rPr lang="fr-FR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});</a:t>
            </a:r>
          </a:p>
          <a:p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myTask.</a:t>
            </a:r>
            <a:r>
              <a:rPr lang="fr-FR" sz="1800" b="1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Start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0055080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4. Multitasking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30521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 marR="471170">
              <a:lnSpc>
                <a:spcPts val="2590"/>
              </a:lnSpc>
              <a:spcBef>
                <a:spcPts val="425"/>
              </a:spcBef>
              <a:buClr>
                <a:srgbClr val="391778"/>
              </a:buClr>
              <a:tabLst>
                <a:tab pos="241300" algn="l"/>
              </a:tabLst>
            </a:pPr>
            <a:r>
              <a:rPr lang="fr-FR" sz="2400" b="1" dirty="0">
                <a:latin typeface="Segoe UI"/>
                <a:cs typeface="Segoe UI"/>
              </a:rPr>
              <a:t>Utilisation</a:t>
            </a:r>
          </a:p>
          <a:p>
            <a:pPr marL="240029" marR="471170" indent="-227329">
              <a:lnSpc>
                <a:spcPts val="2590"/>
              </a:lnSpc>
              <a:spcBef>
                <a:spcPts val="425"/>
              </a:spcBef>
              <a:buClr>
                <a:srgbClr val="391778"/>
              </a:buClr>
              <a:buFont typeface="Arial"/>
              <a:buChar char="•"/>
              <a:tabLst>
                <a:tab pos="241300" algn="l"/>
              </a:tabLst>
            </a:pPr>
            <a:endParaRPr lang="fr-FR" sz="2400" dirty="0">
              <a:latin typeface="Segoe UI"/>
              <a:cs typeface="Segoe UI"/>
            </a:endParaRPr>
          </a:p>
          <a:p>
            <a:pPr marL="240029" indent="-227329">
              <a:lnSpc>
                <a:spcPct val="100000"/>
              </a:lnSpc>
              <a:spcBef>
                <a:spcPts val="100"/>
              </a:spcBef>
              <a:buClr>
                <a:srgbClr val="391778"/>
              </a:buClr>
              <a:buFont typeface="Arial"/>
              <a:buChar char="•"/>
              <a:tabLst>
                <a:tab pos="240029" algn="l"/>
              </a:tabLst>
            </a:pPr>
            <a:r>
              <a:rPr lang="fr-FR" sz="2400" dirty="0">
                <a:latin typeface="Segoe UI"/>
                <a:cs typeface="Segoe UI"/>
              </a:rPr>
              <a:t>Attendre</a:t>
            </a:r>
            <a:r>
              <a:rPr lang="fr-FR" sz="2400" spc="-8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une</a:t>
            </a:r>
            <a:r>
              <a:rPr lang="fr-FR" sz="2400" spc="-7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tache</a:t>
            </a:r>
            <a:r>
              <a:rPr lang="fr-FR" sz="2400" spc="-80" dirty="0">
                <a:latin typeface="Segoe UI"/>
                <a:cs typeface="Segoe UI"/>
              </a:rPr>
              <a:t> </a:t>
            </a:r>
            <a:r>
              <a:rPr lang="fr-FR" sz="2400" spc="-50" dirty="0">
                <a:latin typeface="Segoe UI"/>
                <a:cs typeface="Segoe UI"/>
              </a:rPr>
              <a:t>…</a:t>
            </a:r>
            <a:endParaRPr lang="fr-FR" sz="2400" dirty="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490"/>
              </a:spcBef>
              <a:buClr>
                <a:srgbClr val="391778"/>
              </a:buClr>
              <a:buFont typeface="Arial"/>
              <a:buChar char="•"/>
            </a:pPr>
            <a:endParaRPr lang="fr-FR" sz="2400" dirty="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1590"/>
              </a:spcBef>
            </a:pPr>
            <a:endParaRPr lang="fr-FR" sz="2400" dirty="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1590"/>
              </a:spcBef>
            </a:pPr>
            <a:endParaRPr lang="fr-FR" sz="1800" dirty="0">
              <a:latin typeface="Consolas"/>
              <a:cs typeface="Consolas"/>
            </a:endParaRPr>
          </a:p>
          <a:p>
            <a:pPr marL="240029" indent="-227329">
              <a:lnSpc>
                <a:spcPct val="100000"/>
              </a:lnSpc>
              <a:spcBef>
                <a:spcPts val="5"/>
              </a:spcBef>
              <a:buClr>
                <a:srgbClr val="391778"/>
              </a:buClr>
              <a:buFont typeface="Arial"/>
              <a:buChar char="•"/>
              <a:tabLst>
                <a:tab pos="240029" algn="l"/>
              </a:tabLst>
            </a:pPr>
            <a:r>
              <a:rPr lang="fr-FR" sz="2400" dirty="0">
                <a:latin typeface="Segoe UI"/>
                <a:cs typeface="Segoe UI"/>
              </a:rPr>
              <a:t>…récupérer</a:t>
            </a:r>
            <a:r>
              <a:rPr lang="fr-FR" sz="2400" spc="-7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son</a:t>
            </a:r>
            <a:r>
              <a:rPr lang="fr-FR" sz="2400" spc="-60" dirty="0">
                <a:latin typeface="Segoe UI"/>
                <a:cs typeface="Segoe UI"/>
              </a:rPr>
              <a:t> </a:t>
            </a:r>
            <a:r>
              <a:rPr lang="fr-FR" sz="2400" spc="-10" dirty="0">
                <a:latin typeface="Segoe UI"/>
                <a:cs typeface="Segoe UI"/>
              </a:rPr>
              <a:t>résultat</a:t>
            </a:r>
            <a:endParaRPr lang="fr-FR" sz="2400" dirty="0">
              <a:latin typeface="Segoe UI"/>
              <a:cs typeface="Segoe UI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A0242283-F291-F5E4-7143-03FAA760CC11}"/>
              </a:ext>
            </a:extLst>
          </p:cNvPr>
          <p:cNvSpPr txBox="1"/>
          <p:nvPr/>
        </p:nvSpPr>
        <p:spPr>
          <a:xfrm>
            <a:off x="1329577" y="2880337"/>
            <a:ext cx="723690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task1 = </a:t>
            </a:r>
            <a:r>
              <a:rPr lang="en-US" sz="1800" dirty="0" err="1">
                <a:solidFill>
                  <a:schemeClr val="accent5">
                    <a:lumMod val="75000"/>
                  </a:schemeClr>
                </a:solidFill>
                <a:latin typeface="Cascadia Mono" panose="020B0609020000020004" pitchFamily="49" charset="0"/>
              </a:rPr>
              <a:t>Task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</a:t>
            </a:r>
            <a:r>
              <a:rPr lang="en-US" sz="1800" b="1" dirty="0" err="1">
                <a:solidFill>
                  <a:srgbClr val="000000"/>
                </a:solidFill>
                <a:latin typeface="Cascadia Mono" panose="020B0609020000020004" pitchFamily="49" charset="0"/>
              </a:rPr>
              <a:t>Run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(() =&gt;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LongRunningMethod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(1000));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task1.</a:t>
            </a:r>
            <a:r>
              <a:rPr lang="fr-FR" sz="1800" b="1" dirty="0">
                <a:solidFill>
                  <a:srgbClr val="000000"/>
                </a:solidFill>
                <a:latin typeface="Cascadia Mono" panose="020B0609020000020004" pitchFamily="49" charset="0"/>
              </a:rPr>
              <a:t>Wait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(); </a:t>
            </a:r>
            <a:r>
              <a:rPr lang="fr-FR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// Attend que la tâche se termine</a:t>
            </a:r>
            <a:endParaRPr lang="fr-FR"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7AF37918-8082-DEBD-8A63-1265A53ACDC1}"/>
              </a:ext>
            </a:extLst>
          </p:cNvPr>
          <p:cNvSpPr txBox="1"/>
          <p:nvPr/>
        </p:nvSpPr>
        <p:spPr>
          <a:xfrm>
            <a:off x="1329577" y="4941832"/>
            <a:ext cx="668655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task1 = </a:t>
            </a:r>
            <a:r>
              <a:rPr lang="en-US" sz="1800" dirty="0">
                <a:solidFill>
                  <a:schemeClr val="accent5">
                    <a:lumMod val="75000"/>
                  </a:schemeClr>
                </a:solidFill>
                <a:latin typeface="Cascadia Mono" panose="020B0609020000020004" pitchFamily="49" charset="0"/>
              </a:rPr>
              <a:t>Task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&gt;.Run(() =&gt; {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return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42; });</a:t>
            </a:r>
          </a:p>
          <a:p>
            <a:r>
              <a:rPr lang="fr-FR" sz="1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result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= task1.</a:t>
            </a:r>
            <a:r>
              <a:rPr lang="fr-FR" sz="1800" b="1" dirty="0">
                <a:solidFill>
                  <a:srgbClr val="000000"/>
                </a:solidFill>
                <a:latin typeface="Cascadia Mono" panose="020B0609020000020004" pitchFamily="49" charset="0"/>
              </a:rPr>
              <a:t>Result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5064951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4. Multitasking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11926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 marR="471170">
              <a:lnSpc>
                <a:spcPts val="2590"/>
              </a:lnSpc>
              <a:spcBef>
                <a:spcPts val="425"/>
              </a:spcBef>
              <a:buClr>
                <a:srgbClr val="391778"/>
              </a:buClr>
              <a:tabLst>
                <a:tab pos="241300" algn="l"/>
              </a:tabLst>
            </a:pPr>
            <a:r>
              <a:rPr lang="fr-FR" sz="2400" b="1" dirty="0">
                <a:latin typeface="Segoe UI"/>
                <a:cs typeface="Segoe UI"/>
              </a:rPr>
              <a:t>Utilisation</a:t>
            </a:r>
          </a:p>
          <a:p>
            <a:pPr marL="240029" marR="471170" indent="-227329">
              <a:lnSpc>
                <a:spcPts val="2590"/>
              </a:lnSpc>
              <a:spcBef>
                <a:spcPts val="425"/>
              </a:spcBef>
              <a:buClr>
                <a:srgbClr val="391778"/>
              </a:buClr>
              <a:buFont typeface="Arial"/>
              <a:buChar char="•"/>
              <a:tabLst>
                <a:tab pos="241300" algn="l"/>
              </a:tabLst>
            </a:pPr>
            <a:endParaRPr lang="fr-FR" sz="2400" dirty="0">
              <a:latin typeface="Segoe UI"/>
              <a:cs typeface="Segoe UI"/>
            </a:endParaRPr>
          </a:p>
          <a:p>
            <a:pPr marL="240029" indent="-227329">
              <a:lnSpc>
                <a:spcPct val="100000"/>
              </a:lnSpc>
              <a:spcBef>
                <a:spcPts val="100"/>
              </a:spcBef>
              <a:buClr>
                <a:srgbClr val="391778"/>
              </a:buClr>
              <a:buFont typeface="Arial"/>
              <a:buChar char="•"/>
              <a:tabLst>
                <a:tab pos="240029" algn="l"/>
              </a:tabLst>
            </a:pPr>
            <a:r>
              <a:rPr lang="fr-FR" sz="2400" dirty="0">
                <a:latin typeface="Segoe UI"/>
                <a:cs typeface="Segoe UI"/>
              </a:rPr>
              <a:t>Attendre</a:t>
            </a:r>
            <a:r>
              <a:rPr lang="fr-FR" sz="2400" spc="-9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plusieurs</a:t>
            </a:r>
            <a:r>
              <a:rPr lang="fr-FR" sz="2400" spc="-8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tâches</a:t>
            </a:r>
            <a:r>
              <a:rPr lang="fr-FR" sz="2400" spc="-95" dirty="0">
                <a:latin typeface="Segoe UI"/>
                <a:cs typeface="Segoe UI"/>
              </a:rPr>
              <a:t> </a:t>
            </a:r>
            <a:r>
              <a:rPr lang="fr-FR" sz="2400" spc="-50" dirty="0">
                <a:latin typeface="Segoe UI"/>
                <a:cs typeface="Segoe UI"/>
              </a:rPr>
              <a:t>:</a:t>
            </a:r>
            <a:endParaRPr lang="fr-FR" sz="2400" dirty="0">
              <a:latin typeface="Segoe UI"/>
              <a:cs typeface="Segoe UI"/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DE8D2FF0-702B-379C-3708-EC4F1FEE137E}"/>
              </a:ext>
            </a:extLst>
          </p:cNvPr>
          <p:cNvSpPr txBox="1"/>
          <p:nvPr/>
        </p:nvSpPr>
        <p:spPr>
          <a:xfrm>
            <a:off x="1523498" y="3093290"/>
            <a:ext cx="9145003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accent5">
                    <a:lumMod val="75000"/>
                  </a:schemeClr>
                </a:solidFill>
                <a:latin typeface="Cascadia Mono" panose="020B0609020000020004" pitchFamily="49" charset="0"/>
              </a:rPr>
              <a:t>Task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[] tasks =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chemeClr val="accent5">
                    <a:lumMod val="75000"/>
                  </a:schemeClr>
                </a:solidFill>
                <a:latin typeface="Cascadia Mono" panose="020B0609020000020004" pitchFamily="49" charset="0"/>
              </a:rPr>
              <a:t>Task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[3]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800" dirty="0" err="1">
                <a:solidFill>
                  <a:schemeClr val="accent5">
                    <a:lumMod val="75000"/>
                  </a:schemeClr>
                </a:solidFill>
                <a:latin typeface="Cascadia Mono" panose="020B0609020000020004" pitchFamily="49" charset="0"/>
              </a:rPr>
              <a:t>Task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.Run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(() =&gt;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LongRunningMethod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(800)),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800" dirty="0" err="1">
                <a:solidFill>
                  <a:schemeClr val="accent5">
                    <a:lumMod val="75000"/>
                  </a:schemeClr>
                </a:solidFill>
                <a:latin typeface="Cascadia Mono" panose="020B0609020000020004" pitchFamily="49" charset="0"/>
              </a:rPr>
              <a:t>Task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.Run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(() =&gt;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LongRunningMethod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(2000)),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800" dirty="0" err="1">
                <a:solidFill>
                  <a:schemeClr val="accent5">
                    <a:lumMod val="75000"/>
                  </a:schemeClr>
                </a:solidFill>
                <a:latin typeface="Cascadia Mono" panose="020B0609020000020004" pitchFamily="49" charset="0"/>
              </a:rPr>
              <a:t>Task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.Run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(() =&gt;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LongRunningMethod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(1200))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};</a:t>
            </a:r>
          </a:p>
          <a:p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800" dirty="0" err="1">
                <a:solidFill>
                  <a:schemeClr val="accent5">
                    <a:lumMod val="75000"/>
                  </a:schemeClr>
                </a:solidFill>
                <a:latin typeface="Cascadia Mono" panose="020B0609020000020004" pitchFamily="49" charset="0"/>
              </a:rPr>
              <a:t>Task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</a:t>
            </a:r>
            <a:r>
              <a:rPr lang="fr-FR" sz="1800" b="1" dirty="0" err="1">
                <a:solidFill>
                  <a:srgbClr val="000000"/>
                </a:solidFill>
                <a:latin typeface="Cascadia Mono" panose="020B0609020000020004" pitchFamily="49" charset="0"/>
              </a:rPr>
              <a:t>WaitAny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tasks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); </a:t>
            </a:r>
            <a:r>
              <a:rPr lang="fr-FR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// Attend qu’au moins une tache se termine</a:t>
            </a:r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800" dirty="0" err="1">
                <a:solidFill>
                  <a:schemeClr val="accent5">
                    <a:lumMod val="75000"/>
                  </a:schemeClr>
                </a:solidFill>
                <a:latin typeface="Cascadia Mono" panose="020B0609020000020004" pitchFamily="49" charset="0"/>
              </a:rPr>
              <a:t>Task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</a:t>
            </a:r>
            <a:r>
              <a:rPr lang="fr-FR" sz="1800" b="1" dirty="0" err="1">
                <a:solidFill>
                  <a:srgbClr val="000000"/>
                </a:solidFill>
                <a:latin typeface="Cascadia Mono" panose="020B0609020000020004" pitchFamily="49" charset="0"/>
              </a:rPr>
              <a:t>WaitAll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tasks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); </a:t>
            </a:r>
            <a:r>
              <a:rPr lang="fr-FR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// Attend que toutes les taches se terminent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8032168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4. Multitasking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11926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 marR="471170">
              <a:lnSpc>
                <a:spcPts val="2590"/>
              </a:lnSpc>
              <a:spcBef>
                <a:spcPts val="425"/>
              </a:spcBef>
              <a:buClr>
                <a:srgbClr val="391778"/>
              </a:buClr>
              <a:tabLst>
                <a:tab pos="241300" algn="l"/>
              </a:tabLst>
            </a:pPr>
            <a:r>
              <a:rPr lang="fr-FR" sz="2400" b="1" dirty="0">
                <a:latin typeface="Segoe UI"/>
                <a:cs typeface="Segoe UI"/>
              </a:rPr>
              <a:t>Utilisation</a:t>
            </a:r>
          </a:p>
          <a:p>
            <a:pPr marL="240029" marR="471170" indent="-227329">
              <a:lnSpc>
                <a:spcPts val="2590"/>
              </a:lnSpc>
              <a:spcBef>
                <a:spcPts val="425"/>
              </a:spcBef>
              <a:buClr>
                <a:srgbClr val="391778"/>
              </a:buClr>
              <a:buFont typeface="Arial"/>
              <a:buChar char="•"/>
              <a:tabLst>
                <a:tab pos="241300" algn="l"/>
              </a:tabLst>
            </a:pPr>
            <a:endParaRPr lang="fr-FR" sz="2400" dirty="0">
              <a:latin typeface="Segoe UI"/>
              <a:cs typeface="Segoe UI"/>
            </a:endParaRPr>
          </a:p>
          <a:p>
            <a:pPr marL="240029" indent="-227329">
              <a:lnSpc>
                <a:spcPct val="100000"/>
              </a:lnSpc>
              <a:spcBef>
                <a:spcPts val="100"/>
              </a:spcBef>
              <a:buClr>
                <a:srgbClr val="391778"/>
              </a:buClr>
              <a:buFont typeface="Arial"/>
              <a:buChar char="•"/>
              <a:tabLst>
                <a:tab pos="240029" algn="l"/>
              </a:tabLst>
            </a:pPr>
            <a:r>
              <a:rPr lang="fr-FR" sz="2400" dirty="0">
                <a:latin typeface="Segoe UI"/>
                <a:cs typeface="Segoe UI"/>
              </a:rPr>
              <a:t>Ou</a:t>
            </a:r>
            <a:r>
              <a:rPr lang="fr-FR" sz="2400" spc="-4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encore</a:t>
            </a:r>
            <a:r>
              <a:rPr lang="fr-FR" sz="2400" spc="-5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ajouter</a:t>
            </a:r>
            <a:r>
              <a:rPr lang="fr-FR" sz="2400" spc="-2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une</a:t>
            </a:r>
            <a:r>
              <a:rPr lang="fr-FR" sz="2400" spc="-4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tache</a:t>
            </a:r>
            <a:r>
              <a:rPr lang="fr-FR" sz="2400" spc="-4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à</a:t>
            </a:r>
            <a:r>
              <a:rPr lang="fr-FR" sz="2400" spc="-4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la</a:t>
            </a:r>
            <a:r>
              <a:rPr lang="fr-FR" sz="2400" spc="-4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fin</a:t>
            </a:r>
            <a:r>
              <a:rPr lang="fr-FR" sz="2400" spc="-3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d’une</a:t>
            </a:r>
            <a:r>
              <a:rPr lang="fr-FR" sz="2400" spc="-4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tache</a:t>
            </a:r>
            <a:r>
              <a:rPr lang="fr-FR" sz="2400" spc="-50" dirty="0">
                <a:latin typeface="Segoe UI"/>
                <a:cs typeface="Segoe UI"/>
              </a:rPr>
              <a:t> :</a:t>
            </a:r>
            <a:endParaRPr lang="fr-FR" sz="2400" dirty="0">
              <a:latin typeface="Segoe UI"/>
              <a:cs typeface="Segoe UI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A2E4C1F6-66A6-EF74-73A9-01117267E892}"/>
              </a:ext>
            </a:extLst>
          </p:cNvPr>
          <p:cNvSpPr txBox="1"/>
          <p:nvPr/>
        </p:nvSpPr>
        <p:spPr>
          <a:xfrm>
            <a:off x="1675462" y="3248850"/>
            <a:ext cx="8864266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accent5">
                    <a:lumMod val="75000"/>
                  </a:schemeClr>
                </a:solidFill>
                <a:latin typeface="Cascadia Mono" panose="020B0609020000020004" pitchFamily="49" charset="0"/>
              </a:rPr>
              <a:t>Task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&gt;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firstTask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chemeClr val="accent5">
                    <a:lumMod val="75000"/>
                  </a:schemeClr>
                </a:solidFill>
                <a:latin typeface="Cascadia Mono" panose="020B0609020000020004" pitchFamily="49" charset="0"/>
              </a:rPr>
              <a:t>Task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&gt;(() =&gt; </a:t>
            </a:r>
            <a:r>
              <a:rPr lang="en-US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"Hello"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800" dirty="0">
                <a:solidFill>
                  <a:schemeClr val="accent5">
                    <a:lumMod val="75000"/>
                  </a:schemeClr>
                </a:solidFill>
                <a:latin typeface="Cascadia Mono" panose="020B0609020000020004" pitchFamily="49" charset="0"/>
              </a:rPr>
              <a:t>Task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&gt;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secondTask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firstTask.ContinueWith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((antecedent) =&gt;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return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.Format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"{0}, World!"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,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antecedent.Result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});</a:t>
            </a:r>
          </a:p>
          <a:p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firstTask.Start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r>
              <a:rPr lang="fr-FR" sz="1800" dirty="0" err="1">
                <a:solidFill>
                  <a:schemeClr val="accent5">
                    <a:lumMod val="75000"/>
                  </a:schemeClr>
                </a:solidFill>
                <a:latin typeface="Cascadia Mono" panose="020B0609020000020004" pitchFamily="49" charset="0"/>
              </a:rPr>
              <a:t>Console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.WriteLine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secondTask.Result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911510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4. Multitasking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41755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 marR="471170">
              <a:lnSpc>
                <a:spcPts val="2590"/>
              </a:lnSpc>
              <a:spcBef>
                <a:spcPts val="425"/>
              </a:spcBef>
              <a:buClr>
                <a:srgbClr val="391778"/>
              </a:buClr>
              <a:tabLst>
                <a:tab pos="241300" algn="l"/>
              </a:tabLst>
            </a:pPr>
            <a:r>
              <a:rPr lang="fr-FR" sz="2400" b="1" dirty="0" err="1">
                <a:latin typeface="Segoe UI"/>
                <a:cs typeface="Segoe UI"/>
              </a:rPr>
              <a:t>Async</a:t>
            </a:r>
            <a:r>
              <a:rPr lang="fr-FR" sz="2400" b="1" dirty="0">
                <a:latin typeface="Segoe UI"/>
                <a:cs typeface="Segoe UI"/>
              </a:rPr>
              <a:t> / </a:t>
            </a:r>
            <a:r>
              <a:rPr lang="fr-FR" sz="2400" b="1" dirty="0" err="1">
                <a:latin typeface="Segoe UI"/>
                <a:cs typeface="Segoe UI"/>
              </a:rPr>
              <a:t>Await</a:t>
            </a:r>
            <a:endParaRPr lang="fr-FR" sz="2400" b="1" dirty="0">
              <a:latin typeface="Segoe UI"/>
              <a:cs typeface="Segoe UI"/>
            </a:endParaRPr>
          </a:p>
          <a:p>
            <a:pPr marL="240029" marR="471170" indent="-227329">
              <a:lnSpc>
                <a:spcPts val="2590"/>
              </a:lnSpc>
              <a:spcBef>
                <a:spcPts val="425"/>
              </a:spcBef>
              <a:buClr>
                <a:srgbClr val="391778"/>
              </a:buClr>
              <a:buFont typeface="Arial"/>
              <a:buChar char="•"/>
              <a:tabLst>
                <a:tab pos="241300" algn="l"/>
              </a:tabLst>
            </a:pPr>
            <a:endParaRPr lang="fr-FR" sz="2400" dirty="0">
              <a:latin typeface="Segoe UI"/>
              <a:cs typeface="Segoe UI"/>
            </a:endParaRPr>
          </a:p>
          <a:p>
            <a:pPr marL="240029" indent="-227329">
              <a:lnSpc>
                <a:spcPct val="100000"/>
              </a:lnSpc>
              <a:spcBef>
                <a:spcPts val="100"/>
              </a:spcBef>
              <a:buClr>
                <a:srgbClr val="391778"/>
              </a:buClr>
              <a:buFont typeface="Arial"/>
              <a:buChar char="•"/>
              <a:tabLst>
                <a:tab pos="240029" algn="l"/>
              </a:tabLst>
            </a:pPr>
            <a:r>
              <a:rPr lang="fr-FR" sz="2400" dirty="0">
                <a:latin typeface="Segoe UI"/>
                <a:cs typeface="Segoe UI"/>
              </a:rPr>
              <a:t>Afin</a:t>
            </a:r>
            <a:r>
              <a:rPr lang="fr-FR" sz="2400" spc="-3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de</a:t>
            </a:r>
            <a:r>
              <a:rPr lang="fr-FR" sz="2400" spc="-4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simplifier</a:t>
            </a:r>
            <a:r>
              <a:rPr lang="fr-FR" sz="2400" spc="-1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les</a:t>
            </a:r>
            <a:r>
              <a:rPr lang="fr-FR" sz="2400" spc="-4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taches</a:t>
            </a:r>
            <a:r>
              <a:rPr lang="fr-FR" sz="2400" spc="-4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sont</a:t>
            </a:r>
            <a:r>
              <a:rPr lang="fr-FR" sz="2400" spc="-3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apparus</a:t>
            </a:r>
            <a:r>
              <a:rPr lang="fr-FR" sz="2400" spc="-4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les</a:t>
            </a:r>
            <a:r>
              <a:rPr lang="fr-FR" sz="2400" spc="-3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mots</a:t>
            </a:r>
            <a:r>
              <a:rPr lang="fr-FR" sz="2400" spc="-5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clés</a:t>
            </a:r>
            <a:r>
              <a:rPr lang="fr-FR" sz="2400" spc="5" dirty="0">
                <a:latin typeface="Segoe UI"/>
                <a:cs typeface="Segoe UI"/>
              </a:rPr>
              <a:t> </a:t>
            </a:r>
            <a:r>
              <a:rPr lang="fr-FR" sz="2400" b="1" dirty="0" err="1">
                <a:latin typeface="Segoe UI"/>
                <a:cs typeface="Segoe UI"/>
              </a:rPr>
              <a:t>Async</a:t>
            </a:r>
            <a:r>
              <a:rPr lang="fr-FR" sz="2400" b="1" spc="-6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et</a:t>
            </a:r>
            <a:r>
              <a:rPr lang="fr-FR" sz="2400" spc="-40" dirty="0">
                <a:latin typeface="Segoe UI"/>
                <a:cs typeface="Segoe UI"/>
              </a:rPr>
              <a:t> </a:t>
            </a:r>
            <a:r>
              <a:rPr lang="fr-FR" sz="2400" b="1" spc="-10" dirty="0" err="1">
                <a:latin typeface="Segoe UI"/>
                <a:cs typeface="Segoe UI"/>
              </a:rPr>
              <a:t>Await</a:t>
            </a:r>
            <a:endParaRPr lang="fr-FR" sz="2400" dirty="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1105"/>
              </a:spcBef>
              <a:buClr>
                <a:srgbClr val="391778"/>
              </a:buClr>
              <a:buFont typeface="Arial"/>
              <a:buChar char="•"/>
            </a:pPr>
            <a:endParaRPr lang="fr-FR" sz="2400" dirty="0">
              <a:latin typeface="Segoe UI"/>
              <a:cs typeface="Segoe UI"/>
            </a:endParaRPr>
          </a:p>
          <a:p>
            <a:pPr marL="240029" indent="-227329">
              <a:lnSpc>
                <a:spcPct val="100000"/>
              </a:lnSpc>
              <a:buClr>
                <a:srgbClr val="391778"/>
              </a:buClr>
              <a:buFont typeface="Arial"/>
              <a:buChar char="•"/>
              <a:tabLst>
                <a:tab pos="240029" algn="l"/>
              </a:tabLst>
            </a:pPr>
            <a:r>
              <a:rPr lang="fr-FR" sz="2400" dirty="0">
                <a:latin typeface="Segoe UI"/>
                <a:cs typeface="Segoe UI"/>
              </a:rPr>
              <a:t>Le</a:t>
            </a:r>
            <a:r>
              <a:rPr lang="fr-FR" sz="2400" spc="-45" dirty="0">
                <a:latin typeface="Segoe UI"/>
                <a:cs typeface="Segoe UI"/>
              </a:rPr>
              <a:t> </a:t>
            </a:r>
            <a:r>
              <a:rPr lang="fr-FR" sz="2400" u="sng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code</a:t>
            </a:r>
            <a:r>
              <a:rPr lang="fr-FR" sz="2400" spc="-2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est</a:t>
            </a:r>
            <a:r>
              <a:rPr lang="fr-FR" sz="2400" spc="-5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alors</a:t>
            </a:r>
            <a:r>
              <a:rPr lang="fr-FR" sz="2400" spc="-1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écrit</a:t>
            </a:r>
            <a:r>
              <a:rPr lang="fr-FR" sz="2400" spc="-3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en</a:t>
            </a:r>
            <a:r>
              <a:rPr lang="fr-FR" sz="2400" spc="-35" dirty="0">
                <a:latin typeface="Segoe UI"/>
                <a:cs typeface="Segoe UI"/>
              </a:rPr>
              <a:t> </a:t>
            </a:r>
            <a:r>
              <a:rPr lang="fr-FR" sz="2400" u="sng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synchrone</a:t>
            </a:r>
            <a:r>
              <a:rPr lang="fr-FR" sz="2400" spc="-2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alors</a:t>
            </a:r>
            <a:r>
              <a:rPr lang="fr-FR" sz="2400" spc="-3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qu’il</a:t>
            </a:r>
            <a:r>
              <a:rPr lang="fr-FR" sz="2400" spc="-1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est</a:t>
            </a:r>
            <a:r>
              <a:rPr lang="fr-FR" sz="2400" spc="-45" dirty="0">
                <a:latin typeface="Segoe UI"/>
                <a:cs typeface="Segoe UI"/>
              </a:rPr>
              <a:t> </a:t>
            </a:r>
            <a:r>
              <a:rPr lang="fr-FR" sz="2400" u="sng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exécuté</a:t>
            </a:r>
            <a:r>
              <a:rPr lang="fr-FR" sz="2400" u="sng" spc="-40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 </a:t>
            </a:r>
            <a:r>
              <a:rPr lang="fr-FR" sz="2400" u="sng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en</a:t>
            </a:r>
            <a:r>
              <a:rPr lang="fr-FR" sz="2400" u="sng" spc="-35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 </a:t>
            </a:r>
            <a:r>
              <a:rPr lang="fr-FR" sz="2400" u="sng" spc="-10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asynchrone</a:t>
            </a:r>
            <a:endParaRPr lang="fr-FR" sz="240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spcBef>
                <a:spcPts val="2930"/>
              </a:spcBef>
              <a:buClr>
                <a:srgbClr val="391778"/>
              </a:buClr>
              <a:buFont typeface="Arial"/>
              <a:buChar char="•"/>
              <a:tabLst>
                <a:tab pos="698500" algn="l"/>
              </a:tabLst>
            </a:pPr>
            <a:r>
              <a:rPr lang="fr-FR" sz="2000" spc="-10" dirty="0">
                <a:latin typeface="Segoe UI"/>
                <a:cs typeface="Segoe UI"/>
              </a:rPr>
              <a:t>C’est</a:t>
            </a:r>
            <a:r>
              <a:rPr lang="fr-FR" sz="2000" spc="-4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le</a:t>
            </a:r>
            <a:r>
              <a:rPr lang="fr-FR" sz="2000" spc="-3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compilateur</a:t>
            </a:r>
            <a:r>
              <a:rPr lang="fr-FR" sz="2000" spc="-3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qui</a:t>
            </a:r>
            <a:r>
              <a:rPr lang="fr-FR" sz="2000" spc="-4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fait</a:t>
            </a:r>
            <a:r>
              <a:rPr lang="fr-FR" sz="2000" spc="-3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la</a:t>
            </a:r>
            <a:r>
              <a:rPr lang="fr-FR" sz="2000" spc="-3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conversion</a:t>
            </a:r>
            <a:r>
              <a:rPr lang="fr-FR" sz="2000" spc="-2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du</a:t>
            </a:r>
            <a:r>
              <a:rPr lang="fr-FR" sz="2000" spc="-3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code</a:t>
            </a:r>
            <a:r>
              <a:rPr lang="fr-FR" sz="2000" spc="-3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en</a:t>
            </a:r>
            <a:r>
              <a:rPr lang="fr-FR" sz="2000" spc="-3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machine</a:t>
            </a:r>
            <a:r>
              <a:rPr lang="fr-FR" sz="2000" spc="-3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à</a:t>
            </a:r>
            <a:r>
              <a:rPr lang="fr-FR" sz="2000" spc="-5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états</a:t>
            </a:r>
            <a:r>
              <a:rPr lang="fr-FR" sz="2000" spc="-55" dirty="0">
                <a:latin typeface="Segoe UI"/>
                <a:cs typeface="Segoe UI"/>
              </a:rPr>
              <a:t> </a:t>
            </a:r>
            <a:r>
              <a:rPr lang="fr-FR" sz="2000" spc="-10" dirty="0">
                <a:latin typeface="Segoe UI"/>
                <a:cs typeface="Segoe UI"/>
              </a:rPr>
              <a:t>asynchrone</a:t>
            </a:r>
            <a:endParaRPr lang="fr-FR" sz="2000" dirty="0">
              <a:latin typeface="Segoe UI"/>
              <a:cs typeface="Segoe UI"/>
            </a:endParaRPr>
          </a:p>
          <a:p>
            <a:pPr lvl="1">
              <a:lnSpc>
                <a:spcPct val="100000"/>
              </a:lnSpc>
              <a:spcBef>
                <a:spcPts val="270"/>
              </a:spcBef>
              <a:buClr>
                <a:srgbClr val="391778"/>
              </a:buClr>
              <a:buFont typeface="Arial"/>
              <a:buChar char="•"/>
            </a:pPr>
            <a:endParaRPr lang="fr-FR" sz="200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buClr>
                <a:srgbClr val="391778"/>
              </a:buClr>
              <a:buFont typeface="Arial"/>
              <a:buChar char="•"/>
              <a:tabLst>
                <a:tab pos="698500" algn="l"/>
              </a:tabLst>
            </a:pPr>
            <a:r>
              <a:rPr lang="fr-FR" sz="2000" b="1" dirty="0" err="1">
                <a:latin typeface="Segoe UI"/>
                <a:cs typeface="Segoe UI"/>
              </a:rPr>
              <a:t>Await</a:t>
            </a:r>
            <a:r>
              <a:rPr lang="fr-FR" sz="2000" b="1" spc="-6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est</a:t>
            </a:r>
            <a:r>
              <a:rPr lang="fr-FR" sz="2000" spc="-4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utilisé</a:t>
            </a:r>
            <a:r>
              <a:rPr lang="fr-FR" sz="2000" spc="-3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lors</a:t>
            </a:r>
            <a:r>
              <a:rPr lang="fr-FR" sz="2000" spc="-3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de</a:t>
            </a:r>
            <a:r>
              <a:rPr lang="fr-FR" sz="2000" spc="-5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l’appel</a:t>
            </a:r>
            <a:r>
              <a:rPr lang="fr-FR" sz="2000" spc="-4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d’une</a:t>
            </a:r>
            <a:r>
              <a:rPr lang="fr-FR" sz="2000" spc="-45" dirty="0">
                <a:latin typeface="Segoe UI"/>
                <a:cs typeface="Segoe UI"/>
              </a:rPr>
              <a:t> </a:t>
            </a:r>
            <a:r>
              <a:rPr lang="fr-FR" sz="2000" spc="-10" dirty="0">
                <a:latin typeface="Segoe UI"/>
                <a:cs typeface="Segoe UI"/>
              </a:rPr>
              <a:t>tache</a:t>
            </a:r>
            <a:endParaRPr lang="fr-FR" sz="2000" dirty="0">
              <a:latin typeface="Segoe UI"/>
              <a:cs typeface="Segoe UI"/>
            </a:endParaRPr>
          </a:p>
          <a:p>
            <a:pPr lvl="1">
              <a:lnSpc>
                <a:spcPct val="100000"/>
              </a:lnSpc>
              <a:spcBef>
                <a:spcPts val="1195"/>
              </a:spcBef>
              <a:buClr>
                <a:srgbClr val="391778"/>
              </a:buClr>
              <a:buFont typeface="Arial"/>
              <a:buChar char="•"/>
            </a:pPr>
            <a:endParaRPr lang="fr-FR" sz="200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buClr>
                <a:srgbClr val="391778"/>
              </a:buClr>
              <a:buFont typeface="Arial"/>
              <a:buChar char="•"/>
              <a:tabLst>
                <a:tab pos="698500" algn="l"/>
              </a:tabLst>
            </a:pPr>
            <a:r>
              <a:rPr lang="fr-FR" sz="2000" b="1" dirty="0" err="1">
                <a:latin typeface="Segoe UI"/>
                <a:cs typeface="Segoe UI"/>
              </a:rPr>
              <a:t>Async</a:t>
            </a:r>
            <a:r>
              <a:rPr lang="fr-FR" sz="2000" b="1" spc="-3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est</a:t>
            </a:r>
            <a:r>
              <a:rPr lang="fr-FR" sz="2000" spc="-2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indiqué</a:t>
            </a:r>
            <a:r>
              <a:rPr lang="fr-FR" sz="2000" spc="-1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dans</a:t>
            </a:r>
            <a:r>
              <a:rPr lang="fr-FR" sz="2000" spc="-3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la</a:t>
            </a:r>
            <a:r>
              <a:rPr lang="fr-FR" sz="2000" spc="-2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signature</a:t>
            </a:r>
            <a:r>
              <a:rPr lang="fr-FR" sz="2000" spc="-3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de</a:t>
            </a:r>
            <a:r>
              <a:rPr lang="fr-FR" sz="2000" spc="-2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la</a:t>
            </a:r>
            <a:r>
              <a:rPr lang="fr-FR" sz="2000" spc="-3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méthode</a:t>
            </a:r>
            <a:r>
              <a:rPr lang="fr-FR" sz="2000" spc="-3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qui</a:t>
            </a:r>
            <a:r>
              <a:rPr lang="fr-FR" sz="2000" spc="-1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contient</a:t>
            </a:r>
            <a:r>
              <a:rPr lang="fr-FR" sz="2000" spc="-2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un</a:t>
            </a:r>
            <a:r>
              <a:rPr lang="fr-FR" sz="2000" spc="-1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appel</a:t>
            </a:r>
            <a:r>
              <a:rPr lang="fr-FR" sz="2000" spc="-3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avec</a:t>
            </a:r>
            <a:r>
              <a:rPr lang="fr-FR" sz="2000" spc="-10" dirty="0">
                <a:latin typeface="Segoe UI"/>
                <a:cs typeface="Segoe UI"/>
              </a:rPr>
              <a:t> </a:t>
            </a:r>
            <a:r>
              <a:rPr lang="fr-FR" sz="2000" b="1" spc="-10" dirty="0" err="1">
                <a:latin typeface="Segoe UI"/>
                <a:cs typeface="Segoe UI"/>
              </a:rPr>
              <a:t>await</a:t>
            </a:r>
            <a:endParaRPr lang="fr-FR" sz="2000" dirty="0"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357682179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4. Multitasking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11310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 marR="471170">
              <a:lnSpc>
                <a:spcPts val="2590"/>
              </a:lnSpc>
              <a:spcBef>
                <a:spcPts val="425"/>
              </a:spcBef>
              <a:buClr>
                <a:srgbClr val="391778"/>
              </a:buClr>
              <a:tabLst>
                <a:tab pos="241300" algn="l"/>
              </a:tabLst>
            </a:pPr>
            <a:r>
              <a:rPr lang="fr-FR" sz="2400" b="1" dirty="0" err="1">
                <a:latin typeface="Segoe UI"/>
                <a:cs typeface="Segoe UI"/>
              </a:rPr>
              <a:t>Async</a:t>
            </a:r>
            <a:r>
              <a:rPr lang="fr-FR" sz="2400" b="1" dirty="0">
                <a:latin typeface="Segoe UI"/>
                <a:cs typeface="Segoe UI"/>
              </a:rPr>
              <a:t> / </a:t>
            </a:r>
            <a:r>
              <a:rPr lang="fr-FR" sz="2400" b="1" dirty="0" err="1">
                <a:latin typeface="Segoe UI"/>
                <a:cs typeface="Segoe UI"/>
              </a:rPr>
              <a:t>Await</a:t>
            </a:r>
            <a:endParaRPr lang="fr-FR" sz="2400" b="1" dirty="0">
              <a:latin typeface="Segoe UI"/>
              <a:cs typeface="Segoe UI"/>
            </a:endParaRPr>
          </a:p>
          <a:p>
            <a:pPr marL="240029" marR="471170" indent="-227329">
              <a:lnSpc>
                <a:spcPts val="2590"/>
              </a:lnSpc>
              <a:spcBef>
                <a:spcPts val="425"/>
              </a:spcBef>
              <a:buClr>
                <a:srgbClr val="391778"/>
              </a:buClr>
              <a:buFont typeface="Arial"/>
              <a:buChar char="•"/>
              <a:tabLst>
                <a:tab pos="241300" algn="l"/>
              </a:tabLst>
            </a:pPr>
            <a:endParaRPr lang="fr-FR" sz="2400" dirty="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  <a:buClr>
                <a:srgbClr val="391778"/>
              </a:buClr>
              <a:tabLst>
                <a:tab pos="240029" algn="l"/>
              </a:tabLst>
            </a:pPr>
            <a:endParaRPr lang="fr-FR" sz="2000" dirty="0">
              <a:latin typeface="Segoe UI"/>
              <a:cs typeface="Segoe UI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7D0E2AD3-E0C9-A061-BA70-7D4F9CE704E2}"/>
              </a:ext>
            </a:extLst>
          </p:cNvPr>
          <p:cNvSpPr txBox="1"/>
          <p:nvPr/>
        </p:nvSpPr>
        <p:spPr>
          <a:xfrm>
            <a:off x="3720831" y="2407614"/>
            <a:ext cx="4773528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private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async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Task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AsyncSimple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()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log(</a:t>
            </a:r>
            <a:r>
              <a:rPr lang="fr-FR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fr-FR" sz="18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before</a:t>
            </a:r>
            <a:r>
              <a:rPr lang="fr-FR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creation</a:t>
            </a:r>
            <a:r>
              <a:rPr lang="fr-FR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await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Task.Run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(() =&gt;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log(</a:t>
            </a:r>
            <a:r>
              <a:rPr lang="fr-FR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fr-FR" sz="18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Task</a:t>
            </a:r>
            <a:r>
              <a:rPr lang="fr-FR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started</a:t>
            </a:r>
            <a:r>
              <a:rPr lang="fr-FR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fr-FR" sz="1800" dirty="0" err="1">
                <a:solidFill>
                  <a:schemeClr val="accent5">
                    <a:lumMod val="75000"/>
                  </a:schemeClr>
                </a:solidFill>
                <a:latin typeface="Cascadia Mono" panose="020B0609020000020004" pitchFamily="49" charset="0"/>
              </a:rPr>
              <a:t>Thread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.Sleep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(SLEEP_TIME);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log(</a:t>
            </a:r>
            <a:r>
              <a:rPr lang="fr-FR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fr-FR" sz="18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task</a:t>
            </a:r>
            <a:r>
              <a:rPr lang="fr-FR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finished</a:t>
            </a:r>
            <a:r>
              <a:rPr lang="fr-FR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});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log(</a:t>
            </a:r>
            <a:r>
              <a:rPr lang="fr-FR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fr-FR" sz="18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after</a:t>
            </a:r>
            <a:r>
              <a:rPr lang="fr-FR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creation</a:t>
            </a:r>
            <a:r>
              <a:rPr lang="fr-FR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13696028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26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que 2" descr="Questions avec un remplissage uni">
            <a:extLst>
              <a:ext uri="{FF2B5EF4-FFF2-40B4-BE49-F238E27FC236}">
                <a16:creationId xmlns:a16="http://schemas.microsoft.com/office/drawing/2014/main" id="{117F3F9E-E45E-9844-8215-AA148A5923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56000" y="1989000"/>
            <a:ext cx="2880000" cy="2880000"/>
          </a:xfrm>
          <a:prstGeom prst="rect">
            <a:avLst/>
          </a:prstGeom>
        </p:spPr>
      </p:pic>
      <p:sp>
        <p:nvSpPr>
          <p:cNvPr id="6" name="Titre 1">
            <a:extLst>
              <a:ext uri="{FF2B5EF4-FFF2-40B4-BE49-F238E27FC236}">
                <a16:creationId xmlns:a16="http://schemas.microsoft.com/office/drawing/2014/main" id="{6784514D-DFE8-6540-A8D9-ED1329C44D36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>
                <a:solidFill>
                  <a:schemeClr val="bg1"/>
                </a:solidFill>
              </a:rPr>
              <a:t>4. Multitasking</a:t>
            </a:r>
          </a:p>
        </p:txBody>
      </p:sp>
    </p:spTree>
    <p:extLst>
      <p:ext uri="{BB962C8B-B14F-4D97-AF65-F5344CB8AC3E}">
        <p14:creationId xmlns:p14="http://schemas.microsoft.com/office/powerpoint/2010/main" val="57512603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26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1">
            <a:extLst>
              <a:ext uri="{FF2B5EF4-FFF2-40B4-BE49-F238E27FC236}">
                <a16:creationId xmlns:a16="http://schemas.microsoft.com/office/drawing/2014/main" id="{AC0B1E25-C870-E44C-9AEC-2F6389ADF8D7}"/>
              </a:ext>
            </a:extLst>
          </p:cNvPr>
          <p:cNvSpPr txBox="1">
            <a:spLocks/>
          </p:cNvSpPr>
          <p:nvPr/>
        </p:nvSpPr>
        <p:spPr>
          <a:xfrm>
            <a:off x="831850" y="1709738"/>
            <a:ext cx="10515600" cy="2851200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fr-FR" sz="5400" dirty="0"/>
          </a:p>
          <a:p>
            <a:endParaRPr lang="fr-FR" sz="5400" dirty="0"/>
          </a:p>
          <a:p>
            <a:endParaRPr lang="fr-FR" sz="5400" dirty="0"/>
          </a:p>
          <a:p>
            <a:r>
              <a:rPr lang="fr-FR" sz="5400" dirty="0">
                <a:solidFill>
                  <a:schemeClr val="bg1"/>
                </a:solidFill>
              </a:rPr>
              <a:t>5. Collections</a:t>
            </a:r>
          </a:p>
        </p:txBody>
      </p:sp>
    </p:spTree>
    <p:extLst>
      <p:ext uri="{BB962C8B-B14F-4D97-AF65-F5344CB8AC3E}">
        <p14:creationId xmlns:p14="http://schemas.microsoft.com/office/powerpoint/2010/main" val="296409232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5. Collections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3603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700"/>
              </a:spcBef>
              <a:buClr>
                <a:srgbClr val="391778"/>
              </a:buClr>
              <a:buFont typeface="Arial"/>
              <a:buChar char="•"/>
              <a:tabLst>
                <a:tab pos="240029" algn="l"/>
              </a:tabLst>
            </a:pPr>
            <a:endParaRPr lang="fr-FR" sz="2400" dirty="0">
              <a:latin typeface="Segoe UI"/>
              <a:cs typeface="Segoe UI"/>
            </a:endParaRPr>
          </a:p>
          <a:p>
            <a:pPr marL="240029" indent="-227329">
              <a:lnSpc>
                <a:spcPct val="100000"/>
              </a:lnSpc>
              <a:spcBef>
                <a:spcPts val="700"/>
              </a:spcBef>
              <a:buClr>
                <a:srgbClr val="391778"/>
              </a:buClr>
              <a:buFont typeface="Arial"/>
              <a:buChar char="•"/>
              <a:tabLst>
                <a:tab pos="240029" algn="l"/>
              </a:tabLst>
            </a:pPr>
            <a:r>
              <a:rPr lang="fr-FR" sz="2400" dirty="0">
                <a:latin typeface="Segoe UI"/>
                <a:cs typeface="Segoe UI"/>
              </a:rPr>
              <a:t>Comme</a:t>
            </a:r>
            <a:r>
              <a:rPr lang="fr-FR" sz="2400" spc="-4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pour</a:t>
            </a:r>
            <a:r>
              <a:rPr lang="fr-FR" sz="2400" spc="-3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les</a:t>
            </a:r>
            <a:r>
              <a:rPr lang="fr-FR" sz="2400" spc="-5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chaînes,</a:t>
            </a:r>
            <a:r>
              <a:rPr lang="fr-FR" sz="2400" spc="-2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il</a:t>
            </a:r>
            <a:r>
              <a:rPr lang="fr-FR" sz="2400" spc="-3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est</a:t>
            </a:r>
            <a:r>
              <a:rPr lang="fr-FR" sz="2400" spc="-5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souvent</a:t>
            </a:r>
            <a:r>
              <a:rPr lang="fr-FR" sz="2400" spc="-4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difficile</a:t>
            </a:r>
            <a:r>
              <a:rPr lang="fr-FR" sz="2400" spc="-1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d'utiliser</a:t>
            </a:r>
            <a:r>
              <a:rPr lang="fr-FR" sz="2400" spc="-3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les</a:t>
            </a:r>
            <a:r>
              <a:rPr lang="fr-FR" sz="2400" spc="-50" dirty="0">
                <a:latin typeface="Segoe UI"/>
                <a:cs typeface="Segoe UI"/>
              </a:rPr>
              <a:t> </a:t>
            </a:r>
            <a:r>
              <a:rPr lang="fr-FR" sz="2400" spc="-10" dirty="0">
                <a:latin typeface="Segoe UI"/>
                <a:cs typeface="Segoe UI"/>
              </a:rPr>
              <a:t>tableaux</a:t>
            </a:r>
            <a:endParaRPr lang="fr-FR" sz="240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spcBef>
                <a:spcPts val="509"/>
              </a:spcBef>
              <a:buClr>
                <a:srgbClr val="391778"/>
              </a:buClr>
              <a:buFont typeface="Arial"/>
              <a:buChar char="•"/>
              <a:tabLst>
                <a:tab pos="698500" algn="l"/>
              </a:tabLst>
            </a:pPr>
            <a:r>
              <a:rPr lang="fr-FR" sz="2000" dirty="0">
                <a:latin typeface="Segoe UI"/>
                <a:cs typeface="Segoe UI"/>
              </a:rPr>
              <a:t>Les</a:t>
            </a:r>
            <a:r>
              <a:rPr lang="fr-FR" sz="2000" spc="-3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tableaux</a:t>
            </a:r>
            <a:r>
              <a:rPr lang="fr-FR" sz="2000" spc="-3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ont</a:t>
            </a:r>
            <a:r>
              <a:rPr lang="fr-FR" sz="2000" spc="-2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une</a:t>
            </a:r>
            <a:r>
              <a:rPr lang="fr-FR" sz="2000" spc="-2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taille</a:t>
            </a:r>
            <a:r>
              <a:rPr lang="fr-FR" sz="2000" spc="-2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fixe</a:t>
            </a:r>
            <a:r>
              <a:rPr lang="fr-FR" sz="2000" spc="-4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définis</a:t>
            </a:r>
            <a:r>
              <a:rPr lang="fr-FR" sz="2000" spc="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lors</a:t>
            </a:r>
            <a:r>
              <a:rPr lang="fr-FR" sz="2000" spc="-2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de</a:t>
            </a:r>
            <a:r>
              <a:rPr lang="fr-FR" sz="2000" spc="-2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la</a:t>
            </a:r>
            <a:r>
              <a:rPr lang="fr-FR" sz="2000" spc="-25" dirty="0">
                <a:latin typeface="Segoe UI"/>
                <a:cs typeface="Segoe UI"/>
              </a:rPr>
              <a:t> </a:t>
            </a:r>
            <a:r>
              <a:rPr lang="fr-FR" sz="2000" spc="-10" dirty="0">
                <a:latin typeface="Segoe UI"/>
                <a:cs typeface="Segoe UI"/>
              </a:rPr>
              <a:t>création</a:t>
            </a:r>
            <a:endParaRPr lang="fr-FR" sz="200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spcBef>
                <a:spcPts val="505"/>
              </a:spcBef>
              <a:buClr>
                <a:srgbClr val="391778"/>
              </a:buClr>
              <a:buFont typeface="Arial"/>
              <a:buChar char="•"/>
              <a:tabLst>
                <a:tab pos="698500" algn="l"/>
              </a:tabLst>
            </a:pPr>
            <a:r>
              <a:rPr lang="fr-FR" sz="2000" dirty="0">
                <a:latin typeface="Segoe UI"/>
                <a:cs typeface="Segoe UI"/>
              </a:rPr>
              <a:t>Les</a:t>
            </a:r>
            <a:r>
              <a:rPr lang="fr-FR" sz="2000" spc="-3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tableaux</a:t>
            </a:r>
            <a:r>
              <a:rPr lang="fr-FR" sz="2000" spc="-3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sont</a:t>
            </a:r>
            <a:r>
              <a:rPr lang="fr-FR" sz="2000" spc="-2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donc</a:t>
            </a:r>
            <a:r>
              <a:rPr lang="fr-FR" sz="2000" spc="-25" dirty="0">
                <a:latin typeface="Segoe UI"/>
                <a:cs typeface="Segoe UI"/>
              </a:rPr>
              <a:t> </a:t>
            </a:r>
            <a:r>
              <a:rPr lang="fr-FR" sz="2000" spc="-10" dirty="0">
                <a:latin typeface="Segoe UI"/>
                <a:cs typeface="Segoe UI"/>
              </a:rPr>
              <a:t>immuables</a:t>
            </a:r>
            <a:endParaRPr lang="fr-FR" sz="2000" dirty="0">
              <a:latin typeface="Segoe UI"/>
              <a:cs typeface="Segoe UI"/>
            </a:endParaRPr>
          </a:p>
          <a:p>
            <a:pPr lvl="1">
              <a:lnSpc>
                <a:spcPct val="100000"/>
              </a:lnSpc>
              <a:spcBef>
                <a:spcPts val="1225"/>
              </a:spcBef>
              <a:buClr>
                <a:srgbClr val="391778"/>
              </a:buClr>
              <a:buFont typeface="Arial"/>
              <a:buChar char="•"/>
            </a:pPr>
            <a:endParaRPr lang="fr-FR" sz="2000" dirty="0">
              <a:latin typeface="Segoe UI"/>
              <a:cs typeface="Segoe UI"/>
            </a:endParaRPr>
          </a:p>
          <a:p>
            <a:pPr marL="240029" marR="5080" indent="-227329">
              <a:lnSpc>
                <a:spcPct val="100000"/>
              </a:lnSpc>
              <a:buClr>
                <a:srgbClr val="391778"/>
              </a:buClr>
              <a:buFont typeface="Arial"/>
              <a:buChar char="•"/>
              <a:tabLst>
                <a:tab pos="241300" algn="l"/>
              </a:tabLst>
            </a:pPr>
            <a:r>
              <a:rPr lang="fr-FR" sz="2400" dirty="0">
                <a:latin typeface="Segoe UI"/>
                <a:cs typeface="Segoe UI"/>
              </a:rPr>
              <a:t>Les</a:t>
            </a:r>
            <a:r>
              <a:rPr lang="fr-FR" sz="2400" spc="-80" dirty="0">
                <a:latin typeface="Segoe UI"/>
                <a:cs typeface="Segoe UI"/>
              </a:rPr>
              <a:t> </a:t>
            </a:r>
            <a:r>
              <a:rPr lang="fr-FR" sz="2400" dirty="0" err="1">
                <a:latin typeface="Segoe UI"/>
                <a:cs typeface="Segoe UI"/>
              </a:rPr>
              <a:t>namespaces</a:t>
            </a:r>
            <a:r>
              <a:rPr lang="fr-FR" sz="2400" spc="-70" dirty="0">
                <a:latin typeface="Segoe UI"/>
                <a:cs typeface="Segoe UI"/>
              </a:rPr>
              <a:t> </a:t>
            </a:r>
            <a:r>
              <a:rPr lang="fr-FR" sz="2400" i="1" spc="-10" dirty="0">
                <a:latin typeface="Segoe UI"/>
                <a:cs typeface="Segoe UI"/>
              </a:rPr>
              <a:t>"</a:t>
            </a:r>
            <a:r>
              <a:rPr lang="fr-FR" sz="2400" i="1" spc="-10" dirty="0" err="1">
                <a:latin typeface="Segoe UI"/>
                <a:cs typeface="Segoe UI"/>
              </a:rPr>
              <a:t>System.Collections</a:t>
            </a:r>
            <a:r>
              <a:rPr lang="fr-FR" sz="2400" i="1" spc="-10" dirty="0">
                <a:latin typeface="Segoe UI"/>
                <a:cs typeface="Segoe UI"/>
              </a:rPr>
              <a:t>",</a:t>
            </a:r>
            <a:r>
              <a:rPr lang="fr-FR" sz="2400" i="1" spc="-55" dirty="0">
                <a:latin typeface="Segoe UI"/>
                <a:cs typeface="Segoe UI"/>
              </a:rPr>
              <a:t> </a:t>
            </a:r>
            <a:r>
              <a:rPr lang="fr-FR" sz="2400" i="1" spc="-10" dirty="0">
                <a:latin typeface="Segoe UI"/>
                <a:cs typeface="Segoe UI"/>
              </a:rPr>
              <a:t>"</a:t>
            </a:r>
            <a:r>
              <a:rPr lang="fr-FR" sz="2400" i="1" spc="-10" dirty="0" err="1">
                <a:latin typeface="Segoe UI"/>
                <a:cs typeface="Segoe UI"/>
              </a:rPr>
              <a:t>System.Collections.Specialized</a:t>
            </a:r>
            <a:r>
              <a:rPr lang="fr-FR" sz="2400" i="1" spc="-10" dirty="0">
                <a:latin typeface="Segoe UI"/>
                <a:cs typeface="Segoe UI"/>
              </a:rPr>
              <a:t>"</a:t>
            </a:r>
            <a:r>
              <a:rPr lang="fr-FR" sz="2400" i="1" spc="-35" dirty="0">
                <a:latin typeface="Segoe UI"/>
                <a:cs typeface="Segoe UI"/>
              </a:rPr>
              <a:t> </a:t>
            </a:r>
            <a:r>
              <a:rPr lang="fr-FR" sz="2400" i="1" spc="-25" dirty="0">
                <a:latin typeface="Segoe UI"/>
                <a:cs typeface="Segoe UI"/>
              </a:rPr>
              <a:t>et 	</a:t>
            </a:r>
            <a:r>
              <a:rPr lang="fr-FR" sz="2400" i="1" spc="-10" dirty="0">
                <a:latin typeface="Segoe UI"/>
                <a:cs typeface="Segoe UI"/>
              </a:rPr>
              <a:t>"</a:t>
            </a:r>
            <a:r>
              <a:rPr lang="fr-FR" sz="2400" i="1" spc="-10" dirty="0" err="1">
                <a:latin typeface="Segoe UI"/>
                <a:cs typeface="Segoe UI"/>
              </a:rPr>
              <a:t>System.Collections.Generic</a:t>
            </a:r>
            <a:r>
              <a:rPr lang="fr-FR" sz="2400" i="1" spc="-10" dirty="0">
                <a:latin typeface="Segoe UI"/>
                <a:cs typeface="Segoe UI"/>
              </a:rPr>
              <a:t>"</a:t>
            </a:r>
            <a:r>
              <a:rPr lang="fr-FR" sz="2400" i="1" spc="-5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vont</a:t>
            </a:r>
            <a:r>
              <a:rPr lang="fr-FR" sz="2400" spc="-5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alors</a:t>
            </a:r>
            <a:r>
              <a:rPr lang="fr-FR" sz="2400" spc="-3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permettre</a:t>
            </a:r>
            <a:r>
              <a:rPr lang="fr-FR" sz="2400" spc="-9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des</a:t>
            </a:r>
            <a:r>
              <a:rPr lang="fr-FR" sz="2400" spc="-7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solutions</a:t>
            </a:r>
            <a:r>
              <a:rPr lang="fr-FR" sz="2400" spc="-30" dirty="0">
                <a:latin typeface="Segoe UI"/>
                <a:cs typeface="Segoe UI"/>
              </a:rPr>
              <a:t> </a:t>
            </a:r>
            <a:r>
              <a:rPr lang="fr-FR" sz="2400" spc="-25" dirty="0">
                <a:latin typeface="Segoe UI"/>
                <a:cs typeface="Segoe UI"/>
              </a:rPr>
              <a:t>de 	</a:t>
            </a:r>
            <a:r>
              <a:rPr lang="fr-FR" sz="2400" dirty="0">
                <a:latin typeface="Segoe UI"/>
                <a:cs typeface="Segoe UI"/>
              </a:rPr>
              <a:t>stockage</a:t>
            </a:r>
            <a:r>
              <a:rPr lang="fr-FR" sz="2400" spc="-7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beaucoup</a:t>
            </a:r>
            <a:r>
              <a:rPr lang="fr-FR" sz="2400" spc="-6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plus</a:t>
            </a:r>
            <a:r>
              <a:rPr lang="fr-FR" sz="2400" spc="-65" dirty="0">
                <a:latin typeface="Segoe UI"/>
                <a:cs typeface="Segoe UI"/>
              </a:rPr>
              <a:t> </a:t>
            </a:r>
            <a:r>
              <a:rPr lang="fr-FR" sz="2400" spc="-10" dirty="0">
                <a:latin typeface="Segoe UI"/>
                <a:cs typeface="Segoe UI"/>
              </a:rPr>
              <a:t>dynamique.</a:t>
            </a:r>
            <a:endParaRPr lang="fr-FR" sz="2400" dirty="0">
              <a:latin typeface="Segoe UI"/>
              <a:cs typeface="Segoe U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284709522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5. Collections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4796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Définition</a:t>
            </a:r>
          </a:p>
          <a:p>
            <a:endParaRPr lang="fr-FR" sz="2400" dirty="0"/>
          </a:p>
          <a:p>
            <a:pPr marL="240029" indent="-227329">
              <a:lnSpc>
                <a:spcPct val="100000"/>
              </a:lnSpc>
              <a:spcBef>
                <a:spcPts val="100"/>
              </a:spcBef>
              <a:buClr>
                <a:srgbClr val="391778"/>
              </a:buClr>
              <a:buFont typeface="Arial"/>
              <a:buChar char="•"/>
              <a:tabLst>
                <a:tab pos="240029" algn="l"/>
              </a:tabLst>
            </a:pPr>
            <a:r>
              <a:rPr lang="fr-FR" sz="2400" dirty="0">
                <a:latin typeface="Segoe UI"/>
                <a:cs typeface="Segoe UI"/>
              </a:rPr>
              <a:t>Les</a:t>
            </a:r>
            <a:r>
              <a:rPr lang="fr-FR" sz="2400" spc="-9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collections</a:t>
            </a:r>
            <a:r>
              <a:rPr lang="fr-FR" sz="2400" spc="-35" dirty="0">
                <a:latin typeface="Segoe UI"/>
                <a:cs typeface="Segoe UI"/>
              </a:rPr>
              <a:t> </a:t>
            </a:r>
            <a:r>
              <a:rPr lang="fr-FR" sz="2400" spc="-50" dirty="0">
                <a:latin typeface="Segoe UI"/>
                <a:cs typeface="Segoe UI"/>
              </a:rPr>
              <a:t>:</a:t>
            </a:r>
            <a:endParaRPr lang="fr-FR" sz="2400" dirty="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1190"/>
              </a:spcBef>
              <a:buClr>
                <a:srgbClr val="391778"/>
              </a:buClr>
              <a:buFont typeface="Arial"/>
              <a:buChar char="•"/>
            </a:pPr>
            <a:endParaRPr lang="fr-FR" sz="2400" dirty="0">
              <a:latin typeface="Segoe UI"/>
              <a:cs typeface="Segoe UI"/>
            </a:endParaRPr>
          </a:p>
          <a:p>
            <a:pPr marL="697865" lvl="1" indent="-227965">
              <a:lnSpc>
                <a:spcPct val="100000"/>
              </a:lnSpc>
              <a:buClr>
                <a:srgbClr val="391778"/>
              </a:buClr>
              <a:buFont typeface="Arial"/>
              <a:buChar char="•"/>
              <a:tabLst>
                <a:tab pos="697865" algn="l"/>
              </a:tabLst>
            </a:pPr>
            <a:r>
              <a:rPr lang="fr-FR" sz="2400" dirty="0">
                <a:latin typeface="Segoe UI"/>
                <a:cs typeface="Segoe UI"/>
              </a:rPr>
              <a:t>Sont</a:t>
            </a:r>
            <a:r>
              <a:rPr lang="fr-FR" sz="2400" spc="-1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un</a:t>
            </a:r>
            <a:r>
              <a:rPr lang="fr-FR" sz="2400" spc="-5" dirty="0">
                <a:latin typeface="Segoe UI"/>
                <a:cs typeface="Segoe UI"/>
              </a:rPr>
              <a:t> </a:t>
            </a:r>
            <a:r>
              <a:rPr lang="fr-FR" sz="2400" u="sng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ensemble</a:t>
            </a:r>
            <a:r>
              <a:rPr lang="fr-FR" sz="2400" u="sng" spc="-45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 </a:t>
            </a:r>
            <a:r>
              <a:rPr lang="fr-FR" sz="2400" u="sng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de</a:t>
            </a:r>
            <a:r>
              <a:rPr lang="fr-FR" sz="2400" u="sng" spc="-30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 </a:t>
            </a:r>
            <a:r>
              <a:rPr lang="fr-FR" sz="2400" u="sng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classes</a:t>
            </a:r>
            <a:r>
              <a:rPr lang="fr-FR" sz="2400" u="sng" spc="-30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 </a:t>
            </a:r>
            <a:r>
              <a:rPr lang="fr-FR" sz="2400" u="sng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et</a:t>
            </a:r>
            <a:r>
              <a:rPr lang="fr-FR" sz="2400" u="sng" spc="-30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 </a:t>
            </a:r>
            <a:r>
              <a:rPr lang="fr-FR" sz="2400" u="sng" spc="-10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d'interfaces</a:t>
            </a:r>
            <a:endParaRPr lang="fr-FR" sz="2400" dirty="0">
              <a:latin typeface="Segoe UI"/>
              <a:cs typeface="Segoe UI"/>
            </a:endParaRPr>
          </a:p>
          <a:p>
            <a:pPr lvl="1">
              <a:lnSpc>
                <a:spcPct val="100000"/>
              </a:lnSpc>
              <a:spcBef>
                <a:spcPts val="685"/>
              </a:spcBef>
              <a:buClr>
                <a:srgbClr val="391778"/>
              </a:buClr>
              <a:buFont typeface="Arial"/>
              <a:buChar char="•"/>
            </a:pPr>
            <a:endParaRPr lang="fr-FR" sz="2400" dirty="0">
              <a:latin typeface="Segoe UI"/>
              <a:cs typeface="Segoe UI"/>
            </a:endParaRPr>
          </a:p>
          <a:p>
            <a:pPr marL="697865" lvl="1" indent="-227965">
              <a:lnSpc>
                <a:spcPct val="100000"/>
              </a:lnSpc>
              <a:buClr>
                <a:srgbClr val="391778"/>
              </a:buClr>
              <a:buFont typeface="Arial"/>
              <a:buChar char="•"/>
              <a:tabLst>
                <a:tab pos="697865" algn="l"/>
              </a:tabLst>
            </a:pPr>
            <a:r>
              <a:rPr lang="fr-FR" sz="2400" dirty="0">
                <a:latin typeface="Segoe UI"/>
                <a:cs typeface="Segoe UI"/>
              </a:rPr>
              <a:t>Utilisent</a:t>
            </a:r>
            <a:r>
              <a:rPr lang="fr-FR" sz="2400" spc="-2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des</a:t>
            </a:r>
            <a:r>
              <a:rPr lang="fr-FR" sz="2400" spc="-60" dirty="0">
                <a:latin typeface="Segoe UI"/>
                <a:cs typeface="Segoe UI"/>
              </a:rPr>
              <a:t> </a:t>
            </a:r>
            <a:r>
              <a:rPr lang="fr-FR" sz="2400" u="sng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patterns</a:t>
            </a:r>
            <a:r>
              <a:rPr lang="fr-FR" sz="2400" spc="-7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bien</a:t>
            </a:r>
            <a:r>
              <a:rPr lang="fr-FR" sz="2400" spc="-4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connus</a:t>
            </a:r>
            <a:r>
              <a:rPr lang="fr-FR" sz="2400" spc="-3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de</a:t>
            </a:r>
            <a:r>
              <a:rPr lang="fr-FR" sz="2400" spc="-55" dirty="0">
                <a:latin typeface="Segoe UI"/>
                <a:cs typeface="Segoe UI"/>
              </a:rPr>
              <a:t> </a:t>
            </a:r>
            <a:r>
              <a:rPr lang="fr-FR" sz="2400" spc="-10" dirty="0">
                <a:latin typeface="Segoe UI"/>
                <a:cs typeface="Segoe UI"/>
              </a:rPr>
              <a:t>stockage</a:t>
            </a:r>
            <a:endParaRPr lang="fr-FR" sz="2400" dirty="0">
              <a:latin typeface="Segoe UI"/>
              <a:cs typeface="Segoe UI"/>
            </a:endParaRPr>
          </a:p>
          <a:p>
            <a:pPr marL="1155700" lvl="2" indent="-228600">
              <a:lnSpc>
                <a:spcPct val="100000"/>
              </a:lnSpc>
              <a:spcBef>
                <a:spcPts val="509"/>
              </a:spcBef>
              <a:buClr>
                <a:srgbClr val="391778"/>
              </a:buClr>
              <a:buFont typeface="Arial"/>
              <a:buChar char="•"/>
              <a:tabLst>
                <a:tab pos="1155700" algn="l"/>
              </a:tabLst>
            </a:pPr>
            <a:r>
              <a:rPr lang="fr-FR" sz="2000" dirty="0">
                <a:latin typeface="Segoe UI"/>
                <a:cs typeface="Segoe UI"/>
              </a:rPr>
              <a:t>tableau,</a:t>
            </a:r>
            <a:r>
              <a:rPr lang="fr-FR" sz="2000" spc="-5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liste</a:t>
            </a:r>
            <a:r>
              <a:rPr lang="fr-FR" sz="2000" spc="-5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chaînée,</a:t>
            </a:r>
            <a:r>
              <a:rPr lang="fr-FR" sz="2000" spc="-3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pile,</a:t>
            </a:r>
            <a:r>
              <a:rPr lang="fr-FR" sz="2000" spc="-2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file, </a:t>
            </a:r>
            <a:r>
              <a:rPr lang="fr-FR" sz="2000" spc="-10" dirty="0" err="1">
                <a:latin typeface="Segoe UI"/>
                <a:cs typeface="Segoe UI"/>
              </a:rPr>
              <a:t>map</a:t>
            </a:r>
            <a:r>
              <a:rPr lang="fr-FR" sz="2000" spc="-10" dirty="0">
                <a:latin typeface="Segoe UI"/>
                <a:cs typeface="Segoe UI"/>
              </a:rPr>
              <a:t>...</a:t>
            </a:r>
            <a:endParaRPr lang="fr-FR" sz="2000" dirty="0">
              <a:latin typeface="Segoe UI"/>
              <a:cs typeface="Segoe UI"/>
            </a:endParaRPr>
          </a:p>
          <a:p>
            <a:pPr lvl="2">
              <a:lnSpc>
                <a:spcPct val="100000"/>
              </a:lnSpc>
              <a:spcBef>
                <a:spcPts val="730"/>
              </a:spcBef>
              <a:buFont typeface="Arial"/>
              <a:buChar char="•"/>
            </a:pPr>
            <a:endParaRPr lang="fr-FR" sz="2000" dirty="0">
              <a:latin typeface="Segoe UI"/>
              <a:cs typeface="Segoe UI"/>
            </a:endParaRPr>
          </a:p>
          <a:p>
            <a:pPr marL="697865" lvl="1" indent="-227965">
              <a:lnSpc>
                <a:spcPct val="100000"/>
              </a:lnSpc>
              <a:buClr>
                <a:srgbClr val="391778"/>
              </a:buClr>
              <a:buFont typeface="Arial"/>
              <a:buChar char="•"/>
              <a:tabLst>
                <a:tab pos="697865" algn="l"/>
              </a:tabLst>
            </a:pPr>
            <a:r>
              <a:rPr lang="fr-FR" sz="2400" dirty="0">
                <a:latin typeface="Segoe UI"/>
                <a:cs typeface="Segoe UI"/>
              </a:rPr>
              <a:t>Existent</a:t>
            </a:r>
            <a:r>
              <a:rPr lang="fr-FR" sz="2400" spc="-3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en</a:t>
            </a:r>
            <a:r>
              <a:rPr lang="fr-FR" sz="2400" spc="-25" dirty="0">
                <a:latin typeface="Segoe UI"/>
                <a:cs typeface="Segoe UI"/>
              </a:rPr>
              <a:t> </a:t>
            </a:r>
            <a:r>
              <a:rPr lang="fr-FR" sz="2400" u="sng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version</a:t>
            </a:r>
            <a:r>
              <a:rPr lang="fr-FR" sz="2400" u="sng" spc="-25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 </a:t>
            </a:r>
            <a:r>
              <a:rPr lang="fr-FR" sz="2400" u="sng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générique</a:t>
            </a:r>
            <a:r>
              <a:rPr lang="fr-FR" sz="2400" spc="-4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et</a:t>
            </a:r>
            <a:r>
              <a:rPr lang="fr-FR" sz="2400" spc="-2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non</a:t>
            </a:r>
            <a:r>
              <a:rPr lang="fr-FR" sz="2400" spc="-10" dirty="0">
                <a:latin typeface="Segoe UI"/>
                <a:cs typeface="Segoe UI"/>
              </a:rPr>
              <a:t> générique</a:t>
            </a:r>
            <a:endParaRPr lang="fr-FR" sz="2400" dirty="0">
              <a:latin typeface="Segoe UI"/>
              <a:cs typeface="Segoe UI"/>
            </a:endParaRPr>
          </a:p>
          <a:p>
            <a:pPr marL="1155700" lvl="2" indent="-228600">
              <a:lnSpc>
                <a:spcPct val="100000"/>
              </a:lnSpc>
              <a:spcBef>
                <a:spcPts val="520"/>
              </a:spcBef>
              <a:buClr>
                <a:srgbClr val="391778"/>
              </a:buClr>
              <a:buFont typeface="Arial"/>
              <a:buChar char="•"/>
              <a:tabLst>
                <a:tab pos="1155700" algn="l"/>
              </a:tabLst>
            </a:pPr>
            <a:r>
              <a:rPr lang="fr-FR" sz="1800" spc="-40" dirty="0">
                <a:latin typeface="Segoe UI"/>
                <a:cs typeface="Segoe UI"/>
              </a:rPr>
              <a:t>C’est-</a:t>
            </a:r>
            <a:r>
              <a:rPr lang="fr-FR" sz="1800" spc="-10" dirty="0">
                <a:latin typeface="Segoe UI"/>
                <a:cs typeface="Segoe UI"/>
              </a:rPr>
              <a:t>à-</a:t>
            </a:r>
            <a:r>
              <a:rPr lang="fr-FR" sz="1800" dirty="0">
                <a:latin typeface="Segoe UI"/>
                <a:cs typeface="Segoe UI"/>
              </a:rPr>
              <a:t>dire</a:t>
            </a:r>
            <a:r>
              <a:rPr lang="fr-FR" sz="1800" spc="-15" dirty="0">
                <a:latin typeface="Segoe UI"/>
                <a:cs typeface="Segoe UI"/>
              </a:rPr>
              <a:t> </a:t>
            </a:r>
            <a:r>
              <a:rPr lang="fr-FR" sz="1800" dirty="0">
                <a:latin typeface="Segoe UI"/>
                <a:cs typeface="Segoe UI"/>
              </a:rPr>
              <a:t>des</a:t>
            </a:r>
            <a:r>
              <a:rPr lang="fr-FR" sz="1800" spc="-35" dirty="0">
                <a:latin typeface="Segoe UI"/>
                <a:cs typeface="Segoe UI"/>
              </a:rPr>
              <a:t> </a:t>
            </a:r>
            <a:r>
              <a:rPr lang="fr-FR" sz="1800" dirty="0">
                <a:latin typeface="Segoe UI"/>
                <a:cs typeface="Segoe UI"/>
              </a:rPr>
              <a:t>collections</a:t>
            </a:r>
            <a:r>
              <a:rPr lang="fr-FR" sz="1800" spc="-25" dirty="0">
                <a:latin typeface="Segoe UI"/>
                <a:cs typeface="Segoe UI"/>
              </a:rPr>
              <a:t> </a:t>
            </a:r>
            <a:r>
              <a:rPr lang="fr-FR" sz="1800" dirty="0">
                <a:latin typeface="Segoe UI"/>
                <a:cs typeface="Segoe UI"/>
              </a:rPr>
              <a:t>typées</a:t>
            </a:r>
            <a:r>
              <a:rPr lang="fr-FR" sz="1800" spc="-30" dirty="0">
                <a:latin typeface="Segoe UI"/>
                <a:cs typeface="Segoe UI"/>
              </a:rPr>
              <a:t> </a:t>
            </a:r>
            <a:r>
              <a:rPr lang="fr-FR" sz="1800" dirty="0">
                <a:latin typeface="Segoe UI"/>
                <a:cs typeface="Segoe UI"/>
              </a:rPr>
              <a:t>ou</a:t>
            </a:r>
            <a:r>
              <a:rPr lang="fr-FR" sz="1800" spc="-40" dirty="0">
                <a:latin typeface="Segoe UI"/>
                <a:cs typeface="Segoe UI"/>
              </a:rPr>
              <a:t> </a:t>
            </a:r>
            <a:r>
              <a:rPr lang="fr-FR" sz="1800" dirty="0">
                <a:latin typeface="Segoe UI"/>
                <a:cs typeface="Segoe UI"/>
              </a:rPr>
              <a:t>non</a:t>
            </a:r>
            <a:r>
              <a:rPr lang="fr-FR" sz="1800" spc="-50" dirty="0">
                <a:latin typeface="Segoe UI"/>
                <a:cs typeface="Segoe UI"/>
              </a:rPr>
              <a:t> </a:t>
            </a:r>
            <a:r>
              <a:rPr lang="fr-FR" sz="1800" spc="-10" dirty="0">
                <a:latin typeface="Segoe UI"/>
                <a:cs typeface="Segoe UI"/>
              </a:rPr>
              <a:t>typées</a:t>
            </a:r>
            <a:endParaRPr lang="fr-FR" sz="1800" dirty="0">
              <a:latin typeface="Segoe UI"/>
              <a:cs typeface="Segoe UI"/>
            </a:endParaRPr>
          </a:p>
          <a:p>
            <a:pPr marL="240029" indent="-227329">
              <a:lnSpc>
                <a:spcPct val="100000"/>
              </a:lnSpc>
              <a:spcBef>
                <a:spcPts val="100"/>
              </a:spcBef>
              <a:buClr>
                <a:srgbClr val="391778"/>
              </a:buClr>
              <a:buFont typeface="Arial"/>
              <a:buChar char="•"/>
              <a:tabLst>
                <a:tab pos="240029" algn="l"/>
              </a:tabLst>
            </a:pPr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216696128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4">
            <a:extLst>
              <a:ext uri="{FF2B5EF4-FFF2-40B4-BE49-F238E27FC236}">
                <a16:creationId xmlns:a16="http://schemas.microsoft.com/office/drawing/2014/main" id="{C34F9DCF-99F0-3764-0DC1-78D1AA8A51C4}"/>
              </a:ext>
            </a:extLst>
          </p:cNvPr>
          <p:cNvSpPr/>
          <p:nvPr/>
        </p:nvSpPr>
        <p:spPr>
          <a:xfrm>
            <a:off x="9232392" y="4309871"/>
            <a:ext cx="248285" cy="761365"/>
          </a:xfrm>
          <a:custGeom>
            <a:avLst/>
            <a:gdLst/>
            <a:ahLst/>
            <a:cxnLst/>
            <a:rect l="l" t="t" r="r" b="b"/>
            <a:pathLst>
              <a:path w="248284" h="761364">
                <a:moveTo>
                  <a:pt x="0" y="0"/>
                </a:moveTo>
                <a:lnTo>
                  <a:pt x="0" y="761238"/>
                </a:lnTo>
                <a:lnTo>
                  <a:pt x="248284" y="761238"/>
                </a:lnTo>
              </a:path>
            </a:pathLst>
          </a:custGeom>
          <a:ln w="12700">
            <a:solidFill>
              <a:srgbClr val="3C67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5">
            <a:extLst>
              <a:ext uri="{FF2B5EF4-FFF2-40B4-BE49-F238E27FC236}">
                <a16:creationId xmlns:a16="http://schemas.microsoft.com/office/drawing/2014/main" id="{F1E75235-8829-4B4E-37EA-627CDE190058}"/>
              </a:ext>
            </a:extLst>
          </p:cNvPr>
          <p:cNvSpPr/>
          <p:nvPr/>
        </p:nvSpPr>
        <p:spPr>
          <a:xfrm>
            <a:off x="1222247" y="3134867"/>
            <a:ext cx="8671560" cy="3111500"/>
          </a:xfrm>
          <a:custGeom>
            <a:avLst/>
            <a:gdLst/>
            <a:ahLst/>
            <a:cxnLst/>
            <a:rect l="l" t="t" r="r" b="b"/>
            <a:pathLst>
              <a:path w="8671560" h="3111500">
                <a:moveTo>
                  <a:pt x="4666488" y="0"/>
                </a:moveTo>
                <a:lnTo>
                  <a:pt x="4666488" y="173736"/>
                </a:lnTo>
                <a:lnTo>
                  <a:pt x="8671560" y="173736"/>
                </a:lnTo>
                <a:lnTo>
                  <a:pt x="8671560" y="347599"/>
                </a:lnTo>
              </a:path>
              <a:path w="8671560" h="3111500">
                <a:moveTo>
                  <a:pt x="6007608" y="1175004"/>
                </a:moveTo>
                <a:lnTo>
                  <a:pt x="6007608" y="1936242"/>
                </a:lnTo>
                <a:lnTo>
                  <a:pt x="6255893" y="1936242"/>
                </a:lnTo>
              </a:path>
              <a:path w="8671560" h="3111500">
                <a:moveTo>
                  <a:pt x="4666488" y="0"/>
                </a:moveTo>
                <a:lnTo>
                  <a:pt x="4666488" y="173736"/>
                </a:lnTo>
                <a:lnTo>
                  <a:pt x="6669024" y="173736"/>
                </a:lnTo>
                <a:lnTo>
                  <a:pt x="6669024" y="347599"/>
                </a:lnTo>
              </a:path>
              <a:path w="8671560" h="3111500">
                <a:moveTo>
                  <a:pt x="4666488" y="0"/>
                </a:moveTo>
                <a:lnTo>
                  <a:pt x="4666488" y="347599"/>
                </a:lnTo>
              </a:path>
              <a:path w="8671560" h="3111500">
                <a:moveTo>
                  <a:pt x="4666488" y="0"/>
                </a:moveTo>
                <a:lnTo>
                  <a:pt x="4666488" y="173736"/>
                </a:lnTo>
                <a:lnTo>
                  <a:pt x="2663952" y="173736"/>
                </a:lnTo>
                <a:lnTo>
                  <a:pt x="2663952" y="347599"/>
                </a:lnTo>
              </a:path>
              <a:path w="8671560" h="3111500">
                <a:moveTo>
                  <a:pt x="0" y="1175004"/>
                </a:moveTo>
                <a:lnTo>
                  <a:pt x="0" y="3111322"/>
                </a:lnTo>
                <a:lnTo>
                  <a:pt x="248285" y="3111322"/>
                </a:lnTo>
              </a:path>
              <a:path w="8671560" h="3111500">
                <a:moveTo>
                  <a:pt x="0" y="1175004"/>
                </a:moveTo>
                <a:lnTo>
                  <a:pt x="0" y="1936242"/>
                </a:lnTo>
                <a:lnTo>
                  <a:pt x="248285" y="1936242"/>
                </a:lnTo>
              </a:path>
              <a:path w="8671560" h="3111500">
                <a:moveTo>
                  <a:pt x="4666488" y="0"/>
                </a:moveTo>
                <a:lnTo>
                  <a:pt x="4666488" y="173736"/>
                </a:lnTo>
                <a:lnTo>
                  <a:pt x="661416" y="173736"/>
                </a:lnTo>
                <a:lnTo>
                  <a:pt x="661416" y="347599"/>
                </a:lnTo>
              </a:path>
            </a:pathLst>
          </a:custGeom>
          <a:ln w="12700">
            <a:solidFill>
              <a:srgbClr val="3C67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6">
            <a:extLst>
              <a:ext uri="{FF2B5EF4-FFF2-40B4-BE49-F238E27FC236}">
                <a16:creationId xmlns:a16="http://schemas.microsoft.com/office/drawing/2014/main" id="{3F050614-536B-73B9-5DB1-DB128BD7FEC9}"/>
              </a:ext>
            </a:extLst>
          </p:cNvPr>
          <p:cNvSpPr/>
          <p:nvPr/>
        </p:nvSpPr>
        <p:spPr>
          <a:xfrm>
            <a:off x="5888735" y="1959864"/>
            <a:ext cx="0" cy="347980"/>
          </a:xfrm>
          <a:custGeom>
            <a:avLst/>
            <a:gdLst/>
            <a:ahLst/>
            <a:cxnLst/>
            <a:rect l="l" t="t" r="r" b="b"/>
            <a:pathLst>
              <a:path h="347980">
                <a:moveTo>
                  <a:pt x="0" y="0"/>
                </a:moveTo>
                <a:lnTo>
                  <a:pt x="0" y="347599"/>
                </a:lnTo>
              </a:path>
            </a:pathLst>
          </a:custGeom>
          <a:ln w="12700">
            <a:solidFill>
              <a:srgbClr val="34589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7">
            <a:extLst>
              <a:ext uri="{FF2B5EF4-FFF2-40B4-BE49-F238E27FC236}">
                <a16:creationId xmlns:a16="http://schemas.microsoft.com/office/drawing/2014/main" id="{8A992642-4558-1F30-AEBD-13A5B00CB488}"/>
              </a:ext>
            </a:extLst>
          </p:cNvPr>
          <p:cNvSpPr txBox="1"/>
          <p:nvPr/>
        </p:nvSpPr>
        <p:spPr>
          <a:xfrm>
            <a:off x="5061203" y="1132332"/>
            <a:ext cx="1655445" cy="828040"/>
          </a:xfrm>
          <a:prstGeom prst="rect">
            <a:avLst/>
          </a:prstGeom>
          <a:solidFill>
            <a:srgbClr val="6FAC46"/>
          </a:solidFill>
          <a:ln w="12700">
            <a:solidFill>
              <a:srgbClr val="507D31"/>
            </a:solidFill>
          </a:ln>
        </p:spPr>
        <p:txBody>
          <a:bodyPr vert="horz" wrap="square" lIns="0" tIns="249554" rIns="0" bIns="0" rtlCol="0">
            <a:spAutoFit/>
          </a:bodyPr>
          <a:lstStyle/>
          <a:p>
            <a:pPr marL="54610">
              <a:lnSpc>
                <a:spcPct val="100000"/>
              </a:lnSpc>
              <a:spcBef>
                <a:spcPts val="1964"/>
              </a:spcBef>
            </a:pPr>
            <a:r>
              <a:rPr sz="1800" b="1" spc="-10" dirty="0">
                <a:solidFill>
                  <a:srgbClr val="FFFFFF"/>
                </a:solidFill>
                <a:latin typeface="Calibri"/>
                <a:cs typeface="Calibri"/>
              </a:rPr>
              <a:t>IEnumerable&lt;T&gt;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8">
            <a:extLst>
              <a:ext uri="{FF2B5EF4-FFF2-40B4-BE49-F238E27FC236}">
                <a16:creationId xmlns:a16="http://schemas.microsoft.com/office/drawing/2014/main" id="{6A4FD9E6-F649-86F1-A50E-D4CABAA5DA1C}"/>
              </a:ext>
            </a:extLst>
          </p:cNvPr>
          <p:cNvSpPr txBox="1"/>
          <p:nvPr/>
        </p:nvSpPr>
        <p:spPr>
          <a:xfrm>
            <a:off x="5061203" y="2307335"/>
            <a:ext cx="1655445" cy="828040"/>
          </a:xfrm>
          <a:prstGeom prst="rect">
            <a:avLst/>
          </a:prstGeom>
          <a:solidFill>
            <a:srgbClr val="6FAC46"/>
          </a:solidFill>
          <a:ln w="12700">
            <a:solidFill>
              <a:srgbClr val="507D31"/>
            </a:solidFill>
          </a:ln>
        </p:spPr>
        <p:txBody>
          <a:bodyPr vert="horz" wrap="square" lIns="0" tIns="250190" rIns="0" bIns="0" rtlCol="0">
            <a:spAutoFit/>
          </a:bodyPr>
          <a:lstStyle/>
          <a:p>
            <a:pPr marL="151130">
              <a:lnSpc>
                <a:spcPct val="100000"/>
              </a:lnSpc>
              <a:spcBef>
                <a:spcPts val="1970"/>
              </a:spcBef>
            </a:pPr>
            <a:r>
              <a:rPr sz="1800" b="1" spc="-10" dirty="0">
                <a:solidFill>
                  <a:srgbClr val="FFFFFF"/>
                </a:solidFill>
                <a:latin typeface="Calibri"/>
                <a:cs typeface="Calibri"/>
              </a:rPr>
              <a:t>ICollection&lt;T&gt;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" name="object 9">
            <a:extLst>
              <a:ext uri="{FF2B5EF4-FFF2-40B4-BE49-F238E27FC236}">
                <a16:creationId xmlns:a16="http://schemas.microsoft.com/office/drawing/2014/main" id="{66DD6CAE-08CA-484C-EA08-4DFA376E0CA4}"/>
              </a:ext>
            </a:extLst>
          </p:cNvPr>
          <p:cNvSpPr txBox="1"/>
          <p:nvPr/>
        </p:nvSpPr>
        <p:spPr>
          <a:xfrm>
            <a:off x="1056132" y="3482340"/>
            <a:ext cx="1655445" cy="828040"/>
          </a:xfrm>
          <a:prstGeom prst="rect">
            <a:avLst/>
          </a:prstGeom>
          <a:solidFill>
            <a:srgbClr val="6FAC46"/>
          </a:solidFill>
          <a:ln w="12700">
            <a:solidFill>
              <a:srgbClr val="507D31"/>
            </a:solidFill>
          </a:ln>
        </p:spPr>
        <p:txBody>
          <a:bodyPr vert="horz" wrap="square" lIns="0" tIns="250190" rIns="0" bIns="0" rtlCol="0">
            <a:spAutoFit/>
          </a:bodyPr>
          <a:lstStyle/>
          <a:p>
            <a:pPr marL="466090">
              <a:lnSpc>
                <a:spcPct val="100000"/>
              </a:lnSpc>
              <a:spcBef>
                <a:spcPts val="1970"/>
              </a:spcBef>
            </a:pPr>
            <a:r>
              <a:rPr sz="1800" b="1" spc="-10" dirty="0">
                <a:solidFill>
                  <a:srgbClr val="FFFFFF"/>
                </a:solidFill>
                <a:latin typeface="Calibri"/>
                <a:cs typeface="Calibri"/>
              </a:rPr>
              <a:t>IList&lt;T&gt;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8" name="object 10">
            <a:extLst>
              <a:ext uri="{FF2B5EF4-FFF2-40B4-BE49-F238E27FC236}">
                <a16:creationId xmlns:a16="http://schemas.microsoft.com/office/drawing/2014/main" id="{1069183B-2906-A537-0229-199904842F7E}"/>
              </a:ext>
            </a:extLst>
          </p:cNvPr>
          <p:cNvGrpSpPr/>
          <p:nvPr/>
        </p:nvGrpSpPr>
        <p:grpSpPr>
          <a:xfrm>
            <a:off x="1464310" y="4650994"/>
            <a:ext cx="1668145" cy="840740"/>
            <a:chOff x="1464310" y="4650994"/>
            <a:chExt cx="1668145" cy="840740"/>
          </a:xfrm>
        </p:grpSpPr>
        <p:sp>
          <p:nvSpPr>
            <p:cNvPr id="9" name="object 11">
              <a:extLst>
                <a:ext uri="{FF2B5EF4-FFF2-40B4-BE49-F238E27FC236}">
                  <a16:creationId xmlns:a16="http://schemas.microsoft.com/office/drawing/2014/main" id="{3FBB8B06-6D9F-F7F1-39E6-2764007129BD}"/>
                </a:ext>
              </a:extLst>
            </p:cNvPr>
            <p:cNvSpPr/>
            <p:nvPr/>
          </p:nvSpPr>
          <p:spPr>
            <a:xfrm>
              <a:off x="1470660" y="4657344"/>
              <a:ext cx="1655445" cy="828040"/>
            </a:xfrm>
            <a:custGeom>
              <a:avLst/>
              <a:gdLst/>
              <a:ahLst/>
              <a:cxnLst/>
              <a:rect l="l" t="t" r="r" b="b"/>
              <a:pathLst>
                <a:path w="1655445" h="828039">
                  <a:moveTo>
                    <a:pt x="1655064" y="0"/>
                  </a:moveTo>
                  <a:lnTo>
                    <a:pt x="0" y="0"/>
                  </a:lnTo>
                  <a:lnTo>
                    <a:pt x="0" y="827531"/>
                  </a:lnTo>
                  <a:lnTo>
                    <a:pt x="1655064" y="827531"/>
                  </a:lnTo>
                  <a:lnTo>
                    <a:pt x="1655064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2">
              <a:extLst>
                <a:ext uri="{FF2B5EF4-FFF2-40B4-BE49-F238E27FC236}">
                  <a16:creationId xmlns:a16="http://schemas.microsoft.com/office/drawing/2014/main" id="{E50A6328-D22F-F421-7410-11376660A8A4}"/>
                </a:ext>
              </a:extLst>
            </p:cNvPr>
            <p:cNvSpPr/>
            <p:nvPr/>
          </p:nvSpPr>
          <p:spPr>
            <a:xfrm>
              <a:off x="1470660" y="4657344"/>
              <a:ext cx="1655445" cy="828040"/>
            </a:xfrm>
            <a:custGeom>
              <a:avLst/>
              <a:gdLst/>
              <a:ahLst/>
              <a:cxnLst/>
              <a:rect l="l" t="t" r="r" b="b"/>
              <a:pathLst>
                <a:path w="1655445" h="828039">
                  <a:moveTo>
                    <a:pt x="0" y="827531"/>
                  </a:moveTo>
                  <a:lnTo>
                    <a:pt x="1655064" y="827531"/>
                  </a:lnTo>
                  <a:lnTo>
                    <a:pt x="1655064" y="0"/>
                  </a:lnTo>
                  <a:lnTo>
                    <a:pt x="0" y="0"/>
                  </a:lnTo>
                  <a:lnTo>
                    <a:pt x="0" y="827531"/>
                  </a:lnTo>
                  <a:close/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3">
            <a:extLst>
              <a:ext uri="{FF2B5EF4-FFF2-40B4-BE49-F238E27FC236}">
                <a16:creationId xmlns:a16="http://schemas.microsoft.com/office/drawing/2014/main" id="{8530C296-E87A-0F7A-A76C-B68C63D58316}"/>
              </a:ext>
            </a:extLst>
          </p:cNvPr>
          <p:cNvSpPr txBox="1"/>
          <p:nvPr/>
        </p:nvSpPr>
        <p:spPr>
          <a:xfrm>
            <a:off x="1470660" y="4657344"/>
            <a:ext cx="1655445" cy="828040"/>
          </a:xfrm>
          <a:prstGeom prst="rect">
            <a:avLst/>
          </a:prstGeom>
        </p:spPr>
        <p:txBody>
          <a:bodyPr vert="horz" wrap="square" lIns="0" tIns="250825" rIns="0" bIns="0" rtlCol="0">
            <a:spAutoFit/>
          </a:bodyPr>
          <a:lstStyle/>
          <a:p>
            <a:pPr marL="495934">
              <a:lnSpc>
                <a:spcPct val="100000"/>
              </a:lnSpc>
              <a:spcBef>
                <a:spcPts val="1975"/>
              </a:spcBef>
            </a:pPr>
            <a:r>
              <a:rPr sz="1800" b="1" spc="-10" dirty="0">
                <a:solidFill>
                  <a:srgbClr val="FFFFFF"/>
                </a:solidFill>
                <a:latin typeface="Calibri"/>
                <a:cs typeface="Calibri"/>
              </a:rPr>
              <a:t>List&lt;T&gt;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2" name="object 14">
            <a:extLst>
              <a:ext uri="{FF2B5EF4-FFF2-40B4-BE49-F238E27FC236}">
                <a16:creationId xmlns:a16="http://schemas.microsoft.com/office/drawing/2014/main" id="{311B1229-8BAA-8A0C-3621-EA599A8DCE83}"/>
              </a:ext>
            </a:extLst>
          </p:cNvPr>
          <p:cNvGrpSpPr/>
          <p:nvPr/>
        </p:nvGrpSpPr>
        <p:grpSpPr>
          <a:xfrm>
            <a:off x="1464310" y="5825997"/>
            <a:ext cx="1668145" cy="840740"/>
            <a:chOff x="1464310" y="5825997"/>
            <a:chExt cx="1668145" cy="840740"/>
          </a:xfrm>
        </p:grpSpPr>
        <p:sp>
          <p:nvSpPr>
            <p:cNvPr id="13" name="object 15">
              <a:extLst>
                <a:ext uri="{FF2B5EF4-FFF2-40B4-BE49-F238E27FC236}">
                  <a16:creationId xmlns:a16="http://schemas.microsoft.com/office/drawing/2014/main" id="{CBFA5963-B7DF-82D4-603B-8E75E844AA09}"/>
                </a:ext>
              </a:extLst>
            </p:cNvPr>
            <p:cNvSpPr/>
            <p:nvPr/>
          </p:nvSpPr>
          <p:spPr>
            <a:xfrm>
              <a:off x="1470660" y="5832347"/>
              <a:ext cx="1655445" cy="828040"/>
            </a:xfrm>
            <a:custGeom>
              <a:avLst/>
              <a:gdLst/>
              <a:ahLst/>
              <a:cxnLst/>
              <a:rect l="l" t="t" r="r" b="b"/>
              <a:pathLst>
                <a:path w="1655445" h="828040">
                  <a:moveTo>
                    <a:pt x="1655064" y="0"/>
                  </a:moveTo>
                  <a:lnTo>
                    <a:pt x="0" y="0"/>
                  </a:lnTo>
                  <a:lnTo>
                    <a:pt x="0" y="827532"/>
                  </a:lnTo>
                  <a:lnTo>
                    <a:pt x="1655064" y="827532"/>
                  </a:lnTo>
                  <a:lnTo>
                    <a:pt x="1655064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6">
              <a:extLst>
                <a:ext uri="{FF2B5EF4-FFF2-40B4-BE49-F238E27FC236}">
                  <a16:creationId xmlns:a16="http://schemas.microsoft.com/office/drawing/2014/main" id="{08B20220-D383-7EA3-58C9-F94256501AE4}"/>
                </a:ext>
              </a:extLst>
            </p:cNvPr>
            <p:cNvSpPr/>
            <p:nvPr/>
          </p:nvSpPr>
          <p:spPr>
            <a:xfrm>
              <a:off x="1470660" y="5832347"/>
              <a:ext cx="1655445" cy="828040"/>
            </a:xfrm>
            <a:custGeom>
              <a:avLst/>
              <a:gdLst/>
              <a:ahLst/>
              <a:cxnLst/>
              <a:rect l="l" t="t" r="r" b="b"/>
              <a:pathLst>
                <a:path w="1655445" h="828040">
                  <a:moveTo>
                    <a:pt x="0" y="827532"/>
                  </a:moveTo>
                  <a:lnTo>
                    <a:pt x="1655064" y="827532"/>
                  </a:lnTo>
                  <a:lnTo>
                    <a:pt x="1655064" y="0"/>
                  </a:lnTo>
                  <a:lnTo>
                    <a:pt x="0" y="0"/>
                  </a:lnTo>
                  <a:lnTo>
                    <a:pt x="0" y="827532"/>
                  </a:lnTo>
                  <a:close/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7">
            <a:extLst>
              <a:ext uri="{FF2B5EF4-FFF2-40B4-BE49-F238E27FC236}">
                <a16:creationId xmlns:a16="http://schemas.microsoft.com/office/drawing/2014/main" id="{492231DF-846E-7B8E-B436-458CBCB76062}"/>
              </a:ext>
            </a:extLst>
          </p:cNvPr>
          <p:cNvSpPr txBox="1"/>
          <p:nvPr/>
        </p:nvSpPr>
        <p:spPr>
          <a:xfrm>
            <a:off x="1470660" y="5832347"/>
            <a:ext cx="1655445" cy="828040"/>
          </a:xfrm>
          <a:prstGeom prst="rect">
            <a:avLst/>
          </a:prstGeom>
        </p:spPr>
        <p:txBody>
          <a:bodyPr vert="horz" wrap="square" lIns="0" tIns="250825" rIns="0" bIns="0" rtlCol="0">
            <a:spAutoFit/>
          </a:bodyPr>
          <a:lstStyle/>
          <a:p>
            <a:pPr marL="186055">
              <a:lnSpc>
                <a:spcPct val="100000"/>
              </a:lnSpc>
              <a:spcBef>
                <a:spcPts val="1975"/>
              </a:spcBef>
            </a:pPr>
            <a:r>
              <a:rPr sz="1800" b="1" spc="-10" dirty="0">
                <a:solidFill>
                  <a:srgbClr val="FFFFFF"/>
                </a:solidFill>
                <a:latin typeface="Calibri"/>
                <a:cs typeface="Calibri"/>
              </a:rPr>
              <a:t>LinkedList&lt;T&gt;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6" name="object 18">
            <a:extLst>
              <a:ext uri="{FF2B5EF4-FFF2-40B4-BE49-F238E27FC236}">
                <a16:creationId xmlns:a16="http://schemas.microsoft.com/office/drawing/2014/main" id="{CCF44F14-A084-863A-FB01-EB38496496D1}"/>
              </a:ext>
            </a:extLst>
          </p:cNvPr>
          <p:cNvGrpSpPr/>
          <p:nvPr/>
        </p:nvGrpSpPr>
        <p:grpSpPr>
          <a:xfrm>
            <a:off x="3052317" y="3475990"/>
            <a:ext cx="1668145" cy="840740"/>
            <a:chOff x="3052317" y="3475990"/>
            <a:chExt cx="1668145" cy="840740"/>
          </a:xfrm>
        </p:grpSpPr>
        <p:sp>
          <p:nvSpPr>
            <p:cNvPr id="17" name="object 19">
              <a:extLst>
                <a:ext uri="{FF2B5EF4-FFF2-40B4-BE49-F238E27FC236}">
                  <a16:creationId xmlns:a16="http://schemas.microsoft.com/office/drawing/2014/main" id="{5A08AA3B-8804-F077-F647-B75E8A5E013D}"/>
                </a:ext>
              </a:extLst>
            </p:cNvPr>
            <p:cNvSpPr/>
            <p:nvPr/>
          </p:nvSpPr>
          <p:spPr>
            <a:xfrm>
              <a:off x="3058667" y="3482340"/>
              <a:ext cx="1655445" cy="828040"/>
            </a:xfrm>
            <a:custGeom>
              <a:avLst/>
              <a:gdLst/>
              <a:ahLst/>
              <a:cxnLst/>
              <a:rect l="l" t="t" r="r" b="b"/>
              <a:pathLst>
                <a:path w="1655445" h="828039">
                  <a:moveTo>
                    <a:pt x="1655063" y="0"/>
                  </a:moveTo>
                  <a:lnTo>
                    <a:pt x="0" y="0"/>
                  </a:lnTo>
                  <a:lnTo>
                    <a:pt x="0" y="827531"/>
                  </a:lnTo>
                  <a:lnTo>
                    <a:pt x="1655063" y="827531"/>
                  </a:lnTo>
                  <a:lnTo>
                    <a:pt x="1655063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20">
              <a:extLst>
                <a:ext uri="{FF2B5EF4-FFF2-40B4-BE49-F238E27FC236}">
                  <a16:creationId xmlns:a16="http://schemas.microsoft.com/office/drawing/2014/main" id="{15E13369-B976-95A4-74F9-4BEEDE92F9DA}"/>
                </a:ext>
              </a:extLst>
            </p:cNvPr>
            <p:cNvSpPr/>
            <p:nvPr/>
          </p:nvSpPr>
          <p:spPr>
            <a:xfrm>
              <a:off x="3058667" y="3482340"/>
              <a:ext cx="1655445" cy="828040"/>
            </a:xfrm>
            <a:custGeom>
              <a:avLst/>
              <a:gdLst/>
              <a:ahLst/>
              <a:cxnLst/>
              <a:rect l="l" t="t" r="r" b="b"/>
              <a:pathLst>
                <a:path w="1655445" h="828039">
                  <a:moveTo>
                    <a:pt x="0" y="827531"/>
                  </a:moveTo>
                  <a:lnTo>
                    <a:pt x="1655063" y="827531"/>
                  </a:lnTo>
                  <a:lnTo>
                    <a:pt x="1655063" y="0"/>
                  </a:lnTo>
                  <a:lnTo>
                    <a:pt x="0" y="0"/>
                  </a:lnTo>
                  <a:lnTo>
                    <a:pt x="0" y="827531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21">
            <a:extLst>
              <a:ext uri="{FF2B5EF4-FFF2-40B4-BE49-F238E27FC236}">
                <a16:creationId xmlns:a16="http://schemas.microsoft.com/office/drawing/2014/main" id="{EB018446-0B84-8148-54FA-04AD928E3105}"/>
              </a:ext>
            </a:extLst>
          </p:cNvPr>
          <p:cNvSpPr txBox="1"/>
          <p:nvPr/>
        </p:nvSpPr>
        <p:spPr>
          <a:xfrm>
            <a:off x="3058667" y="3482340"/>
            <a:ext cx="1655445" cy="828040"/>
          </a:xfrm>
          <a:prstGeom prst="rect">
            <a:avLst/>
          </a:prstGeom>
        </p:spPr>
        <p:txBody>
          <a:bodyPr vert="horz" wrap="square" lIns="0" tIns="250190" rIns="0" bIns="0" rtlCol="0">
            <a:spAutoFit/>
          </a:bodyPr>
          <a:lstStyle/>
          <a:p>
            <a:pPr marL="339725">
              <a:lnSpc>
                <a:spcPct val="100000"/>
              </a:lnSpc>
              <a:spcBef>
                <a:spcPts val="1970"/>
              </a:spcBef>
            </a:pPr>
            <a:r>
              <a:rPr sz="1800" b="1" spc="-10" dirty="0">
                <a:solidFill>
                  <a:srgbClr val="FFFFFF"/>
                </a:solidFill>
                <a:latin typeface="Calibri"/>
                <a:cs typeface="Calibri"/>
              </a:rPr>
              <a:t>Queue&lt;T&gt;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0" name="object 22">
            <a:extLst>
              <a:ext uri="{FF2B5EF4-FFF2-40B4-BE49-F238E27FC236}">
                <a16:creationId xmlns:a16="http://schemas.microsoft.com/office/drawing/2014/main" id="{EF43A4D2-D475-8672-66AB-C007745F039A}"/>
              </a:ext>
            </a:extLst>
          </p:cNvPr>
          <p:cNvGrpSpPr/>
          <p:nvPr/>
        </p:nvGrpSpPr>
        <p:grpSpPr>
          <a:xfrm>
            <a:off x="5054853" y="3475990"/>
            <a:ext cx="1668145" cy="840740"/>
            <a:chOff x="5054853" y="3475990"/>
            <a:chExt cx="1668145" cy="840740"/>
          </a:xfrm>
        </p:grpSpPr>
        <p:sp>
          <p:nvSpPr>
            <p:cNvPr id="21" name="object 23">
              <a:extLst>
                <a:ext uri="{FF2B5EF4-FFF2-40B4-BE49-F238E27FC236}">
                  <a16:creationId xmlns:a16="http://schemas.microsoft.com/office/drawing/2014/main" id="{45EE161B-0978-0BF2-AB44-0A7DE63D47B6}"/>
                </a:ext>
              </a:extLst>
            </p:cNvPr>
            <p:cNvSpPr/>
            <p:nvPr/>
          </p:nvSpPr>
          <p:spPr>
            <a:xfrm>
              <a:off x="5061203" y="3482340"/>
              <a:ext cx="1655445" cy="828040"/>
            </a:xfrm>
            <a:custGeom>
              <a:avLst/>
              <a:gdLst/>
              <a:ahLst/>
              <a:cxnLst/>
              <a:rect l="l" t="t" r="r" b="b"/>
              <a:pathLst>
                <a:path w="1655445" h="828039">
                  <a:moveTo>
                    <a:pt x="1655063" y="0"/>
                  </a:moveTo>
                  <a:lnTo>
                    <a:pt x="0" y="0"/>
                  </a:lnTo>
                  <a:lnTo>
                    <a:pt x="0" y="827531"/>
                  </a:lnTo>
                  <a:lnTo>
                    <a:pt x="1655063" y="827531"/>
                  </a:lnTo>
                  <a:lnTo>
                    <a:pt x="1655063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4">
              <a:extLst>
                <a:ext uri="{FF2B5EF4-FFF2-40B4-BE49-F238E27FC236}">
                  <a16:creationId xmlns:a16="http://schemas.microsoft.com/office/drawing/2014/main" id="{C5FB7A00-F406-0F91-CC8C-1C118EF9CA12}"/>
                </a:ext>
              </a:extLst>
            </p:cNvPr>
            <p:cNvSpPr/>
            <p:nvPr/>
          </p:nvSpPr>
          <p:spPr>
            <a:xfrm>
              <a:off x="5061203" y="3482340"/>
              <a:ext cx="1655445" cy="828040"/>
            </a:xfrm>
            <a:custGeom>
              <a:avLst/>
              <a:gdLst/>
              <a:ahLst/>
              <a:cxnLst/>
              <a:rect l="l" t="t" r="r" b="b"/>
              <a:pathLst>
                <a:path w="1655445" h="828039">
                  <a:moveTo>
                    <a:pt x="0" y="827531"/>
                  </a:moveTo>
                  <a:lnTo>
                    <a:pt x="1655063" y="827531"/>
                  </a:lnTo>
                  <a:lnTo>
                    <a:pt x="1655063" y="0"/>
                  </a:lnTo>
                  <a:lnTo>
                    <a:pt x="0" y="0"/>
                  </a:lnTo>
                  <a:lnTo>
                    <a:pt x="0" y="827531"/>
                  </a:lnTo>
                  <a:close/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5">
            <a:extLst>
              <a:ext uri="{FF2B5EF4-FFF2-40B4-BE49-F238E27FC236}">
                <a16:creationId xmlns:a16="http://schemas.microsoft.com/office/drawing/2014/main" id="{B01B1D4F-885E-E05A-FDBA-07EA3BED2C59}"/>
              </a:ext>
            </a:extLst>
          </p:cNvPr>
          <p:cNvSpPr txBox="1"/>
          <p:nvPr/>
        </p:nvSpPr>
        <p:spPr>
          <a:xfrm>
            <a:off x="5061203" y="3482340"/>
            <a:ext cx="1655445" cy="828040"/>
          </a:xfrm>
          <a:prstGeom prst="rect">
            <a:avLst/>
          </a:prstGeom>
        </p:spPr>
        <p:txBody>
          <a:bodyPr vert="horz" wrap="square" lIns="0" tIns="250190" rIns="0" bIns="0" rtlCol="0">
            <a:spAutoFit/>
          </a:bodyPr>
          <a:lstStyle/>
          <a:p>
            <a:pPr marL="405130">
              <a:lnSpc>
                <a:spcPct val="100000"/>
              </a:lnSpc>
              <a:spcBef>
                <a:spcPts val="1970"/>
              </a:spcBef>
            </a:pPr>
            <a:r>
              <a:rPr sz="1800" b="1" spc="-10" dirty="0">
                <a:solidFill>
                  <a:srgbClr val="FFFFFF"/>
                </a:solidFill>
                <a:latin typeface="Calibri"/>
                <a:cs typeface="Calibri"/>
              </a:rPr>
              <a:t>Stack&lt;T&gt;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4" name="object 26">
            <a:extLst>
              <a:ext uri="{FF2B5EF4-FFF2-40B4-BE49-F238E27FC236}">
                <a16:creationId xmlns:a16="http://schemas.microsoft.com/office/drawing/2014/main" id="{6D6AC62F-BE1C-A787-712F-0E684EF3C814}"/>
              </a:ext>
            </a:extLst>
          </p:cNvPr>
          <p:cNvSpPr txBox="1"/>
          <p:nvPr/>
        </p:nvSpPr>
        <p:spPr>
          <a:xfrm>
            <a:off x="7063740" y="3482340"/>
            <a:ext cx="1655445" cy="828040"/>
          </a:xfrm>
          <a:prstGeom prst="rect">
            <a:avLst/>
          </a:prstGeom>
          <a:solidFill>
            <a:srgbClr val="6FAC46"/>
          </a:solidFill>
          <a:ln w="12700">
            <a:solidFill>
              <a:srgbClr val="507D31"/>
            </a:solidFill>
          </a:ln>
        </p:spPr>
        <p:txBody>
          <a:bodyPr vert="horz" wrap="square" lIns="0" tIns="76200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600"/>
              </a:spcBef>
            </a:pPr>
            <a:r>
              <a:rPr sz="1800" b="1" spc="-10" dirty="0">
                <a:solidFill>
                  <a:srgbClr val="FFFFFF"/>
                </a:solidFill>
                <a:latin typeface="Calibri"/>
                <a:cs typeface="Calibri"/>
              </a:rPr>
              <a:t>IDictionary</a:t>
            </a:r>
            <a:endParaRPr sz="1800">
              <a:latin typeface="Calibri"/>
              <a:cs typeface="Calibri"/>
            </a:endParaRPr>
          </a:p>
          <a:p>
            <a:pPr marL="1905" algn="ctr">
              <a:lnSpc>
                <a:spcPct val="100000"/>
              </a:lnSpc>
              <a:spcBef>
                <a:spcPts val="575"/>
              </a:spcBef>
            </a:pPr>
            <a:r>
              <a:rPr sz="1800" b="1" spc="-10" dirty="0">
                <a:solidFill>
                  <a:srgbClr val="FFFFFF"/>
                </a:solidFill>
                <a:latin typeface="Calibri"/>
                <a:cs typeface="Calibri"/>
              </a:rPr>
              <a:t>&lt;TKey,TValue&gt;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5" name="object 27">
            <a:extLst>
              <a:ext uri="{FF2B5EF4-FFF2-40B4-BE49-F238E27FC236}">
                <a16:creationId xmlns:a16="http://schemas.microsoft.com/office/drawing/2014/main" id="{33C5E197-7ED9-7EE3-4FB7-E4566571DE32}"/>
              </a:ext>
            </a:extLst>
          </p:cNvPr>
          <p:cNvGrpSpPr/>
          <p:nvPr/>
        </p:nvGrpSpPr>
        <p:grpSpPr>
          <a:xfrm>
            <a:off x="7471918" y="4650994"/>
            <a:ext cx="1668145" cy="840740"/>
            <a:chOff x="7471918" y="4650994"/>
            <a:chExt cx="1668145" cy="840740"/>
          </a:xfrm>
        </p:grpSpPr>
        <p:sp>
          <p:nvSpPr>
            <p:cNvPr id="26" name="object 28">
              <a:extLst>
                <a:ext uri="{FF2B5EF4-FFF2-40B4-BE49-F238E27FC236}">
                  <a16:creationId xmlns:a16="http://schemas.microsoft.com/office/drawing/2014/main" id="{2AA2E765-AE56-9188-1CE6-415939167633}"/>
                </a:ext>
              </a:extLst>
            </p:cNvPr>
            <p:cNvSpPr/>
            <p:nvPr/>
          </p:nvSpPr>
          <p:spPr>
            <a:xfrm>
              <a:off x="7478268" y="4657344"/>
              <a:ext cx="1655445" cy="828040"/>
            </a:xfrm>
            <a:custGeom>
              <a:avLst/>
              <a:gdLst/>
              <a:ahLst/>
              <a:cxnLst/>
              <a:rect l="l" t="t" r="r" b="b"/>
              <a:pathLst>
                <a:path w="1655445" h="828039">
                  <a:moveTo>
                    <a:pt x="1655064" y="0"/>
                  </a:moveTo>
                  <a:lnTo>
                    <a:pt x="0" y="0"/>
                  </a:lnTo>
                  <a:lnTo>
                    <a:pt x="0" y="827531"/>
                  </a:lnTo>
                  <a:lnTo>
                    <a:pt x="1655064" y="827531"/>
                  </a:lnTo>
                  <a:lnTo>
                    <a:pt x="1655064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9">
              <a:extLst>
                <a:ext uri="{FF2B5EF4-FFF2-40B4-BE49-F238E27FC236}">
                  <a16:creationId xmlns:a16="http://schemas.microsoft.com/office/drawing/2014/main" id="{D0B0A63F-A95D-6C96-0BBA-F6D7FB1175E6}"/>
                </a:ext>
              </a:extLst>
            </p:cNvPr>
            <p:cNvSpPr/>
            <p:nvPr/>
          </p:nvSpPr>
          <p:spPr>
            <a:xfrm>
              <a:off x="7478268" y="4657344"/>
              <a:ext cx="1655445" cy="828040"/>
            </a:xfrm>
            <a:custGeom>
              <a:avLst/>
              <a:gdLst/>
              <a:ahLst/>
              <a:cxnLst/>
              <a:rect l="l" t="t" r="r" b="b"/>
              <a:pathLst>
                <a:path w="1655445" h="828039">
                  <a:moveTo>
                    <a:pt x="0" y="827531"/>
                  </a:moveTo>
                  <a:lnTo>
                    <a:pt x="1655064" y="827531"/>
                  </a:lnTo>
                  <a:lnTo>
                    <a:pt x="1655064" y="0"/>
                  </a:lnTo>
                  <a:lnTo>
                    <a:pt x="0" y="0"/>
                  </a:lnTo>
                  <a:lnTo>
                    <a:pt x="0" y="827531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30">
            <a:extLst>
              <a:ext uri="{FF2B5EF4-FFF2-40B4-BE49-F238E27FC236}">
                <a16:creationId xmlns:a16="http://schemas.microsoft.com/office/drawing/2014/main" id="{30579D6B-54A5-AC8A-632E-82F52E05DFBA}"/>
              </a:ext>
            </a:extLst>
          </p:cNvPr>
          <p:cNvSpPr txBox="1"/>
          <p:nvPr/>
        </p:nvSpPr>
        <p:spPr>
          <a:xfrm>
            <a:off x="7478268" y="4657344"/>
            <a:ext cx="1655445" cy="828040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600"/>
              </a:spcBef>
            </a:pPr>
            <a:r>
              <a:rPr sz="1800" b="1" spc="-10" dirty="0">
                <a:solidFill>
                  <a:srgbClr val="FFFFFF"/>
                </a:solidFill>
                <a:latin typeface="Calibri"/>
                <a:cs typeface="Calibri"/>
              </a:rPr>
              <a:t>Dictionary</a:t>
            </a:r>
            <a:endParaRPr sz="1800">
              <a:latin typeface="Calibri"/>
              <a:cs typeface="Calibri"/>
            </a:endParaRPr>
          </a:p>
          <a:p>
            <a:pPr marL="635" algn="ctr">
              <a:lnSpc>
                <a:spcPct val="100000"/>
              </a:lnSpc>
              <a:spcBef>
                <a:spcPts val="575"/>
              </a:spcBef>
            </a:pPr>
            <a:r>
              <a:rPr sz="1800" b="1" spc="-10" dirty="0">
                <a:solidFill>
                  <a:srgbClr val="FFFFFF"/>
                </a:solidFill>
                <a:latin typeface="Calibri"/>
                <a:cs typeface="Calibri"/>
              </a:rPr>
              <a:t>&lt;TKey,TValue&gt;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9" name="object 31">
            <a:extLst>
              <a:ext uri="{FF2B5EF4-FFF2-40B4-BE49-F238E27FC236}">
                <a16:creationId xmlns:a16="http://schemas.microsoft.com/office/drawing/2014/main" id="{4E43A942-E1C6-3BBA-A3AF-A5B3DD2AE51D}"/>
              </a:ext>
            </a:extLst>
          </p:cNvPr>
          <p:cNvSpPr txBox="1"/>
          <p:nvPr/>
        </p:nvSpPr>
        <p:spPr>
          <a:xfrm>
            <a:off x="9066276" y="3482340"/>
            <a:ext cx="1655445" cy="828040"/>
          </a:xfrm>
          <a:prstGeom prst="rect">
            <a:avLst/>
          </a:prstGeom>
          <a:solidFill>
            <a:srgbClr val="6FAC46"/>
          </a:solidFill>
          <a:ln w="12700">
            <a:solidFill>
              <a:srgbClr val="507D31"/>
            </a:solidFill>
          </a:ln>
        </p:spPr>
        <p:txBody>
          <a:bodyPr vert="horz" wrap="square" lIns="0" tIns="250190" rIns="0" bIns="0" rtlCol="0">
            <a:spAutoFit/>
          </a:bodyPr>
          <a:lstStyle/>
          <a:p>
            <a:pPr marL="476250">
              <a:lnSpc>
                <a:spcPct val="100000"/>
              </a:lnSpc>
              <a:spcBef>
                <a:spcPts val="1970"/>
              </a:spcBef>
            </a:pPr>
            <a:r>
              <a:rPr sz="1800" b="1" spc="-10" dirty="0">
                <a:solidFill>
                  <a:srgbClr val="FFFFFF"/>
                </a:solidFill>
                <a:latin typeface="Calibri"/>
                <a:cs typeface="Calibri"/>
              </a:rPr>
              <a:t>ISet&lt;T&gt;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30" name="object 32">
            <a:extLst>
              <a:ext uri="{FF2B5EF4-FFF2-40B4-BE49-F238E27FC236}">
                <a16:creationId xmlns:a16="http://schemas.microsoft.com/office/drawing/2014/main" id="{F0AB1C01-2F47-D7E0-783F-C872A1D0CDB1}"/>
              </a:ext>
            </a:extLst>
          </p:cNvPr>
          <p:cNvGrpSpPr/>
          <p:nvPr/>
        </p:nvGrpSpPr>
        <p:grpSpPr>
          <a:xfrm>
            <a:off x="9474454" y="4650994"/>
            <a:ext cx="1668145" cy="840740"/>
            <a:chOff x="9474454" y="4650994"/>
            <a:chExt cx="1668145" cy="840740"/>
          </a:xfrm>
        </p:grpSpPr>
        <p:sp>
          <p:nvSpPr>
            <p:cNvPr id="31" name="object 33">
              <a:extLst>
                <a:ext uri="{FF2B5EF4-FFF2-40B4-BE49-F238E27FC236}">
                  <a16:creationId xmlns:a16="http://schemas.microsoft.com/office/drawing/2014/main" id="{77CEED31-0F33-0F8E-E8FF-93E242B27186}"/>
                </a:ext>
              </a:extLst>
            </p:cNvPr>
            <p:cNvSpPr/>
            <p:nvPr/>
          </p:nvSpPr>
          <p:spPr>
            <a:xfrm>
              <a:off x="9480804" y="4657344"/>
              <a:ext cx="1655445" cy="828040"/>
            </a:xfrm>
            <a:custGeom>
              <a:avLst/>
              <a:gdLst/>
              <a:ahLst/>
              <a:cxnLst/>
              <a:rect l="l" t="t" r="r" b="b"/>
              <a:pathLst>
                <a:path w="1655445" h="828039">
                  <a:moveTo>
                    <a:pt x="1655063" y="0"/>
                  </a:moveTo>
                  <a:lnTo>
                    <a:pt x="0" y="0"/>
                  </a:lnTo>
                  <a:lnTo>
                    <a:pt x="0" y="827531"/>
                  </a:lnTo>
                  <a:lnTo>
                    <a:pt x="1655063" y="827531"/>
                  </a:lnTo>
                  <a:lnTo>
                    <a:pt x="1655063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4">
              <a:extLst>
                <a:ext uri="{FF2B5EF4-FFF2-40B4-BE49-F238E27FC236}">
                  <a16:creationId xmlns:a16="http://schemas.microsoft.com/office/drawing/2014/main" id="{8988F6D2-B1EA-E0DE-95BA-9ED389065CF5}"/>
                </a:ext>
              </a:extLst>
            </p:cNvPr>
            <p:cNvSpPr/>
            <p:nvPr/>
          </p:nvSpPr>
          <p:spPr>
            <a:xfrm>
              <a:off x="9480804" y="4657344"/>
              <a:ext cx="1655445" cy="828040"/>
            </a:xfrm>
            <a:custGeom>
              <a:avLst/>
              <a:gdLst/>
              <a:ahLst/>
              <a:cxnLst/>
              <a:rect l="l" t="t" r="r" b="b"/>
              <a:pathLst>
                <a:path w="1655445" h="828039">
                  <a:moveTo>
                    <a:pt x="0" y="827531"/>
                  </a:moveTo>
                  <a:lnTo>
                    <a:pt x="1655063" y="827531"/>
                  </a:lnTo>
                  <a:lnTo>
                    <a:pt x="1655063" y="0"/>
                  </a:lnTo>
                  <a:lnTo>
                    <a:pt x="0" y="0"/>
                  </a:lnTo>
                  <a:lnTo>
                    <a:pt x="0" y="827531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5">
            <a:extLst>
              <a:ext uri="{FF2B5EF4-FFF2-40B4-BE49-F238E27FC236}">
                <a16:creationId xmlns:a16="http://schemas.microsoft.com/office/drawing/2014/main" id="{89D76511-8B57-5FF2-6D45-F46ACBE1EFD1}"/>
              </a:ext>
            </a:extLst>
          </p:cNvPr>
          <p:cNvSpPr txBox="1"/>
          <p:nvPr/>
        </p:nvSpPr>
        <p:spPr>
          <a:xfrm>
            <a:off x="9480804" y="4657344"/>
            <a:ext cx="1655445" cy="828040"/>
          </a:xfrm>
          <a:prstGeom prst="rect">
            <a:avLst/>
          </a:prstGeom>
        </p:spPr>
        <p:txBody>
          <a:bodyPr vert="horz" wrap="square" lIns="0" tIns="250825" rIns="0" bIns="0" rtlCol="0">
            <a:spAutoFit/>
          </a:bodyPr>
          <a:lstStyle/>
          <a:p>
            <a:pPr marL="269240">
              <a:lnSpc>
                <a:spcPct val="100000"/>
              </a:lnSpc>
              <a:spcBef>
                <a:spcPts val="1975"/>
              </a:spcBef>
            </a:pPr>
            <a:r>
              <a:rPr sz="1800" b="1" spc="-10" dirty="0">
                <a:solidFill>
                  <a:srgbClr val="FFFFFF"/>
                </a:solidFill>
                <a:latin typeface="Calibri"/>
                <a:cs typeface="Calibri"/>
              </a:rPr>
              <a:t>HashSet&lt;T&gt;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34" name="object 36">
            <a:extLst>
              <a:ext uri="{FF2B5EF4-FFF2-40B4-BE49-F238E27FC236}">
                <a16:creationId xmlns:a16="http://schemas.microsoft.com/office/drawing/2014/main" id="{91770683-DB2A-4CDE-3EC9-AFE72C6732AA}"/>
              </a:ext>
            </a:extLst>
          </p:cNvPr>
          <p:cNvGrpSpPr/>
          <p:nvPr/>
        </p:nvGrpSpPr>
        <p:grpSpPr>
          <a:xfrm>
            <a:off x="9053213" y="1211542"/>
            <a:ext cx="1308100" cy="594995"/>
            <a:chOff x="8944356" y="220941"/>
            <a:chExt cx="1308100" cy="594995"/>
          </a:xfrm>
        </p:grpSpPr>
        <p:pic>
          <p:nvPicPr>
            <p:cNvPr id="35" name="object 37">
              <a:extLst>
                <a:ext uri="{FF2B5EF4-FFF2-40B4-BE49-F238E27FC236}">
                  <a16:creationId xmlns:a16="http://schemas.microsoft.com/office/drawing/2014/main" id="{88821ADD-1284-3D9D-E989-8312700BEF08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977818" y="246724"/>
              <a:ext cx="1243728" cy="486319"/>
            </a:xfrm>
            <a:prstGeom prst="rect">
              <a:avLst/>
            </a:prstGeom>
          </p:spPr>
        </p:pic>
        <p:pic>
          <p:nvPicPr>
            <p:cNvPr id="36" name="object 38">
              <a:extLst>
                <a:ext uri="{FF2B5EF4-FFF2-40B4-BE49-F238E27FC236}">
                  <a16:creationId xmlns:a16="http://schemas.microsoft.com/office/drawing/2014/main" id="{82764AAB-97EE-DD7C-3E96-09DA8308C3D9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944356" y="220941"/>
              <a:ext cx="1307592" cy="594398"/>
            </a:xfrm>
            <a:prstGeom prst="rect">
              <a:avLst/>
            </a:prstGeom>
          </p:spPr>
        </p:pic>
        <p:pic>
          <p:nvPicPr>
            <p:cNvPr id="37" name="object 39">
              <a:extLst>
                <a:ext uri="{FF2B5EF4-FFF2-40B4-BE49-F238E27FC236}">
                  <a16:creationId xmlns:a16="http://schemas.microsoft.com/office/drawing/2014/main" id="{F1E18C91-FD3C-245B-6C75-2F0344AB853D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028176" y="277367"/>
              <a:ext cx="1147572" cy="382523"/>
            </a:xfrm>
            <a:prstGeom prst="rect">
              <a:avLst/>
            </a:prstGeom>
          </p:spPr>
        </p:pic>
      </p:grpSp>
      <p:sp>
        <p:nvSpPr>
          <p:cNvPr id="38" name="object 40">
            <a:extLst>
              <a:ext uri="{FF2B5EF4-FFF2-40B4-BE49-F238E27FC236}">
                <a16:creationId xmlns:a16="http://schemas.microsoft.com/office/drawing/2014/main" id="{0C47ED6C-38DB-036C-C995-512A4B979EE7}"/>
              </a:ext>
            </a:extLst>
          </p:cNvPr>
          <p:cNvSpPr txBox="1">
            <a:spLocks/>
          </p:cNvSpPr>
          <p:nvPr/>
        </p:nvSpPr>
        <p:spPr>
          <a:xfrm>
            <a:off x="9137033" y="1267969"/>
            <a:ext cx="1148080" cy="382905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13664">
              <a:lnSpc>
                <a:spcPct val="100000"/>
              </a:lnSpc>
              <a:spcBef>
                <a:spcPts val="305"/>
              </a:spcBef>
            </a:pPr>
            <a:r>
              <a:rPr lang="fr-FR" sz="1800" spc="-10" dirty="0">
                <a:solidFill>
                  <a:srgbClr val="FFFFFF"/>
                </a:solidFill>
                <a:latin typeface="Calibri"/>
                <a:cs typeface="Calibri"/>
              </a:rPr>
              <a:t>Interfaces</a:t>
            </a:r>
            <a:endParaRPr lang="fr-FR" sz="1800" dirty="0">
              <a:latin typeface="Calibri"/>
              <a:cs typeface="Calibri"/>
            </a:endParaRPr>
          </a:p>
        </p:txBody>
      </p:sp>
      <p:grpSp>
        <p:nvGrpSpPr>
          <p:cNvPr id="39" name="object 41">
            <a:extLst>
              <a:ext uri="{FF2B5EF4-FFF2-40B4-BE49-F238E27FC236}">
                <a16:creationId xmlns:a16="http://schemas.microsoft.com/office/drawing/2014/main" id="{ADDAE050-F256-EF06-B6CF-BD6F992A312A}"/>
              </a:ext>
            </a:extLst>
          </p:cNvPr>
          <p:cNvGrpSpPr/>
          <p:nvPr/>
        </p:nvGrpSpPr>
        <p:grpSpPr>
          <a:xfrm>
            <a:off x="9077597" y="1769326"/>
            <a:ext cx="1262380" cy="594995"/>
            <a:chOff x="8968740" y="778725"/>
            <a:chExt cx="1262380" cy="594995"/>
          </a:xfrm>
        </p:grpSpPr>
        <p:pic>
          <p:nvPicPr>
            <p:cNvPr id="40" name="object 42">
              <a:extLst>
                <a:ext uri="{FF2B5EF4-FFF2-40B4-BE49-F238E27FC236}">
                  <a16:creationId xmlns:a16="http://schemas.microsoft.com/office/drawing/2014/main" id="{932FC992-FFD9-0F5A-61CE-111DDCA8C4EE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968740" y="795502"/>
              <a:ext cx="1261884" cy="495325"/>
            </a:xfrm>
            <a:prstGeom prst="rect">
              <a:avLst/>
            </a:prstGeom>
          </p:spPr>
        </p:pic>
        <p:pic>
          <p:nvPicPr>
            <p:cNvPr id="41" name="object 43">
              <a:extLst>
                <a:ext uri="{FF2B5EF4-FFF2-40B4-BE49-F238E27FC236}">
                  <a16:creationId xmlns:a16="http://schemas.microsoft.com/office/drawing/2014/main" id="{74D2AE6C-2CCB-75E8-6C5B-6A0A9AC4DAE2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070848" y="778725"/>
              <a:ext cx="1056131" cy="594398"/>
            </a:xfrm>
            <a:prstGeom prst="rect">
              <a:avLst/>
            </a:prstGeom>
          </p:spPr>
        </p:pic>
        <p:pic>
          <p:nvPicPr>
            <p:cNvPr id="42" name="object 44">
              <a:extLst>
                <a:ext uri="{FF2B5EF4-FFF2-40B4-BE49-F238E27FC236}">
                  <a16:creationId xmlns:a16="http://schemas.microsoft.com/office/drawing/2014/main" id="{7742A0C0-AD46-198F-22E8-8560EBC317E4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028176" y="835152"/>
              <a:ext cx="1147572" cy="382524"/>
            </a:xfrm>
            <a:prstGeom prst="rect">
              <a:avLst/>
            </a:prstGeom>
          </p:spPr>
        </p:pic>
      </p:grpSp>
      <p:sp>
        <p:nvSpPr>
          <p:cNvPr id="43" name="object 45">
            <a:extLst>
              <a:ext uri="{FF2B5EF4-FFF2-40B4-BE49-F238E27FC236}">
                <a16:creationId xmlns:a16="http://schemas.microsoft.com/office/drawing/2014/main" id="{47E72753-59E1-800F-EFAA-FDE6ED584FCE}"/>
              </a:ext>
            </a:extLst>
          </p:cNvPr>
          <p:cNvSpPr txBox="1"/>
          <p:nvPr/>
        </p:nvSpPr>
        <p:spPr>
          <a:xfrm>
            <a:off x="9137033" y="1825753"/>
            <a:ext cx="1148080" cy="382905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240029">
              <a:lnSpc>
                <a:spcPct val="100000"/>
              </a:lnSpc>
              <a:spcBef>
                <a:spcPts val="305"/>
              </a:spcBef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Classes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45" name="Titre 1">
            <a:extLst>
              <a:ext uri="{FF2B5EF4-FFF2-40B4-BE49-F238E27FC236}">
                <a16:creationId xmlns:a16="http://schemas.microsoft.com/office/drawing/2014/main" id="{908C2EE5-5257-A787-195C-67187A9A28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5. Collections</a:t>
            </a:r>
          </a:p>
        </p:txBody>
      </p:sp>
    </p:spTree>
    <p:extLst>
      <p:ext uri="{BB962C8B-B14F-4D97-AF65-F5344CB8AC3E}">
        <p14:creationId xmlns:p14="http://schemas.microsoft.com/office/powerpoint/2010/main" val="123186522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5. Collections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47320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Les listes</a:t>
            </a:r>
          </a:p>
          <a:p>
            <a:endParaRPr lang="fr-FR" sz="2400" dirty="0"/>
          </a:p>
          <a:p>
            <a:endParaRPr lang="fr-FR" sz="2400" dirty="0"/>
          </a:p>
          <a:p>
            <a:pPr marL="240029" indent="-227329">
              <a:lnSpc>
                <a:spcPct val="100000"/>
              </a:lnSpc>
              <a:spcBef>
                <a:spcPts val="705"/>
              </a:spcBef>
              <a:buClr>
                <a:srgbClr val="391778"/>
              </a:buClr>
              <a:buFont typeface="Arial"/>
              <a:buChar char="•"/>
              <a:tabLst>
                <a:tab pos="240029" algn="l"/>
              </a:tabLst>
            </a:pPr>
            <a:r>
              <a:rPr lang="fr-FR" sz="2400" b="1" spc="-10" dirty="0" err="1">
                <a:latin typeface="Segoe UI"/>
                <a:cs typeface="Segoe UI"/>
              </a:rPr>
              <a:t>LinkedList</a:t>
            </a:r>
            <a:r>
              <a:rPr lang="fr-FR" sz="2400" b="1" spc="-10" dirty="0">
                <a:latin typeface="Segoe UI"/>
                <a:cs typeface="Segoe UI"/>
              </a:rPr>
              <a:t>&lt;T&gt;</a:t>
            </a:r>
            <a:endParaRPr lang="fr-FR" sz="240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spcBef>
                <a:spcPts val="509"/>
              </a:spcBef>
              <a:buClr>
                <a:srgbClr val="391778"/>
              </a:buClr>
              <a:buFont typeface="Arial"/>
              <a:buChar char="•"/>
              <a:tabLst>
                <a:tab pos="698500" algn="l"/>
              </a:tabLst>
            </a:pPr>
            <a:r>
              <a:rPr lang="fr-FR" sz="2000" dirty="0">
                <a:latin typeface="Segoe UI"/>
                <a:cs typeface="Segoe UI"/>
              </a:rPr>
              <a:t>Principe</a:t>
            </a:r>
            <a:r>
              <a:rPr lang="fr-FR" sz="2000" spc="-2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de</a:t>
            </a:r>
            <a:r>
              <a:rPr lang="fr-FR" sz="2000" spc="-2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la</a:t>
            </a:r>
            <a:r>
              <a:rPr lang="fr-FR" sz="2000" spc="-2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liste</a:t>
            </a:r>
            <a:r>
              <a:rPr lang="fr-FR" sz="2000" spc="-30" dirty="0">
                <a:latin typeface="Segoe UI"/>
                <a:cs typeface="Segoe UI"/>
              </a:rPr>
              <a:t> </a:t>
            </a:r>
            <a:r>
              <a:rPr lang="fr-FR" sz="2000" spc="-10" dirty="0">
                <a:latin typeface="Segoe UI"/>
                <a:cs typeface="Segoe UI"/>
              </a:rPr>
              <a:t>chainée</a:t>
            </a:r>
            <a:endParaRPr lang="fr-FR" sz="200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spcBef>
                <a:spcPts val="505"/>
              </a:spcBef>
              <a:buClr>
                <a:srgbClr val="391778"/>
              </a:buClr>
              <a:buFont typeface="Arial"/>
              <a:buChar char="•"/>
              <a:tabLst>
                <a:tab pos="698500" algn="l"/>
              </a:tabLst>
            </a:pPr>
            <a:r>
              <a:rPr lang="fr-FR" sz="2000" dirty="0">
                <a:latin typeface="Segoe UI"/>
                <a:cs typeface="Segoe UI"/>
              </a:rPr>
              <a:t>Optimisée</a:t>
            </a:r>
            <a:r>
              <a:rPr lang="fr-FR" sz="2000" spc="-5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pour</a:t>
            </a:r>
            <a:r>
              <a:rPr lang="fr-FR" sz="2000" spc="-5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les</a:t>
            </a:r>
            <a:r>
              <a:rPr lang="fr-FR" sz="2000" spc="-50" dirty="0">
                <a:latin typeface="Segoe UI"/>
                <a:cs typeface="Segoe UI"/>
              </a:rPr>
              <a:t> </a:t>
            </a:r>
            <a:r>
              <a:rPr lang="fr-FR" sz="2000" spc="-10" dirty="0">
                <a:latin typeface="Segoe UI"/>
                <a:cs typeface="Segoe UI"/>
              </a:rPr>
              <a:t>insertions/suppressions</a:t>
            </a:r>
          </a:p>
          <a:p>
            <a:pPr marL="698500" lvl="1" indent="-228600">
              <a:lnSpc>
                <a:spcPct val="100000"/>
              </a:lnSpc>
              <a:spcBef>
                <a:spcPts val="505"/>
              </a:spcBef>
              <a:buClr>
                <a:srgbClr val="391778"/>
              </a:buClr>
              <a:buFont typeface="Arial"/>
              <a:buChar char="•"/>
              <a:tabLst>
                <a:tab pos="698500" algn="l"/>
              </a:tabLst>
            </a:pPr>
            <a:endParaRPr lang="fr-FR" sz="2000" spc="-10" dirty="0">
              <a:latin typeface="Segoe UI"/>
              <a:cs typeface="Segoe UI"/>
            </a:endParaRPr>
          </a:p>
          <a:p>
            <a:pPr marL="240029" indent="-227329">
              <a:lnSpc>
                <a:spcPct val="100000"/>
              </a:lnSpc>
              <a:spcBef>
                <a:spcPts val="705"/>
              </a:spcBef>
              <a:buClr>
                <a:srgbClr val="391778"/>
              </a:buClr>
              <a:buFont typeface="Arial"/>
              <a:buChar char="•"/>
              <a:tabLst>
                <a:tab pos="240029" algn="l"/>
              </a:tabLst>
            </a:pPr>
            <a:r>
              <a:rPr lang="fr-FR" sz="2400" b="1" spc="-10" dirty="0">
                <a:latin typeface="Segoe UI"/>
                <a:cs typeface="Segoe UI"/>
              </a:rPr>
              <a:t>List&lt;T&gt;</a:t>
            </a:r>
            <a:endParaRPr lang="fr-FR" sz="240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spcBef>
                <a:spcPts val="509"/>
              </a:spcBef>
              <a:buClr>
                <a:srgbClr val="391778"/>
              </a:buClr>
              <a:buFont typeface="Arial"/>
              <a:buChar char="•"/>
              <a:tabLst>
                <a:tab pos="698500" algn="l"/>
              </a:tabLst>
            </a:pPr>
            <a:r>
              <a:rPr lang="fr-FR" sz="2000" dirty="0">
                <a:latin typeface="Segoe UI"/>
                <a:cs typeface="Segoe UI"/>
              </a:rPr>
              <a:t>Principe</a:t>
            </a:r>
            <a:r>
              <a:rPr lang="fr-FR" sz="2000" spc="-5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d'un</a:t>
            </a:r>
            <a:r>
              <a:rPr lang="fr-FR" sz="2000" spc="-35" dirty="0">
                <a:latin typeface="Segoe UI"/>
                <a:cs typeface="Segoe UI"/>
              </a:rPr>
              <a:t> </a:t>
            </a:r>
            <a:r>
              <a:rPr lang="fr-FR" sz="2000" spc="-10" dirty="0">
                <a:latin typeface="Segoe UI"/>
                <a:cs typeface="Segoe UI"/>
              </a:rPr>
              <a:t>tableau</a:t>
            </a:r>
            <a:endParaRPr lang="fr-FR" sz="200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spcBef>
                <a:spcPts val="505"/>
              </a:spcBef>
              <a:buClr>
                <a:srgbClr val="391778"/>
              </a:buClr>
              <a:buFont typeface="Arial"/>
              <a:buChar char="•"/>
              <a:tabLst>
                <a:tab pos="698500" algn="l"/>
              </a:tabLst>
            </a:pPr>
            <a:r>
              <a:rPr lang="fr-FR" sz="2000" dirty="0">
                <a:latin typeface="Segoe UI"/>
                <a:cs typeface="Segoe UI"/>
              </a:rPr>
              <a:t>Facile</a:t>
            </a:r>
            <a:r>
              <a:rPr lang="fr-FR" sz="2000" spc="-6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à</a:t>
            </a:r>
            <a:r>
              <a:rPr lang="fr-FR" sz="2000" spc="-65" dirty="0">
                <a:latin typeface="Segoe UI"/>
                <a:cs typeface="Segoe UI"/>
              </a:rPr>
              <a:t> </a:t>
            </a:r>
            <a:r>
              <a:rPr lang="fr-FR" sz="2000" spc="-10" dirty="0">
                <a:latin typeface="Segoe UI"/>
                <a:cs typeface="Segoe UI"/>
              </a:rPr>
              <a:t>parcourir</a:t>
            </a:r>
            <a:endParaRPr lang="fr-FR" sz="200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spcBef>
                <a:spcPts val="505"/>
              </a:spcBef>
              <a:buClr>
                <a:srgbClr val="391778"/>
              </a:buClr>
              <a:buFont typeface="Arial"/>
              <a:buChar char="•"/>
              <a:tabLst>
                <a:tab pos="698500" algn="l"/>
              </a:tabLst>
            </a:pPr>
            <a:endParaRPr lang="fr-FR" sz="2000" dirty="0">
              <a:latin typeface="Segoe UI"/>
              <a:cs typeface="Segoe UI"/>
            </a:endParaRPr>
          </a:p>
          <a:p>
            <a:pPr marL="240029" indent="-227329">
              <a:lnSpc>
                <a:spcPct val="100000"/>
              </a:lnSpc>
              <a:spcBef>
                <a:spcPts val="100"/>
              </a:spcBef>
              <a:buClr>
                <a:srgbClr val="391778"/>
              </a:buClr>
              <a:buFont typeface="Arial"/>
              <a:buChar char="•"/>
              <a:tabLst>
                <a:tab pos="240029" algn="l"/>
              </a:tabLst>
            </a:pPr>
            <a:endParaRPr lang="fr-FR" sz="2400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087A11EE-A610-7EFB-3DBC-E343D8E9DE2B}"/>
              </a:ext>
            </a:extLst>
          </p:cNvPr>
          <p:cNvSpPr txBox="1"/>
          <p:nvPr/>
        </p:nvSpPr>
        <p:spPr>
          <a:xfrm>
            <a:off x="6792685" y="2622006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album =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LinkedList&lt;Music&gt;();</a:t>
            </a:r>
          </a:p>
          <a:p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album.</a:t>
            </a:r>
            <a:r>
              <a:rPr lang="fr-FR" sz="1800" dirty="0" err="1">
                <a:solidFill>
                  <a:srgbClr val="D0D000"/>
                </a:solidFill>
                <a:latin typeface="Cascadia Mono" panose="020B0609020000020004" pitchFamily="49" charset="0"/>
              </a:rPr>
              <a:t>AddLast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(music);</a:t>
            </a:r>
          </a:p>
          <a:p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album.</a:t>
            </a:r>
            <a:r>
              <a:rPr lang="fr-FR" sz="1800" dirty="0" err="1">
                <a:solidFill>
                  <a:srgbClr val="D0D000"/>
                </a:solidFill>
                <a:latin typeface="Cascadia Mono" panose="020B0609020000020004" pitchFamily="49" charset="0"/>
              </a:rPr>
              <a:t>RemoveLast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  <a:endParaRPr lang="fr-FR"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0ADE0775-9622-E6E8-5D30-241A543CEF7C}"/>
              </a:ext>
            </a:extLst>
          </p:cNvPr>
          <p:cNvSpPr txBox="1"/>
          <p:nvPr/>
        </p:nvSpPr>
        <p:spPr>
          <a:xfrm>
            <a:off x="6096000" y="4167664"/>
            <a:ext cx="644434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album =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List&lt;Music&gt;();</a:t>
            </a:r>
          </a:p>
          <a:p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album.</a:t>
            </a:r>
            <a:r>
              <a:rPr lang="fr-FR" sz="1800" dirty="0" err="1">
                <a:solidFill>
                  <a:srgbClr val="D0D000"/>
                </a:solidFill>
                <a:latin typeface="Cascadia Mono" panose="020B0609020000020004" pitchFamily="49" charset="0"/>
              </a:rPr>
              <a:t>Add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(music);</a:t>
            </a:r>
          </a:p>
          <a:p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album.</a:t>
            </a:r>
            <a:r>
              <a:rPr lang="en-US" sz="1800" dirty="0" err="1">
                <a:solidFill>
                  <a:srgbClr val="D0D000"/>
                </a:solidFill>
                <a:latin typeface="Cascadia Mono" panose="020B0609020000020004" pitchFamily="49" charset="0"/>
              </a:rPr>
              <a:t>Insert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(1,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Music());</a:t>
            </a:r>
          </a:p>
          <a:p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bool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isRemoved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album.</a:t>
            </a:r>
            <a:r>
              <a:rPr lang="en-US" sz="1800" dirty="0" err="1">
                <a:solidFill>
                  <a:srgbClr val="D0D000"/>
                </a:solidFill>
                <a:latin typeface="Cascadia Mono" panose="020B0609020000020004" pitchFamily="49" charset="0"/>
              </a:rPr>
              <a:t>Remove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(music);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2980227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5. Collections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43601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Les files / piles</a:t>
            </a:r>
          </a:p>
          <a:p>
            <a:endParaRPr lang="fr-FR" sz="2400" dirty="0"/>
          </a:p>
          <a:p>
            <a:endParaRPr lang="fr-FR" sz="2400" dirty="0"/>
          </a:p>
          <a:p>
            <a:pPr marL="240029" indent="-227329">
              <a:lnSpc>
                <a:spcPct val="100000"/>
              </a:lnSpc>
              <a:spcBef>
                <a:spcPts val="705"/>
              </a:spcBef>
              <a:buClr>
                <a:srgbClr val="391778"/>
              </a:buClr>
              <a:buFont typeface="Arial"/>
              <a:buChar char="•"/>
              <a:tabLst>
                <a:tab pos="240029" algn="l"/>
              </a:tabLst>
            </a:pPr>
            <a:r>
              <a:rPr lang="fr-FR" sz="2400" b="1" spc="-10" dirty="0">
                <a:latin typeface="Segoe UI"/>
                <a:cs typeface="Segoe UI"/>
              </a:rPr>
              <a:t>Queue&lt;T&gt;</a:t>
            </a:r>
            <a:endParaRPr lang="fr-FR" sz="240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spcBef>
                <a:spcPts val="509"/>
              </a:spcBef>
              <a:buClr>
                <a:srgbClr val="391778"/>
              </a:buClr>
              <a:buFont typeface="Arial"/>
              <a:buChar char="•"/>
              <a:tabLst>
                <a:tab pos="698500" algn="l"/>
              </a:tabLst>
            </a:pPr>
            <a:r>
              <a:rPr lang="fr-FR" sz="2000" dirty="0">
                <a:latin typeface="Segoe UI"/>
                <a:cs typeface="Segoe UI"/>
              </a:rPr>
              <a:t>Principe</a:t>
            </a:r>
            <a:r>
              <a:rPr lang="fr-FR" sz="2000" spc="-2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de</a:t>
            </a:r>
            <a:r>
              <a:rPr lang="fr-FR" sz="2000" spc="-2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la</a:t>
            </a:r>
            <a:r>
              <a:rPr lang="fr-FR" sz="2000" spc="-2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file</a:t>
            </a:r>
            <a:r>
              <a:rPr lang="fr-FR" sz="2000" spc="-30" dirty="0">
                <a:latin typeface="Segoe UI"/>
                <a:cs typeface="Segoe UI"/>
              </a:rPr>
              <a:t> </a:t>
            </a:r>
            <a:r>
              <a:rPr lang="fr-FR" sz="2000" spc="-10" dirty="0">
                <a:latin typeface="Segoe UI"/>
                <a:cs typeface="Segoe UI"/>
              </a:rPr>
              <a:t>d'attente</a:t>
            </a:r>
            <a:endParaRPr lang="fr-FR" sz="200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spcBef>
                <a:spcPts val="505"/>
              </a:spcBef>
              <a:buClr>
                <a:srgbClr val="391778"/>
              </a:buClr>
              <a:buFont typeface="Arial"/>
              <a:buChar char="•"/>
              <a:tabLst>
                <a:tab pos="698500" algn="l"/>
              </a:tabLst>
            </a:pPr>
            <a:endParaRPr lang="fr-FR" sz="2000" spc="-1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spcBef>
                <a:spcPts val="505"/>
              </a:spcBef>
              <a:buClr>
                <a:srgbClr val="391778"/>
              </a:buClr>
              <a:buFont typeface="Arial"/>
              <a:buChar char="•"/>
              <a:tabLst>
                <a:tab pos="698500" algn="l"/>
              </a:tabLst>
            </a:pPr>
            <a:endParaRPr lang="fr-FR" sz="2000" spc="-10" dirty="0">
              <a:latin typeface="Segoe UI"/>
              <a:cs typeface="Segoe UI"/>
            </a:endParaRPr>
          </a:p>
          <a:p>
            <a:pPr marL="240029" indent="-227329">
              <a:lnSpc>
                <a:spcPct val="100000"/>
              </a:lnSpc>
              <a:spcBef>
                <a:spcPts val="715"/>
              </a:spcBef>
              <a:buClr>
                <a:srgbClr val="391778"/>
              </a:buClr>
              <a:buFont typeface="Arial"/>
              <a:buChar char="•"/>
              <a:tabLst>
                <a:tab pos="240029" algn="l"/>
              </a:tabLst>
            </a:pPr>
            <a:r>
              <a:rPr lang="fr-FR" sz="2400" b="1" spc="-10" dirty="0">
                <a:latin typeface="Segoe UI"/>
                <a:cs typeface="Segoe UI"/>
              </a:rPr>
              <a:t>Stack&lt;T&gt;</a:t>
            </a:r>
            <a:endParaRPr lang="fr-FR" sz="240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spcBef>
                <a:spcPts val="520"/>
              </a:spcBef>
              <a:buClr>
                <a:srgbClr val="391778"/>
              </a:buClr>
              <a:buFont typeface="Arial"/>
              <a:buChar char="•"/>
              <a:tabLst>
                <a:tab pos="698500" algn="l"/>
              </a:tabLst>
            </a:pPr>
            <a:r>
              <a:rPr lang="fr-FR" sz="2000" dirty="0">
                <a:latin typeface="Segoe UI"/>
                <a:cs typeface="Segoe UI"/>
              </a:rPr>
              <a:t>Principe</a:t>
            </a:r>
            <a:r>
              <a:rPr lang="fr-FR" sz="2000" spc="-3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de</a:t>
            </a:r>
            <a:r>
              <a:rPr lang="fr-FR" sz="2000" spc="-3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la</a:t>
            </a:r>
            <a:r>
              <a:rPr lang="fr-FR" sz="2000" spc="-30" dirty="0">
                <a:latin typeface="Segoe UI"/>
                <a:cs typeface="Segoe UI"/>
              </a:rPr>
              <a:t> </a:t>
            </a:r>
            <a:r>
              <a:rPr lang="fr-FR" sz="2000" spc="-20" dirty="0">
                <a:latin typeface="Segoe UI"/>
                <a:cs typeface="Segoe UI"/>
              </a:rPr>
              <a:t>pile</a:t>
            </a:r>
            <a:endParaRPr lang="fr-FR" sz="200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spcBef>
                <a:spcPts val="505"/>
              </a:spcBef>
              <a:buClr>
                <a:srgbClr val="391778"/>
              </a:buClr>
              <a:buFont typeface="Arial"/>
              <a:buChar char="•"/>
              <a:tabLst>
                <a:tab pos="698500" algn="l"/>
              </a:tabLst>
            </a:pPr>
            <a:endParaRPr lang="fr-FR" sz="2000" dirty="0">
              <a:latin typeface="Segoe UI"/>
              <a:cs typeface="Segoe UI"/>
            </a:endParaRPr>
          </a:p>
          <a:p>
            <a:pPr marL="240029" indent="-227329">
              <a:lnSpc>
                <a:spcPct val="100000"/>
              </a:lnSpc>
              <a:spcBef>
                <a:spcPts val="100"/>
              </a:spcBef>
              <a:buClr>
                <a:srgbClr val="391778"/>
              </a:buClr>
              <a:buFont typeface="Arial"/>
              <a:buChar char="•"/>
              <a:tabLst>
                <a:tab pos="240029" algn="l"/>
              </a:tabLst>
            </a:pPr>
            <a:endParaRPr lang="fr-FR" sz="2400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761F8CA4-BE70-2C76-1DC3-F879D8D6093A}"/>
              </a:ext>
            </a:extLst>
          </p:cNvPr>
          <p:cNvSpPr txBox="1"/>
          <p:nvPr/>
        </p:nvSpPr>
        <p:spPr>
          <a:xfrm>
            <a:off x="6107595" y="2600236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accent5">
                    <a:lumMod val="75000"/>
                  </a:schemeClr>
                </a:solidFill>
                <a:latin typeface="Cascadia Mono" panose="020B0609020000020004" pitchFamily="49" charset="0"/>
              </a:rPr>
              <a:t>Queue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en-US" sz="1800" dirty="0">
                <a:solidFill>
                  <a:schemeClr val="accent5">
                    <a:lumMod val="75000"/>
                  </a:schemeClr>
                </a:solidFill>
                <a:latin typeface="Cascadia Mono" panose="020B0609020000020004" pitchFamily="49" charset="0"/>
              </a:rPr>
              <a:t>Music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&gt; album =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chemeClr val="accent5">
                    <a:lumMod val="75000"/>
                  </a:schemeClr>
                </a:solidFill>
                <a:latin typeface="Cascadia Mono" panose="020B0609020000020004" pitchFamily="49" charset="0"/>
              </a:rPr>
              <a:t>Queue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en-US" sz="1800" dirty="0">
                <a:solidFill>
                  <a:schemeClr val="accent5">
                    <a:lumMod val="75000"/>
                  </a:schemeClr>
                </a:solidFill>
                <a:latin typeface="Cascadia Mono" panose="020B0609020000020004" pitchFamily="49" charset="0"/>
              </a:rPr>
              <a:t>Music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&gt;();</a:t>
            </a:r>
          </a:p>
          <a:p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album.</a:t>
            </a:r>
            <a:r>
              <a:rPr lang="fr-FR" sz="1800" dirty="0" err="1">
                <a:solidFill>
                  <a:srgbClr val="D0D000"/>
                </a:solidFill>
                <a:latin typeface="Cascadia Mono" panose="020B0609020000020004" pitchFamily="49" charset="0"/>
              </a:rPr>
              <a:t>Enqueue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(music);</a:t>
            </a:r>
          </a:p>
          <a:p>
            <a:r>
              <a:rPr lang="fr-FR" sz="1800" dirty="0">
                <a:solidFill>
                  <a:schemeClr val="accent5">
                    <a:lumMod val="75000"/>
                  </a:schemeClr>
                </a:solidFill>
                <a:latin typeface="Cascadia Mono" panose="020B0609020000020004" pitchFamily="49" charset="0"/>
              </a:rPr>
              <a:t>Music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musicDequeued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album.</a:t>
            </a:r>
            <a:r>
              <a:rPr lang="fr-FR" sz="1800" dirty="0" err="1">
                <a:solidFill>
                  <a:srgbClr val="D0D000"/>
                </a:solidFill>
                <a:latin typeface="Cascadia Mono" panose="020B0609020000020004" pitchFamily="49" charset="0"/>
              </a:rPr>
              <a:t>Dequeue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  <a:endParaRPr lang="fr-FR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3B65D1C2-BE07-C612-E3BA-CA8C94764B69}"/>
              </a:ext>
            </a:extLst>
          </p:cNvPr>
          <p:cNvSpPr txBox="1"/>
          <p:nvPr/>
        </p:nvSpPr>
        <p:spPr>
          <a:xfrm>
            <a:off x="5510893" y="4195817"/>
            <a:ext cx="610144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accent5">
                    <a:lumMod val="75000"/>
                  </a:schemeClr>
                </a:solidFill>
                <a:latin typeface="Cascadia Mono" panose="020B0609020000020004" pitchFamily="49" charset="0"/>
              </a:rPr>
              <a:t>Stack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en-US" sz="1800" dirty="0">
                <a:solidFill>
                  <a:schemeClr val="accent5">
                    <a:lumMod val="75000"/>
                  </a:schemeClr>
                </a:solidFill>
                <a:latin typeface="Cascadia Mono" panose="020B0609020000020004" pitchFamily="49" charset="0"/>
              </a:rPr>
              <a:t>Music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&gt; album =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chemeClr val="accent5">
                    <a:lumMod val="75000"/>
                  </a:schemeClr>
                </a:solidFill>
                <a:latin typeface="Cascadia Mono" panose="020B0609020000020004" pitchFamily="49" charset="0"/>
              </a:rPr>
              <a:t>Stack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en-US" sz="1800" dirty="0">
                <a:solidFill>
                  <a:schemeClr val="accent5">
                    <a:lumMod val="75000"/>
                  </a:schemeClr>
                </a:solidFill>
                <a:latin typeface="Cascadia Mono" panose="020B0609020000020004" pitchFamily="49" charset="0"/>
              </a:rPr>
              <a:t>Music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&gt;();</a:t>
            </a:r>
          </a:p>
          <a:p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album.</a:t>
            </a:r>
            <a:r>
              <a:rPr lang="fr-FR" sz="1800" dirty="0" err="1">
                <a:solidFill>
                  <a:srgbClr val="D0D000"/>
                </a:solidFill>
                <a:latin typeface="Cascadia Mono" panose="020B0609020000020004" pitchFamily="49" charset="0"/>
              </a:rPr>
              <a:t>Push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(music);</a:t>
            </a:r>
          </a:p>
          <a:p>
            <a:r>
              <a:rPr lang="fr-FR" sz="1800" dirty="0">
                <a:solidFill>
                  <a:schemeClr val="accent5">
                    <a:lumMod val="75000"/>
                  </a:schemeClr>
                </a:solidFill>
                <a:latin typeface="Cascadia Mono" panose="020B0609020000020004" pitchFamily="49" charset="0"/>
              </a:rPr>
              <a:t>Music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musicDequeued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album.</a:t>
            </a:r>
            <a:r>
              <a:rPr lang="fr-FR" sz="1800" dirty="0" err="1">
                <a:solidFill>
                  <a:srgbClr val="D0D000"/>
                </a:solidFill>
                <a:latin typeface="Cascadia Mono" panose="020B0609020000020004" pitchFamily="49" charset="0"/>
              </a:rPr>
              <a:t>Pop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6651574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5. Collections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31572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Les dictionnaires</a:t>
            </a:r>
          </a:p>
          <a:p>
            <a:endParaRPr lang="fr-FR" sz="2400" dirty="0"/>
          </a:p>
          <a:p>
            <a:endParaRPr lang="fr-FR" sz="2400" dirty="0"/>
          </a:p>
          <a:p>
            <a:pPr marL="264160" indent="-227329">
              <a:lnSpc>
                <a:spcPct val="100000"/>
              </a:lnSpc>
              <a:spcBef>
                <a:spcPts val="705"/>
              </a:spcBef>
              <a:buClr>
                <a:srgbClr val="391778"/>
              </a:buClr>
              <a:buFont typeface="Arial"/>
              <a:buChar char="•"/>
              <a:tabLst>
                <a:tab pos="264160" algn="l"/>
              </a:tabLst>
            </a:pPr>
            <a:r>
              <a:rPr lang="fr-FR" sz="2400" b="1" spc="-10" dirty="0" err="1">
                <a:latin typeface="Segoe UI"/>
                <a:cs typeface="Segoe UI"/>
              </a:rPr>
              <a:t>Dictionary</a:t>
            </a:r>
            <a:r>
              <a:rPr lang="fr-FR" sz="2400" b="1" spc="-10" dirty="0">
                <a:latin typeface="Segoe UI"/>
                <a:cs typeface="Segoe UI"/>
              </a:rPr>
              <a:t>&lt;</a:t>
            </a:r>
            <a:r>
              <a:rPr lang="fr-FR" sz="2400" b="1" spc="-10" dirty="0" err="1">
                <a:latin typeface="Segoe UI"/>
                <a:cs typeface="Segoe UI"/>
              </a:rPr>
              <a:t>TKey</a:t>
            </a:r>
            <a:r>
              <a:rPr lang="fr-FR" sz="2400" b="1" spc="-10" dirty="0">
                <a:latin typeface="Segoe UI"/>
                <a:cs typeface="Segoe UI"/>
              </a:rPr>
              <a:t>,</a:t>
            </a:r>
            <a:r>
              <a:rPr lang="fr-FR" sz="2400" b="1" spc="-60" dirty="0">
                <a:latin typeface="Segoe UI"/>
                <a:cs typeface="Segoe UI"/>
              </a:rPr>
              <a:t> </a:t>
            </a:r>
            <a:r>
              <a:rPr lang="fr-FR" sz="2400" b="1" spc="-10" dirty="0" err="1">
                <a:latin typeface="Segoe UI"/>
                <a:cs typeface="Segoe UI"/>
              </a:rPr>
              <a:t>TValue</a:t>
            </a:r>
            <a:r>
              <a:rPr lang="fr-FR" sz="2400" b="1" spc="-10" dirty="0">
                <a:latin typeface="Segoe UI"/>
                <a:cs typeface="Segoe UI"/>
              </a:rPr>
              <a:t>&gt;</a:t>
            </a:r>
            <a:endParaRPr lang="fr-FR" sz="2400" dirty="0">
              <a:latin typeface="Segoe UI"/>
              <a:cs typeface="Segoe UI"/>
            </a:endParaRPr>
          </a:p>
          <a:p>
            <a:pPr marL="722630" lvl="1" indent="-228600">
              <a:lnSpc>
                <a:spcPct val="100000"/>
              </a:lnSpc>
              <a:spcBef>
                <a:spcPts val="509"/>
              </a:spcBef>
              <a:buClr>
                <a:srgbClr val="391778"/>
              </a:buClr>
              <a:buFont typeface="Arial"/>
              <a:buChar char="•"/>
              <a:tabLst>
                <a:tab pos="722630" algn="l"/>
              </a:tabLst>
            </a:pPr>
            <a:r>
              <a:rPr lang="fr-FR" sz="2000" dirty="0">
                <a:latin typeface="Segoe UI"/>
                <a:cs typeface="Segoe UI"/>
              </a:rPr>
              <a:t>Principe</a:t>
            </a:r>
            <a:r>
              <a:rPr lang="fr-FR" sz="2000" spc="-2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de</a:t>
            </a:r>
            <a:r>
              <a:rPr lang="fr-FR" sz="2000" spc="-2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clé</a:t>
            </a:r>
            <a:r>
              <a:rPr lang="fr-FR" sz="2000" spc="-2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/</a:t>
            </a:r>
            <a:r>
              <a:rPr lang="fr-FR" sz="2000" spc="-40" dirty="0">
                <a:latin typeface="Segoe UI"/>
                <a:cs typeface="Segoe UI"/>
              </a:rPr>
              <a:t> </a:t>
            </a:r>
            <a:r>
              <a:rPr lang="fr-FR" sz="2000" spc="-10" dirty="0">
                <a:latin typeface="Segoe UI"/>
                <a:cs typeface="Segoe UI"/>
              </a:rPr>
              <a:t>valeur</a:t>
            </a:r>
            <a:endParaRPr lang="fr-FR" sz="2000" dirty="0">
              <a:latin typeface="Segoe UI"/>
              <a:cs typeface="Segoe UI"/>
            </a:endParaRPr>
          </a:p>
          <a:p>
            <a:pPr marL="722630" lvl="1" indent="-228600">
              <a:lnSpc>
                <a:spcPct val="100000"/>
              </a:lnSpc>
              <a:spcBef>
                <a:spcPts val="505"/>
              </a:spcBef>
              <a:buClr>
                <a:srgbClr val="391778"/>
              </a:buClr>
              <a:buFont typeface="Arial"/>
              <a:buChar char="•"/>
              <a:tabLst>
                <a:tab pos="722630" algn="l"/>
              </a:tabLst>
            </a:pPr>
            <a:r>
              <a:rPr lang="fr-FR" sz="2000" dirty="0">
                <a:latin typeface="Segoe UI"/>
                <a:cs typeface="Segoe UI"/>
              </a:rPr>
              <a:t>Clés</a:t>
            </a:r>
            <a:r>
              <a:rPr lang="fr-FR" sz="2000" spc="-5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uniques</a:t>
            </a:r>
            <a:r>
              <a:rPr lang="fr-FR" sz="2000" spc="-5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(sinon</a:t>
            </a:r>
            <a:r>
              <a:rPr lang="fr-FR" sz="2000" spc="-55" dirty="0">
                <a:latin typeface="Segoe UI"/>
                <a:cs typeface="Segoe UI"/>
              </a:rPr>
              <a:t> </a:t>
            </a:r>
            <a:r>
              <a:rPr lang="fr-FR" sz="2000" spc="-10" dirty="0">
                <a:latin typeface="Segoe UI"/>
                <a:cs typeface="Segoe UI"/>
              </a:rPr>
              <a:t>exception)</a:t>
            </a:r>
            <a:endParaRPr lang="fr-FR" sz="200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spcBef>
                <a:spcPts val="505"/>
              </a:spcBef>
              <a:buClr>
                <a:srgbClr val="391778"/>
              </a:buClr>
              <a:buFont typeface="Arial"/>
              <a:buChar char="•"/>
              <a:tabLst>
                <a:tab pos="698500" algn="l"/>
              </a:tabLst>
            </a:pPr>
            <a:endParaRPr lang="fr-FR" sz="2000" dirty="0">
              <a:latin typeface="Segoe UI"/>
              <a:cs typeface="Segoe UI"/>
            </a:endParaRPr>
          </a:p>
          <a:p>
            <a:pPr marL="240029" indent="-227329">
              <a:lnSpc>
                <a:spcPct val="100000"/>
              </a:lnSpc>
              <a:spcBef>
                <a:spcPts val="100"/>
              </a:spcBef>
              <a:buClr>
                <a:srgbClr val="391778"/>
              </a:buClr>
              <a:buFont typeface="Arial"/>
              <a:buChar char="•"/>
              <a:tabLst>
                <a:tab pos="240029" algn="l"/>
              </a:tabLst>
            </a:pPr>
            <a:endParaRPr lang="fr-FR" sz="2400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AABEDEBF-4011-4A63-68C6-69F8E9D5E208}"/>
              </a:ext>
            </a:extLst>
          </p:cNvPr>
          <p:cNvSpPr txBox="1"/>
          <p:nvPr/>
        </p:nvSpPr>
        <p:spPr>
          <a:xfrm>
            <a:off x="1523999" y="4059854"/>
            <a:ext cx="9622971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accent5">
                    <a:lumMod val="75000"/>
                  </a:schemeClr>
                </a:solidFill>
                <a:latin typeface="Cascadia Mono" panose="020B0609020000020004" pitchFamily="49" charset="0"/>
              </a:rPr>
              <a:t>Dictionary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, </a:t>
            </a:r>
            <a:r>
              <a:rPr lang="en-US" sz="1800" dirty="0">
                <a:solidFill>
                  <a:schemeClr val="accent5">
                    <a:lumMod val="75000"/>
                  </a:schemeClr>
                </a:solidFill>
                <a:latin typeface="Cascadia Mono" panose="020B0609020000020004" pitchFamily="49" charset="0"/>
              </a:rPr>
              <a:t>Music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&gt; album =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chemeClr val="accent5">
                    <a:lumMod val="75000"/>
                  </a:schemeClr>
                </a:solidFill>
                <a:latin typeface="Cascadia Mono" panose="020B0609020000020004" pitchFamily="49" charset="0"/>
              </a:rPr>
              <a:t>Dictionary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, </a:t>
            </a:r>
            <a:r>
              <a:rPr lang="en-US" sz="1800" dirty="0">
                <a:solidFill>
                  <a:schemeClr val="accent5">
                    <a:lumMod val="75000"/>
                  </a:schemeClr>
                </a:solidFill>
                <a:latin typeface="Cascadia Mono" panose="020B0609020000020004" pitchFamily="49" charset="0"/>
              </a:rPr>
              <a:t>Music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&gt;();</a:t>
            </a:r>
          </a:p>
          <a:p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album.</a:t>
            </a:r>
            <a:r>
              <a:rPr lang="fr-FR" sz="1800" dirty="0" err="1">
                <a:solidFill>
                  <a:srgbClr val="D0D000"/>
                </a:solidFill>
                <a:latin typeface="Cascadia Mono" panose="020B0609020000020004" pitchFamily="49" charset="0"/>
              </a:rPr>
              <a:t>Add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fr-FR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fr-FR" sz="18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myKey</a:t>
            </a:r>
            <a:r>
              <a:rPr lang="fr-FR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, music);</a:t>
            </a:r>
          </a:p>
          <a:p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bool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isRemoved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album.</a:t>
            </a:r>
            <a:r>
              <a:rPr lang="en-US" sz="1800" dirty="0" err="1">
                <a:solidFill>
                  <a:srgbClr val="D0D000"/>
                </a:solidFill>
                <a:latin typeface="Cascadia Mono" panose="020B0609020000020004" pitchFamily="49" charset="0"/>
              </a:rPr>
              <a:t>Remove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n-US" sz="18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myKey</a:t>
            </a:r>
            <a:r>
              <a:rPr lang="en-US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bool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isAdded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album.</a:t>
            </a:r>
            <a:r>
              <a:rPr lang="en-US" sz="1800" dirty="0" err="1">
                <a:solidFill>
                  <a:srgbClr val="D0D000"/>
                </a:solidFill>
                <a:latin typeface="Cascadia Mono" panose="020B0609020000020004" pitchFamily="49" charset="0"/>
              </a:rPr>
              <a:t>TryAdd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n-US" sz="18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myKey</a:t>
            </a:r>
            <a:r>
              <a:rPr lang="en-US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, music);</a:t>
            </a:r>
          </a:p>
          <a:p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bool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isPresent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album.</a:t>
            </a:r>
            <a:r>
              <a:rPr lang="en-US" sz="1800" dirty="0" err="1">
                <a:solidFill>
                  <a:srgbClr val="D0D000"/>
                </a:solidFill>
                <a:latin typeface="Cascadia Mono" panose="020B0609020000020004" pitchFamily="49" charset="0"/>
              </a:rPr>
              <a:t>ContainsKey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n-US" sz="18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myKey</a:t>
            </a:r>
            <a:r>
              <a:rPr lang="en-US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9564442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5. Collections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35291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Les ensembles</a:t>
            </a:r>
          </a:p>
          <a:p>
            <a:endParaRPr lang="fr-FR" sz="2400" dirty="0"/>
          </a:p>
          <a:p>
            <a:endParaRPr lang="fr-FR" sz="2400" dirty="0"/>
          </a:p>
          <a:p>
            <a:pPr marL="240029" indent="-227329">
              <a:lnSpc>
                <a:spcPct val="100000"/>
              </a:lnSpc>
              <a:spcBef>
                <a:spcPts val="705"/>
              </a:spcBef>
              <a:buClr>
                <a:srgbClr val="391778"/>
              </a:buClr>
              <a:buFont typeface="Arial"/>
              <a:buChar char="•"/>
              <a:tabLst>
                <a:tab pos="240029" algn="l"/>
              </a:tabLst>
            </a:pPr>
            <a:r>
              <a:rPr lang="fr-FR" sz="2400" b="1" spc="-10" dirty="0" err="1">
                <a:latin typeface="Segoe UI"/>
                <a:cs typeface="Segoe UI"/>
              </a:rPr>
              <a:t>HashSet</a:t>
            </a:r>
            <a:r>
              <a:rPr lang="fr-FR" sz="2400" b="1" spc="-10" dirty="0">
                <a:latin typeface="Segoe UI"/>
                <a:cs typeface="Segoe UI"/>
              </a:rPr>
              <a:t>&lt;T&gt;</a:t>
            </a:r>
            <a:endParaRPr lang="fr-FR" sz="240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spcBef>
                <a:spcPts val="509"/>
              </a:spcBef>
              <a:buClr>
                <a:srgbClr val="391778"/>
              </a:buClr>
              <a:buFont typeface="Arial"/>
              <a:buChar char="•"/>
              <a:tabLst>
                <a:tab pos="698500" algn="l"/>
              </a:tabLst>
            </a:pPr>
            <a:r>
              <a:rPr lang="fr-FR" sz="2000" dirty="0">
                <a:latin typeface="Segoe UI"/>
                <a:cs typeface="Segoe UI"/>
              </a:rPr>
              <a:t>Principe</a:t>
            </a:r>
            <a:r>
              <a:rPr lang="fr-FR" sz="2000" spc="-2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de</a:t>
            </a:r>
            <a:r>
              <a:rPr lang="fr-FR" sz="2000" spc="-2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hash</a:t>
            </a:r>
            <a:r>
              <a:rPr lang="fr-FR" sz="2000" spc="-4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des</a:t>
            </a:r>
            <a:r>
              <a:rPr lang="fr-FR" sz="2000" spc="-3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valeurs</a:t>
            </a:r>
            <a:r>
              <a:rPr lang="fr-FR" sz="2000" spc="-1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de</a:t>
            </a:r>
            <a:r>
              <a:rPr lang="fr-FR" sz="2000" spc="-40" dirty="0">
                <a:latin typeface="Segoe UI"/>
                <a:cs typeface="Segoe UI"/>
              </a:rPr>
              <a:t> </a:t>
            </a:r>
            <a:r>
              <a:rPr lang="fr-FR" sz="2000" spc="-10" dirty="0">
                <a:latin typeface="Segoe UI"/>
                <a:cs typeface="Segoe UI"/>
              </a:rPr>
              <a:t>l'objet</a:t>
            </a:r>
            <a:endParaRPr lang="fr-FR" sz="200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spcBef>
                <a:spcPts val="505"/>
              </a:spcBef>
              <a:buClr>
                <a:srgbClr val="391778"/>
              </a:buClr>
              <a:buFont typeface="Arial"/>
              <a:buChar char="•"/>
              <a:tabLst>
                <a:tab pos="698500" algn="l"/>
              </a:tabLst>
            </a:pPr>
            <a:r>
              <a:rPr lang="fr-FR" sz="2000" dirty="0">
                <a:latin typeface="Segoe UI"/>
                <a:cs typeface="Segoe UI"/>
              </a:rPr>
              <a:t>Optimisé</a:t>
            </a:r>
            <a:r>
              <a:rPr lang="fr-FR" sz="2000" spc="-3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pour</a:t>
            </a:r>
            <a:r>
              <a:rPr lang="fr-FR" sz="2000" spc="-2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un</a:t>
            </a:r>
            <a:r>
              <a:rPr lang="fr-FR" sz="2000" spc="-2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grand</a:t>
            </a:r>
            <a:r>
              <a:rPr lang="fr-FR" sz="2000" spc="-3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nombre</a:t>
            </a:r>
            <a:r>
              <a:rPr lang="fr-FR" sz="2000" spc="-3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de</a:t>
            </a:r>
            <a:r>
              <a:rPr lang="fr-FR" sz="2000" spc="-25" dirty="0">
                <a:latin typeface="Segoe UI"/>
                <a:cs typeface="Segoe UI"/>
              </a:rPr>
              <a:t> </a:t>
            </a:r>
            <a:r>
              <a:rPr lang="fr-FR" sz="2000" u="sng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valeurs</a:t>
            </a:r>
            <a:r>
              <a:rPr lang="fr-FR" sz="2000" u="sng" spc="-30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 </a:t>
            </a:r>
            <a:r>
              <a:rPr lang="fr-FR" sz="2000" u="sng" spc="-10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uniques</a:t>
            </a:r>
            <a:endParaRPr lang="fr-FR" sz="200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spcBef>
                <a:spcPts val="495"/>
              </a:spcBef>
              <a:buClr>
                <a:srgbClr val="391778"/>
              </a:buClr>
              <a:buFont typeface="Arial"/>
              <a:buChar char="•"/>
              <a:tabLst>
                <a:tab pos="698500" algn="l"/>
              </a:tabLst>
            </a:pPr>
            <a:r>
              <a:rPr lang="fr-FR" sz="2000" dirty="0">
                <a:latin typeface="Segoe UI"/>
                <a:cs typeface="Segoe UI"/>
              </a:rPr>
              <a:t>Les</a:t>
            </a:r>
            <a:r>
              <a:rPr lang="fr-FR" sz="2000" spc="-5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éléments</a:t>
            </a:r>
            <a:r>
              <a:rPr lang="fr-FR" sz="2000" spc="-4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doivent</a:t>
            </a:r>
            <a:r>
              <a:rPr lang="fr-FR" sz="2000" spc="-4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être</a:t>
            </a:r>
            <a:r>
              <a:rPr lang="fr-FR" sz="2000" spc="-40" dirty="0">
                <a:latin typeface="Segoe UI"/>
                <a:cs typeface="Segoe UI"/>
              </a:rPr>
              <a:t> </a:t>
            </a:r>
            <a:r>
              <a:rPr lang="fr-FR" sz="2000" dirty="0" err="1">
                <a:latin typeface="Segoe UI"/>
                <a:cs typeface="Segoe UI"/>
              </a:rPr>
              <a:t>hashable</a:t>
            </a:r>
            <a:r>
              <a:rPr lang="fr-FR" sz="2000" spc="-6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(il</a:t>
            </a:r>
            <a:r>
              <a:rPr lang="fr-FR" sz="2000" spc="-4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faut</a:t>
            </a:r>
            <a:r>
              <a:rPr lang="fr-FR" sz="2000" spc="-5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implémenter</a:t>
            </a:r>
            <a:r>
              <a:rPr lang="fr-FR" sz="2000" spc="-35" dirty="0">
                <a:latin typeface="Segoe UI"/>
                <a:cs typeface="Segoe UI"/>
              </a:rPr>
              <a:t> </a:t>
            </a:r>
            <a:r>
              <a:rPr lang="fr-FR" sz="2000" i="1" spc="-10" dirty="0" err="1">
                <a:latin typeface="Segoe UI"/>
                <a:cs typeface="Segoe UI"/>
              </a:rPr>
              <a:t>IEqualityComparer</a:t>
            </a:r>
            <a:r>
              <a:rPr lang="fr-FR" sz="2000" spc="-10" dirty="0">
                <a:latin typeface="Segoe UI"/>
                <a:cs typeface="Segoe UI"/>
              </a:rPr>
              <a:t>)</a:t>
            </a:r>
            <a:endParaRPr lang="fr-FR" sz="200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spcBef>
                <a:spcPts val="505"/>
              </a:spcBef>
              <a:buClr>
                <a:srgbClr val="391778"/>
              </a:buClr>
              <a:buFont typeface="Arial"/>
              <a:buChar char="•"/>
              <a:tabLst>
                <a:tab pos="698500" algn="l"/>
              </a:tabLst>
            </a:pPr>
            <a:endParaRPr lang="fr-FR" sz="2000" dirty="0">
              <a:latin typeface="Segoe UI"/>
              <a:cs typeface="Segoe UI"/>
            </a:endParaRPr>
          </a:p>
          <a:p>
            <a:pPr marL="240029" indent="-227329">
              <a:lnSpc>
                <a:spcPct val="100000"/>
              </a:lnSpc>
              <a:spcBef>
                <a:spcPts val="100"/>
              </a:spcBef>
              <a:buClr>
                <a:srgbClr val="391778"/>
              </a:buClr>
              <a:buFont typeface="Arial"/>
              <a:buChar char="•"/>
              <a:tabLst>
                <a:tab pos="240029" algn="l"/>
              </a:tabLst>
            </a:pPr>
            <a:endParaRPr lang="fr-FR" sz="2400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138421B4-68FE-4B40-6BDD-E5AC304C5230}"/>
              </a:ext>
            </a:extLst>
          </p:cNvPr>
          <p:cNvSpPr txBox="1"/>
          <p:nvPr/>
        </p:nvSpPr>
        <p:spPr>
          <a:xfrm>
            <a:off x="3048000" y="4624979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accent5">
                    <a:lumMod val="75000"/>
                  </a:schemeClr>
                </a:solidFill>
                <a:latin typeface="Cascadia Mono" panose="020B0609020000020004" pitchFamily="49" charset="0"/>
              </a:rPr>
              <a:t>HashSet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en-US" sz="1800" dirty="0">
                <a:solidFill>
                  <a:schemeClr val="accent5">
                    <a:lumMod val="75000"/>
                  </a:schemeClr>
                </a:solidFill>
                <a:latin typeface="Cascadia Mono" panose="020B0609020000020004" pitchFamily="49" charset="0"/>
              </a:rPr>
              <a:t>Music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&gt; album =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chemeClr val="accent5">
                    <a:lumMod val="75000"/>
                  </a:schemeClr>
                </a:solidFill>
                <a:latin typeface="Cascadia Mono" panose="020B0609020000020004" pitchFamily="49" charset="0"/>
              </a:rPr>
              <a:t>HashSet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en-US" sz="1800" dirty="0">
                <a:solidFill>
                  <a:schemeClr val="accent5">
                    <a:lumMod val="75000"/>
                  </a:schemeClr>
                </a:solidFill>
                <a:latin typeface="Cascadia Mono" panose="020B0609020000020004" pitchFamily="49" charset="0"/>
              </a:rPr>
              <a:t>Music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&gt;();</a:t>
            </a:r>
          </a:p>
          <a:p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album.</a:t>
            </a:r>
            <a:r>
              <a:rPr lang="fr-FR" sz="1800" dirty="0" err="1">
                <a:solidFill>
                  <a:srgbClr val="D0D000"/>
                </a:solidFill>
                <a:latin typeface="Cascadia Mono" panose="020B0609020000020004" pitchFamily="49" charset="0"/>
              </a:rPr>
              <a:t>Add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(music);</a:t>
            </a:r>
          </a:p>
          <a:p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bool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isRemoved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album.</a:t>
            </a:r>
            <a:r>
              <a:rPr lang="en-US" sz="1800" dirty="0" err="1">
                <a:solidFill>
                  <a:srgbClr val="D0D000"/>
                </a:solidFill>
                <a:latin typeface="Cascadia Mono" panose="020B0609020000020004" pitchFamily="49" charset="0"/>
              </a:rPr>
              <a:t>Remove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(music);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6873196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5. Collections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23519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Interface </a:t>
            </a:r>
            <a:r>
              <a:rPr lang="fr-FR" sz="2400" b="1" dirty="0" err="1">
                <a:solidFill>
                  <a:schemeClr val="accent5">
                    <a:lumMod val="75000"/>
                  </a:schemeClr>
                </a:solidFill>
              </a:rPr>
              <a:t>Ienumerable</a:t>
            </a:r>
            <a:endParaRPr lang="fr-FR" sz="2400" b="1" dirty="0">
              <a:solidFill>
                <a:schemeClr val="accent5">
                  <a:lumMod val="75000"/>
                </a:schemeClr>
              </a:solidFill>
            </a:endParaRPr>
          </a:p>
          <a:p>
            <a:endParaRPr lang="fr-FR" sz="2400" b="1" dirty="0">
              <a:solidFill>
                <a:schemeClr val="accent5">
                  <a:lumMod val="75000"/>
                </a:schemeClr>
              </a:solidFill>
              <a:latin typeface="Segoe UI"/>
              <a:cs typeface="Segoe UI"/>
            </a:endParaRPr>
          </a:p>
          <a:p>
            <a:pPr marL="240029" indent="-227329">
              <a:lnSpc>
                <a:spcPct val="100000"/>
              </a:lnSpc>
              <a:spcBef>
                <a:spcPts val="705"/>
              </a:spcBef>
              <a:buClr>
                <a:srgbClr val="391778"/>
              </a:buClr>
              <a:buFont typeface="Arial"/>
              <a:buChar char="•"/>
              <a:tabLst>
                <a:tab pos="240029" algn="l"/>
              </a:tabLst>
            </a:pPr>
            <a:r>
              <a:rPr lang="fr-FR" sz="2400" dirty="0">
                <a:latin typeface="Segoe UI"/>
                <a:cs typeface="Segoe UI"/>
              </a:rPr>
              <a:t>Les</a:t>
            </a:r>
            <a:r>
              <a:rPr lang="fr-FR" sz="2400" spc="-7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collections</a:t>
            </a:r>
            <a:r>
              <a:rPr lang="fr-FR" sz="2400" spc="-1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implémentent</a:t>
            </a:r>
            <a:r>
              <a:rPr lang="fr-FR" sz="2400" spc="-45" dirty="0">
                <a:latin typeface="Segoe UI"/>
                <a:cs typeface="Segoe UI"/>
              </a:rPr>
              <a:t> </a:t>
            </a:r>
            <a:r>
              <a:rPr lang="fr-FR" sz="2400" b="1" spc="-10" dirty="0" err="1">
                <a:latin typeface="Segoe UI"/>
                <a:cs typeface="Segoe UI"/>
              </a:rPr>
              <a:t>IEnumerable</a:t>
            </a:r>
            <a:endParaRPr lang="fr-FR" sz="240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spcBef>
                <a:spcPts val="509"/>
              </a:spcBef>
              <a:buClr>
                <a:srgbClr val="391778"/>
              </a:buClr>
              <a:buFont typeface="Arial"/>
              <a:buChar char="•"/>
              <a:tabLst>
                <a:tab pos="698500" algn="l"/>
              </a:tabLst>
            </a:pPr>
            <a:r>
              <a:rPr lang="fr-FR" sz="2000" dirty="0">
                <a:latin typeface="Segoe UI"/>
                <a:cs typeface="Segoe UI"/>
              </a:rPr>
              <a:t>Elles</a:t>
            </a:r>
            <a:r>
              <a:rPr lang="fr-FR" sz="2000" spc="-1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sont</a:t>
            </a:r>
            <a:r>
              <a:rPr lang="fr-FR" sz="2000" spc="-4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donc</a:t>
            </a:r>
            <a:r>
              <a:rPr lang="fr-FR" sz="2000" spc="-2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toutes</a:t>
            </a:r>
            <a:r>
              <a:rPr lang="fr-FR" sz="2000" spc="-40" dirty="0">
                <a:latin typeface="Segoe UI"/>
                <a:cs typeface="Segoe UI"/>
              </a:rPr>
              <a:t> </a:t>
            </a:r>
            <a:r>
              <a:rPr lang="fr-FR" sz="2000" u="sng" spc="-10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parcourables</a:t>
            </a:r>
            <a:endParaRPr lang="fr-FR" sz="2000" dirty="0">
              <a:latin typeface="Segoe UI"/>
              <a:cs typeface="Segoe U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000" dirty="0">
              <a:latin typeface="Segoe UI"/>
              <a:cs typeface="Segoe UI"/>
            </a:endParaRPr>
          </a:p>
          <a:p>
            <a:pPr marL="240029" indent="-227329">
              <a:lnSpc>
                <a:spcPct val="100000"/>
              </a:lnSpc>
              <a:spcBef>
                <a:spcPts val="100"/>
              </a:spcBef>
              <a:buClr>
                <a:srgbClr val="391778"/>
              </a:buClr>
              <a:buFont typeface="Arial"/>
              <a:buChar char="•"/>
              <a:tabLst>
                <a:tab pos="240029" algn="l"/>
              </a:tabLst>
            </a:pPr>
            <a:endParaRPr lang="fr-FR" sz="2400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3F41FACE-CBE7-6EB8-3248-C06BA5AA228B}"/>
              </a:ext>
            </a:extLst>
          </p:cNvPr>
          <p:cNvSpPr txBox="1"/>
          <p:nvPr/>
        </p:nvSpPr>
        <p:spPr>
          <a:xfrm>
            <a:off x="2596951" y="3418867"/>
            <a:ext cx="7021287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foreach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(</a:t>
            </a:r>
            <a:r>
              <a:rPr lang="en-US" sz="1800" dirty="0">
                <a:solidFill>
                  <a:schemeClr val="accent5">
                    <a:lumMod val="75000"/>
                  </a:schemeClr>
                </a:solidFill>
                <a:latin typeface="Cascadia Mono" panose="020B0609020000020004" pitchFamily="49" charset="0"/>
              </a:rPr>
              <a:t>Music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music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in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album)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</a:t>
            </a:r>
            <a:r>
              <a:rPr lang="fr-FR" sz="1800" dirty="0" err="1">
                <a:latin typeface="Cascadia Mono" panose="020B0609020000020004" pitchFamily="49" charset="0"/>
              </a:rPr>
              <a:t>WriteLine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music.Name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</a:p>
          <a:p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foreach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(</a:t>
            </a:r>
            <a:r>
              <a:rPr lang="en-US" sz="1800" dirty="0" err="1">
                <a:solidFill>
                  <a:schemeClr val="accent5">
                    <a:lumMod val="75000"/>
                  </a:schemeClr>
                </a:solidFill>
                <a:latin typeface="Cascadia Mono" panose="020B0609020000020004" pitchFamily="49" charset="0"/>
              </a:rPr>
              <a:t>KeyValuePair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, </a:t>
            </a:r>
            <a:r>
              <a:rPr lang="en-US" sz="1800" dirty="0">
                <a:solidFill>
                  <a:schemeClr val="accent5">
                    <a:lumMod val="75000"/>
                  </a:schemeClr>
                </a:solidFill>
                <a:latin typeface="Cascadia Mono" panose="020B0609020000020004" pitchFamily="49" charset="0"/>
              </a:rPr>
              <a:t>Music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&gt; pair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in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album)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</a:t>
            </a:r>
            <a:r>
              <a:rPr lang="fr-FR" sz="1800" dirty="0" err="1">
                <a:latin typeface="Cascadia Mono" panose="020B0609020000020004" pitchFamily="49" charset="0"/>
              </a:rPr>
              <a:t>Write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pair.Key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</a:t>
            </a:r>
            <a:r>
              <a:rPr lang="fr-FR" sz="1800" dirty="0" err="1">
                <a:latin typeface="Cascadia Mono" panose="020B0609020000020004" pitchFamily="49" charset="0"/>
              </a:rPr>
              <a:t>WriteLine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pair.Value.Name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4960819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26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que 2" descr="Questions avec un remplissage uni">
            <a:extLst>
              <a:ext uri="{FF2B5EF4-FFF2-40B4-BE49-F238E27FC236}">
                <a16:creationId xmlns:a16="http://schemas.microsoft.com/office/drawing/2014/main" id="{117F3F9E-E45E-9844-8215-AA148A5923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56000" y="1989000"/>
            <a:ext cx="2880000" cy="2880000"/>
          </a:xfrm>
          <a:prstGeom prst="rect">
            <a:avLst/>
          </a:prstGeom>
        </p:spPr>
      </p:pic>
      <p:sp>
        <p:nvSpPr>
          <p:cNvPr id="6" name="Titre 1">
            <a:extLst>
              <a:ext uri="{FF2B5EF4-FFF2-40B4-BE49-F238E27FC236}">
                <a16:creationId xmlns:a16="http://schemas.microsoft.com/office/drawing/2014/main" id="{6784514D-DFE8-6540-A8D9-ED1329C44D36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>
                <a:solidFill>
                  <a:schemeClr val="bg1"/>
                </a:solidFill>
              </a:rPr>
              <a:t>5. Collections</a:t>
            </a:r>
          </a:p>
        </p:txBody>
      </p:sp>
    </p:spTree>
    <p:extLst>
      <p:ext uri="{BB962C8B-B14F-4D97-AF65-F5344CB8AC3E}">
        <p14:creationId xmlns:p14="http://schemas.microsoft.com/office/powerpoint/2010/main" val="269283917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26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1">
            <a:extLst>
              <a:ext uri="{FF2B5EF4-FFF2-40B4-BE49-F238E27FC236}">
                <a16:creationId xmlns:a16="http://schemas.microsoft.com/office/drawing/2014/main" id="{AC0B1E25-C870-E44C-9AEC-2F6389ADF8D7}"/>
              </a:ext>
            </a:extLst>
          </p:cNvPr>
          <p:cNvSpPr txBox="1">
            <a:spLocks/>
          </p:cNvSpPr>
          <p:nvPr/>
        </p:nvSpPr>
        <p:spPr>
          <a:xfrm>
            <a:off x="831850" y="1709738"/>
            <a:ext cx="10515600" cy="2851200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fr-FR" sz="5400" dirty="0"/>
          </a:p>
          <a:p>
            <a:endParaRPr lang="fr-FR" sz="5400" dirty="0"/>
          </a:p>
          <a:p>
            <a:endParaRPr lang="fr-FR" sz="5400" dirty="0"/>
          </a:p>
          <a:p>
            <a:r>
              <a:rPr lang="fr-FR" sz="5400" dirty="0">
                <a:solidFill>
                  <a:schemeClr val="bg1"/>
                </a:solidFill>
              </a:rPr>
              <a:t>6. Exceptions</a:t>
            </a:r>
          </a:p>
        </p:txBody>
      </p:sp>
    </p:spTree>
    <p:extLst>
      <p:ext uri="{BB962C8B-B14F-4D97-AF65-F5344CB8AC3E}">
        <p14:creationId xmlns:p14="http://schemas.microsoft.com/office/powerpoint/2010/main" val="169680717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6. Exceptions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3495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 sz="2400" dirty="0"/>
          </a:p>
          <a:p>
            <a:pPr marL="240029" indent="-227329">
              <a:lnSpc>
                <a:spcPct val="100000"/>
              </a:lnSpc>
              <a:spcBef>
                <a:spcPts val="100"/>
              </a:spcBef>
              <a:buClr>
                <a:srgbClr val="391778"/>
              </a:buClr>
              <a:buFont typeface="Arial"/>
              <a:buChar char="•"/>
              <a:tabLst>
                <a:tab pos="240029" algn="l"/>
              </a:tabLst>
            </a:pPr>
            <a:r>
              <a:rPr lang="fr-FR" sz="2400" dirty="0">
                <a:latin typeface="Segoe UI"/>
                <a:cs typeface="Segoe UI"/>
              </a:rPr>
              <a:t>En</a:t>
            </a:r>
            <a:r>
              <a:rPr lang="fr-FR" sz="2400" spc="-3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C#,</a:t>
            </a:r>
            <a:r>
              <a:rPr lang="fr-FR" sz="2400" spc="-3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les</a:t>
            </a:r>
            <a:r>
              <a:rPr lang="fr-FR" sz="2400" spc="-4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erreurs</a:t>
            </a:r>
            <a:r>
              <a:rPr lang="fr-FR" sz="2400" spc="-4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sont</a:t>
            </a:r>
            <a:r>
              <a:rPr lang="fr-FR" sz="2400" spc="-3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gérées</a:t>
            </a:r>
            <a:r>
              <a:rPr lang="fr-FR" sz="2400" spc="-7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par</a:t>
            </a:r>
            <a:r>
              <a:rPr lang="fr-FR" sz="2400" spc="-3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un</a:t>
            </a:r>
            <a:r>
              <a:rPr lang="fr-FR" sz="2400" spc="-2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mécanisme</a:t>
            </a:r>
            <a:r>
              <a:rPr lang="fr-FR" sz="2400" spc="-35" dirty="0">
                <a:latin typeface="Segoe UI"/>
                <a:cs typeface="Segoe UI"/>
              </a:rPr>
              <a:t> </a:t>
            </a:r>
            <a:r>
              <a:rPr lang="fr-FR" sz="2400" spc="-10" dirty="0">
                <a:latin typeface="Segoe UI"/>
                <a:cs typeface="Segoe UI"/>
              </a:rPr>
              <a:t>d'exceptions</a:t>
            </a:r>
            <a:endParaRPr lang="fr-FR" sz="2400" dirty="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1689"/>
              </a:spcBef>
              <a:buClr>
                <a:srgbClr val="391778"/>
              </a:buClr>
              <a:buFont typeface="Arial"/>
              <a:buChar char="•"/>
            </a:pPr>
            <a:endParaRPr lang="fr-FR" sz="2400" dirty="0">
              <a:latin typeface="Segoe UI"/>
              <a:cs typeface="Segoe UI"/>
            </a:endParaRPr>
          </a:p>
          <a:p>
            <a:pPr marL="240029" indent="-227329">
              <a:lnSpc>
                <a:spcPct val="100000"/>
              </a:lnSpc>
              <a:buClr>
                <a:srgbClr val="391778"/>
              </a:buClr>
              <a:buFont typeface="Arial"/>
              <a:buChar char="•"/>
              <a:tabLst>
                <a:tab pos="240029" algn="l"/>
              </a:tabLst>
            </a:pPr>
            <a:r>
              <a:rPr lang="fr-FR" sz="2400" dirty="0">
                <a:latin typeface="Segoe UI"/>
                <a:cs typeface="Segoe UI"/>
              </a:rPr>
              <a:t>Une</a:t>
            </a:r>
            <a:r>
              <a:rPr lang="fr-FR" sz="2400" spc="-40" dirty="0">
                <a:latin typeface="Segoe UI"/>
                <a:cs typeface="Segoe UI"/>
              </a:rPr>
              <a:t> </a:t>
            </a:r>
            <a:r>
              <a:rPr lang="fr-FR" sz="2400" u="sng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erreur</a:t>
            </a:r>
            <a:r>
              <a:rPr lang="fr-FR" sz="2400" spc="-4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produit</a:t>
            </a:r>
            <a:r>
              <a:rPr lang="fr-FR" sz="2400" spc="-2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un</a:t>
            </a:r>
            <a:r>
              <a:rPr lang="fr-FR" sz="2400" spc="-30" dirty="0">
                <a:latin typeface="Segoe UI"/>
                <a:cs typeface="Segoe UI"/>
              </a:rPr>
              <a:t> </a:t>
            </a:r>
            <a:r>
              <a:rPr lang="fr-FR" sz="2400" u="sng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objet</a:t>
            </a:r>
            <a:r>
              <a:rPr lang="fr-FR" sz="2400" u="sng" spc="-30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 </a:t>
            </a:r>
            <a:r>
              <a:rPr lang="fr-FR" sz="2400" u="sng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de</a:t>
            </a:r>
            <a:r>
              <a:rPr lang="fr-FR" sz="2400" u="sng" spc="-40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 </a:t>
            </a:r>
            <a:r>
              <a:rPr lang="fr-FR" sz="2400" u="sng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type</a:t>
            </a:r>
            <a:r>
              <a:rPr lang="fr-FR" sz="2400" u="sng" spc="-55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 </a:t>
            </a:r>
            <a:r>
              <a:rPr lang="fr-FR" sz="2400" b="1" u="sng" spc="-10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Exception</a:t>
            </a:r>
            <a:endParaRPr lang="fr-FR" sz="2400" dirty="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1680"/>
              </a:spcBef>
              <a:buClr>
                <a:srgbClr val="391778"/>
              </a:buClr>
              <a:buFont typeface="Arial"/>
              <a:buChar char="•"/>
            </a:pPr>
            <a:endParaRPr lang="fr-FR" sz="2400" dirty="0">
              <a:latin typeface="Segoe UI"/>
              <a:cs typeface="Segoe UI"/>
            </a:endParaRPr>
          </a:p>
          <a:p>
            <a:pPr marL="240029" marR="5080" indent="-227329">
              <a:lnSpc>
                <a:spcPct val="100000"/>
              </a:lnSpc>
              <a:buClr>
                <a:srgbClr val="391778"/>
              </a:buClr>
              <a:buFont typeface="Arial"/>
              <a:buChar char="•"/>
              <a:tabLst>
                <a:tab pos="241300" algn="l"/>
              </a:tabLst>
            </a:pPr>
            <a:r>
              <a:rPr lang="fr-FR" sz="2400" dirty="0">
                <a:latin typeface="Segoe UI"/>
                <a:cs typeface="Segoe UI"/>
              </a:rPr>
              <a:t>Il</a:t>
            </a:r>
            <a:r>
              <a:rPr lang="fr-FR" sz="2400" spc="-3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est</a:t>
            </a:r>
            <a:r>
              <a:rPr lang="fr-FR" sz="2400" spc="-4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alors</a:t>
            </a:r>
            <a:r>
              <a:rPr lang="fr-FR" sz="2400" spc="-2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possible</a:t>
            </a:r>
            <a:r>
              <a:rPr lang="fr-FR" sz="2400" spc="-3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de</a:t>
            </a:r>
            <a:r>
              <a:rPr lang="fr-FR" sz="2400" spc="-3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gérer</a:t>
            </a:r>
            <a:r>
              <a:rPr lang="fr-FR" sz="2400" spc="-5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l'exception</a:t>
            </a:r>
            <a:r>
              <a:rPr lang="fr-FR" sz="2400" spc="-2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dans</a:t>
            </a:r>
            <a:r>
              <a:rPr lang="fr-FR" sz="2400" spc="-3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le</a:t>
            </a:r>
            <a:r>
              <a:rPr lang="fr-FR" sz="2400" spc="-2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code</a:t>
            </a:r>
            <a:r>
              <a:rPr lang="fr-FR" sz="2400" spc="-3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ou</a:t>
            </a:r>
            <a:r>
              <a:rPr lang="fr-FR" sz="2400" spc="-1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de</a:t>
            </a:r>
            <a:r>
              <a:rPr lang="fr-FR" sz="2400" spc="-4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laisser</a:t>
            </a:r>
            <a:r>
              <a:rPr lang="fr-FR" sz="2400" spc="-30" dirty="0">
                <a:latin typeface="Segoe UI"/>
                <a:cs typeface="Segoe UI"/>
              </a:rPr>
              <a:t> </a:t>
            </a:r>
            <a:r>
              <a:rPr lang="fr-FR" sz="2400" spc="-25" dirty="0">
                <a:latin typeface="Segoe UI"/>
                <a:cs typeface="Segoe UI"/>
              </a:rPr>
              <a:t>se 	</a:t>
            </a:r>
            <a:r>
              <a:rPr lang="fr-FR" sz="2400" dirty="0">
                <a:latin typeface="Segoe UI"/>
                <a:cs typeface="Segoe UI"/>
              </a:rPr>
              <a:t>propager</a:t>
            </a:r>
            <a:r>
              <a:rPr lang="fr-FR" sz="2400" spc="-120" dirty="0">
                <a:latin typeface="Segoe UI"/>
                <a:cs typeface="Segoe UI"/>
              </a:rPr>
              <a:t> </a:t>
            </a:r>
            <a:r>
              <a:rPr lang="fr-FR" sz="2400" spc="-10" dirty="0">
                <a:latin typeface="Segoe UI"/>
                <a:cs typeface="Segoe UI"/>
              </a:rPr>
              <a:t>l'exception</a:t>
            </a:r>
            <a:endParaRPr lang="fr-FR" sz="2400" dirty="0">
              <a:latin typeface="Segoe UI"/>
              <a:cs typeface="Segoe U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255467010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6. Exceptions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 sz="2400" dirty="0"/>
          </a:p>
          <a:p>
            <a:pPr marL="240029" indent="-227329">
              <a:lnSpc>
                <a:spcPct val="100000"/>
              </a:lnSpc>
              <a:spcBef>
                <a:spcPts val="705"/>
              </a:spcBef>
              <a:buClr>
                <a:srgbClr val="391778"/>
              </a:buClr>
              <a:buFont typeface="Arial"/>
              <a:buChar char="•"/>
              <a:tabLst>
                <a:tab pos="240029" algn="l"/>
              </a:tabLst>
            </a:pPr>
            <a:r>
              <a:rPr lang="fr-FR" sz="2400" dirty="0">
                <a:latin typeface="Segoe UI"/>
                <a:cs typeface="Segoe UI"/>
              </a:rPr>
              <a:t>En</a:t>
            </a:r>
            <a:r>
              <a:rPr lang="fr-FR" sz="2400" spc="-3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effet,</a:t>
            </a:r>
            <a:r>
              <a:rPr lang="fr-FR" sz="2400" spc="-6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un</a:t>
            </a:r>
            <a:r>
              <a:rPr lang="fr-FR" sz="2400" spc="-2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code</a:t>
            </a:r>
            <a:r>
              <a:rPr lang="fr-FR" sz="2400" spc="-2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peut</a:t>
            </a:r>
            <a:r>
              <a:rPr lang="fr-FR" sz="2400" spc="-40" dirty="0">
                <a:latin typeface="Segoe UI"/>
                <a:cs typeface="Segoe UI"/>
              </a:rPr>
              <a:t> </a:t>
            </a:r>
            <a:r>
              <a:rPr lang="fr-FR" sz="2400" spc="-10" dirty="0">
                <a:latin typeface="Segoe UI"/>
                <a:cs typeface="Segoe UI"/>
              </a:rPr>
              <a:t>potentiellement</a:t>
            </a:r>
            <a:r>
              <a:rPr lang="fr-FR" sz="2400" spc="-3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lancer</a:t>
            </a:r>
            <a:r>
              <a:rPr lang="fr-FR" sz="2400" spc="-1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une</a:t>
            </a:r>
            <a:r>
              <a:rPr lang="fr-FR" sz="2400" spc="-2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Exception</a:t>
            </a:r>
            <a:r>
              <a:rPr lang="fr-FR" sz="2400" spc="-20" dirty="0">
                <a:latin typeface="Segoe UI"/>
                <a:cs typeface="Segoe UI"/>
              </a:rPr>
              <a:t> </a:t>
            </a:r>
            <a:r>
              <a:rPr lang="fr-FR" sz="2400" spc="-10" dirty="0">
                <a:latin typeface="Segoe UI"/>
                <a:cs typeface="Segoe UI"/>
              </a:rPr>
              <a:t>(erreur)</a:t>
            </a:r>
            <a:endParaRPr lang="fr-FR" sz="240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spcBef>
                <a:spcPts val="509"/>
              </a:spcBef>
              <a:buClr>
                <a:srgbClr val="391778"/>
              </a:buClr>
              <a:buFont typeface="Arial"/>
              <a:buChar char="•"/>
              <a:tabLst>
                <a:tab pos="698500" algn="l"/>
              </a:tabLst>
            </a:pPr>
            <a:r>
              <a:rPr lang="fr-FR" sz="2000" dirty="0">
                <a:latin typeface="Segoe UI"/>
                <a:cs typeface="Segoe UI"/>
              </a:rPr>
              <a:t>Ce</a:t>
            </a:r>
            <a:r>
              <a:rPr lang="fr-FR" sz="2000" spc="-3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qui</a:t>
            </a:r>
            <a:r>
              <a:rPr lang="fr-FR" sz="2000" spc="-1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bloque</a:t>
            </a:r>
            <a:r>
              <a:rPr lang="fr-FR" sz="2000" spc="-2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la</a:t>
            </a:r>
            <a:r>
              <a:rPr lang="fr-FR" sz="2000" spc="-2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suite</a:t>
            </a:r>
            <a:r>
              <a:rPr lang="fr-FR" sz="2000" spc="-2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de</a:t>
            </a:r>
            <a:r>
              <a:rPr lang="fr-FR" sz="2000" spc="-30" dirty="0">
                <a:latin typeface="Segoe UI"/>
                <a:cs typeface="Segoe UI"/>
              </a:rPr>
              <a:t> </a:t>
            </a:r>
            <a:r>
              <a:rPr lang="fr-FR" sz="2000" spc="-10" dirty="0">
                <a:latin typeface="Segoe UI"/>
                <a:cs typeface="Segoe UI"/>
              </a:rPr>
              <a:t>l'exécution</a:t>
            </a:r>
            <a:endParaRPr lang="fr-FR" sz="2000" dirty="0">
              <a:latin typeface="Segoe UI"/>
              <a:cs typeface="Segoe U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400"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4E7E0153-536D-5479-C32E-09B00CE6C991}"/>
              </a:ext>
            </a:extLst>
          </p:cNvPr>
          <p:cNvSpPr txBox="1"/>
          <p:nvPr/>
        </p:nvSpPr>
        <p:spPr>
          <a:xfrm>
            <a:off x="838200" y="3207053"/>
            <a:ext cx="8414658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static</a:t>
            </a:r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6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Divide</a:t>
            </a:r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fr-FR" sz="16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operand1, </a:t>
            </a:r>
            <a:r>
              <a:rPr lang="fr-FR" sz="16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operand2)</a:t>
            </a:r>
          </a:p>
          <a:p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6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result</a:t>
            </a:r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= operand1 / operand2;</a:t>
            </a:r>
          </a:p>
          <a:p>
            <a:endParaRPr lang="fr-FR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Console.WriteLine</a:t>
            </a:r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fr-FR" sz="1600" dirty="0">
                <a:solidFill>
                  <a:srgbClr val="A31515"/>
                </a:solidFill>
                <a:latin typeface="Cascadia Mono" panose="020B0609020000020004" pitchFamily="49" charset="0"/>
              </a:rPr>
              <a:t>$"résultat : </a:t>
            </a:r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  <a:r>
              <a:rPr lang="fr-FR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result</a:t>
            </a:r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r>
              <a:rPr lang="fr-FR" sz="16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return</a:t>
            </a:r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result</a:t>
            </a:r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fr-FR" sz="1600" dirty="0"/>
          </a:p>
        </p:txBody>
      </p:sp>
      <p:sp>
        <p:nvSpPr>
          <p:cNvPr id="13" name="object 11">
            <a:extLst>
              <a:ext uri="{FF2B5EF4-FFF2-40B4-BE49-F238E27FC236}">
                <a16:creationId xmlns:a16="http://schemas.microsoft.com/office/drawing/2014/main" id="{D608EA0F-BCA2-145A-0016-0090DC19B743}"/>
              </a:ext>
            </a:extLst>
          </p:cNvPr>
          <p:cNvSpPr txBox="1"/>
          <p:nvPr/>
        </p:nvSpPr>
        <p:spPr>
          <a:xfrm>
            <a:off x="6789819" y="3094903"/>
            <a:ext cx="203962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530225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Erreur</a:t>
            </a:r>
            <a:r>
              <a:rPr sz="1800" b="1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si</a:t>
            </a:r>
            <a:r>
              <a:rPr sz="1800" b="1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spc="-50" dirty="0">
                <a:solidFill>
                  <a:srgbClr val="FF0000"/>
                </a:solidFill>
                <a:latin typeface="Calibri"/>
                <a:cs typeface="Calibri"/>
              </a:rPr>
              <a:t>: 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operand2</a:t>
            </a:r>
            <a:r>
              <a:rPr sz="1800" b="1" spc="-7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est</a:t>
            </a:r>
            <a:r>
              <a:rPr sz="1800" b="1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égal</a:t>
            </a:r>
            <a:r>
              <a:rPr sz="1800" b="1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à</a:t>
            </a:r>
            <a:r>
              <a:rPr sz="1800" b="1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spc="-50" dirty="0">
                <a:solidFill>
                  <a:srgbClr val="FF0000"/>
                </a:solidFill>
                <a:latin typeface="Calibri"/>
                <a:cs typeface="Calibri"/>
              </a:rPr>
              <a:t>0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14" name="object 12">
            <a:extLst>
              <a:ext uri="{FF2B5EF4-FFF2-40B4-BE49-F238E27FC236}">
                <a16:creationId xmlns:a16="http://schemas.microsoft.com/office/drawing/2014/main" id="{C518ED26-DD04-5DC4-FADF-235BEC04EE49}"/>
              </a:ext>
            </a:extLst>
          </p:cNvPr>
          <p:cNvSpPr/>
          <p:nvPr/>
        </p:nvSpPr>
        <p:spPr>
          <a:xfrm>
            <a:off x="5483623" y="3393353"/>
            <a:ext cx="1219200" cy="473075"/>
          </a:xfrm>
          <a:custGeom>
            <a:avLst/>
            <a:gdLst/>
            <a:ahLst/>
            <a:cxnLst/>
            <a:rect l="l" t="t" r="r" b="b"/>
            <a:pathLst>
              <a:path w="1219200" h="473075">
                <a:moveTo>
                  <a:pt x="57912" y="401574"/>
                </a:moveTo>
                <a:lnTo>
                  <a:pt x="0" y="464057"/>
                </a:lnTo>
                <a:lnTo>
                  <a:pt x="84709" y="472820"/>
                </a:lnTo>
                <a:lnTo>
                  <a:pt x="75251" y="447675"/>
                </a:lnTo>
                <a:lnTo>
                  <a:pt x="61722" y="447675"/>
                </a:lnTo>
                <a:lnTo>
                  <a:pt x="57150" y="435737"/>
                </a:lnTo>
                <a:lnTo>
                  <a:pt x="69073" y="431248"/>
                </a:lnTo>
                <a:lnTo>
                  <a:pt x="57912" y="401574"/>
                </a:lnTo>
                <a:close/>
              </a:path>
              <a:path w="1219200" h="473075">
                <a:moveTo>
                  <a:pt x="69073" y="431248"/>
                </a:moveTo>
                <a:lnTo>
                  <a:pt x="57150" y="435737"/>
                </a:lnTo>
                <a:lnTo>
                  <a:pt x="61722" y="447675"/>
                </a:lnTo>
                <a:lnTo>
                  <a:pt x="73573" y="443213"/>
                </a:lnTo>
                <a:lnTo>
                  <a:pt x="69073" y="431248"/>
                </a:lnTo>
                <a:close/>
              </a:path>
              <a:path w="1219200" h="473075">
                <a:moveTo>
                  <a:pt x="73573" y="443213"/>
                </a:moveTo>
                <a:lnTo>
                  <a:pt x="61722" y="447675"/>
                </a:lnTo>
                <a:lnTo>
                  <a:pt x="75251" y="447675"/>
                </a:lnTo>
                <a:lnTo>
                  <a:pt x="73573" y="443213"/>
                </a:lnTo>
                <a:close/>
              </a:path>
              <a:path w="1219200" h="473075">
                <a:moveTo>
                  <a:pt x="1214628" y="0"/>
                </a:moveTo>
                <a:lnTo>
                  <a:pt x="69073" y="431248"/>
                </a:lnTo>
                <a:lnTo>
                  <a:pt x="73573" y="443213"/>
                </a:lnTo>
                <a:lnTo>
                  <a:pt x="1219073" y="11937"/>
                </a:lnTo>
                <a:lnTo>
                  <a:pt x="1214628" y="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3">
            <a:extLst>
              <a:ext uri="{FF2B5EF4-FFF2-40B4-BE49-F238E27FC236}">
                <a16:creationId xmlns:a16="http://schemas.microsoft.com/office/drawing/2014/main" id="{EDB54698-E880-20AA-44ED-3DFEAF02A99C}"/>
              </a:ext>
            </a:extLst>
          </p:cNvPr>
          <p:cNvSpPr/>
          <p:nvPr/>
        </p:nvSpPr>
        <p:spPr>
          <a:xfrm>
            <a:off x="1291935" y="4114994"/>
            <a:ext cx="5234940" cy="951230"/>
          </a:xfrm>
          <a:custGeom>
            <a:avLst/>
            <a:gdLst/>
            <a:ahLst/>
            <a:cxnLst/>
            <a:rect l="l" t="t" r="r" b="b"/>
            <a:pathLst>
              <a:path w="5234940" h="951229">
                <a:moveTo>
                  <a:pt x="0" y="0"/>
                </a:moveTo>
                <a:lnTo>
                  <a:pt x="795527" y="950976"/>
                </a:lnTo>
              </a:path>
              <a:path w="5234940" h="951229">
                <a:moveTo>
                  <a:pt x="563880" y="0"/>
                </a:moveTo>
                <a:lnTo>
                  <a:pt x="1359408" y="950976"/>
                </a:lnTo>
              </a:path>
              <a:path w="5234940" h="951229">
                <a:moveTo>
                  <a:pt x="1126236" y="0"/>
                </a:moveTo>
                <a:lnTo>
                  <a:pt x="1921764" y="950976"/>
                </a:lnTo>
              </a:path>
              <a:path w="5234940" h="951229">
                <a:moveTo>
                  <a:pt x="1624584" y="0"/>
                </a:moveTo>
                <a:lnTo>
                  <a:pt x="2420112" y="950976"/>
                </a:lnTo>
              </a:path>
              <a:path w="5234940" h="951229">
                <a:moveTo>
                  <a:pt x="2188464" y="0"/>
                </a:moveTo>
                <a:lnTo>
                  <a:pt x="2983991" y="950976"/>
                </a:lnTo>
              </a:path>
              <a:path w="5234940" h="951229">
                <a:moveTo>
                  <a:pt x="2750820" y="0"/>
                </a:moveTo>
                <a:lnTo>
                  <a:pt x="3546348" y="950976"/>
                </a:lnTo>
              </a:path>
              <a:path w="5234940" h="951229">
                <a:moveTo>
                  <a:pt x="3311652" y="0"/>
                </a:moveTo>
                <a:lnTo>
                  <a:pt x="4107179" y="950976"/>
                </a:lnTo>
              </a:path>
              <a:path w="5234940" h="951229">
                <a:moveTo>
                  <a:pt x="3875532" y="0"/>
                </a:moveTo>
                <a:lnTo>
                  <a:pt x="4671059" y="950976"/>
                </a:lnTo>
              </a:path>
              <a:path w="5234940" h="951229">
                <a:moveTo>
                  <a:pt x="4439412" y="0"/>
                </a:moveTo>
                <a:lnTo>
                  <a:pt x="5234940" y="950976"/>
                </a:lnTo>
              </a:path>
            </a:pathLst>
          </a:custGeom>
          <a:ln w="19050">
            <a:solidFill>
              <a:srgbClr val="00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4">
            <a:extLst>
              <a:ext uri="{FF2B5EF4-FFF2-40B4-BE49-F238E27FC236}">
                <a16:creationId xmlns:a16="http://schemas.microsoft.com/office/drawing/2014/main" id="{10BDC46D-B846-89E2-9158-060420620208}"/>
              </a:ext>
            </a:extLst>
          </p:cNvPr>
          <p:cNvSpPr txBox="1"/>
          <p:nvPr/>
        </p:nvSpPr>
        <p:spPr>
          <a:xfrm>
            <a:off x="8484543" y="4950372"/>
            <a:ext cx="1786255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270" algn="ctr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391778"/>
                </a:solidFill>
                <a:latin typeface="Calibri"/>
                <a:cs typeface="Calibri"/>
              </a:rPr>
              <a:t>Zone</a:t>
            </a:r>
            <a:r>
              <a:rPr sz="1800" spc="-40" dirty="0">
                <a:solidFill>
                  <a:srgbClr val="391778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91778"/>
                </a:solidFill>
                <a:latin typeface="Calibri"/>
                <a:cs typeface="Calibri"/>
              </a:rPr>
              <a:t>de</a:t>
            </a:r>
            <a:r>
              <a:rPr sz="1800" spc="-25" dirty="0">
                <a:solidFill>
                  <a:srgbClr val="391778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391778"/>
                </a:solidFill>
                <a:latin typeface="Calibri"/>
                <a:cs typeface="Calibri"/>
              </a:rPr>
              <a:t>code </a:t>
            </a:r>
            <a:r>
              <a:rPr sz="1800" dirty="0">
                <a:solidFill>
                  <a:srgbClr val="391778"/>
                </a:solidFill>
                <a:latin typeface="Calibri"/>
                <a:cs typeface="Calibri"/>
              </a:rPr>
              <a:t>jamais</a:t>
            </a:r>
            <a:r>
              <a:rPr sz="1800" spc="-75" dirty="0">
                <a:solidFill>
                  <a:srgbClr val="391778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91778"/>
                </a:solidFill>
                <a:latin typeface="Calibri"/>
                <a:cs typeface="Calibri"/>
              </a:rPr>
              <a:t>exécuté</a:t>
            </a:r>
            <a:r>
              <a:rPr sz="1800" spc="-50" dirty="0">
                <a:solidFill>
                  <a:srgbClr val="391778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391778"/>
                </a:solidFill>
                <a:latin typeface="Calibri"/>
                <a:cs typeface="Calibri"/>
              </a:rPr>
              <a:t>lors </a:t>
            </a:r>
            <a:r>
              <a:rPr sz="1800" dirty="0">
                <a:solidFill>
                  <a:srgbClr val="391778"/>
                </a:solidFill>
                <a:latin typeface="Calibri"/>
                <a:cs typeface="Calibri"/>
              </a:rPr>
              <a:t>d'une</a:t>
            </a:r>
            <a:r>
              <a:rPr sz="1800" spc="-45" dirty="0">
                <a:solidFill>
                  <a:srgbClr val="391778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91778"/>
                </a:solidFill>
                <a:latin typeface="Calibri"/>
                <a:cs typeface="Calibri"/>
              </a:rPr>
              <a:t>exception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7" name="object 15">
            <a:extLst>
              <a:ext uri="{FF2B5EF4-FFF2-40B4-BE49-F238E27FC236}">
                <a16:creationId xmlns:a16="http://schemas.microsoft.com/office/drawing/2014/main" id="{8F578FCF-27FE-BAC4-6DA8-3C863B3F3C93}"/>
              </a:ext>
            </a:extLst>
          </p:cNvPr>
          <p:cNvSpPr/>
          <p:nvPr/>
        </p:nvSpPr>
        <p:spPr>
          <a:xfrm>
            <a:off x="6980609" y="4803305"/>
            <a:ext cx="1290320" cy="594995"/>
          </a:xfrm>
          <a:custGeom>
            <a:avLst/>
            <a:gdLst/>
            <a:ahLst/>
            <a:cxnLst/>
            <a:rect l="l" t="t" r="r" b="b"/>
            <a:pathLst>
              <a:path w="1290320" h="594995">
                <a:moveTo>
                  <a:pt x="71977" y="28868"/>
                </a:moveTo>
                <a:lnTo>
                  <a:pt x="66714" y="40456"/>
                </a:lnTo>
                <a:lnTo>
                  <a:pt x="1284985" y="594918"/>
                </a:lnTo>
                <a:lnTo>
                  <a:pt x="1290193" y="583361"/>
                </a:lnTo>
                <a:lnTo>
                  <a:pt x="71977" y="28868"/>
                </a:lnTo>
                <a:close/>
              </a:path>
              <a:path w="1290320" h="594995">
                <a:moveTo>
                  <a:pt x="85090" y="0"/>
                </a:moveTo>
                <a:lnTo>
                  <a:pt x="0" y="3048"/>
                </a:lnTo>
                <a:lnTo>
                  <a:pt x="53594" y="69342"/>
                </a:lnTo>
                <a:lnTo>
                  <a:pt x="66714" y="40456"/>
                </a:lnTo>
                <a:lnTo>
                  <a:pt x="55118" y="35179"/>
                </a:lnTo>
                <a:lnTo>
                  <a:pt x="60451" y="23622"/>
                </a:lnTo>
                <a:lnTo>
                  <a:pt x="74360" y="23622"/>
                </a:lnTo>
                <a:lnTo>
                  <a:pt x="85090" y="0"/>
                </a:lnTo>
                <a:close/>
              </a:path>
              <a:path w="1290320" h="594995">
                <a:moveTo>
                  <a:pt x="60451" y="23622"/>
                </a:moveTo>
                <a:lnTo>
                  <a:pt x="55118" y="35179"/>
                </a:lnTo>
                <a:lnTo>
                  <a:pt x="66714" y="40456"/>
                </a:lnTo>
                <a:lnTo>
                  <a:pt x="71977" y="28868"/>
                </a:lnTo>
                <a:lnTo>
                  <a:pt x="60451" y="23622"/>
                </a:lnTo>
                <a:close/>
              </a:path>
              <a:path w="1290320" h="594995">
                <a:moveTo>
                  <a:pt x="74360" y="23622"/>
                </a:moveTo>
                <a:lnTo>
                  <a:pt x="60451" y="23622"/>
                </a:lnTo>
                <a:lnTo>
                  <a:pt x="71977" y="28868"/>
                </a:lnTo>
                <a:lnTo>
                  <a:pt x="74360" y="23622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4465773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6. Exceptions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19543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 sz="2400" dirty="0"/>
          </a:p>
          <a:p>
            <a:pPr marL="240029" marR="5080" indent="-227329">
              <a:lnSpc>
                <a:spcPct val="100000"/>
              </a:lnSpc>
              <a:spcBef>
                <a:spcPts val="100"/>
              </a:spcBef>
              <a:buClr>
                <a:srgbClr val="391778"/>
              </a:buClr>
              <a:buFont typeface="Arial"/>
              <a:buChar char="•"/>
              <a:tabLst>
                <a:tab pos="241300" algn="l"/>
              </a:tabLst>
            </a:pPr>
            <a:r>
              <a:rPr lang="fr-FR" sz="2400" dirty="0">
                <a:latin typeface="Segoe UI"/>
                <a:cs typeface="Segoe UI"/>
              </a:rPr>
              <a:t>Si</a:t>
            </a:r>
            <a:r>
              <a:rPr lang="fr-FR" sz="2400" spc="-5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une</a:t>
            </a:r>
            <a:r>
              <a:rPr lang="fr-FR" sz="2400" spc="-4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exception</a:t>
            </a:r>
            <a:r>
              <a:rPr lang="fr-FR" sz="2400" spc="-4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n'est</a:t>
            </a:r>
            <a:r>
              <a:rPr lang="fr-FR" sz="2400" spc="-6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pas</a:t>
            </a:r>
            <a:r>
              <a:rPr lang="fr-FR" sz="2400" spc="-5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gérée</a:t>
            </a:r>
            <a:r>
              <a:rPr lang="fr-FR" sz="2400" spc="-7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localement</a:t>
            </a:r>
            <a:r>
              <a:rPr lang="fr-FR" sz="2400" spc="-3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alors</a:t>
            </a:r>
            <a:r>
              <a:rPr lang="fr-FR" sz="2400" spc="-40" dirty="0">
                <a:latin typeface="Segoe UI"/>
                <a:cs typeface="Segoe UI"/>
              </a:rPr>
              <a:t> </a:t>
            </a:r>
            <a:r>
              <a:rPr lang="fr-FR" sz="2400" spc="-10" dirty="0">
                <a:latin typeface="Segoe UI"/>
                <a:cs typeface="Segoe UI"/>
              </a:rPr>
              <a:t>celle-</a:t>
            </a:r>
            <a:r>
              <a:rPr lang="fr-FR" sz="2400" dirty="0">
                <a:latin typeface="Segoe UI"/>
                <a:cs typeface="Segoe UI"/>
              </a:rPr>
              <a:t>ci</a:t>
            </a:r>
            <a:r>
              <a:rPr lang="fr-FR" sz="2400" spc="-30" dirty="0">
                <a:latin typeface="Segoe UI"/>
                <a:cs typeface="Segoe UI"/>
              </a:rPr>
              <a:t> </a:t>
            </a:r>
            <a:r>
              <a:rPr lang="fr-FR" sz="2400" spc="-25" dirty="0">
                <a:latin typeface="Segoe UI"/>
                <a:cs typeface="Segoe UI"/>
              </a:rPr>
              <a:t>est 	</a:t>
            </a:r>
            <a:r>
              <a:rPr lang="fr-FR" sz="2400" dirty="0">
                <a:latin typeface="Segoe UI"/>
                <a:cs typeface="Segoe UI"/>
              </a:rPr>
              <a:t>automatiquement</a:t>
            </a:r>
            <a:r>
              <a:rPr lang="fr-FR" sz="2400" spc="-8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propagée</a:t>
            </a:r>
            <a:r>
              <a:rPr lang="fr-FR" sz="2400" spc="-9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vers</a:t>
            </a:r>
            <a:r>
              <a:rPr lang="fr-FR" sz="2400" spc="-100" dirty="0">
                <a:latin typeface="Segoe UI"/>
                <a:cs typeface="Segoe UI"/>
              </a:rPr>
              <a:t> </a:t>
            </a:r>
            <a:r>
              <a:rPr lang="fr-FR" sz="2400" spc="-10" dirty="0">
                <a:latin typeface="Segoe UI"/>
                <a:cs typeface="Segoe UI"/>
              </a:rPr>
              <a:t>l'appelant</a:t>
            </a:r>
            <a:endParaRPr lang="fr-FR" sz="240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spcBef>
                <a:spcPts val="509"/>
              </a:spcBef>
              <a:buClr>
                <a:srgbClr val="391778"/>
              </a:buClr>
              <a:buFont typeface="Arial"/>
              <a:buChar char="•"/>
              <a:tabLst>
                <a:tab pos="698500" algn="l"/>
              </a:tabLst>
            </a:pPr>
            <a:r>
              <a:rPr lang="fr-FR" sz="2000" dirty="0">
                <a:latin typeface="Segoe UI"/>
                <a:cs typeface="Segoe UI"/>
              </a:rPr>
              <a:t>La</a:t>
            </a:r>
            <a:r>
              <a:rPr lang="fr-FR" sz="2000" spc="-5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propagation</a:t>
            </a:r>
            <a:r>
              <a:rPr lang="fr-FR" sz="2000" spc="-5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peut</a:t>
            </a:r>
            <a:r>
              <a:rPr lang="fr-FR" sz="2000" spc="-3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continuer</a:t>
            </a:r>
            <a:r>
              <a:rPr lang="fr-FR" sz="2000" spc="-3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sur</a:t>
            </a:r>
            <a:r>
              <a:rPr lang="fr-FR" sz="2000" spc="-3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plusieurs</a:t>
            </a:r>
            <a:r>
              <a:rPr lang="fr-FR" sz="2000" spc="-20" dirty="0">
                <a:latin typeface="Segoe UI"/>
                <a:cs typeface="Segoe UI"/>
              </a:rPr>
              <a:t> </a:t>
            </a:r>
            <a:r>
              <a:rPr lang="fr-FR" sz="2000" spc="-10" dirty="0">
                <a:latin typeface="Segoe UI"/>
                <a:cs typeface="Segoe UI"/>
              </a:rPr>
              <a:t>méthodes</a:t>
            </a:r>
            <a:endParaRPr lang="fr-FR" sz="2000" dirty="0">
              <a:latin typeface="Segoe UI"/>
              <a:cs typeface="Segoe U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400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F34DB27E-16BE-CF33-CCD7-48743B22294C}"/>
              </a:ext>
            </a:extLst>
          </p:cNvPr>
          <p:cNvSpPr txBox="1"/>
          <p:nvPr/>
        </p:nvSpPr>
        <p:spPr>
          <a:xfrm>
            <a:off x="5846525" y="5174948"/>
            <a:ext cx="609420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static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CallingDivide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fr-FR" sz="1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op1, </a:t>
            </a:r>
            <a:r>
              <a:rPr lang="fr-FR" sz="1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op2)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return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Divide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(op1, op2);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fr-FR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AEE9C931-87DB-6A67-038A-0BD3BC785C05}"/>
              </a:ext>
            </a:extLst>
          </p:cNvPr>
          <p:cNvSpPr txBox="1"/>
          <p:nvPr/>
        </p:nvSpPr>
        <p:spPr>
          <a:xfrm>
            <a:off x="838200" y="3207053"/>
            <a:ext cx="8414658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static</a:t>
            </a:r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6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Divide</a:t>
            </a:r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fr-FR" sz="16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operand1, </a:t>
            </a:r>
            <a:r>
              <a:rPr lang="fr-FR" sz="16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operand2)</a:t>
            </a:r>
          </a:p>
          <a:p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6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result</a:t>
            </a:r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= operand1 / operand2;</a:t>
            </a:r>
          </a:p>
          <a:p>
            <a:endParaRPr lang="fr-FR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Console.WriteLine</a:t>
            </a:r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fr-FR" sz="1600" dirty="0">
                <a:solidFill>
                  <a:srgbClr val="A31515"/>
                </a:solidFill>
                <a:latin typeface="Cascadia Mono" panose="020B0609020000020004" pitchFamily="49" charset="0"/>
              </a:rPr>
              <a:t>$"résultat : </a:t>
            </a:r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  <a:r>
              <a:rPr lang="fr-FR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result</a:t>
            </a:r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r>
              <a:rPr lang="fr-FR" sz="16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return</a:t>
            </a:r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result</a:t>
            </a:r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fr-FR" sz="1600" dirty="0"/>
          </a:p>
        </p:txBody>
      </p:sp>
      <p:sp>
        <p:nvSpPr>
          <p:cNvPr id="10" name="object 13">
            <a:extLst>
              <a:ext uri="{FF2B5EF4-FFF2-40B4-BE49-F238E27FC236}">
                <a16:creationId xmlns:a16="http://schemas.microsoft.com/office/drawing/2014/main" id="{3C7270E4-4909-2261-7346-EBB0CD705F40}"/>
              </a:ext>
            </a:extLst>
          </p:cNvPr>
          <p:cNvSpPr/>
          <p:nvPr/>
        </p:nvSpPr>
        <p:spPr>
          <a:xfrm>
            <a:off x="1291935" y="4114994"/>
            <a:ext cx="5234940" cy="951230"/>
          </a:xfrm>
          <a:custGeom>
            <a:avLst/>
            <a:gdLst/>
            <a:ahLst/>
            <a:cxnLst/>
            <a:rect l="l" t="t" r="r" b="b"/>
            <a:pathLst>
              <a:path w="5234940" h="951229">
                <a:moveTo>
                  <a:pt x="0" y="0"/>
                </a:moveTo>
                <a:lnTo>
                  <a:pt x="795527" y="950976"/>
                </a:lnTo>
              </a:path>
              <a:path w="5234940" h="951229">
                <a:moveTo>
                  <a:pt x="563880" y="0"/>
                </a:moveTo>
                <a:lnTo>
                  <a:pt x="1359408" y="950976"/>
                </a:lnTo>
              </a:path>
              <a:path w="5234940" h="951229">
                <a:moveTo>
                  <a:pt x="1126236" y="0"/>
                </a:moveTo>
                <a:lnTo>
                  <a:pt x="1921764" y="950976"/>
                </a:lnTo>
              </a:path>
              <a:path w="5234940" h="951229">
                <a:moveTo>
                  <a:pt x="1624584" y="0"/>
                </a:moveTo>
                <a:lnTo>
                  <a:pt x="2420112" y="950976"/>
                </a:lnTo>
              </a:path>
              <a:path w="5234940" h="951229">
                <a:moveTo>
                  <a:pt x="2188464" y="0"/>
                </a:moveTo>
                <a:lnTo>
                  <a:pt x="2983991" y="950976"/>
                </a:lnTo>
              </a:path>
              <a:path w="5234940" h="951229">
                <a:moveTo>
                  <a:pt x="2750820" y="0"/>
                </a:moveTo>
                <a:lnTo>
                  <a:pt x="3546348" y="950976"/>
                </a:lnTo>
              </a:path>
              <a:path w="5234940" h="951229">
                <a:moveTo>
                  <a:pt x="3311652" y="0"/>
                </a:moveTo>
                <a:lnTo>
                  <a:pt x="4107179" y="950976"/>
                </a:lnTo>
              </a:path>
              <a:path w="5234940" h="951229">
                <a:moveTo>
                  <a:pt x="3875532" y="0"/>
                </a:moveTo>
                <a:lnTo>
                  <a:pt x="4671059" y="950976"/>
                </a:lnTo>
              </a:path>
              <a:path w="5234940" h="951229">
                <a:moveTo>
                  <a:pt x="4439412" y="0"/>
                </a:moveTo>
                <a:lnTo>
                  <a:pt x="5234940" y="950976"/>
                </a:lnTo>
              </a:path>
            </a:pathLst>
          </a:custGeom>
          <a:ln w="19050">
            <a:solidFill>
              <a:srgbClr val="00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Flèche : courbe vers le bas 10">
            <a:extLst>
              <a:ext uri="{FF2B5EF4-FFF2-40B4-BE49-F238E27FC236}">
                <a16:creationId xmlns:a16="http://schemas.microsoft.com/office/drawing/2014/main" id="{9ABC1084-BC41-9415-A02D-0AEA9CB77127}"/>
              </a:ext>
            </a:extLst>
          </p:cNvPr>
          <p:cNvSpPr/>
          <p:nvPr/>
        </p:nvSpPr>
        <p:spPr>
          <a:xfrm>
            <a:off x="6662057" y="3309257"/>
            <a:ext cx="1474125" cy="1164772"/>
          </a:xfrm>
          <a:prstGeom prst="curvedDownArrow">
            <a:avLst>
              <a:gd name="adj1" fmla="val 17021"/>
              <a:gd name="adj2" fmla="val 48638"/>
              <a:gd name="adj3" fmla="val 35808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D71BE30C-61DE-85F1-15E0-EFB63E129DA5}"/>
              </a:ext>
            </a:extLst>
          </p:cNvPr>
          <p:cNvSpPr txBox="1"/>
          <p:nvPr/>
        </p:nvSpPr>
        <p:spPr>
          <a:xfrm>
            <a:off x="8136182" y="3429000"/>
            <a:ext cx="263681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b="1" dirty="0">
                <a:solidFill>
                  <a:srgbClr val="FF0000"/>
                </a:solidFill>
              </a:rPr>
              <a:t>Propagation automatique</a:t>
            </a:r>
          </a:p>
          <a:p>
            <a:pPr algn="ctr"/>
            <a:r>
              <a:rPr lang="fr-FR" b="1" dirty="0">
                <a:solidFill>
                  <a:srgbClr val="FF0000"/>
                </a:solidFill>
              </a:rPr>
              <a:t>De l’exception vers</a:t>
            </a:r>
          </a:p>
          <a:p>
            <a:pPr algn="ctr"/>
            <a:r>
              <a:rPr lang="fr-FR" b="1" dirty="0">
                <a:solidFill>
                  <a:srgbClr val="FF0000"/>
                </a:solidFill>
              </a:rPr>
              <a:t>la méthode appelante</a:t>
            </a:r>
          </a:p>
        </p:txBody>
      </p:sp>
    </p:spTree>
    <p:extLst>
      <p:ext uri="{BB962C8B-B14F-4D97-AF65-F5344CB8AC3E}">
        <p14:creationId xmlns:p14="http://schemas.microsoft.com/office/powerpoint/2010/main" val="22076192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6. Exceptions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12131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 sz="2400" dirty="0"/>
          </a:p>
          <a:p>
            <a:pPr marL="240029" indent="-227329">
              <a:lnSpc>
                <a:spcPct val="100000"/>
              </a:lnSpc>
              <a:spcBef>
                <a:spcPts val="100"/>
              </a:spcBef>
              <a:buClr>
                <a:srgbClr val="391778"/>
              </a:buClr>
              <a:buFont typeface="Arial"/>
              <a:buChar char="•"/>
              <a:tabLst>
                <a:tab pos="240029" algn="l"/>
              </a:tabLst>
            </a:pPr>
            <a:r>
              <a:rPr lang="fr-FR" sz="2400" dirty="0">
                <a:latin typeface="Segoe UI"/>
                <a:cs typeface="Segoe UI"/>
              </a:rPr>
              <a:t>Si</a:t>
            </a:r>
            <a:r>
              <a:rPr lang="fr-FR" sz="2400" spc="-8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l'exception</a:t>
            </a:r>
            <a:r>
              <a:rPr lang="fr-FR" sz="2400" spc="-6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n'est</a:t>
            </a:r>
            <a:r>
              <a:rPr lang="fr-FR" sz="2400" spc="-8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jamais</a:t>
            </a:r>
            <a:r>
              <a:rPr lang="fr-FR" sz="2400" spc="-7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gérée</a:t>
            </a:r>
            <a:r>
              <a:rPr lang="fr-FR" sz="2400" spc="-9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alors</a:t>
            </a:r>
            <a:r>
              <a:rPr lang="fr-FR" sz="2400" spc="-7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l'application</a:t>
            </a:r>
            <a:r>
              <a:rPr lang="fr-FR" sz="2400" spc="-15" dirty="0">
                <a:latin typeface="Segoe UI"/>
                <a:cs typeface="Segoe UI"/>
              </a:rPr>
              <a:t> </a:t>
            </a:r>
            <a:r>
              <a:rPr lang="fr-FR" sz="2400" spc="-10" dirty="0">
                <a:latin typeface="Segoe UI"/>
                <a:cs typeface="Segoe UI"/>
              </a:rPr>
              <a:t>s'arrête</a:t>
            </a:r>
            <a:endParaRPr lang="fr-FR" sz="2400" dirty="0">
              <a:latin typeface="Segoe UI"/>
              <a:cs typeface="Segoe U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400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4162E4CD-5ACA-75AD-B311-0D81B6961945}"/>
              </a:ext>
            </a:extLst>
          </p:cNvPr>
          <p:cNvSpPr txBox="1"/>
          <p:nvPr/>
        </p:nvSpPr>
        <p:spPr>
          <a:xfrm>
            <a:off x="2684038" y="2828835"/>
            <a:ext cx="684711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operand1 = 2,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operand2 = 0;</a:t>
            </a:r>
          </a:p>
          <a:p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result =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CallingDivide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(operand1, operand2);</a:t>
            </a:r>
            <a:endParaRPr lang="fr-FR" dirty="0"/>
          </a:p>
        </p:txBody>
      </p:sp>
      <p:pic>
        <p:nvPicPr>
          <p:cNvPr id="6" name="object 5">
            <a:extLst>
              <a:ext uri="{FF2B5EF4-FFF2-40B4-BE49-F238E27FC236}">
                <a16:creationId xmlns:a16="http://schemas.microsoft.com/office/drawing/2014/main" id="{6403E767-E4AA-FB73-53B9-C8E25E331FB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33800" y="4555235"/>
            <a:ext cx="4724400" cy="848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821699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6. Exceptions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8438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100"/>
              </a:spcBef>
              <a:buClr>
                <a:srgbClr val="391778"/>
              </a:buClr>
              <a:buFont typeface="Arial"/>
              <a:buChar char="•"/>
              <a:tabLst>
                <a:tab pos="240029" algn="l"/>
              </a:tabLst>
            </a:pPr>
            <a:endParaRPr lang="fr-FR" sz="2400" dirty="0">
              <a:latin typeface="Segoe UI"/>
              <a:cs typeface="Segoe UI"/>
            </a:endParaRPr>
          </a:p>
          <a:p>
            <a:pPr marL="240029" indent="-227329">
              <a:lnSpc>
                <a:spcPct val="100000"/>
              </a:lnSpc>
              <a:spcBef>
                <a:spcPts val="100"/>
              </a:spcBef>
              <a:buClr>
                <a:srgbClr val="391778"/>
              </a:buClr>
              <a:buFont typeface="Arial"/>
              <a:buChar char="•"/>
              <a:tabLst>
                <a:tab pos="240029" algn="l"/>
              </a:tabLst>
            </a:pPr>
            <a:r>
              <a:rPr lang="fr-FR" sz="2400" dirty="0">
                <a:latin typeface="Segoe UI"/>
                <a:cs typeface="Segoe UI"/>
              </a:rPr>
              <a:t>L'exception</a:t>
            </a:r>
            <a:r>
              <a:rPr lang="fr-FR" sz="2400" spc="-1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peut</a:t>
            </a:r>
            <a:r>
              <a:rPr lang="fr-FR" sz="2400" spc="-3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cependant</a:t>
            </a:r>
            <a:r>
              <a:rPr lang="fr-FR" sz="2400" spc="-3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être</a:t>
            </a:r>
            <a:r>
              <a:rPr lang="fr-FR" sz="2400" spc="-1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gérée</a:t>
            </a:r>
            <a:r>
              <a:rPr lang="fr-FR" sz="2400" spc="-5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à</a:t>
            </a:r>
            <a:r>
              <a:rPr lang="fr-FR" sz="2400" spc="-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l'aide</a:t>
            </a:r>
            <a:r>
              <a:rPr lang="fr-FR" sz="2400" spc="-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de</a:t>
            </a:r>
            <a:r>
              <a:rPr lang="fr-FR" sz="2400" spc="-2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bloc</a:t>
            </a:r>
            <a:r>
              <a:rPr lang="fr-FR" sz="2400" spc="30" dirty="0">
                <a:latin typeface="Segoe UI"/>
                <a:cs typeface="Segoe UI"/>
              </a:rPr>
              <a:t> </a:t>
            </a:r>
            <a:r>
              <a:rPr lang="fr-FR" sz="2400" b="1" dirty="0" err="1">
                <a:latin typeface="Segoe UI"/>
                <a:cs typeface="Segoe UI"/>
              </a:rPr>
              <a:t>try</a:t>
            </a:r>
            <a:r>
              <a:rPr lang="fr-FR" sz="2400" b="1" spc="-2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et</a:t>
            </a:r>
            <a:r>
              <a:rPr lang="fr-FR" sz="2400" spc="-30" dirty="0">
                <a:latin typeface="Segoe UI"/>
                <a:cs typeface="Segoe UI"/>
              </a:rPr>
              <a:t> </a:t>
            </a:r>
            <a:r>
              <a:rPr lang="fr-FR" sz="2400" b="1" spc="-10" dirty="0">
                <a:latin typeface="Segoe UI"/>
                <a:cs typeface="Segoe UI"/>
              </a:rPr>
              <a:t>catch</a:t>
            </a:r>
            <a:endParaRPr lang="fr-FR" sz="2400" dirty="0">
              <a:latin typeface="Segoe UI"/>
              <a:cs typeface="Segoe UI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623EED53-F2B0-DADB-BE6C-D01201846459}"/>
              </a:ext>
            </a:extLst>
          </p:cNvPr>
          <p:cNvSpPr txBox="1"/>
          <p:nvPr/>
        </p:nvSpPr>
        <p:spPr>
          <a:xfrm>
            <a:off x="2156080" y="2798633"/>
            <a:ext cx="7903029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static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Divide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fr-FR" sz="1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operand1, </a:t>
            </a:r>
            <a:r>
              <a:rPr lang="fr-FR" sz="1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operand2)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800" b="1" dirty="0" err="1">
                <a:solidFill>
                  <a:srgbClr val="0000FF"/>
                </a:solidFill>
                <a:latin typeface="Cascadia Mono" panose="020B0609020000020004" pitchFamily="49" charset="0"/>
              </a:rPr>
              <a:t>try</a:t>
            </a:r>
            <a:endParaRPr lang="fr-FR" sz="1800" b="1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800" b="1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fr-F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return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operand1 / operand2;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800" b="1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</a:p>
          <a:p>
            <a:r>
              <a:rPr lang="fr-FR" sz="1800" b="1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800" b="1" dirty="0">
                <a:solidFill>
                  <a:srgbClr val="0000FF"/>
                </a:solidFill>
                <a:latin typeface="Cascadia Mono" panose="020B0609020000020004" pitchFamily="49" charset="0"/>
              </a:rPr>
              <a:t>catch</a:t>
            </a:r>
            <a:r>
              <a:rPr lang="fr-FR" sz="1800" b="1" dirty="0">
                <a:solidFill>
                  <a:srgbClr val="000000"/>
                </a:solidFill>
                <a:latin typeface="Cascadia Mono" panose="020B0609020000020004" pitchFamily="49" charset="0"/>
              </a:rPr>
              <a:t> (Exception ex)</a:t>
            </a:r>
          </a:p>
          <a:p>
            <a:r>
              <a:rPr lang="fr-FR" sz="1800" b="1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fr-F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return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0; </a:t>
            </a:r>
            <a:r>
              <a:rPr lang="fr-FR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// assignation d'un résultat par défaut</a:t>
            </a:r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800" b="1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7863716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6. Exceptions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27622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100"/>
              </a:spcBef>
              <a:buClr>
                <a:srgbClr val="391778"/>
              </a:buClr>
              <a:buFont typeface="Arial"/>
              <a:buChar char="•"/>
              <a:tabLst>
                <a:tab pos="240029" algn="l"/>
              </a:tabLst>
            </a:pPr>
            <a:endParaRPr lang="fr-FR" sz="2400" dirty="0">
              <a:latin typeface="Segoe UI"/>
              <a:cs typeface="Segoe UI"/>
            </a:endParaRPr>
          </a:p>
          <a:p>
            <a:pPr marL="240029" indent="-227329">
              <a:lnSpc>
                <a:spcPct val="100000"/>
              </a:lnSpc>
              <a:spcBef>
                <a:spcPts val="100"/>
              </a:spcBef>
              <a:buClr>
                <a:srgbClr val="391778"/>
              </a:buClr>
              <a:buFont typeface="Arial"/>
              <a:buChar char="•"/>
              <a:tabLst>
                <a:tab pos="240029" algn="l"/>
              </a:tabLst>
            </a:pPr>
            <a:r>
              <a:rPr lang="fr-FR" sz="2400" dirty="0">
                <a:latin typeface="Segoe UI"/>
                <a:cs typeface="Segoe UI"/>
              </a:rPr>
              <a:t>L'objet</a:t>
            </a:r>
            <a:r>
              <a:rPr lang="fr-FR" sz="2400" spc="-6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récupéré</a:t>
            </a:r>
            <a:r>
              <a:rPr lang="fr-FR" sz="2400" spc="-6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de</a:t>
            </a:r>
            <a:r>
              <a:rPr lang="fr-FR" sz="2400" spc="-6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type</a:t>
            </a:r>
            <a:r>
              <a:rPr lang="fr-FR" sz="2400" spc="-6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Exception</a:t>
            </a:r>
            <a:r>
              <a:rPr lang="fr-FR" sz="2400" spc="-4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peut</a:t>
            </a:r>
            <a:r>
              <a:rPr lang="fr-FR" sz="2400" spc="-7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contenir</a:t>
            </a:r>
            <a:r>
              <a:rPr lang="fr-FR" sz="2400" spc="-2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des</a:t>
            </a:r>
            <a:r>
              <a:rPr lang="fr-FR" sz="2400" spc="-8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informations</a:t>
            </a:r>
            <a:r>
              <a:rPr lang="fr-FR" sz="2400" spc="-35" dirty="0">
                <a:latin typeface="Segoe UI"/>
                <a:cs typeface="Segoe UI"/>
              </a:rPr>
              <a:t> </a:t>
            </a:r>
            <a:r>
              <a:rPr lang="fr-FR" sz="2400" spc="-10" dirty="0">
                <a:latin typeface="Segoe UI"/>
                <a:cs typeface="Segoe UI"/>
              </a:rPr>
              <a:t>utiles</a:t>
            </a:r>
            <a:endParaRPr lang="fr-FR" sz="2400" dirty="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480"/>
              </a:spcBef>
              <a:buClr>
                <a:srgbClr val="391778"/>
              </a:buClr>
              <a:buFont typeface="Arial"/>
              <a:buChar char="•"/>
            </a:pPr>
            <a:endParaRPr lang="fr-FR" sz="2400" dirty="0">
              <a:latin typeface="Segoe UI"/>
              <a:cs typeface="Segoe UI"/>
            </a:endParaRPr>
          </a:p>
          <a:p>
            <a:pPr marL="240029" indent="-227329">
              <a:lnSpc>
                <a:spcPct val="100000"/>
              </a:lnSpc>
              <a:buClr>
                <a:srgbClr val="391778"/>
              </a:buClr>
              <a:buFont typeface="Arial"/>
              <a:buChar char="•"/>
              <a:tabLst>
                <a:tab pos="240029" algn="l"/>
              </a:tabLst>
            </a:pPr>
            <a:r>
              <a:rPr lang="fr-FR" sz="2400" dirty="0">
                <a:latin typeface="Segoe UI"/>
                <a:cs typeface="Segoe UI"/>
              </a:rPr>
              <a:t>Quelques</a:t>
            </a:r>
            <a:r>
              <a:rPr lang="fr-FR" sz="2400" spc="-11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propriétés</a:t>
            </a:r>
            <a:r>
              <a:rPr lang="fr-FR" sz="2400" spc="-114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utiles</a:t>
            </a:r>
            <a:r>
              <a:rPr lang="fr-FR" sz="2400" spc="-100" dirty="0">
                <a:latin typeface="Segoe UI"/>
                <a:cs typeface="Segoe UI"/>
              </a:rPr>
              <a:t> </a:t>
            </a:r>
            <a:r>
              <a:rPr lang="fr-FR" sz="2400" spc="-50" dirty="0">
                <a:latin typeface="Segoe UI"/>
                <a:cs typeface="Segoe UI"/>
              </a:rPr>
              <a:t>:</a:t>
            </a:r>
            <a:endParaRPr lang="fr-FR" sz="240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spcBef>
                <a:spcPts val="520"/>
              </a:spcBef>
              <a:buClr>
                <a:srgbClr val="391778"/>
              </a:buClr>
              <a:buFont typeface="Arial"/>
              <a:buChar char="•"/>
              <a:tabLst>
                <a:tab pos="698500" algn="l"/>
              </a:tabLst>
            </a:pPr>
            <a:r>
              <a:rPr lang="fr-FR" sz="2000" b="1" dirty="0">
                <a:latin typeface="Segoe UI"/>
                <a:cs typeface="Segoe UI"/>
              </a:rPr>
              <a:t>Message</a:t>
            </a:r>
            <a:r>
              <a:rPr lang="fr-FR" sz="2000" b="1" spc="-4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indique</a:t>
            </a:r>
            <a:r>
              <a:rPr lang="fr-FR" sz="2000" spc="-2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le</a:t>
            </a:r>
            <a:r>
              <a:rPr lang="fr-FR" sz="2000" spc="-4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type</a:t>
            </a:r>
            <a:r>
              <a:rPr lang="fr-FR" sz="2000" spc="-5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d'erreur</a:t>
            </a:r>
            <a:r>
              <a:rPr lang="fr-FR" sz="2000" spc="-1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en</a:t>
            </a:r>
            <a:r>
              <a:rPr lang="fr-FR" sz="2000" spc="-3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message</a:t>
            </a:r>
            <a:r>
              <a:rPr lang="fr-FR" sz="2000" spc="-55" dirty="0">
                <a:latin typeface="Segoe UI"/>
                <a:cs typeface="Segoe UI"/>
              </a:rPr>
              <a:t> </a:t>
            </a:r>
            <a:r>
              <a:rPr lang="fr-FR" sz="2000" spc="-10" dirty="0">
                <a:latin typeface="Segoe UI"/>
                <a:cs typeface="Segoe UI"/>
              </a:rPr>
              <a:t>texte</a:t>
            </a:r>
            <a:endParaRPr lang="fr-FR" sz="200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spcBef>
                <a:spcPts val="495"/>
              </a:spcBef>
              <a:buClr>
                <a:srgbClr val="391778"/>
              </a:buClr>
              <a:buFont typeface="Arial"/>
              <a:buChar char="•"/>
              <a:tabLst>
                <a:tab pos="698500" algn="l"/>
              </a:tabLst>
            </a:pPr>
            <a:r>
              <a:rPr lang="fr-FR" sz="2000" b="1" spc="-20" dirty="0" err="1">
                <a:latin typeface="Segoe UI"/>
                <a:cs typeface="Segoe UI"/>
              </a:rPr>
              <a:t>StackTrace</a:t>
            </a:r>
            <a:r>
              <a:rPr lang="fr-FR" sz="2000" b="1" spc="-4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fournit</a:t>
            </a:r>
            <a:r>
              <a:rPr lang="fr-FR" sz="2000" spc="-4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le</a:t>
            </a:r>
            <a:r>
              <a:rPr lang="fr-FR" sz="2000" spc="-3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parcours</a:t>
            </a:r>
            <a:r>
              <a:rPr lang="fr-FR" sz="2000" spc="-4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complet</a:t>
            </a:r>
            <a:r>
              <a:rPr lang="fr-FR" sz="2000" spc="-3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de</a:t>
            </a:r>
            <a:r>
              <a:rPr lang="fr-FR" sz="2000" spc="-4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la</a:t>
            </a:r>
            <a:r>
              <a:rPr lang="fr-FR" sz="2000" spc="-3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propagation</a:t>
            </a:r>
            <a:r>
              <a:rPr lang="fr-FR" sz="2000" spc="-5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de</a:t>
            </a:r>
            <a:r>
              <a:rPr lang="fr-FR" sz="2000" spc="-45" dirty="0">
                <a:latin typeface="Segoe UI"/>
                <a:cs typeface="Segoe UI"/>
              </a:rPr>
              <a:t> </a:t>
            </a:r>
            <a:r>
              <a:rPr lang="fr-FR" sz="2000" spc="-10" dirty="0">
                <a:latin typeface="Segoe UI"/>
                <a:cs typeface="Segoe UI"/>
              </a:rPr>
              <a:t>l'exception</a:t>
            </a:r>
            <a:endParaRPr lang="fr-FR" sz="200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spcBef>
                <a:spcPts val="505"/>
              </a:spcBef>
              <a:buClr>
                <a:srgbClr val="391778"/>
              </a:buClr>
              <a:buFont typeface="Arial"/>
              <a:buChar char="•"/>
              <a:tabLst>
                <a:tab pos="698500" algn="l"/>
              </a:tabLst>
            </a:pPr>
            <a:r>
              <a:rPr lang="fr-FR" sz="2000" b="1" spc="-10" dirty="0" err="1">
                <a:latin typeface="Segoe UI"/>
                <a:cs typeface="Segoe UI"/>
              </a:rPr>
              <a:t>InnerException</a:t>
            </a:r>
            <a:r>
              <a:rPr lang="fr-FR" sz="2000" b="1" spc="-4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indique</a:t>
            </a:r>
            <a:r>
              <a:rPr lang="fr-FR" sz="2000" spc="-3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si</a:t>
            </a:r>
            <a:r>
              <a:rPr lang="fr-FR" sz="2000" spc="-2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une</a:t>
            </a:r>
            <a:r>
              <a:rPr lang="fr-FR" sz="2000" spc="-5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autre</a:t>
            </a:r>
            <a:r>
              <a:rPr lang="fr-FR" sz="2000" spc="-4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exception</a:t>
            </a:r>
            <a:r>
              <a:rPr lang="fr-FR" sz="2000" spc="-3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se</a:t>
            </a:r>
            <a:r>
              <a:rPr lang="fr-FR" sz="2000" spc="-3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cache</a:t>
            </a:r>
            <a:r>
              <a:rPr lang="fr-FR" sz="2000" spc="-5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dans</a:t>
            </a:r>
            <a:r>
              <a:rPr lang="fr-FR" sz="2000" spc="-3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l'exception</a:t>
            </a:r>
            <a:r>
              <a:rPr lang="fr-FR" sz="2000" spc="-10" dirty="0">
                <a:latin typeface="Segoe UI"/>
                <a:cs typeface="Segoe UI"/>
              </a:rPr>
              <a:t> </a:t>
            </a:r>
            <a:r>
              <a:rPr lang="fr-FR" sz="1600" dirty="0">
                <a:latin typeface="Segoe UI"/>
                <a:cs typeface="Segoe UI"/>
              </a:rPr>
              <a:t>(vu</a:t>
            </a:r>
            <a:r>
              <a:rPr lang="fr-FR" sz="1600" spc="-25" dirty="0">
                <a:latin typeface="Segoe UI"/>
                <a:cs typeface="Segoe UI"/>
              </a:rPr>
              <a:t> </a:t>
            </a:r>
            <a:r>
              <a:rPr lang="fr-FR" sz="1600" dirty="0">
                <a:latin typeface="Segoe UI"/>
                <a:cs typeface="Segoe UI"/>
              </a:rPr>
              <a:t>plus</a:t>
            </a:r>
            <a:r>
              <a:rPr lang="fr-FR" sz="1600" spc="-35" dirty="0">
                <a:latin typeface="Segoe UI"/>
                <a:cs typeface="Segoe UI"/>
              </a:rPr>
              <a:t> </a:t>
            </a:r>
            <a:r>
              <a:rPr lang="fr-FR" sz="1600" spc="-10" dirty="0">
                <a:latin typeface="Segoe UI"/>
                <a:cs typeface="Segoe UI"/>
              </a:rPr>
              <a:t>loin)</a:t>
            </a:r>
            <a:endParaRPr lang="fr-FR" sz="1600" dirty="0">
              <a:latin typeface="Segoe UI"/>
              <a:cs typeface="Segoe UI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C67D234A-EAA9-9E3A-80EE-FD08F9C91BF2}"/>
              </a:ext>
            </a:extLst>
          </p:cNvPr>
          <p:cNvSpPr txBox="1"/>
          <p:nvPr/>
        </p:nvSpPr>
        <p:spPr>
          <a:xfrm>
            <a:off x="2667709" y="4549607"/>
            <a:ext cx="6879771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catch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(Exception ex)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Console.WriteLine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fr-FR" sz="1800" b="1" dirty="0" err="1">
                <a:solidFill>
                  <a:srgbClr val="000000"/>
                </a:solidFill>
                <a:latin typeface="Cascadia Mono" panose="020B0609020000020004" pitchFamily="49" charset="0"/>
              </a:rPr>
              <a:t>ex.Message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Console.WriteLine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fr-FR" sz="1800" b="1" dirty="0" err="1">
                <a:solidFill>
                  <a:srgbClr val="000000"/>
                </a:solidFill>
                <a:latin typeface="Cascadia Mono" panose="020B0609020000020004" pitchFamily="49" charset="0"/>
              </a:rPr>
              <a:t>ex.StackTrace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Console.WriteLine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fr-FR" sz="1800" b="1" dirty="0">
                <a:solidFill>
                  <a:srgbClr val="000000"/>
                </a:solidFill>
                <a:latin typeface="Cascadia Mono" panose="020B0609020000020004" pitchFamily="49" charset="0"/>
              </a:rPr>
              <a:t>ex.</a:t>
            </a:r>
            <a:r>
              <a:rPr lang="fr-FR" sz="1800" b="1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InnerException</a:t>
            </a:r>
            <a:r>
              <a:rPr lang="fr-FR" sz="1800" b="1" dirty="0">
                <a:solidFill>
                  <a:srgbClr val="000000"/>
                </a:solidFill>
                <a:latin typeface="Cascadia Mono" panose="020B0609020000020004" pitchFamily="49" charset="0"/>
              </a:rPr>
              <a:t>?.Message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7633279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6. Exceptions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8335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705"/>
              </a:spcBef>
              <a:buClr>
                <a:srgbClr val="391778"/>
              </a:buClr>
              <a:buFont typeface="Arial"/>
              <a:buChar char="•"/>
              <a:tabLst>
                <a:tab pos="240029" algn="l"/>
              </a:tabLst>
            </a:pPr>
            <a:r>
              <a:rPr lang="fr-FR" sz="2400" dirty="0">
                <a:latin typeface="Segoe UI"/>
                <a:cs typeface="Segoe UI"/>
              </a:rPr>
              <a:t>Le</a:t>
            </a:r>
            <a:r>
              <a:rPr lang="fr-FR" sz="2400" spc="-4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mot</a:t>
            </a:r>
            <a:r>
              <a:rPr lang="fr-FR" sz="2400" spc="-3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clé</a:t>
            </a:r>
            <a:r>
              <a:rPr lang="fr-FR" sz="2400" spc="-25" dirty="0">
                <a:latin typeface="Segoe UI"/>
                <a:cs typeface="Segoe UI"/>
              </a:rPr>
              <a:t> </a:t>
            </a:r>
            <a:r>
              <a:rPr lang="fr-FR" sz="2400" b="1" dirty="0" err="1">
                <a:latin typeface="Segoe UI"/>
                <a:cs typeface="Segoe UI"/>
              </a:rPr>
              <a:t>finally</a:t>
            </a:r>
            <a:r>
              <a:rPr lang="fr-FR" sz="2400" b="1" spc="-4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permet</a:t>
            </a:r>
            <a:r>
              <a:rPr lang="fr-FR" sz="2400" spc="-5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lui</a:t>
            </a:r>
            <a:r>
              <a:rPr lang="fr-FR" sz="2400" spc="-25" dirty="0">
                <a:latin typeface="Segoe UI"/>
                <a:cs typeface="Segoe UI"/>
              </a:rPr>
              <a:t> </a:t>
            </a:r>
            <a:r>
              <a:rPr lang="fr-FR" sz="2400" u="sng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d'exécuter</a:t>
            </a:r>
            <a:r>
              <a:rPr lang="fr-FR" sz="2400" u="sng" spc="-45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 </a:t>
            </a:r>
            <a:r>
              <a:rPr lang="fr-FR" sz="2400" u="sng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toujours</a:t>
            </a:r>
            <a:r>
              <a:rPr lang="fr-FR" sz="2400" dirty="0">
                <a:latin typeface="Segoe UI"/>
                <a:cs typeface="Segoe UI"/>
              </a:rPr>
              <a:t> une</a:t>
            </a:r>
            <a:r>
              <a:rPr lang="fr-FR" sz="2400" spc="-4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portion</a:t>
            </a:r>
            <a:r>
              <a:rPr lang="fr-FR" sz="2400" spc="-1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de</a:t>
            </a:r>
            <a:r>
              <a:rPr lang="fr-FR" sz="2400" spc="-45" dirty="0">
                <a:latin typeface="Segoe UI"/>
                <a:cs typeface="Segoe UI"/>
              </a:rPr>
              <a:t> </a:t>
            </a:r>
            <a:r>
              <a:rPr lang="fr-FR" sz="2400" spc="-20" dirty="0">
                <a:latin typeface="Segoe UI"/>
                <a:cs typeface="Segoe UI"/>
              </a:rPr>
              <a:t>code</a:t>
            </a:r>
            <a:endParaRPr lang="fr-FR" sz="240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spcBef>
                <a:spcPts val="509"/>
              </a:spcBef>
              <a:buClr>
                <a:srgbClr val="391778"/>
              </a:buClr>
              <a:buFont typeface="Arial"/>
              <a:buChar char="•"/>
              <a:tabLst>
                <a:tab pos="698500" algn="l"/>
              </a:tabLst>
            </a:pPr>
            <a:r>
              <a:rPr lang="fr-FR" sz="2000" dirty="0">
                <a:latin typeface="Segoe UI"/>
                <a:cs typeface="Segoe UI"/>
              </a:rPr>
              <a:t>Le</a:t>
            </a:r>
            <a:r>
              <a:rPr lang="fr-FR" sz="2000" spc="-4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code</a:t>
            </a:r>
            <a:r>
              <a:rPr lang="fr-FR" sz="2000" spc="-3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sera</a:t>
            </a:r>
            <a:r>
              <a:rPr lang="fr-FR" sz="2000" spc="-3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exécuté</a:t>
            </a:r>
            <a:r>
              <a:rPr lang="fr-FR" sz="2000" spc="-4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s'il</a:t>
            </a:r>
            <a:r>
              <a:rPr lang="fr-FR" sz="2000" spc="-3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y</a:t>
            </a:r>
            <a:r>
              <a:rPr lang="fr-FR" sz="2000" spc="-3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a</a:t>
            </a:r>
            <a:r>
              <a:rPr lang="fr-FR" sz="2000" spc="-4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une</a:t>
            </a:r>
            <a:r>
              <a:rPr lang="fr-FR" sz="2000" spc="-3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erreur</a:t>
            </a:r>
            <a:r>
              <a:rPr lang="fr-FR" sz="2000" spc="-1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ou</a:t>
            </a:r>
            <a:r>
              <a:rPr lang="fr-FR" sz="2000" spc="-3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s'il</a:t>
            </a:r>
            <a:r>
              <a:rPr lang="fr-FR" sz="2000" spc="-1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n'y</a:t>
            </a:r>
            <a:r>
              <a:rPr lang="fr-FR" sz="2000" spc="-5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en</a:t>
            </a:r>
            <a:r>
              <a:rPr lang="fr-FR" sz="2000" spc="-1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a</a:t>
            </a:r>
            <a:r>
              <a:rPr lang="fr-FR" sz="2000" spc="-40" dirty="0">
                <a:latin typeface="Segoe UI"/>
                <a:cs typeface="Segoe UI"/>
              </a:rPr>
              <a:t> </a:t>
            </a:r>
            <a:r>
              <a:rPr lang="fr-FR" sz="2000" spc="-25" dirty="0">
                <a:latin typeface="Segoe UI"/>
                <a:cs typeface="Segoe UI"/>
              </a:rPr>
              <a:t>pas</a:t>
            </a:r>
            <a:endParaRPr lang="fr-FR" sz="2000" dirty="0">
              <a:latin typeface="Segoe UI"/>
              <a:cs typeface="Segoe UI"/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DD18A284-310A-C1CB-6CD8-18595F0C781D}"/>
              </a:ext>
            </a:extLst>
          </p:cNvPr>
          <p:cNvSpPr txBox="1"/>
          <p:nvPr/>
        </p:nvSpPr>
        <p:spPr>
          <a:xfrm>
            <a:off x="2144484" y="2587968"/>
            <a:ext cx="8120745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static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Divide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fr-FR" sz="1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operand1, </a:t>
            </a:r>
            <a:r>
              <a:rPr lang="fr-FR" sz="1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operand2)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result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fr-F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default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fr-FR" sz="1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try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{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result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= operand1 / operand2;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catch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(Exception ex) {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result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= 0; </a:t>
            </a:r>
            <a:r>
              <a:rPr lang="fr-FR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// assignation d'un résultat par défaut</a:t>
            </a:r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finally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Console.WriteLine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fr-FR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$"Message toujours affiché"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return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result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16062278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6. Exceptions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9207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100"/>
              </a:spcBef>
              <a:buClr>
                <a:srgbClr val="391778"/>
              </a:buClr>
              <a:buFont typeface="Arial"/>
              <a:buChar char="•"/>
              <a:tabLst>
                <a:tab pos="240029" algn="l"/>
              </a:tabLst>
            </a:pPr>
            <a:r>
              <a:rPr lang="fr-FR" sz="2400" dirty="0">
                <a:latin typeface="Segoe UI"/>
                <a:cs typeface="Segoe UI"/>
              </a:rPr>
              <a:t>Une</a:t>
            </a:r>
            <a:r>
              <a:rPr lang="fr-FR" sz="2400" spc="-5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exception</a:t>
            </a:r>
            <a:r>
              <a:rPr lang="fr-FR" sz="2400" spc="-3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peut</a:t>
            </a:r>
            <a:r>
              <a:rPr lang="fr-FR" sz="2400" spc="-5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être</a:t>
            </a:r>
            <a:r>
              <a:rPr lang="fr-FR" sz="2400" spc="-6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lancée</a:t>
            </a:r>
            <a:r>
              <a:rPr lang="fr-FR" sz="2400" spc="-3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manuellement</a:t>
            </a:r>
            <a:r>
              <a:rPr lang="fr-FR" sz="2400" spc="-4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à</a:t>
            </a:r>
            <a:r>
              <a:rPr lang="fr-FR" sz="2400" spc="-4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l'aide</a:t>
            </a:r>
            <a:r>
              <a:rPr lang="fr-FR" sz="2400" spc="-3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de</a:t>
            </a:r>
            <a:r>
              <a:rPr lang="fr-FR" sz="2400" spc="-20" dirty="0">
                <a:latin typeface="Segoe UI"/>
                <a:cs typeface="Segoe UI"/>
              </a:rPr>
              <a:t> </a:t>
            </a:r>
            <a:r>
              <a:rPr lang="fr-FR" sz="2400" b="1" spc="-10" dirty="0" err="1">
                <a:latin typeface="Segoe UI"/>
                <a:cs typeface="Segoe UI"/>
              </a:rPr>
              <a:t>throw</a:t>
            </a:r>
            <a:endParaRPr lang="fr-FR" sz="2400" dirty="0">
              <a:latin typeface="Segoe UI"/>
              <a:cs typeface="Segoe UI"/>
            </a:endParaRPr>
          </a:p>
          <a:p>
            <a:pPr marL="240029" indent="-227329">
              <a:lnSpc>
                <a:spcPct val="100000"/>
              </a:lnSpc>
              <a:spcBef>
                <a:spcPts val="705"/>
              </a:spcBef>
              <a:buClr>
                <a:srgbClr val="391778"/>
              </a:buClr>
              <a:buFont typeface="Arial"/>
              <a:buChar char="•"/>
              <a:tabLst>
                <a:tab pos="240029" algn="l"/>
              </a:tabLst>
            </a:pPr>
            <a:endParaRPr lang="fr-FR" sz="2400" dirty="0">
              <a:latin typeface="Segoe UI"/>
              <a:cs typeface="Segoe UI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25CA1591-C020-2ECC-95C0-4D4A3C2E3DDA}"/>
              </a:ext>
            </a:extLst>
          </p:cNvPr>
          <p:cNvSpPr txBox="1"/>
          <p:nvPr/>
        </p:nvSpPr>
        <p:spPr>
          <a:xfrm>
            <a:off x="2253343" y="2463519"/>
            <a:ext cx="768531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static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double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SquareRoot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double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operand)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if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(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operand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&gt;= 0)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fr-FR" sz="1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throw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Exception(</a:t>
            </a:r>
            <a:r>
              <a:rPr lang="fr-FR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"Nombre négatif interdit!"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return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Math.Sqrt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operand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3638908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6. Exceptions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100"/>
              </a:spcBef>
              <a:buClr>
                <a:srgbClr val="391778"/>
              </a:buClr>
              <a:buFont typeface="Arial"/>
              <a:buChar char="•"/>
              <a:tabLst>
                <a:tab pos="240029" algn="l"/>
              </a:tabLst>
            </a:pPr>
            <a:r>
              <a:rPr lang="fr-FR" sz="2400" dirty="0">
                <a:latin typeface="Segoe UI"/>
                <a:cs typeface="Segoe UI"/>
              </a:rPr>
              <a:t>Une</a:t>
            </a:r>
            <a:r>
              <a:rPr lang="fr-FR" sz="2400" spc="-5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exception</a:t>
            </a:r>
            <a:r>
              <a:rPr lang="fr-FR" sz="2400" spc="-4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peut</a:t>
            </a:r>
            <a:r>
              <a:rPr lang="fr-FR" sz="2400" spc="-5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parfois</a:t>
            </a:r>
            <a:r>
              <a:rPr lang="fr-FR" sz="2400" spc="-5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aussi</a:t>
            </a:r>
            <a:r>
              <a:rPr lang="fr-FR" sz="2400" spc="-4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être</a:t>
            </a:r>
            <a:r>
              <a:rPr lang="fr-FR" sz="2400" spc="-45" dirty="0">
                <a:latin typeface="Segoe UI"/>
                <a:cs typeface="Segoe UI"/>
              </a:rPr>
              <a:t> </a:t>
            </a:r>
            <a:r>
              <a:rPr lang="fr-FR" sz="2400" u="sng" spc="-10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relancée</a:t>
            </a:r>
            <a:endParaRPr lang="fr-FR" sz="2400" dirty="0">
              <a:latin typeface="Segoe UI"/>
              <a:cs typeface="Segoe UI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8FECBBAE-285A-E2B2-B86B-F7E5D1BDA751}"/>
              </a:ext>
            </a:extLst>
          </p:cNvPr>
          <p:cNvSpPr txBox="1"/>
          <p:nvPr/>
        </p:nvSpPr>
        <p:spPr>
          <a:xfrm>
            <a:off x="2139043" y="2022810"/>
            <a:ext cx="7913914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static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CallingDivide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fr-FR" sz="1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op1, </a:t>
            </a:r>
            <a:r>
              <a:rPr lang="fr-FR" sz="1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op2)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result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= 0;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try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{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fr-F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return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Divide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(op1, op2);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catch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(Exception ex)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Console.WriteLine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fr-FR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$"Erreur : 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ex.Message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r>
              <a:rPr lang="fr-FR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fr-FR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//Nouvelle exception</a:t>
            </a:r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fr-FR" sz="1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throw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Exception(</a:t>
            </a:r>
            <a:r>
              <a:rPr lang="fr-FR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"Exception de calcul !"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, ex);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fr-FR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// ou</a:t>
            </a:r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fr-FR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// Même exception remontée</a:t>
            </a:r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fr-FR" sz="1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throw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ex;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6783022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6. Exceptions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45725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5"/>
              </a:spcBef>
              <a:buClr>
                <a:srgbClr val="391778"/>
              </a:buClr>
              <a:tabLst>
                <a:tab pos="240029" algn="l"/>
              </a:tabLst>
            </a:pPr>
            <a:r>
              <a:rPr lang="fr-FR" sz="2400" b="1" dirty="0" err="1">
                <a:latin typeface="Segoe UI"/>
                <a:cs typeface="Segoe UI"/>
              </a:rPr>
              <a:t>InnerExceptions</a:t>
            </a:r>
            <a:endParaRPr lang="fr-FR" sz="2400" b="1" dirty="0">
              <a:latin typeface="Segoe UI"/>
              <a:cs typeface="Segoe UI"/>
            </a:endParaRPr>
          </a:p>
          <a:p>
            <a:pPr marL="240029" indent="-227329">
              <a:lnSpc>
                <a:spcPct val="100000"/>
              </a:lnSpc>
              <a:spcBef>
                <a:spcPts val="705"/>
              </a:spcBef>
              <a:buClr>
                <a:srgbClr val="391778"/>
              </a:buClr>
              <a:buFont typeface="Arial"/>
              <a:buChar char="•"/>
              <a:tabLst>
                <a:tab pos="240029" algn="l"/>
              </a:tabLst>
            </a:pPr>
            <a:endParaRPr lang="fr-FR" sz="2400" dirty="0">
              <a:latin typeface="Segoe UI"/>
              <a:cs typeface="Segoe UI"/>
            </a:endParaRPr>
          </a:p>
          <a:p>
            <a:pPr marL="240029" indent="-227329">
              <a:lnSpc>
                <a:spcPct val="100000"/>
              </a:lnSpc>
              <a:spcBef>
                <a:spcPts val="705"/>
              </a:spcBef>
              <a:buClr>
                <a:srgbClr val="391778"/>
              </a:buClr>
              <a:buFont typeface="Arial"/>
              <a:buChar char="•"/>
              <a:tabLst>
                <a:tab pos="240029" algn="l"/>
              </a:tabLst>
            </a:pPr>
            <a:r>
              <a:rPr lang="fr-FR" sz="2400" dirty="0">
                <a:latin typeface="Segoe UI"/>
                <a:cs typeface="Segoe UI"/>
              </a:rPr>
              <a:t>Les</a:t>
            </a:r>
            <a:r>
              <a:rPr lang="fr-FR" sz="2400" spc="-9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relances</a:t>
            </a:r>
            <a:r>
              <a:rPr lang="fr-FR" sz="2400" spc="-7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d'exceptions</a:t>
            </a:r>
            <a:r>
              <a:rPr lang="fr-FR" sz="2400" spc="-8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(</a:t>
            </a:r>
            <a:r>
              <a:rPr lang="fr-FR" sz="2400" dirty="0" err="1">
                <a:latin typeface="Segoe UI"/>
                <a:cs typeface="Segoe UI"/>
              </a:rPr>
              <a:t>InnerExceptions</a:t>
            </a:r>
            <a:r>
              <a:rPr lang="fr-FR" sz="2400" dirty="0">
                <a:latin typeface="Segoe UI"/>
                <a:cs typeface="Segoe UI"/>
              </a:rPr>
              <a:t>)</a:t>
            </a:r>
            <a:r>
              <a:rPr lang="fr-FR" sz="2400" spc="-55" dirty="0">
                <a:latin typeface="Segoe UI"/>
                <a:cs typeface="Segoe UI"/>
              </a:rPr>
              <a:t> </a:t>
            </a:r>
            <a:r>
              <a:rPr lang="fr-FR" sz="2400" spc="-50" dirty="0">
                <a:latin typeface="Segoe UI"/>
                <a:cs typeface="Segoe UI"/>
              </a:rPr>
              <a:t>:</a:t>
            </a:r>
            <a:endParaRPr lang="fr-FR" sz="240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spcBef>
                <a:spcPts val="509"/>
              </a:spcBef>
              <a:buClr>
                <a:srgbClr val="391778"/>
              </a:buClr>
              <a:buFont typeface="Arial"/>
              <a:buChar char="•"/>
              <a:tabLst>
                <a:tab pos="698500" algn="l"/>
              </a:tabLst>
            </a:pPr>
            <a:r>
              <a:rPr lang="fr-FR" sz="2000" dirty="0">
                <a:latin typeface="Segoe UI"/>
                <a:cs typeface="Segoe UI"/>
              </a:rPr>
              <a:t>Sont</a:t>
            </a:r>
            <a:r>
              <a:rPr lang="fr-FR" sz="2000" spc="-6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fréquentes</a:t>
            </a:r>
            <a:r>
              <a:rPr lang="fr-FR" sz="2000" spc="-5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dans</a:t>
            </a:r>
            <a:r>
              <a:rPr lang="fr-FR" sz="2000" spc="-5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les</a:t>
            </a:r>
            <a:r>
              <a:rPr lang="fr-FR" sz="2000" spc="-30" dirty="0">
                <a:latin typeface="Segoe UI"/>
                <a:cs typeface="Segoe UI"/>
              </a:rPr>
              <a:t> </a:t>
            </a:r>
            <a:r>
              <a:rPr lang="fr-FR" sz="2000" spc="-10" dirty="0" err="1">
                <a:latin typeface="Segoe UI"/>
                <a:cs typeface="Segoe UI"/>
              </a:rPr>
              <a:t>frameworks</a:t>
            </a:r>
            <a:endParaRPr lang="fr-FR" sz="200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spcBef>
                <a:spcPts val="505"/>
              </a:spcBef>
              <a:buClr>
                <a:srgbClr val="391778"/>
              </a:buClr>
              <a:buFont typeface="Arial"/>
              <a:buChar char="•"/>
              <a:tabLst>
                <a:tab pos="698500" algn="l"/>
              </a:tabLst>
            </a:pPr>
            <a:r>
              <a:rPr lang="fr-FR" sz="2000" dirty="0">
                <a:latin typeface="Segoe UI"/>
                <a:cs typeface="Segoe UI"/>
              </a:rPr>
              <a:t>Indique</a:t>
            </a:r>
            <a:r>
              <a:rPr lang="fr-FR" sz="2000" spc="-4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une</a:t>
            </a:r>
            <a:r>
              <a:rPr lang="fr-FR" sz="2000" spc="-5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erreur</a:t>
            </a:r>
            <a:r>
              <a:rPr lang="fr-FR" sz="2000" spc="-2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qui</a:t>
            </a:r>
            <a:r>
              <a:rPr lang="fr-FR" sz="2000" spc="-5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se</a:t>
            </a:r>
            <a:r>
              <a:rPr lang="fr-FR" sz="2000" spc="-5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trouve</a:t>
            </a:r>
            <a:r>
              <a:rPr lang="fr-FR" sz="2000" spc="-5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cachée</a:t>
            </a:r>
            <a:r>
              <a:rPr lang="fr-FR" sz="2000" spc="-5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derrière</a:t>
            </a:r>
            <a:r>
              <a:rPr lang="fr-FR" sz="2000" spc="-3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une</a:t>
            </a:r>
            <a:r>
              <a:rPr lang="fr-FR" sz="2000" spc="-5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autre</a:t>
            </a:r>
            <a:r>
              <a:rPr lang="fr-FR" sz="2000" spc="-60" dirty="0">
                <a:latin typeface="Segoe UI"/>
                <a:cs typeface="Segoe UI"/>
              </a:rPr>
              <a:t> </a:t>
            </a:r>
            <a:r>
              <a:rPr lang="fr-FR" sz="2000" spc="-10" dirty="0">
                <a:latin typeface="Segoe UI"/>
                <a:cs typeface="Segoe UI"/>
              </a:rPr>
              <a:t>erreur</a:t>
            </a:r>
            <a:endParaRPr lang="fr-FR" sz="2000" dirty="0">
              <a:latin typeface="Segoe UI"/>
              <a:cs typeface="Segoe UI"/>
            </a:endParaRPr>
          </a:p>
          <a:p>
            <a:pPr lvl="1">
              <a:lnSpc>
                <a:spcPct val="100000"/>
              </a:lnSpc>
              <a:spcBef>
                <a:spcPts val="2210"/>
              </a:spcBef>
              <a:buClr>
                <a:srgbClr val="391778"/>
              </a:buClr>
              <a:buFont typeface="Arial"/>
              <a:buChar char="•"/>
            </a:pPr>
            <a:endParaRPr lang="fr-FR" sz="2000" dirty="0">
              <a:latin typeface="Segoe UI"/>
              <a:cs typeface="Segoe UI"/>
            </a:endParaRPr>
          </a:p>
          <a:p>
            <a:pPr marL="240029" indent="-227329">
              <a:lnSpc>
                <a:spcPct val="100000"/>
              </a:lnSpc>
              <a:buClr>
                <a:srgbClr val="391778"/>
              </a:buClr>
              <a:buFont typeface="Arial"/>
              <a:buChar char="•"/>
              <a:tabLst>
                <a:tab pos="240029" algn="l"/>
              </a:tabLst>
            </a:pPr>
            <a:r>
              <a:rPr lang="fr-FR" sz="2400" dirty="0">
                <a:latin typeface="Segoe UI"/>
                <a:cs typeface="Segoe UI"/>
              </a:rPr>
              <a:t>Exemple</a:t>
            </a:r>
            <a:r>
              <a:rPr lang="fr-FR" sz="2400" spc="-50" dirty="0">
                <a:latin typeface="Segoe UI"/>
                <a:cs typeface="Segoe UI"/>
              </a:rPr>
              <a:t> :</a:t>
            </a:r>
            <a:endParaRPr lang="fr-FR" sz="2400" dirty="0">
              <a:latin typeface="Segoe UI"/>
              <a:cs typeface="Segoe UI"/>
            </a:endParaRPr>
          </a:p>
          <a:p>
            <a:pPr marL="12700" marR="132080">
              <a:lnSpc>
                <a:spcPct val="141500"/>
              </a:lnSpc>
              <a:spcBef>
                <a:spcPts val="15"/>
              </a:spcBef>
            </a:pPr>
            <a:r>
              <a:rPr lang="fr-FR" sz="2000" dirty="0">
                <a:latin typeface="Segoe UI"/>
                <a:cs typeface="Segoe UI"/>
              </a:rPr>
              <a:t>Un</a:t>
            </a:r>
            <a:r>
              <a:rPr lang="fr-FR" sz="2000" spc="-4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message</a:t>
            </a:r>
            <a:r>
              <a:rPr lang="fr-FR" sz="2000" spc="-4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"erreur</a:t>
            </a:r>
            <a:r>
              <a:rPr lang="fr-FR" sz="2000" spc="-1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de</a:t>
            </a:r>
            <a:r>
              <a:rPr lang="fr-FR" sz="2000" spc="-4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mise</a:t>
            </a:r>
            <a:r>
              <a:rPr lang="fr-FR" sz="2000" spc="-2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à</a:t>
            </a:r>
            <a:r>
              <a:rPr lang="fr-FR" sz="2000" spc="-4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jour</a:t>
            </a:r>
            <a:r>
              <a:rPr lang="fr-FR" sz="2000" spc="-3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de</a:t>
            </a:r>
            <a:r>
              <a:rPr lang="fr-FR" sz="2000" spc="-3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la</a:t>
            </a:r>
            <a:r>
              <a:rPr lang="fr-FR" sz="2000" spc="-5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base</a:t>
            </a:r>
            <a:r>
              <a:rPr lang="fr-FR" sz="2000" spc="-3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de</a:t>
            </a:r>
            <a:r>
              <a:rPr lang="fr-FR" sz="2000" spc="-4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données"</a:t>
            </a:r>
            <a:r>
              <a:rPr lang="fr-FR" sz="2000" spc="-2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n'est</a:t>
            </a:r>
            <a:r>
              <a:rPr lang="fr-FR" sz="2000" spc="-4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pas</a:t>
            </a:r>
            <a:r>
              <a:rPr lang="fr-FR" sz="2000" spc="-4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très</a:t>
            </a:r>
            <a:r>
              <a:rPr lang="fr-FR" sz="2000" spc="-45" dirty="0">
                <a:latin typeface="Segoe UI"/>
                <a:cs typeface="Segoe UI"/>
              </a:rPr>
              <a:t> </a:t>
            </a:r>
            <a:r>
              <a:rPr lang="fr-FR" sz="2000" spc="-10" dirty="0">
                <a:latin typeface="Segoe UI"/>
                <a:cs typeface="Segoe UI"/>
              </a:rPr>
              <a:t>parlant </a:t>
            </a:r>
            <a:r>
              <a:rPr lang="fr-FR" sz="2000" dirty="0">
                <a:latin typeface="Segoe UI"/>
                <a:cs typeface="Segoe UI"/>
              </a:rPr>
              <a:t>Cependant</a:t>
            </a:r>
            <a:r>
              <a:rPr lang="fr-FR" sz="2000" spc="-4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en</a:t>
            </a:r>
            <a:r>
              <a:rPr lang="fr-FR" sz="2000" spc="-4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regardant</a:t>
            </a:r>
            <a:r>
              <a:rPr lang="fr-FR" sz="2000" spc="-50" dirty="0">
                <a:latin typeface="Segoe UI"/>
                <a:cs typeface="Segoe UI"/>
              </a:rPr>
              <a:t> </a:t>
            </a:r>
            <a:r>
              <a:rPr lang="fr-FR" sz="2000" i="1" dirty="0">
                <a:latin typeface="Segoe UI"/>
                <a:cs typeface="Segoe UI"/>
              </a:rPr>
              <a:t>'</a:t>
            </a:r>
            <a:r>
              <a:rPr lang="fr-FR" sz="2000" i="1" dirty="0" err="1">
                <a:latin typeface="Segoe UI"/>
                <a:cs typeface="Segoe UI"/>
              </a:rPr>
              <a:t>innerexception</a:t>
            </a:r>
            <a:r>
              <a:rPr lang="fr-FR" sz="2000" dirty="0">
                <a:latin typeface="Segoe UI"/>
                <a:cs typeface="Segoe UI"/>
              </a:rPr>
              <a:t>',</a:t>
            </a:r>
            <a:r>
              <a:rPr lang="fr-FR" sz="2000" spc="-4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la</a:t>
            </a:r>
            <a:r>
              <a:rPr lang="fr-FR" sz="2000" spc="-4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sous</a:t>
            </a:r>
            <a:r>
              <a:rPr lang="fr-FR" sz="2000" spc="-5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exception</a:t>
            </a:r>
            <a:r>
              <a:rPr lang="fr-FR" sz="2000" spc="-5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pourrait</a:t>
            </a:r>
            <a:r>
              <a:rPr lang="fr-FR" sz="2000" spc="-5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contenir</a:t>
            </a:r>
            <a:r>
              <a:rPr lang="fr-FR" sz="2000" spc="-5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un</a:t>
            </a:r>
            <a:r>
              <a:rPr lang="fr-FR" sz="2000" spc="-35" dirty="0">
                <a:latin typeface="Segoe UI"/>
                <a:cs typeface="Segoe UI"/>
              </a:rPr>
              <a:t> </a:t>
            </a:r>
            <a:r>
              <a:rPr lang="fr-FR" sz="2000" spc="-10" dirty="0">
                <a:latin typeface="Segoe UI"/>
                <a:cs typeface="Segoe UI"/>
              </a:rPr>
              <a:t>message</a:t>
            </a:r>
            <a:endParaRPr lang="fr-FR" sz="2000" dirty="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</a:pPr>
            <a:r>
              <a:rPr lang="fr-FR" sz="2000" dirty="0">
                <a:latin typeface="Segoe UI"/>
                <a:cs typeface="Segoe UI"/>
              </a:rPr>
              <a:t>du</a:t>
            </a:r>
            <a:r>
              <a:rPr lang="fr-FR" sz="2000" spc="-3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type</a:t>
            </a:r>
            <a:r>
              <a:rPr lang="fr-FR" sz="2000" spc="-6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"contrainte</a:t>
            </a:r>
            <a:r>
              <a:rPr lang="fr-FR" sz="2000" spc="-4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d'unicité</a:t>
            </a:r>
            <a:r>
              <a:rPr lang="fr-FR" sz="2000" spc="-3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non</a:t>
            </a:r>
            <a:r>
              <a:rPr lang="fr-FR" sz="2000" spc="-3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respecté</a:t>
            </a:r>
            <a:r>
              <a:rPr lang="fr-FR" sz="2000" spc="-3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:</a:t>
            </a:r>
            <a:r>
              <a:rPr lang="fr-FR" sz="2000" spc="-3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duplication</a:t>
            </a:r>
            <a:r>
              <a:rPr lang="fr-FR" sz="2000" spc="-3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de</a:t>
            </a:r>
            <a:r>
              <a:rPr lang="fr-FR" sz="2000" spc="-4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la</a:t>
            </a:r>
            <a:r>
              <a:rPr lang="fr-FR" sz="2000" spc="-3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clé"</a:t>
            </a:r>
            <a:r>
              <a:rPr lang="fr-FR" sz="2000" spc="-3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qui</a:t>
            </a:r>
            <a:r>
              <a:rPr lang="fr-FR" sz="2000" spc="-3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serait</a:t>
            </a:r>
            <a:r>
              <a:rPr lang="fr-FR" sz="2000" spc="-3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beaucoup</a:t>
            </a:r>
            <a:r>
              <a:rPr lang="fr-FR" sz="2000" spc="-45" dirty="0">
                <a:latin typeface="Segoe UI"/>
                <a:cs typeface="Segoe UI"/>
              </a:rPr>
              <a:t> </a:t>
            </a:r>
            <a:r>
              <a:rPr lang="fr-FR" sz="2000" spc="-20" dirty="0">
                <a:latin typeface="Segoe UI"/>
                <a:cs typeface="Segoe UI"/>
              </a:rPr>
              <a:t>plus</a:t>
            </a:r>
            <a:endParaRPr lang="fr-FR" sz="2000" dirty="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fr-FR" sz="2000" spc="-10" dirty="0">
                <a:latin typeface="Segoe UI"/>
                <a:cs typeface="Segoe UI"/>
              </a:rPr>
              <a:t>intéressant.</a:t>
            </a:r>
            <a:endParaRPr lang="fr-FR" sz="2000" dirty="0"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1993422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26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que 2" descr="Questions avec un remplissage uni">
            <a:extLst>
              <a:ext uri="{FF2B5EF4-FFF2-40B4-BE49-F238E27FC236}">
                <a16:creationId xmlns:a16="http://schemas.microsoft.com/office/drawing/2014/main" id="{117F3F9E-E45E-9844-8215-AA148A5923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56000" y="1989000"/>
            <a:ext cx="2880000" cy="2880000"/>
          </a:xfrm>
          <a:prstGeom prst="rect">
            <a:avLst/>
          </a:prstGeom>
        </p:spPr>
      </p:pic>
      <p:sp>
        <p:nvSpPr>
          <p:cNvPr id="6" name="Titre 1">
            <a:extLst>
              <a:ext uri="{FF2B5EF4-FFF2-40B4-BE49-F238E27FC236}">
                <a16:creationId xmlns:a16="http://schemas.microsoft.com/office/drawing/2014/main" id="{6784514D-DFE8-6540-A8D9-ED1329C44D36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>
                <a:solidFill>
                  <a:schemeClr val="bg1"/>
                </a:solidFill>
              </a:rPr>
              <a:t>6. Exceptions</a:t>
            </a:r>
          </a:p>
        </p:txBody>
      </p:sp>
    </p:spTree>
    <p:extLst>
      <p:ext uri="{BB962C8B-B14F-4D97-AF65-F5344CB8AC3E}">
        <p14:creationId xmlns:p14="http://schemas.microsoft.com/office/powerpoint/2010/main" val="149799131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26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que 2" descr="Drapeau de course avec un remplissage uni">
            <a:extLst>
              <a:ext uri="{FF2B5EF4-FFF2-40B4-BE49-F238E27FC236}">
                <a16:creationId xmlns:a16="http://schemas.microsoft.com/office/drawing/2014/main" id="{31EA9D4C-4724-F749-BAC8-105B32CB08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56000" y="1989000"/>
            <a:ext cx="2880000" cy="28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0727331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733</TotalTime>
  <Words>3499</Words>
  <Application>Microsoft Office PowerPoint</Application>
  <PresentationFormat>Grand écran</PresentationFormat>
  <Paragraphs>754</Paragraphs>
  <Slides>66</Slides>
  <Notes>3</Notes>
  <HiddenSlides>0</HiddenSlides>
  <MMClips>0</MMClips>
  <ScaleCrop>false</ScaleCrop>
  <HeadingPairs>
    <vt:vector size="6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66</vt:i4>
      </vt:variant>
    </vt:vector>
  </HeadingPairs>
  <TitlesOfParts>
    <vt:vector size="75" baseType="lpstr">
      <vt:lpstr>Arial</vt:lpstr>
      <vt:lpstr>Calibri</vt:lpstr>
      <vt:lpstr>Calibri Light</vt:lpstr>
      <vt:lpstr>Cascadia Mono</vt:lpstr>
      <vt:lpstr>Consolas</vt:lpstr>
      <vt:lpstr>Segoe UI</vt:lpstr>
      <vt:lpstr>Trebuchet MS</vt:lpstr>
      <vt:lpstr>Wingdings</vt:lpstr>
      <vt:lpstr>Thème Office</vt:lpstr>
      <vt:lpstr>Les classes utiles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Titre</dc:title>
  <dc:creator>Laurent Godefroy</dc:creator>
  <cp:lastModifiedBy>Corentin ZIMMERMANN</cp:lastModifiedBy>
  <cp:revision>50</cp:revision>
  <dcterms:created xsi:type="dcterms:W3CDTF">2021-02-04T09:09:06Z</dcterms:created>
  <dcterms:modified xsi:type="dcterms:W3CDTF">2024-08-29T09:41:43Z</dcterms:modified>
</cp:coreProperties>
</file>